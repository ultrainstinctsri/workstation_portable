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STUDY SERIES · GRAPH THEORY · DAY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CS-5136: Graph Theory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FE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From Real Problems to Graphs: the Shortest Superstring Problem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1–33 · motivation, the overlap function, and the Hamiltonian-path reduction — with full derivations and worked examples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from: A. Bhattacharjee, “CS-5136: Graph Theory”, NIT Silchar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source — and what that changes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now runs on your actual course material — CS-5136: Graph Theory (A. Bhattacharjee, NIT Silchar, 230 slide-pages) — since that's what your mid-sem really covers.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“Day” count restarts here at Day 1 for this book. The earlier Combinatorial Optimization deck is a different course — keep it as background reading, not mid-sem syllabus.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genuinely helps — today's TSP/Hamiltonian-path connection, spanning trees later on — I'll point to the exact spot in the Held Combinatorial Optimization notes as a cross-reference, since you already have that material.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2F7EF"/>
          </a:solidFill>
          <a:ln w="15875">
            <a:solidFill>
              <a:srgbClr val="D8A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754880"/>
            <a:ext cx="10872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PROMISE AS BEFORE: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sketchy or ambiguous step gets a full, correct derivation; every dense idea gets a worked example; you get practice questions with answers at the end.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Day 1 covers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today's deck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65376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problems that motivate graph theory (railway planning, DNA sequencing)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Superstring Problem (SSP) — formal definition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function — definition, worked example, and a key subtlety (it's directional)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reduction of SSP to a shortest-Hamiltonian-path problem — built and proved correctly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worked 5-fragment example, end to end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practice questions with full answers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481328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“pages”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65376"/>
            <a:ext cx="53309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= slide-pages 1–33 of 230 — the “Introduction” chapter, right up to where formal graph definitions begin (page 34).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raw pages are just build/reveal steps of one idea (one animation spread across up to 9 pages) — I've compressed those into single explanatory slides.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deck's ~19 slides carry the full content of those 33 pages, just without the repeats.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 anything as a graph?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is just: a set of items, plus a set of connections between pairs of them.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/ computer networks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networks (bus, subway, train, plane)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 (who is friends with whom)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trees, evolutionary trees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graphs (atoms and chemical bonds)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data structures in Computer Science itself</a:t>
            </a:r>
            <a:endParaRPr lang="en-US" sz="1500" dirty="0"/>
          </a:p>
        </p:txBody>
      </p:sp>
      <p:pic>
        <p:nvPicPr>
          <p:cNvPr id="6" name="Image 0" descr="/home/claude/diagrams2/networ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91640"/>
            <a:ext cx="3749040" cy="3063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2376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+ connections = a graph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73452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4734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CASE STUDY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Metro: three planning problems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7EF"/>
          </a:solidFill>
          <a:ln w="15875">
            <a:solidFill>
              <a:srgbClr val="D8E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51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TIMETABLE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 repeats every 60 minutes. Each departure/arrival gets a number mod 60.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these numbers satisfy?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Previews: algebraic / cycle-space view of graphs (~pg. 60)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8536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7EF"/>
          </a:solidFill>
          <a:ln w="15875">
            <a:solidFill>
              <a:srgbClr val="D8E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78308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51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17136" y="1783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CIRCULATION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514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run a repeating weekly cycle. What's the minimum number of train-units needed to cover it?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4160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circulation/flow problem — exactly your Comb. Opt. reference book's territory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19872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7EF"/>
          </a:solidFill>
          <a:ln w="15875">
            <a:solidFill>
              <a:srgbClr val="D8E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178308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51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1783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ROUTE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5146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line where every segment between stations must be traversed exactly once.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4160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an Eulerian circuit — formal treatment ~pg. 137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73452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4734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CASE STUDY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Assembling a Genome from Fragments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745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methods (Sanger 1977 / Gilbert 1977) read only short fragments of DNA — about 500–700 nucleotides at a time — not the whole genome at once.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genome is sheared into millions of small, overlapping fragments (“reads”) first, then each one is read separately.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challenge: reassemble the short reads back into one full genomic sequence — a “superstring” containing all of them.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late 1990s this “shotgun fragment assembly” was viewed as computationally intractable for genome-sized inputs — exactly the kind of problem graph theory turns out to help with.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Shortest Superstring Problem (SSP)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55648"/>
            <a:ext cx="1081735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Input: strings s₁, s₂, …, sₙ.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a shortest string s that contains every sᵢ as a substring.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112745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“Contains sᵢ as a substring” just means sᵢ appears somewhere inside s — not necessarily at the start.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fragment-assembly problem: the sᵢ are the DNA reads, and s is the reconstructed genome.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approach — just concatenate every string one after another — always works, but is almost never shortest, because reads usually overlap each other.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Overlap Function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10817352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overlap(sᵢ, sⱼ) := the length of the longest prefix of sⱼ that matches a suffix of sᵢ.</a:t>
            </a:r>
            <a:endParaRPr lang="en-US" sz="1650" dirty="0"/>
          </a:p>
        </p:txBody>
      </p:sp>
      <p:pic>
        <p:nvPicPr>
          <p:cNvPr id="7" name="Image 0" descr="/home/claude/diagrams2/overlap_mecha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606040"/>
            <a:ext cx="9601200" cy="29626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Gluing sᵢ and sⱼ along their overlap saves overlap(sᵢ,sⱼ) characters: the combined string has length |sᵢ| + |sⱼ| − overlap(sᵢ,sⱼ) instead of |sᵢ| + |sⱼ|.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 is NOT symmetric — and a numbers check</a:t>
            </a:r>
            <a:endParaRPr lang="en-US" sz="2400" dirty="0"/>
          </a:p>
        </p:txBody>
      </p:sp>
      <p:pic>
        <p:nvPicPr>
          <p:cNvPr id="5" name="Image 0" descr="/home/claude/diagrams2/asym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512064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72200" y="169164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overlap(sᵢ,sⱼ) and overlap(sⱼ,sᵢ) are generally different — so the reduction graph coming up must be DIRECTED, not undirected.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“overlap of WHICH string's suffix with WHICH string's prefix” — direction matters.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97764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F2F7EF"/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4069080"/>
            <a:ext cx="1087221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CHECK: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slide's own worked example (s₁=aaaggcatcaaatctaaaggcatcaaa, s₂=aagcatcaaatctaaaggcatcaaa) states overlap(s₁,s₂)=12, but applying the definition to those exact two strings gives overlap(s₁,s₂) = 2 (their real shared boundary is just “aa”). The alignment picture on that slide appears to reuse s₁'s text on both lines instead of aligning with the actual s₂. Worth flagging to your instructor if it comes up — I've used the corrected value here.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can't just concatenate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7455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{000, 001, 010, 011, 100, 101, 110, 111} — all 8 length-3 binary strings.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all 8 one after another: length 8×3 = 24.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string 0001110100 (length 10) already contains all 8 of them as substrings — by reusing overlaps between consecutive pieces.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particular string has a name: it's a de Bruijn sequence for n=3 — a string containing every length-3 binary string exactly once.)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concatenation is a valid but usually very wasteful superstring. We need a systematic way to find the best ORDER to glue the strings in — that's what the graph reduction below gives us.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SSP into a path problem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7455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a DIRECTED graph G: one vertex per string sᵢ.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every ordered pair (sᵢ,sⱼ) with i≠j, add an arc sᵢ→sⱼ — the graph is complete and directed (overlap is asymmetric, previous slide).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we weight the arc with matters: your slide says “an edge of length overlap(sᵢ,sⱼ)” — but overlap is a SAVING, not something we want to add up and minimize directly.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Instead weight the arc sᵢ→sⱼ by d(sᵢ,sⱼ) := |sⱼ| − overlap(sᵢ,sⱼ) — the number of BRAND-NEW characters sⱼ contributes once it's glued onto sᵢ. Always ≥ 0.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7200" y="55321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2F7EF"/>
          </a:solidFill>
          <a:ln w="15875">
            <a:solidFill>
              <a:srgbClr val="D8A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5623560"/>
            <a:ext cx="108722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FIX MATTERS: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raw overlap as the weight you'd need a MAXIMUM-weight Hamiltonian path (unusual framing); with d(sᵢ,sⱼ) as the weight you get the standard, more natural “shortest Hamiltonian path” framing — which is what the next slide proves.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Hamiltonian path = shortest superstring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1127455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 an ordering (a Hamiltonian path) sᵢ₁ → sᵢ₂ → ⋯ → sᵢₙ through all n vertices.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the superstring left to right: start with sᵢ₁; by definition of overlap and d, each next string sᵢₖ₊₁ contributes exactly d(sᵢₖ, sᵢₖ₊₁) brand-new trailing characters.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 the final length telescopes: length = |sᵢ₁| + Σ d(sᵢₖ, sᵢₖ₊₁) over all n−1 arcs of the path = |sᵢ₁| + (total arc weight of the path).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Minimizing this over all orderings (and all choices of starting vertex) is exactly minimizing total arc weight over all Hamiltonian paths of G — i.e. finding a SHORTEST Hamiltonian path.   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3492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7EF"/>
          </a:solidFill>
          <a:ln w="15875">
            <a:solidFill>
              <a:srgbClr val="D8A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5440680"/>
            <a:ext cx="10872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FOR THIS: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“visit every vertex exactly once, minimize total arc weight, no need to return to the start” is the (directed) Path-TSP — a close cousin of the classic cycle-TSP.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0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DNA Fragments: S = {ATC, CCA, CAG, TCC, AGT}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overlap(row, column):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057400"/>
          <a:ext cx="868680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overlap(row→col)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ATC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CCA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CAG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TCC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AGT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ATC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CCA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CAG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TCC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AGT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0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333B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749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7EF"/>
          </a:solidFill>
          <a:ln w="15875">
            <a:solidFill>
              <a:srgbClr val="D8A2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5166360"/>
            <a:ext cx="10872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→ column. E.g. the ATC row, TCC column cell = overlap(ATC,TCC) = 2. Darker green = biggest overlaps — good candidates for consecutive pieces in the best ordering.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0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Shortest Hamiltonian Path</a:t>
            </a:r>
            <a:endParaRPr lang="en-US" sz="2400" dirty="0"/>
          </a:p>
        </p:txBody>
      </p:sp>
      <p:pic>
        <p:nvPicPr>
          <p:cNvPr id="5" name="Image 0" descr="/home/claude/diagrams2/dna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3072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54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buSzPct val="100000"/>
              <a:buChar char="▪"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order (ATC→TCC→CCA→CAG→AGT) uses overlap 2 at every single step — the maximum possible — giving superstring ATCCAGT, length 7 (total lengths 15, total overlap 8, 15−8=7).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7EF"/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5532120"/>
            <a:ext cx="10872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alphabetical order (AGT→ATC→CAG→CCA→TCC) gives AGTATCAGCCATCC — length 14, exactly twice as long! Ordering is everything.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direction does this reduction actually prove?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1127455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just built: SSP can be SOLVED by solving a shortest-Hamiltonian-path (Path-TSP) instance. In reduction notation: SSP ≤ₚ Path-TSP (“SSP is no harder than Path-TSP”).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alone does NOT show SSP is NP-hard! NP-hardness of SSP needs the reduction in the OTHER direction: showing that an arbitrary TSP instance can itself be encoded as an SSP instance (Path-TSP ≤ₚ SSP).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second direction is exactly your slide's homework: “Show that any TSP can be formulated as a SSP.”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11274552" cy="1783080"/>
          </a:xfrm>
          <a:prstGeom prst="roundRect">
            <a:avLst>
              <a:gd name="adj" fmla="val 4103"/>
            </a:avLst>
          </a:prstGeom>
          <a:solidFill>
            <a:srgbClr val="F2F7EF"/>
          </a:solidFill>
          <a:ln w="15875">
            <a:solidFill>
              <a:srgbClr val="C1440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754880"/>
            <a:ext cx="1087221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HOMEWORK: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that's posed as a graded exercise with a due date, I won't write out the full solution here — that should be in your own words for submission. The general shape such reductions take: encode each vertex/edge of the TSP instance as a specially built string, using characters chosen so that two strings only overlap substantially where the encoding “wants” them to — engineered so a short superstring corresponds exactly to a short tour. Come back once you've had a go and I'm happy to check your reasoning.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Cheat-Sheet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18488"/>
            <a:ext cx="1081735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SSP: given s₁,…,sₙ, find a shortest string containing every sᵢ as a substring.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04288"/>
            <a:ext cx="1081735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overlap(sᵢ,sⱼ) = longest prefix of sⱼ matching a suffix of sᵢ.  (NOT symmetric!)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90088"/>
            <a:ext cx="1081735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d(sᵢ,sⱼ) = |sⱼ| − overlap(sᵢ,sⱼ)  =  new characters sⱼ adds after sᵢ.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75888"/>
            <a:ext cx="1081735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superstring = shortest Hamiltonian path w.r.t. weights d, in the complete directed graph on the strings.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2F7EF"/>
          </a:solidFill>
          <a:ln w="12700">
            <a:solidFill>
              <a:srgbClr val="D8E6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361688"/>
            <a:ext cx="1081735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shows SSP ≤ₚ Path-TSP. NP-hardness of SSP needs the converse reduction (Path-TSP ≤ₚ SSP).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SET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Questions: Definitions &amp; the Overlap Function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361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5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</a:t>
            </a:r>
            <a:pPr indent="0" marL="0">
              <a:buNone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overlap(CATGAAT, AATCCGG). What string do you get by gluing these two together?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93392"/>
            <a:ext cx="11045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25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3 (suffix “AAT” = prefix “AAT”). Glued: CATGAAT + CCGG = CATGAATCCGG (length 11).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5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</a:t>
            </a:r>
            <a:pPr indent="0" marL="0">
              <a:buNone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fragment table (slide 13): overlap(ATC,TCC)=2 but overlap(TCC,ATC)=0. What does this force about the reduction graph?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11045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25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a DIRECTED graph — an undirected edge can't capture two different weights for the two directions.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33088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5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</a:t>
            </a:r>
            <a:pPr indent="0" marL="0">
              <a:buNone/>
            </a:pPr>
            <a:r>
              <a:rPr lang="en-US" sz="13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d(sᵢ,sⱼ)=|sⱼ|−overlap(sᵢ,sⱼ), compute d(CAG,AGT) and d(AGT,CAG). Which direction actually appears in the optimal path?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90288"/>
            <a:ext cx="11045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25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overlap(CAG,AGT)=2 ⇒ d=3−2=1. overlap(AGT,CAG)=0 ⇒ d=3−0=3. The optimal path uses CAG→AGT (cheaper, d=1).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SET 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Questions: Building the Reduction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</a:t>
            </a:r>
            <a:pPr indent="0" marL="0"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 = {AAGT, GTCC, CCAA}, compute all pairwise overlaps, then find the shortest superstring by trying orderings.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67128"/>
            <a:ext cx="110459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30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AAGT→GTCC=2, GTCC→CCAA=2, CCAA→AAGT=2 (cyclic); all reverse directions = 0. Best: AAGT→GTCC→CCAA gives AAGTCCAA, length 8 (vs. 12 for a reverse-direction ordering).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</a:t>
            </a:r>
            <a:pPr indent="0" marL="0"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“Since SSP reduces to shortest-Hamiltonian-path, SSP must be NP-hard.” Explain.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04488"/>
            <a:ext cx="110459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300" i="1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That reduction only shows SSP ≤ₚ Path-TSP (SSP is easy IF Path-TSP is easy). NP-hardness needs the reverse reduction (Path-TSP ≤ₚ SSP) — a separate argument.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CS-5136 Graph Theory · Intro · pages 1–33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943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pages 1–33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(scheduling, circulation, Euler tours, genome assembly) motivate graph models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+ the overlap function, precisely defined — and overlap is directional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reduction: shortest superstring = shortest Hamiltonian path w.r.t. d(sᵢ,sⱼ)=|sⱼ|−overlap(sᵢ,sⱼ)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direction matters for NP-hardness — SSP ≤ₚ Path-TSP shown; converse is the homework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6331A"/>
          </a:solidFill>
          <a:ln w="15875">
            <a:solidFill>
              <a:srgbClr val="D8A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75488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DAY 2  (pages 34–50):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definition of a graph, vertices &amp; edges, parallel edges, self-loops, and the first hard terminology of the “Abstraction” chapter.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 “Day 2” whenever you're ready for the next set.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2026-09-12T05:14:17Z</dcterms:created>
  <dcterms:modified xsi:type="dcterms:W3CDTF">2026-09-12T05:14:17Z</dcterms:modified>
</cp:coreProperties>
</file>