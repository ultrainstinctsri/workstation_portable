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1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</p:sldIdLst>
  <p:notesMasterIdLst>
    <p:notesMasterId r:id="rId1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notesMaster" Target="notesMasters/notesMaster1.xml"/><Relationship Id="rId121" Type="http://schemas.openxmlformats.org/officeDocument/2006/relationships/presProps" Target="presProps.xml"/><Relationship Id="rId122" Type="http://schemas.openxmlformats.org/officeDocument/2006/relationships/viewProps" Target="viewProps.xml"/><Relationship Id="rId123" Type="http://schemas.openxmlformats.org/officeDocument/2006/relationships/theme" Target="theme/theme1.xml"/><Relationship Id="rId1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372B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372B"/>
                </a:solidFill>
                <a:latin typeface="Calibri"/>
              </a:rPr>
              <a:t>Worst-case comparisons to find a key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Skewed BST: height n − 1</c:v>
                </c:pt>
              </c:strCache>
            </c:strRef>
          </c:tx>
          <c:spPr>
            <a:solidFill>
              <a:srgbClr val="D628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2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 = 15</c:v>
                  </c:pt>
                  <c:pt idx="1">
                    <c:v>n = 63</c:v>
                  </c:pt>
                  <c:pt idx="2">
                    <c:v>n = 255</c:v>
                  </c:pt>
                  <c:pt idx="3">
                    <c:v>n = 1023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62</c:v>
                </c:pt>
                <c:pt idx="2">
                  <c:v>254</c:v>
                </c:pt>
                <c:pt idx="3">
                  <c:v>1022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Balanced BST: height ⌊log₂ n⌋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2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 = 15</c:v>
                  </c:pt>
                  <c:pt idx="1">
                    <c:v>n = 63</c:v>
                  </c:pt>
                  <c:pt idx="2">
                    <c:v>n = 255</c:v>
                  </c:pt>
                  <c:pt idx="3">
                    <c:v>n = 1023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A2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2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</c:scaling>
        <c:delete val="0"/>
        <c:axPos val="l"/>
        <c:majorGridlines>
          <c:spPr>
            <a:ln w="6350" cap="flat">
              <a:solidFill>
                <a:srgbClr val="E3EC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The deck follows the order of the lecture: tree vocabulary, binary trees and traversals, BST, balancing with rotations, AVL, red-black, splay, then a comparison and a graded practice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part follows the same rhythm: the idea in one sentence, a small picture, a worked example taken from the lecture slides, then practice questions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the whole course: a tree turns linear-time searches into logarithmic-time searches — but only if the tree stays short. Everything from Part 5 onwards is about keeping it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dashed red edge a–e creates a second path from a to e (a-c-e and a-e). Trees allow exactly one path between any 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tree as slides 89-90 of the lecture. Note that a node is not its own ancestor and not its own descendant in this definition.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Depth counts down from the root; height counts up from the leaves. The lecture (slide 92) counts path length in nodes in one example (A-B-E-J has length 4); counting edges gives 3. Always check which convention a question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very common source of lost marks: mixing conventions. The min-node formula for AVL trees appears as F(h+3) − 1 with this deck’s convention, and F(h+2) − 1 in the Handbook, for exactly this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tree as slide 95 of the lecture. The generalized-list form is also how Handbook Section 3.2.1 writes a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LCRS (lecture slide 99): saves memory (2 pointers/node), no need to know the maximum number of children, fixed node size, and reuses binary-tree code. The Handbook (Lemma 3.1) notes this gives a one-to-one correspondence between forests and binary trees.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100-104. The rest of the course concentrates on binary trees — in particular binary search trees and their self-balancing variants.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101, 109 and 113. The “complete” shape is the one that fits neatly into an array (see the representation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110-111 and Handbook Lemmas 3.5-3.7. With the convention that a single node has height 0, the minimum height for n nodes is floor(log2 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111-112. The proof only uses two ways of counting the same set of edges.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numbers count binary trees with n nodes (unlabeled), which is what Handbook Lemma 3.8 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113-115 and Handbook 3.3.2. If your array is 0-indexed the formulas become: parent (i-1)/2, children 2i+1 and 2i+2.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numbers show the order in which nodes are visited. Lecture slides 123-126. DFS = depth-first (pre/in/post); BFS = breadth-first (level order).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follows Handbook Section 3.4 (C++). Every node is visited exactly once, so all four traversals are linear in the number of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First-in, first-out order is exactly why the children of A (B, C) get visited before any grandchild.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108 lists expression trees and abstract syntax trees as applications of trees in compilers.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standard exam question. The in-order list tells you how many keys go into each subtree; the pre-order list tells you the root of each subtree,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134; Handbook Fig. 3.9 has a similar “not a BST” example. The left tree is the one used on lecture slides 140-141.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138-141 (targets 11 and 25 on the same tree). Handbook Section 3.6.2 gives the same recursive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142-143. The two insertions on the right both start from the same base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116-117. The amber node is the node just inserted.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116-120. The final tree has height 3 and in-order 10 20 40 50 60 70 90 100.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121-122. Height is 4 here: 45 → 56 → 78 → 89 → 81.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151 makes the same point with a skewed tree. This is the pivot of the course: everything after this slide is about controlling the height.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144-145 and Handbook 3.6.4. In the one-child case the child brings its whole subtree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146-147. Note the two methods give different (but both valid) trees.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137 lists search, insert, delete, height and traversals. Successor, k-th smallest, range search, join and split come from Handbook Section 3.6.5.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127-129 and 148. The next part fixes the first weakness.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149-150. In the right-hand tree node 5 has BF +2 (left height 1, right height −1) and node 10 also has BF +2; the lowest violated node is the one to repair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154: rebalancing may seem costly but it makes future operations faster, so it is efficient overall.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155-157 and Handbook Fig. 10.1. Rotating right at y lifts its left child x; rotating left at x lifts its right child 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Rotating right at 30 makes 20 the root of the subtree. Because 25 is greater than 20 but less than 30, it can hang as the left child of 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154 and 158. Deep dives follow: AVL first, then red-black, then splay.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node 12: left subtree 8 has height 2, right subtree 18 has height 1, so BF = +1.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Handbook writes F(h+2) − 1 because it measures height by counting empty external nodes, so its heights are one larger. Same fact, different convention.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160-161. Always fix the LOWEST node whose BF is ±2. “Heavy child BF = 0” only happens after a deletion, and is handled like LL / RR.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161-164. In a real tree, the subtrees hanging off these nodes ride along with the rotation as in the generic rotation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165-166 (nodes 10, 20, 30). Rotating child then node is exactly a “double rotation” as drawn in Handbook Fig. 10.2.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167-168.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169-160 and Handbook 10.4.1: after an insertion, change of balance information may travel any number of steps up, but as soon as a rotation or double rotation takes place, no further balance problems remain.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170-171. Amber = the key just inserted; red ring = the lowest node with BF ±2.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insertions need no rotation: every BF stays in {−1, 0, +1}.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172 (Steps 8-10). The lowest unbalanced node is 108; 63 is not yet unbalanced when 81 is inserted.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175-176.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176-177: LL, then RR, then RL — three of the four cases in one short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173. A more involved deletion (delete 52, 36 and 61) is in the practice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178-179: use AVL when lookups vastly outnumber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180-181. Rules 4 and 5 (highlighted) are the ones that get checked in exam questions. Some books call rule 3 “every leaf is a black NIL”, as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proof idea behind the O(log n) guarantee; a full proof by induction is Question 25 in the practice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 = grandparent, P = parent, U = uncle (the parent’s sibling). A missing (NIL) uncle counts as black. Lecture slides 181-182 call the root case “Case 0”.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184. X = the new node, P = its parent, G = grandparent, U = uncle. The mirror image (P is a right child) is treated the same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183 (keys 10, 20, 30). Black count check: before, root-to-NIL had 1 black in the 10 → 20 → 30 branch; after, every path from 20 has 2 blacks counting the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185-186 (G = 50, P = 30, X = 40). After the first rotation the old parent 30 plays the role of 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Insertion of increasing keys is the worst case for a plain BST. Watch how recolouring (insert 4) and rotation (insert 3) keep the tree bushy.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5 and 7 each triggered a left rotation (straight line); insert 3 also a left rotation; inserts 4 and 6 needed only recolouring.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187. In CLRS terms: case 1 = red sibling, case 2 = black sibling with two black children, case 3 = black sibling with red inner child, case 4 = black sibling with red outer child.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Grey = “any colour”. Double ring = double black. Lecture slides 187-190 show the same cases with concrete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“a” and “b” are the subtrees hanging below (drawn as small nodes for simplicity). Case 3 is one extra step that leads into case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exactly the example on lecture slides 191-196. Result: 40B(20B(10R, NIL), 60B).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case sequence as lecture slides 197-200 (case 3 then case 4). This version uses a tree in which every root-to-NIL path has the same black count, so you can verify rule 5 at each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201-202. Weakness: more intricate insertion and deletion rules than AVL, plus a small overhead to maintain the properties.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203-204 and Handbook 12.1-12.2. The example is the search for key 3 on slides 219-220.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204-205. x is the accessed node, p its parent and g its grandparent. Zag, Zag-Zag and Zag-Zig are the mirror images. The naming (which pair is called zig-zag) differs between textbooks; what matters is the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206-207: this is exactly a single AVL rotation. Subtrees 2, 4 and 6 keep their in-order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208-209 (tree 5-3-6-2-4). The chain experiment is Question 28 in the practice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210-211. On slide 220 the first splay step of the “search 3” example has this shape mirrored: x = 3 is the right child of 2, which is the left child of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212 and 214; Handbook Section 12.3.1 (Access, Join, Split). All operations are implemented with the single primitive splay.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216. Insert 30: it is the left child of the root 50, so one zig. Insert 40: it lands as the left child of 50, and 50 is the right child of 30 (opposite sides), so it is a zig-zag.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217 draws the result of inserting 60 differently. Applying the zag-zag rule to the chain 20-30-40-50-60 twice gives 60(30(20, 50(40))), as shown here. You can check it by counting: after two zag-zags 60 is the root and its left subtree holds 20, 30, 40,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218 builds this chain. The access to 10 is our own addition to show the healing effect. The potential numbers appear on the analysis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219-221. The first splay step in the top row is a zag-zig shape (3 is the right child of 2, which is the left child of 5); lecture slide 220 calls it “zig-zag”. Names differ, the picture is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 213 shows the same tree and the same result (panel d). The splay tree here has depth 4, so exactly two double steps are performed.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214-215. Splaying “+infinity” inside L is the standard way to bring the maximum of L to its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Φ as stored “credit”: a chain has high potential; splaying its deep end releases credit that pays for the long walk. Handbook Section 12.3 chooses weights w(x) freely; with all weights equal to 1/n the total is O((m+n) log 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Handbook 12.1 also notes that for random data splay trees only outperform balanced trees when the access pattern is highly skewed.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slides 224-225 give the first rows; rotation counts for insertion and deletion are standard results (Handbook 10.4.1 for AVL). “Amortized” means averaged over a worst-case sequence of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review before practice questions. Everything here is derived earlier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routine: do Level 1 after Parts 1-3, Level 2 after Parts 4-6, Level 3 as a final exam-style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on the following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 is the tree used again in Q5, Q7, Q8 and Q22.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Q12 uses the same shape as the lecture’s “check for AVL”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 lecture slides 146-147. Amber marks the key that took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(i) the imbalance at 40 is a straight line (LL). In (ii) and (iii) it is a bend, so two rotations are needed. In all three the middle key of the three nodes becomes the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 lecture slide 174.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Computed with the red-black simulator; the case sequence is 0, none, line LL, (recolour + root), (triangle LR + line LL), recolour.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Q19: inserting an increasing key into a splay tree always creates a zag (the new node is a right child of the old root). Q21: after splay(40) the root is 40 with left subtree 30(15(10)) and right subtree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Q30 is a classic: along a search path the keys must stay inside an interval that shrinks with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Computed with the AVL simulator. Unbalanced nodes that were rotated (in order): 1, 3, 2, 5, 7, 6, 9, 4, 11, 10, 13. Each one is an RR case, fixed by a single left rotation.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any line feels shaky, go back to that part and redo its worked example before attempting the matching practice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5102 · ADVANCED ALGORITHMS &amp; DATA STRUCTURES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916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Trees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718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D8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“what is a node?” to Splay Trees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06908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7D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· Binary trees · Traversals · BST · Rotations · AVL · Red-Black · Splay · Practice bank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669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F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Dr. Saroj Kr Biswas’s lecture slides and the Handbook of Data Structures and Applications (Mehta &amp; Sahni, 2005)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flipV="1">
            <a:off x="8019288" y="3383280"/>
            <a:ext cx="512064" cy="1389888"/>
          </a:xfrm>
          <a:prstGeom prst="line">
            <a:avLst/>
          </a:prstGeom>
          <a:noFill/>
          <a:ln w="31750">
            <a:solidFill>
              <a:srgbClr val="7FB9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31352" y="3383280"/>
            <a:ext cx="512064" cy="1389888"/>
          </a:xfrm>
          <a:prstGeom prst="line">
            <a:avLst/>
          </a:prstGeom>
          <a:noFill/>
          <a:ln w="31750">
            <a:solidFill>
              <a:srgbClr val="7FB9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8531352" y="1993392"/>
            <a:ext cx="1024128" cy="1389888"/>
          </a:xfrm>
          <a:prstGeom prst="line">
            <a:avLst/>
          </a:prstGeom>
          <a:noFill/>
          <a:ln w="31750">
            <a:solidFill>
              <a:srgbClr val="7FB9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067544" y="3383280"/>
            <a:ext cx="512064" cy="1389888"/>
          </a:xfrm>
          <a:prstGeom prst="line">
            <a:avLst/>
          </a:prstGeom>
          <a:noFill/>
          <a:ln w="31750">
            <a:solidFill>
              <a:srgbClr val="7FB9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79608" y="3383280"/>
            <a:ext cx="512064" cy="1389888"/>
          </a:xfrm>
          <a:prstGeom prst="line">
            <a:avLst/>
          </a:prstGeom>
          <a:noFill/>
          <a:ln w="31750">
            <a:solidFill>
              <a:srgbClr val="7FB9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55480" y="1993392"/>
            <a:ext cx="1024128" cy="1389888"/>
          </a:xfrm>
          <a:prstGeom prst="line">
            <a:avLst/>
          </a:prstGeom>
          <a:noFill/>
          <a:ln w="31750">
            <a:solidFill>
              <a:srgbClr val="7FB9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53528" y="4407408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77656" y="4407408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65592" y="3017520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01784" y="4407408"/>
            <a:ext cx="731520" cy="73152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25912" y="4407408"/>
            <a:ext cx="731520" cy="7315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13848" y="3017520"/>
            <a:ext cx="731520" cy="73152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89720" y="1627632"/>
            <a:ext cx="731520" cy="73152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learning path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190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vocabulary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1214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Root, leaf, height, depth, degree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7830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7190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1214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Shapes, counting rules, array vs pointers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7830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17190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21214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· In · Post · Level order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3832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3192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Trees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7216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insert, delete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3063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33832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33192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&amp; rotations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37216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height matters, left/right rotate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46720" y="30632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33832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33192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trees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37216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factor, LL · RR · LR · RL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6634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9834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49194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Red-Black trees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53218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rules, recolour vs rotate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297680" y="46634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49834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5303520" y="49194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Splay trees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5303520" y="53218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 · Zig-Zig · Zig-Zag, amortized cost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46720" y="46634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4983480"/>
            <a:ext cx="640080" cy="640080"/>
          </a:xfrm>
          <a:prstGeom prst="ellipse">
            <a:avLst/>
          </a:prstGeom>
          <a:solidFill>
            <a:srgbClr val="F2A9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9052560" y="49194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practice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9052560" y="53218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graded questions with solutions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trees at all?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DE8EA"/>
          </a:solidFill>
          <a:ln w="9525">
            <a:solidFill>
              <a:srgbClr val="FDE8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A0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/ unsorted array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D628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1,000,000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search 1,000,000 items (worst case)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931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search tree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2976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20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257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for the same job — because 2²⁰ ≈ 1,000,000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463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 already meet trees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6596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systems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drive = root, folders = branches, files = leaves</a:t>
            </a:r>
            <a:endParaRPr lang="en-US" sz="1600" dirty="0"/>
          </a:p>
          <a:p>
            <a:pPr marL="182880" indent="-18288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B-trees and B+ trees index disk data</a:t>
            </a:r>
            <a:endParaRPr lang="en-US" sz="1600" dirty="0"/>
          </a:p>
          <a:p>
            <a:pPr marL="182880" indent="-18288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maps &amp; sets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C++ </a:t>
            </a:r>
            <a:r>
              <a:rPr lang="en-US" sz="16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6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Java </a:t>
            </a:r>
            <a:r>
              <a:rPr lang="en-US" sz="16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TreeMap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red-black trees</a:t>
            </a:r>
            <a:endParaRPr lang="en-US" sz="1600" dirty="0"/>
          </a:p>
          <a:p>
            <a:pPr marL="182880" indent="-18288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Compilers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expression trees and abstract syntax trees</a:t>
            </a:r>
            <a:endParaRPr lang="en-US" sz="1600" dirty="0"/>
          </a:p>
          <a:p>
            <a:pPr marL="182880" indent="-18288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Huffman coding trees (ZIP, JPEG)</a:t>
            </a:r>
            <a:endParaRPr lang="en-US" sz="1600" dirty="0"/>
          </a:p>
          <a:p>
            <a:pPr marL="182880" indent="-18288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&amp; AI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routing trees, decision trees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 basics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tree is (and is not)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vocabulary: root, leaf, parent, height, depth, degree…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store a general tree in memory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 flipV="1">
            <a:off x="836676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778240" y="2514600"/>
            <a:ext cx="82296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01268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0" y="2514600"/>
            <a:ext cx="82296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1540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03920" y="320040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73836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6132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49840" y="320040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0" y="224028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5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TREE BASICS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tree?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4310" indent="-19431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7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</a:t>
            </a:r>
            <a:r>
              <a:rPr lang="en-US" sz="17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non-linear, hierarchical</a:t>
            </a: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structure: nodes joined by edges so that there is </a:t>
            </a:r>
            <a:r>
              <a:rPr lang="en-US" sz="17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path</a:t>
            </a: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any two nodes.</a:t>
            </a:r>
            <a:endParaRPr lang="en-US" sz="1700" dirty="0"/>
          </a:p>
          <a:p>
            <a:pPr marL="194310" indent="-19431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view: a tree is a </a:t>
            </a:r>
            <a:r>
              <a:rPr lang="en-US" sz="17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plus zero or more </a:t>
            </a:r>
            <a:r>
              <a:rPr lang="en-US" sz="17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subtrees</a:t>
            </a: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each of which is itself a tree.</a:t>
            </a:r>
            <a:endParaRPr lang="en-US" sz="1700" dirty="0"/>
          </a:p>
          <a:p>
            <a:pPr marL="194310" indent="-19431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with </a:t>
            </a:r>
            <a:r>
              <a:rPr lang="en-US" sz="17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nodes has exactly n − 1 edges</a:t>
            </a: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5262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6360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TEST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8920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connected   ✔ no cycle   ✔ n − 1 edges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one of these fails, it is not a tree.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5727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flipV="1">
            <a:off x="6812280" y="2331720"/>
            <a:ext cx="731520" cy="9144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0" y="2331720"/>
            <a:ext cx="731520" cy="9144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0" y="3246120"/>
            <a:ext cx="0" cy="9144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7818120" y="3246120"/>
            <a:ext cx="457200" cy="9144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3246120"/>
            <a:ext cx="457200" cy="9144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1031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68" dirty="0"/>
          </a:p>
        </p:txBody>
      </p:sp>
      <p:sp>
        <p:nvSpPr>
          <p:cNvPr id="17" name="Text 15"/>
          <p:cNvSpPr/>
          <p:nvPr/>
        </p:nvSpPr>
        <p:spPr>
          <a:xfrm>
            <a:off x="6583680" y="30175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68" dirty="0"/>
          </a:p>
        </p:txBody>
      </p:sp>
      <p:sp>
        <p:nvSpPr>
          <p:cNvPr id="18" name="Text 16"/>
          <p:cNvSpPr/>
          <p:nvPr/>
        </p:nvSpPr>
        <p:spPr>
          <a:xfrm>
            <a:off x="8046720" y="30175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68" dirty="0"/>
          </a:p>
        </p:txBody>
      </p:sp>
      <p:sp>
        <p:nvSpPr>
          <p:cNvPr id="19" name="Text 17"/>
          <p:cNvSpPr/>
          <p:nvPr/>
        </p:nvSpPr>
        <p:spPr>
          <a:xfrm>
            <a:off x="6583680" y="39319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68" dirty="0"/>
          </a:p>
        </p:txBody>
      </p:sp>
      <p:sp>
        <p:nvSpPr>
          <p:cNvPr id="20" name="Text 18"/>
          <p:cNvSpPr/>
          <p:nvPr/>
        </p:nvSpPr>
        <p:spPr>
          <a:xfrm>
            <a:off x="7589520" y="39319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68" dirty="0"/>
          </a:p>
        </p:txBody>
      </p:sp>
      <p:sp>
        <p:nvSpPr>
          <p:cNvPr id="21" name="Text 19"/>
          <p:cNvSpPr/>
          <p:nvPr/>
        </p:nvSpPr>
        <p:spPr>
          <a:xfrm>
            <a:off x="8503920" y="39319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68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526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nodes, 5 edges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98280" y="14630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DE8EA"/>
          </a:solidFill>
          <a:ln w="9525">
            <a:solidFill>
              <a:srgbClr val="FDE8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98280" y="15727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A0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tree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 flipV="1">
            <a:off x="9601200" y="2331720"/>
            <a:ext cx="731520" cy="9144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32720" y="2331720"/>
            <a:ext cx="731520" cy="9144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0" y="3246120"/>
            <a:ext cx="0" cy="9144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0607040" y="3246120"/>
            <a:ext cx="457200" cy="9144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64240" y="3246120"/>
            <a:ext cx="457200" cy="9144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32720" y="2331720"/>
            <a:ext cx="274320" cy="1828800"/>
          </a:xfrm>
          <a:prstGeom prst="line">
            <a:avLst/>
          </a:prstGeom>
          <a:noFill/>
          <a:ln w="31750">
            <a:solidFill>
              <a:srgbClr val="D62839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0104120" y="21031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68" dirty="0"/>
          </a:p>
        </p:txBody>
      </p:sp>
      <p:sp>
        <p:nvSpPr>
          <p:cNvPr id="32" name="Text 30"/>
          <p:cNvSpPr/>
          <p:nvPr/>
        </p:nvSpPr>
        <p:spPr>
          <a:xfrm>
            <a:off x="9372600" y="30175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68" dirty="0"/>
          </a:p>
        </p:txBody>
      </p:sp>
      <p:sp>
        <p:nvSpPr>
          <p:cNvPr id="33" name="Text 31"/>
          <p:cNvSpPr/>
          <p:nvPr/>
        </p:nvSpPr>
        <p:spPr>
          <a:xfrm>
            <a:off x="10835640" y="30175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68" dirty="0"/>
          </a:p>
        </p:txBody>
      </p:sp>
      <p:sp>
        <p:nvSpPr>
          <p:cNvPr id="34" name="Text 32"/>
          <p:cNvSpPr/>
          <p:nvPr/>
        </p:nvSpPr>
        <p:spPr>
          <a:xfrm>
            <a:off x="9372600" y="39319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68" dirty="0"/>
          </a:p>
        </p:txBody>
      </p:sp>
      <p:sp>
        <p:nvSpPr>
          <p:cNvPr id="35" name="Text 33"/>
          <p:cNvSpPr/>
          <p:nvPr/>
        </p:nvSpPr>
        <p:spPr>
          <a:xfrm>
            <a:off x="10378440" y="39319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68" dirty="0"/>
          </a:p>
        </p:txBody>
      </p:sp>
      <p:sp>
        <p:nvSpPr>
          <p:cNvPr id="36" name="Text 34"/>
          <p:cNvSpPr/>
          <p:nvPr/>
        </p:nvSpPr>
        <p:spPr>
          <a:xfrm>
            <a:off x="11292840" y="39319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68" dirty="0"/>
          </a:p>
        </p:txBody>
      </p:sp>
      <p:sp>
        <p:nvSpPr>
          <p:cNvPr id="37" name="Text 35"/>
          <p:cNvSpPr txBox="1"/>
          <p:nvPr/>
        </p:nvSpPr>
        <p:spPr>
          <a:xfrm>
            <a:off x="9144000" y="45262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edges → a cycle a–c–e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309360" y="50749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88 of the lecture uses this same “tree vs not-a-tree” picture.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TREE BASICS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 I — family words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 flipV="1">
            <a:off x="1097280" y="3561588"/>
            <a:ext cx="402336" cy="8549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9616" y="3561588"/>
            <a:ext cx="402336" cy="8549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499616" y="2706624"/>
            <a:ext cx="603504" cy="8549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06624" y="3561588"/>
            <a:ext cx="0" cy="8549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2706624"/>
            <a:ext cx="603504" cy="8549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103120" y="1851660"/>
            <a:ext cx="1106424" cy="8549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511296" y="2706624"/>
            <a:ext cx="804672" cy="8549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5968" y="2706624"/>
            <a:ext cx="0" cy="8549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5968" y="2706624"/>
            <a:ext cx="804672" cy="8549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9544" y="1851660"/>
            <a:ext cx="1106424" cy="8549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" y="4165092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50492" y="4165092"/>
            <a:ext cx="502920" cy="50292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48156" y="3310128"/>
            <a:ext cx="502920" cy="502920"/>
          </a:xfrm>
          <a:prstGeom prst="ellipse">
            <a:avLst/>
          </a:prstGeom>
          <a:solidFill>
            <a:srgbClr val="9BD9B4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455164" y="4165092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455164" y="3310128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851660" y="2455164"/>
            <a:ext cx="502920" cy="502920"/>
          </a:xfrm>
          <a:prstGeom prst="ellipse">
            <a:avLst/>
          </a:prstGeom>
          <a:solidFill>
            <a:srgbClr val="9BD9B4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59836" y="3310128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64508" y="3310128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69180" y="3310128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064508" y="2455164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958084" y="1600200"/>
            <a:ext cx="502920" cy="502920"/>
          </a:xfrm>
          <a:prstGeom prst="ellipse">
            <a:avLst/>
          </a:prstGeom>
          <a:solidFill>
            <a:srgbClr val="9BD9B4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440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= J.   Green = its ancestors D, B, A.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508760"/>
          <a:ext cx="57150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377440"/>
                <a:gridCol w="19202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this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node, has no parent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/ child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predecessor / successor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is parent of I and J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Sibling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 with the same parent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F, G,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 (external)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with no children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F, G, H, I, J, 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node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with at least one child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B, C, D, 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Ancestor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path from the root to the node (not itself)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Ancestors of J: D, B,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Descendant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Reachable going downward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Descendants of B: D, E, I, J, 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TREE BASICS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 II — measuring a tree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 flipV="1">
            <a:off x="1562100" y="3762756"/>
            <a:ext cx="373380" cy="9555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35480" y="3762756"/>
            <a:ext cx="373380" cy="9555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935480" y="2807208"/>
            <a:ext cx="560070" cy="9555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55620" y="3762756"/>
            <a:ext cx="0" cy="9555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95550" y="2807208"/>
            <a:ext cx="560070" cy="9555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495550" y="1851660"/>
            <a:ext cx="1026795" cy="9555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802380" y="2807208"/>
            <a:ext cx="746760" cy="9555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9140" y="2807208"/>
            <a:ext cx="0" cy="9555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9140" y="2807208"/>
            <a:ext cx="746760" cy="9555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2345" y="1851660"/>
            <a:ext cx="1026795" cy="9555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10640" y="4466844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057400" y="4466844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84020" y="3511296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04160" y="4466844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804160" y="3511296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244090" y="2555748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50920" y="3511296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97680" y="3511296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44440" y="3511296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97680" y="2555748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70885" y="1600200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" y="17327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" y="2688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20040" y="36438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20040" y="45994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349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is level 0 (depth 0). Leaves have height 0.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463040"/>
          <a:ext cx="57607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148840"/>
                <a:gridCol w="201168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this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between two nodes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tree with N nodes has N − 1 edges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 of a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children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deg(C) = 3, deg(E) = 1, deg(K) =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 of the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node degree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/ level of a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Edges from the root down to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depth(J) =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 of a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Edges on the longest path down to a leaf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height(B) = 2, height(leaf) =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 of the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 of the root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length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edges on the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A–B–D–J has length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node plus all its descendants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Subtree(B) = {B, D, E, I, J, K}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TREE BASICS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goes down, height goes 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 flipV="1">
            <a:off x="2340864" y="2915107"/>
            <a:ext cx="566928" cy="107716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07792" y="2915107"/>
            <a:ext cx="566928" cy="107716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907792" y="1837944"/>
            <a:ext cx="566928" cy="107716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41648" y="2915107"/>
            <a:ext cx="566928" cy="107716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837944"/>
            <a:ext cx="566928" cy="107716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370880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88861" y="361736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d=2 h=0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91256" y="370880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69523" y="361736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d=2 h=0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24328" y="2631643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155789" y="2540203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d=1 h=1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25112" y="3708806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903379" y="361736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d=2 h=0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58184" y="2631643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336451" y="2540203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d=1 h=1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91256" y="1554480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769523" y="1463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d=0 h=2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4864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depth (edges from root)      h = height (edges to deepest leaf)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1463040"/>
            <a:ext cx="4892040" cy="2103120"/>
          </a:xfrm>
          <a:prstGeom prst="roundRect">
            <a:avLst>
              <a:gd name="adj" fmla="val 3478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conventions differ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19202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8590" indent="-14859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&amp; lecture: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root depth 0, leaf height 0, empty tree height −1</a:t>
            </a:r>
            <a:endParaRPr lang="en-US" sz="1300" dirty="0"/>
          </a:p>
          <a:p>
            <a:pPr marL="148590" indent="-14859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Ch. 3: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root at level 0; height = maximum level</a:t>
            </a:r>
            <a:endParaRPr lang="en-US" sz="1300" dirty="0"/>
          </a:p>
          <a:p>
            <a:pPr marL="148590" indent="-14859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Ch. 10: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height counts empty (external) nodes, so one node has height 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66560" y="3794760"/>
            <a:ext cx="4892040" cy="2103120"/>
          </a:xfrm>
          <a:prstGeom prst="roundRect">
            <a:avLst>
              <a:gd name="adj" fmla="val 3478"/>
            </a:avLst>
          </a:prstGeom>
          <a:solidFill>
            <a:srgbClr val="FDE8EA"/>
          </a:solidFill>
          <a:ln w="9525">
            <a:solidFill>
              <a:srgbClr val="FDE8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49440" y="3904488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A0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4160520"/>
            <a:ext cx="4526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such as “max nodes = 2^(h+1) − 1” only work with the convention they were written for. Read the definition of height before you use a formula.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TREE BASICS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Storing a general tree: the list representation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 flipV="1">
            <a:off x="1417320" y="3246120"/>
            <a:ext cx="342900" cy="7772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60220" y="3246120"/>
            <a:ext cx="342900" cy="7772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760220" y="2468880"/>
            <a:ext cx="514350" cy="7772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74570" y="2468880"/>
            <a:ext cx="514350" cy="7772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274570" y="1691640"/>
            <a:ext cx="1285875" cy="7772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468880"/>
            <a:ext cx="0" cy="7772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474720" y="1691640"/>
            <a:ext cx="85725" cy="7772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3246120"/>
            <a:ext cx="0" cy="7772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4160520" y="2468880"/>
            <a:ext cx="685800" cy="7772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2468880"/>
            <a:ext cx="0" cy="7772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2468880"/>
            <a:ext cx="685800" cy="7772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0445" y="1691640"/>
            <a:ext cx="1285875" cy="7772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79476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368" dirty="0"/>
          </a:p>
        </p:txBody>
      </p:sp>
      <p:sp>
        <p:nvSpPr>
          <p:cNvPr id="18" name="Text 16"/>
          <p:cNvSpPr/>
          <p:nvPr/>
        </p:nvSpPr>
        <p:spPr>
          <a:xfrm>
            <a:off x="1874520" y="379476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68" dirty="0"/>
          </a:p>
        </p:txBody>
      </p:sp>
      <p:sp>
        <p:nvSpPr>
          <p:cNvPr id="19" name="Text 17"/>
          <p:cNvSpPr/>
          <p:nvPr/>
        </p:nvSpPr>
        <p:spPr>
          <a:xfrm>
            <a:off x="1531620" y="30175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68" dirty="0"/>
          </a:p>
        </p:txBody>
      </p:sp>
      <p:sp>
        <p:nvSpPr>
          <p:cNvPr id="20" name="Text 18"/>
          <p:cNvSpPr/>
          <p:nvPr/>
        </p:nvSpPr>
        <p:spPr>
          <a:xfrm>
            <a:off x="2560320" y="30175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68" dirty="0"/>
          </a:p>
        </p:txBody>
      </p:sp>
      <p:sp>
        <p:nvSpPr>
          <p:cNvPr id="21" name="Text 19"/>
          <p:cNvSpPr/>
          <p:nvPr/>
        </p:nvSpPr>
        <p:spPr>
          <a:xfrm>
            <a:off x="2045970" y="224028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68" dirty="0"/>
          </a:p>
        </p:txBody>
      </p:sp>
      <p:sp>
        <p:nvSpPr>
          <p:cNvPr id="22" name="Text 20"/>
          <p:cNvSpPr/>
          <p:nvPr/>
        </p:nvSpPr>
        <p:spPr>
          <a:xfrm>
            <a:off x="3246120" y="30175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68" dirty="0"/>
          </a:p>
        </p:txBody>
      </p:sp>
      <p:sp>
        <p:nvSpPr>
          <p:cNvPr id="23" name="Text 21"/>
          <p:cNvSpPr/>
          <p:nvPr/>
        </p:nvSpPr>
        <p:spPr>
          <a:xfrm>
            <a:off x="3246120" y="224028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68" dirty="0"/>
          </a:p>
        </p:txBody>
      </p:sp>
      <p:sp>
        <p:nvSpPr>
          <p:cNvPr id="24" name="Text 22"/>
          <p:cNvSpPr/>
          <p:nvPr/>
        </p:nvSpPr>
        <p:spPr>
          <a:xfrm>
            <a:off x="3931920" y="379476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68" dirty="0"/>
          </a:p>
        </p:txBody>
      </p:sp>
      <p:sp>
        <p:nvSpPr>
          <p:cNvPr id="25" name="Text 23"/>
          <p:cNvSpPr/>
          <p:nvPr/>
        </p:nvSpPr>
        <p:spPr>
          <a:xfrm>
            <a:off x="3931920" y="30175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368" dirty="0"/>
          </a:p>
        </p:txBody>
      </p:sp>
      <p:sp>
        <p:nvSpPr>
          <p:cNvPr id="26" name="Text 24"/>
          <p:cNvSpPr/>
          <p:nvPr/>
        </p:nvSpPr>
        <p:spPr>
          <a:xfrm>
            <a:off x="4617720" y="30175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68" dirty="0"/>
          </a:p>
        </p:txBody>
      </p:sp>
      <p:sp>
        <p:nvSpPr>
          <p:cNvPr id="27" name="Text 25"/>
          <p:cNvSpPr/>
          <p:nvPr/>
        </p:nvSpPr>
        <p:spPr>
          <a:xfrm>
            <a:off x="5303520" y="30175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368" dirty="0"/>
          </a:p>
        </p:txBody>
      </p:sp>
      <p:sp>
        <p:nvSpPr>
          <p:cNvPr id="28" name="Text 26"/>
          <p:cNvSpPr/>
          <p:nvPr/>
        </p:nvSpPr>
        <p:spPr>
          <a:xfrm>
            <a:off x="4617720" y="224028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68" dirty="0"/>
          </a:p>
        </p:txBody>
      </p:sp>
      <p:sp>
        <p:nvSpPr>
          <p:cNvPr id="29" name="Text 27"/>
          <p:cNvSpPr/>
          <p:nvPr/>
        </p:nvSpPr>
        <p:spPr>
          <a:xfrm>
            <a:off x="3331845" y="14630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68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9377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root first, then the list of its subtrees inside brackets: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5303520"/>
            <a:ext cx="5852160" cy="548640"/>
          </a:xfrm>
          <a:prstGeom prst="roundRect">
            <a:avLst>
              <a:gd name="adj" fmla="val 10000"/>
            </a:avLst>
          </a:prstGeom>
          <a:solidFill>
            <a:srgbClr val="1B2B24"/>
          </a:solidFill>
          <a:ln w="9525">
            <a:solidFill>
              <a:srgbClr val="1B2B2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54132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(B (E (K, L), F), C (G), D (H (M), I, J)))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it?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187452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dynamically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fixed array size</a:t>
            </a:r>
            <a:endParaRPr lang="en-US" sz="1600" dirty="0"/>
          </a:p>
          <a:p>
            <a:pPr marL="182880" indent="-18288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any number of children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node (N-ary trees)</a:t>
            </a:r>
            <a:endParaRPr lang="en-US" sz="1600" dirty="0"/>
          </a:p>
          <a:p>
            <a:pPr marL="182880" indent="-18288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recursion: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sub-list is a smaller tree</a:t>
            </a:r>
            <a:endParaRPr lang="en-US" sz="1600" dirty="0"/>
          </a:p>
          <a:p>
            <a:pPr marL="182880" indent="-18288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wasted cells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skinny/sparse trees (an array would reserve empty slots)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766560" y="4343400"/>
            <a:ext cx="4846320" cy="1554480"/>
          </a:xfrm>
          <a:prstGeom prst="roundRect">
            <a:avLst>
              <a:gd name="adj" fmla="val 4706"/>
            </a:avLst>
          </a:prstGeom>
          <a:solidFill>
            <a:srgbClr val="E6F0FA"/>
          </a:solidFill>
          <a:ln w="9525">
            <a:solidFill>
              <a:srgbClr val="E6F0F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49440" y="445312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4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47091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memory, each node’s data cell is followed by reference cells — one per subtree — chained together as a linked list (lecture slide 96).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TREE BASICS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Left-Child Right-Sibling (LCRS) representation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 flipV="1">
            <a:off x="1307592" y="2701138"/>
            <a:ext cx="246888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701138"/>
            <a:ext cx="246888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554480" y="2141525"/>
            <a:ext cx="370332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4812" y="2141525"/>
            <a:ext cx="370332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924812" y="1581912"/>
            <a:ext cx="925830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2141525"/>
            <a:ext cx="0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788920" y="1581912"/>
            <a:ext cx="61722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82696" y="2701138"/>
            <a:ext cx="0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3282696" y="2141525"/>
            <a:ext cx="493776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76472" y="2141525"/>
            <a:ext cx="0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76472" y="2141525"/>
            <a:ext cx="493776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50642" y="1581912"/>
            <a:ext cx="925830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09615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985" dirty="0"/>
          </a:p>
        </p:txBody>
      </p:sp>
      <p:sp>
        <p:nvSpPr>
          <p:cNvPr id="18" name="Text 16"/>
          <p:cNvSpPr/>
          <p:nvPr/>
        </p:nvSpPr>
        <p:spPr>
          <a:xfrm>
            <a:off x="1636776" y="309615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85" dirty="0"/>
          </a:p>
        </p:txBody>
      </p:sp>
      <p:sp>
        <p:nvSpPr>
          <p:cNvPr id="19" name="Text 17"/>
          <p:cNvSpPr/>
          <p:nvPr/>
        </p:nvSpPr>
        <p:spPr>
          <a:xfrm>
            <a:off x="1389888" y="253654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85" dirty="0"/>
          </a:p>
        </p:txBody>
      </p:sp>
      <p:sp>
        <p:nvSpPr>
          <p:cNvPr id="20" name="Text 18"/>
          <p:cNvSpPr/>
          <p:nvPr/>
        </p:nvSpPr>
        <p:spPr>
          <a:xfrm>
            <a:off x="2130552" y="253654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85" dirty="0"/>
          </a:p>
        </p:txBody>
      </p:sp>
      <p:sp>
        <p:nvSpPr>
          <p:cNvPr id="21" name="Text 19"/>
          <p:cNvSpPr/>
          <p:nvPr/>
        </p:nvSpPr>
        <p:spPr>
          <a:xfrm>
            <a:off x="1760220" y="1976933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85" dirty="0"/>
          </a:p>
        </p:txBody>
      </p:sp>
      <p:sp>
        <p:nvSpPr>
          <p:cNvPr id="22" name="Text 20"/>
          <p:cNvSpPr/>
          <p:nvPr/>
        </p:nvSpPr>
        <p:spPr>
          <a:xfrm>
            <a:off x="2624328" y="253654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85" dirty="0"/>
          </a:p>
        </p:txBody>
      </p:sp>
      <p:sp>
        <p:nvSpPr>
          <p:cNvPr id="23" name="Text 21"/>
          <p:cNvSpPr/>
          <p:nvPr/>
        </p:nvSpPr>
        <p:spPr>
          <a:xfrm>
            <a:off x="2624328" y="1976933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85" dirty="0"/>
          </a:p>
        </p:txBody>
      </p:sp>
      <p:sp>
        <p:nvSpPr>
          <p:cNvPr id="24" name="Text 22"/>
          <p:cNvSpPr/>
          <p:nvPr/>
        </p:nvSpPr>
        <p:spPr>
          <a:xfrm>
            <a:off x="3118104" y="309615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85" dirty="0"/>
          </a:p>
        </p:txBody>
      </p:sp>
      <p:sp>
        <p:nvSpPr>
          <p:cNvPr id="25" name="Text 23"/>
          <p:cNvSpPr/>
          <p:nvPr/>
        </p:nvSpPr>
        <p:spPr>
          <a:xfrm>
            <a:off x="3118104" y="253654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85" dirty="0"/>
          </a:p>
        </p:txBody>
      </p:sp>
      <p:sp>
        <p:nvSpPr>
          <p:cNvPr id="26" name="Text 24"/>
          <p:cNvSpPr/>
          <p:nvPr/>
        </p:nvSpPr>
        <p:spPr>
          <a:xfrm>
            <a:off x="3611880" y="253654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85" dirty="0"/>
          </a:p>
        </p:txBody>
      </p:sp>
      <p:sp>
        <p:nvSpPr>
          <p:cNvPr id="27" name="Text 25"/>
          <p:cNvSpPr/>
          <p:nvPr/>
        </p:nvSpPr>
        <p:spPr>
          <a:xfrm>
            <a:off x="4105656" y="253654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985" dirty="0"/>
          </a:p>
        </p:txBody>
      </p:sp>
      <p:sp>
        <p:nvSpPr>
          <p:cNvPr id="28" name="Text 26"/>
          <p:cNvSpPr/>
          <p:nvPr/>
        </p:nvSpPr>
        <p:spPr>
          <a:xfrm>
            <a:off x="3611880" y="1976933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85" dirty="0"/>
          </a:p>
        </p:txBody>
      </p:sp>
      <p:sp>
        <p:nvSpPr>
          <p:cNvPr id="29" name="Text 27"/>
          <p:cNvSpPr/>
          <p:nvPr/>
        </p:nvSpPr>
        <p:spPr>
          <a:xfrm>
            <a:off x="2686050" y="141732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85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has just two pointers: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4297680"/>
            <a:ext cx="1463040" cy="502920"/>
          </a:xfrm>
          <a:prstGeom prst="rect">
            <a:avLst/>
          </a:prstGeom>
          <a:solidFill>
            <a:srgbClr val="E8F3EC"/>
          </a:solidFill>
          <a:ln w="19050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011680" y="4297680"/>
            <a:ext cx="14630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child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0" y="4297680"/>
            <a:ext cx="14630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sibling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9834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pointer → first child</a:t>
            </a:r>
            <a:endParaRPr lang="en-US" sz="1400" dirty="0"/>
          </a:p>
          <a:p>
            <a:pPr marL="160020" indent="-16002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pointer → next sibling</a:t>
            </a:r>
            <a:endParaRPr lang="en-US" sz="1400" dirty="0"/>
          </a:p>
          <a:p>
            <a:pPr marL="160020" indent="-16002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an ordinary binary tree!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503795" y="3520440"/>
            <a:ext cx="285750" cy="624840"/>
          </a:xfrm>
          <a:prstGeom prst="line">
            <a:avLst/>
          </a:prstGeom>
          <a:noFill/>
          <a:ln w="28575">
            <a:solidFill>
              <a:srgbClr val="F2A90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 flipV="1">
            <a:off x="7503795" y="2895600"/>
            <a:ext cx="285750" cy="62484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89545" y="2895600"/>
            <a:ext cx="285750" cy="624840"/>
          </a:xfrm>
          <a:prstGeom prst="line">
            <a:avLst/>
          </a:prstGeom>
          <a:noFill/>
          <a:ln w="28575">
            <a:solidFill>
              <a:srgbClr val="F2A90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 flipV="1">
            <a:off x="7789545" y="2270760"/>
            <a:ext cx="571500" cy="62484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8646795" y="2895600"/>
            <a:ext cx="285750" cy="62484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8646795" y="4145280"/>
            <a:ext cx="285750" cy="62484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18295" y="4770120"/>
            <a:ext cx="285750" cy="624840"/>
          </a:xfrm>
          <a:prstGeom prst="line">
            <a:avLst/>
          </a:prstGeom>
          <a:noFill/>
          <a:ln w="28575">
            <a:solidFill>
              <a:srgbClr val="F2A900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8932545" y="4145280"/>
            <a:ext cx="285750" cy="624840"/>
          </a:xfrm>
          <a:prstGeom prst="line">
            <a:avLst/>
          </a:prstGeom>
          <a:noFill/>
          <a:ln w="28575">
            <a:solidFill>
              <a:srgbClr val="F2A900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 flipV="1">
            <a:off x="8932545" y="3520440"/>
            <a:ext cx="285750" cy="62484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32545" y="2895600"/>
            <a:ext cx="285750" cy="624840"/>
          </a:xfrm>
          <a:prstGeom prst="line">
            <a:avLst/>
          </a:prstGeom>
          <a:noFill/>
          <a:ln w="28575">
            <a:solidFill>
              <a:srgbClr val="F2A900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8361045" y="2270760"/>
            <a:ext cx="571500" cy="624840"/>
          </a:xfrm>
          <a:prstGeom prst="line">
            <a:avLst/>
          </a:prstGeom>
          <a:noFill/>
          <a:ln w="28575">
            <a:solidFill>
              <a:srgbClr val="F2A900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 flipV="1">
            <a:off x="8361045" y="1645920"/>
            <a:ext cx="285750" cy="62484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60945" y="391668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68" dirty="0"/>
          </a:p>
        </p:txBody>
      </p:sp>
      <p:sp>
        <p:nvSpPr>
          <p:cNvPr id="48" name="Text 46"/>
          <p:cNvSpPr/>
          <p:nvPr/>
        </p:nvSpPr>
        <p:spPr>
          <a:xfrm>
            <a:off x="7275195" y="32918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368" dirty="0"/>
          </a:p>
        </p:txBody>
      </p:sp>
      <p:sp>
        <p:nvSpPr>
          <p:cNvPr id="49" name="Text 47"/>
          <p:cNvSpPr/>
          <p:nvPr/>
        </p:nvSpPr>
        <p:spPr>
          <a:xfrm>
            <a:off x="7846695" y="32918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68" dirty="0"/>
          </a:p>
        </p:txBody>
      </p:sp>
      <p:sp>
        <p:nvSpPr>
          <p:cNvPr id="50" name="Text 48"/>
          <p:cNvSpPr/>
          <p:nvPr/>
        </p:nvSpPr>
        <p:spPr>
          <a:xfrm>
            <a:off x="7560945" y="266700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68" dirty="0"/>
          </a:p>
        </p:txBody>
      </p:sp>
      <p:sp>
        <p:nvSpPr>
          <p:cNvPr id="51" name="Text 49"/>
          <p:cNvSpPr/>
          <p:nvPr/>
        </p:nvSpPr>
        <p:spPr>
          <a:xfrm>
            <a:off x="8418195" y="32918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68" dirty="0"/>
          </a:p>
        </p:txBody>
      </p:sp>
      <p:sp>
        <p:nvSpPr>
          <p:cNvPr id="52" name="Text 50"/>
          <p:cNvSpPr/>
          <p:nvPr/>
        </p:nvSpPr>
        <p:spPr>
          <a:xfrm>
            <a:off x="8418195" y="45415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68" dirty="0"/>
          </a:p>
        </p:txBody>
      </p:sp>
      <p:sp>
        <p:nvSpPr>
          <p:cNvPr id="53" name="Text 51"/>
          <p:cNvSpPr/>
          <p:nvPr/>
        </p:nvSpPr>
        <p:spPr>
          <a:xfrm>
            <a:off x="9275445" y="516636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368" dirty="0"/>
          </a:p>
        </p:txBody>
      </p:sp>
      <p:sp>
        <p:nvSpPr>
          <p:cNvPr id="54" name="Text 52"/>
          <p:cNvSpPr/>
          <p:nvPr/>
        </p:nvSpPr>
        <p:spPr>
          <a:xfrm>
            <a:off x="8989695" y="45415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68" dirty="0"/>
          </a:p>
        </p:txBody>
      </p:sp>
      <p:sp>
        <p:nvSpPr>
          <p:cNvPr id="55" name="Text 53"/>
          <p:cNvSpPr/>
          <p:nvPr/>
        </p:nvSpPr>
        <p:spPr>
          <a:xfrm>
            <a:off x="8703945" y="391668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368" dirty="0"/>
          </a:p>
        </p:txBody>
      </p:sp>
      <p:sp>
        <p:nvSpPr>
          <p:cNvPr id="56" name="Text 54"/>
          <p:cNvSpPr/>
          <p:nvPr/>
        </p:nvSpPr>
        <p:spPr>
          <a:xfrm>
            <a:off x="8989695" y="32918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68" dirty="0"/>
          </a:p>
        </p:txBody>
      </p:sp>
      <p:sp>
        <p:nvSpPr>
          <p:cNvPr id="57" name="Text 55"/>
          <p:cNvSpPr/>
          <p:nvPr/>
        </p:nvSpPr>
        <p:spPr>
          <a:xfrm>
            <a:off x="8703945" y="266700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68" dirty="0"/>
          </a:p>
        </p:txBody>
      </p:sp>
      <p:sp>
        <p:nvSpPr>
          <p:cNvPr id="58" name="Text 56"/>
          <p:cNvSpPr/>
          <p:nvPr/>
        </p:nvSpPr>
        <p:spPr>
          <a:xfrm>
            <a:off x="8132445" y="204216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68" dirty="0"/>
          </a:p>
        </p:txBody>
      </p:sp>
      <p:sp>
        <p:nvSpPr>
          <p:cNvPr id="59" name="Text 57"/>
          <p:cNvSpPr/>
          <p:nvPr/>
        </p:nvSpPr>
        <p:spPr>
          <a:xfrm>
            <a:off x="8418195" y="14173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68" dirty="0"/>
          </a:p>
        </p:txBody>
      </p:sp>
      <p:sp>
        <p:nvSpPr>
          <p:cNvPr id="60" name="Shape 58"/>
          <p:cNvSpPr/>
          <p:nvPr/>
        </p:nvSpPr>
        <p:spPr>
          <a:xfrm>
            <a:off x="7315200" y="5897880"/>
            <a:ext cx="548640" cy="0"/>
          </a:xfrm>
          <a:prstGeom prst="line">
            <a:avLst/>
          </a:prstGeom>
          <a:noFill/>
          <a:ln w="25400">
            <a:solidFill>
              <a:srgbClr val="2D6A4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955280" y="5788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child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326880" y="5897880"/>
            <a:ext cx="548640" cy="0"/>
          </a:xfrm>
          <a:prstGeom prst="line">
            <a:avLst/>
          </a:prstGeom>
          <a:noFill/>
          <a:ln w="28575">
            <a:solidFill>
              <a:srgbClr val="F2A900"/>
            </a:solidFill>
            <a:prstDash val="dash"/>
          </a:ln>
        </p:spPr>
      </p:sp>
      <p:sp>
        <p:nvSpPr>
          <p:cNvPr id="63" name="Text 61"/>
          <p:cNvSpPr txBox="1"/>
          <p:nvPr/>
        </p:nvSpPr>
        <p:spPr>
          <a:xfrm>
            <a:off x="9966960" y="5788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sibling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TREE BASICS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trees by maximum children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tree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 children (left, right)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flipV="1">
            <a:off x="1322222" y="3394253"/>
            <a:ext cx="336499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58722" y="3394253"/>
            <a:ext cx="336499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658722" y="2679192"/>
            <a:ext cx="672998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668219" y="3394253"/>
            <a:ext cx="336499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04718" y="3394253"/>
            <a:ext cx="336499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31720" y="2679192"/>
            <a:ext cx="672998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1910" y="389900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9" dirty="0"/>
          </a:p>
        </p:txBody>
      </p:sp>
      <p:sp>
        <p:nvSpPr>
          <p:cNvPr id="15" name="Text 13"/>
          <p:cNvSpPr/>
          <p:nvPr/>
        </p:nvSpPr>
        <p:spPr>
          <a:xfrm>
            <a:off x="1784909" y="389900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9" dirty="0"/>
          </a:p>
        </p:txBody>
      </p:sp>
      <p:sp>
        <p:nvSpPr>
          <p:cNvPr id="16" name="Text 14"/>
          <p:cNvSpPr/>
          <p:nvPr/>
        </p:nvSpPr>
        <p:spPr>
          <a:xfrm>
            <a:off x="1448410" y="3183941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9" dirty="0"/>
          </a:p>
        </p:txBody>
      </p:sp>
      <p:sp>
        <p:nvSpPr>
          <p:cNvPr id="17" name="Text 15"/>
          <p:cNvSpPr/>
          <p:nvPr/>
        </p:nvSpPr>
        <p:spPr>
          <a:xfrm>
            <a:off x="2457907" y="389900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9" dirty="0"/>
          </a:p>
        </p:txBody>
      </p:sp>
      <p:sp>
        <p:nvSpPr>
          <p:cNvPr id="18" name="Text 16"/>
          <p:cNvSpPr/>
          <p:nvPr/>
        </p:nvSpPr>
        <p:spPr>
          <a:xfrm>
            <a:off x="3130906" y="389900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9" dirty="0"/>
          </a:p>
        </p:txBody>
      </p:sp>
      <p:sp>
        <p:nvSpPr>
          <p:cNvPr id="19" name="Text 17"/>
          <p:cNvSpPr/>
          <p:nvPr/>
        </p:nvSpPr>
        <p:spPr>
          <a:xfrm>
            <a:off x="2794406" y="3183941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9" dirty="0"/>
          </a:p>
        </p:txBody>
      </p:sp>
      <p:sp>
        <p:nvSpPr>
          <p:cNvPr id="20" name="Text 18"/>
          <p:cNvSpPr/>
          <p:nvPr/>
        </p:nvSpPr>
        <p:spPr>
          <a:xfrm>
            <a:off x="2121408" y="246888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9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983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BST · AVL · Red-Black · Splay · heaps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0" y="146304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805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Ternary tree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 children (left, mid, right)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 flipV="1">
            <a:off x="4800600" y="3394253"/>
            <a:ext cx="640080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40680" y="3394253"/>
            <a:ext cx="0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0680" y="3394253"/>
            <a:ext cx="640080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5440680" y="2679192"/>
            <a:ext cx="960120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2679192"/>
            <a:ext cx="320040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60920" y="3394253"/>
            <a:ext cx="0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2679192"/>
            <a:ext cx="960120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0288" y="389900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9" dirty="0"/>
          </a:p>
        </p:txBody>
      </p:sp>
      <p:sp>
        <p:nvSpPr>
          <p:cNvPr id="33" name="Text 31"/>
          <p:cNvSpPr/>
          <p:nvPr/>
        </p:nvSpPr>
        <p:spPr>
          <a:xfrm>
            <a:off x="5230368" y="389900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9" dirty="0"/>
          </a:p>
        </p:txBody>
      </p:sp>
      <p:sp>
        <p:nvSpPr>
          <p:cNvPr id="34" name="Text 32"/>
          <p:cNvSpPr/>
          <p:nvPr/>
        </p:nvSpPr>
        <p:spPr>
          <a:xfrm>
            <a:off x="5870448" y="389900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9" dirty="0"/>
          </a:p>
        </p:txBody>
      </p:sp>
      <p:sp>
        <p:nvSpPr>
          <p:cNvPr id="35" name="Text 33"/>
          <p:cNvSpPr/>
          <p:nvPr/>
        </p:nvSpPr>
        <p:spPr>
          <a:xfrm>
            <a:off x="5230368" y="3183941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9" dirty="0"/>
          </a:p>
        </p:txBody>
      </p:sp>
      <p:sp>
        <p:nvSpPr>
          <p:cNvPr id="36" name="Text 34"/>
          <p:cNvSpPr/>
          <p:nvPr/>
        </p:nvSpPr>
        <p:spPr>
          <a:xfrm>
            <a:off x="6510528" y="3183941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9" dirty="0"/>
          </a:p>
        </p:txBody>
      </p:sp>
      <p:sp>
        <p:nvSpPr>
          <p:cNvPr id="37" name="Text 35"/>
          <p:cNvSpPr/>
          <p:nvPr/>
        </p:nvSpPr>
        <p:spPr>
          <a:xfrm>
            <a:off x="7150608" y="389900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9" dirty="0"/>
          </a:p>
        </p:txBody>
      </p:sp>
      <p:sp>
        <p:nvSpPr>
          <p:cNvPr id="38" name="Text 36"/>
          <p:cNvSpPr/>
          <p:nvPr/>
        </p:nvSpPr>
        <p:spPr>
          <a:xfrm>
            <a:off x="7150608" y="3183941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9" dirty="0"/>
          </a:p>
        </p:txBody>
      </p:sp>
      <p:sp>
        <p:nvSpPr>
          <p:cNvPr id="39" name="Text 37"/>
          <p:cNvSpPr/>
          <p:nvPr/>
        </p:nvSpPr>
        <p:spPr>
          <a:xfrm>
            <a:off x="6190488" y="246888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9" dirty="0"/>
          </a:p>
        </p:txBody>
      </p:sp>
      <p:sp>
        <p:nvSpPr>
          <p:cNvPr id="40" name="Text 38"/>
          <p:cNvSpPr txBox="1"/>
          <p:nvPr/>
        </p:nvSpPr>
        <p:spPr>
          <a:xfrm>
            <a:off x="4526280" y="4983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Ternary search trees, some game trees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046720" y="146304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96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N-ary (generic) tree</a:t>
            </a:r>
            <a:endParaRPr lang="en-US" sz="190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N children (here N = 5)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 flipV="1">
            <a:off x="8496300" y="3394253"/>
            <a:ext cx="266700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63000" y="3394253"/>
            <a:ext cx="266700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8763000" y="2679192"/>
            <a:ext cx="1200150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9563100" y="2679192"/>
            <a:ext cx="400050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63150" y="2679192"/>
            <a:ext cx="133350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629900" y="3394253"/>
            <a:ext cx="0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963150" y="2679192"/>
            <a:ext cx="666750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963150" y="2679192"/>
            <a:ext cx="1200150" cy="71506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85988" y="389900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9" dirty="0"/>
          </a:p>
        </p:txBody>
      </p:sp>
      <p:sp>
        <p:nvSpPr>
          <p:cNvPr id="53" name="Text 51"/>
          <p:cNvSpPr/>
          <p:nvPr/>
        </p:nvSpPr>
        <p:spPr>
          <a:xfrm>
            <a:off x="8819388" y="389900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59" dirty="0"/>
          </a:p>
        </p:txBody>
      </p:sp>
      <p:sp>
        <p:nvSpPr>
          <p:cNvPr id="54" name="Text 52"/>
          <p:cNvSpPr/>
          <p:nvPr/>
        </p:nvSpPr>
        <p:spPr>
          <a:xfrm>
            <a:off x="8552688" y="3183941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9" dirty="0"/>
          </a:p>
        </p:txBody>
      </p:sp>
      <p:sp>
        <p:nvSpPr>
          <p:cNvPr id="55" name="Text 53"/>
          <p:cNvSpPr/>
          <p:nvPr/>
        </p:nvSpPr>
        <p:spPr>
          <a:xfrm>
            <a:off x="9352788" y="3183941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9" dirty="0"/>
          </a:p>
        </p:txBody>
      </p:sp>
      <p:sp>
        <p:nvSpPr>
          <p:cNvPr id="56" name="Text 54"/>
          <p:cNvSpPr/>
          <p:nvPr/>
        </p:nvSpPr>
        <p:spPr>
          <a:xfrm>
            <a:off x="9886188" y="3183941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9" dirty="0"/>
          </a:p>
        </p:txBody>
      </p:sp>
      <p:sp>
        <p:nvSpPr>
          <p:cNvPr id="57" name="Text 55"/>
          <p:cNvSpPr/>
          <p:nvPr/>
        </p:nvSpPr>
        <p:spPr>
          <a:xfrm>
            <a:off x="10419588" y="389900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9" dirty="0"/>
          </a:p>
        </p:txBody>
      </p:sp>
      <p:sp>
        <p:nvSpPr>
          <p:cNvPr id="58" name="Text 56"/>
          <p:cNvSpPr/>
          <p:nvPr/>
        </p:nvSpPr>
        <p:spPr>
          <a:xfrm>
            <a:off x="10419588" y="3183941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9" dirty="0"/>
          </a:p>
        </p:txBody>
      </p:sp>
      <p:sp>
        <p:nvSpPr>
          <p:cNvPr id="59" name="Text 57"/>
          <p:cNvSpPr/>
          <p:nvPr/>
        </p:nvSpPr>
        <p:spPr>
          <a:xfrm>
            <a:off x="10952988" y="3183941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9" dirty="0"/>
          </a:p>
        </p:txBody>
      </p:sp>
      <p:sp>
        <p:nvSpPr>
          <p:cNvPr id="60" name="Text 58"/>
          <p:cNvSpPr/>
          <p:nvPr/>
        </p:nvSpPr>
        <p:spPr>
          <a:xfrm>
            <a:off x="9752838" y="246888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9" dirty="0"/>
          </a:p>
        </p:txBody>
      </p:sp>
      <p:sp>
        <p:nvSpPr>
          <p:cNvPr id="61" name="Text 59"/>
          <p:cNvSpPr txBox="1"/>
          <p:nvPr/>
        </p:nvSpPr>
        <p:spPr>
          <a:xfrm>
            <a:off x="8275320" y="4983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B-trees · B+ trees · Tries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trees &amp; traversals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Binary-tree shapes and counting rules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vs pointers for storage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Pre-, in-, post- and level-order — and rebuilding a tree from them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 flipV="1">
            <a:off x="836676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778240" y="2514600"/>
            <a:ext cx="82296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01268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0" y="2514600"/>
            <a:ext cx="82296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1540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03920" y="320040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73836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6132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49840" y="320040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0" y="224028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5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BINARY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trees and their shapes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has </a:t>
            </a: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two children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</a:t>
            </a: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child and a </a:t>
            </a: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child.</a:t>
            </a:r>
            <a:endParaRPr lang="en-US" sz="1600" dirty="0"/>
          </a:p>
          <a:p>
            <a:pPr marL="182880" indent="-18288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tree may be </a:t>
            </a: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≠ right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two trees below are different binary trees (Handbook Fig. 3.2).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 flipV="1">
            <a:off x="1005840" y="3337560"/>
            <a:ext cx="45720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7300" y="3131820"/>
            <a:ext cx="411480" cy="4114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1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31" dirty="0"/>
          </a:p>
        </p:txBody>
      </p:sp>
      <p:sp>
        <p:nvSpPr>
          <p:cNvPr id="8" name="Text 6"/>
          <p:cNvSpPr/>
          <p:nvPr/>
        </p:nvSpPr>
        <p:spPr>
          <a:xfrm>
            <a:off x="800100" y="3771900"/>
            <a:ext cx="411480" cy="4114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1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31" dirty="0"/>
          </a:p>
        </p:txBody>
      </p:sp>
      <p:sp>
        <p:nvSpPr>
          <p:cNvPr id="9" name="Shape 7"/>
          <p:cNvSpPr/>
          <p:nvPr/>
        </p:nvSpPr>
        <p:spPr>
          <a:xfrm>
            <a:off x="3657600" y="3337560"/>
            <a:ext cx="45720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1860" y="3131820"/>
            <a:ext cx="411480" cy="4114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1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31" dirty="0"/>
          </a:p>
        </p:txBody>
      </p:sp>
      <p:sp>
        <p:nvSpPr>
          <p:cNvPr id="11" name="Text 9"/>
          <p:cNvSpPr/>
          <p:nvPr/>
        </p:nvSpPr>
        <p:spPr>
          <a:xfrm>
            <a:off x="3909060" y="3771900"/>
            <a:ext cx="411480" cy="4114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1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31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34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is a left child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is a right child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1B2B24"/>
          </a:solidFill>
          <a:ln w="9525">
            <a:solidFill>
              <a:srgbClr val="1B2B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956048"/>
            <a:ext cx="44805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TreeNode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KeyType   data;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TreeNode* left;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TreeNode* right;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60720" y="146304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1536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 flipV="1">
            <a:off x="6793992" y="2487168"/>
            <a:ext cx="256032" cy="4572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50024" y="2487168"/>
            <a:ext cx="256032" cy="4572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7050024" y="2029968"/>
            <a:ext cx="256032" cy="4572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06056" y="2029968"/>
            <a:ext cx="256032" cy="4572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11112" y="276148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4" dirty="0"/>
          </a:p>
        </p:txBody>
      </p:sp>
      <p:sp>
        <p:nvSpPr>
          <p:cNvPr id="23" name="Text 21"/>
          <p:cNvSpPr/>
          <p:nvPr/>
        </p:nvSpPr>
        <p:spPr>
          <a:xfrm>
            <a:off x="7123176" y="276148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4" dirty="0"/>
          </a:p>
        </p:txBody>
      </p:sp>
      <p:sp>
        <p:nvSpPr>
          <p:cNvPr id="24" name="Text 22"/>
          <p:cNvSpPr/>
          <p:nvPr/>
        </p:nvSpPr>
        <p:spPr>
          <a:xfrm>
            <a:off x="6867144" y="230428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4" dirty="0"/>
          </a:p>
        </p:txBody>
      </p:sp>
      <p:sp>
        <p:nvSpPr>
          <p:cNvPr id="25" name="Text 23"/>
          <p:cNvSpPr/>
          <p:nvPr/>
        </p:nvSpPr>
        <p:spPr>
          <a:xfrm>
            <a:off x="7379208" y="230428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4" dirty="0"/>
          </a:p>
        </p:txBody>
      </p:sp>
      <p:sp>
        <p:nvSpPr>
          <p:cNvPr id="26" name="Text 24"/>
          <p:cNvSpPr/>
          <p:nvPr/>
        </p:nvSpPr>
        <p:spPr>
          <a:xfrm>
            <a:off x="7123176" y="184708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4" dirty="0"/>
          </a:p>
        </p:txBody>
      </p:sp>
      <p:sp>
        <p:nvSpPr>
          <p:cNvPr id="27" name="Text 25"/>
          <p:cNvSpPr txBox="1"/>
          <p:nvPr/>
        </p:nvSpPr>
        <p:spPr>
          <a:xfrm>
            <a:off x="5897880" y="31546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has 0 or 2 children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732520" y="146304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23960" y="1536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 flipV="1">
            <a:off x="9509760" y="2487168"/>
            <a:ext cx="256032" cy="4572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65792" y="2487168"/>
            <a:ext cx="256032" cy="4572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9765792" y="2029968"/>
            <a:ext cx="512064" cy="4572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10533888" y="2487168"/>
            <a:ext cx="256032" cy="4572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77856" y="2029968"/>
            <a:ext cx="512064" cy="4572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0" y="276148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4" dirty="0"/>
          </a:p>
        </p:txBody>
      </p:sp>
      <p:sp>
        <p:nvSpPr>
          <p:cNvPr id="36" name="Text 34"/>
          <p:cNvSpPr/>
          <p:nvPr/>
        </p:nvSpPr>
        <p:spPr>
          <a:xfrm>
            <a:off x="9838944" y="276148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4" dirty="0"/>
          </a:p>
        </p:txBody>
      </p:sp>
      <p:sp>
        <p:nvSpPr>
          <p:cNvPr id="37" name="Text 35"/>
          <p:cNvSpPr/>
          <p:nvPr/>
        </p:nvSpPr>
        <p:spPr>
          <a:xfrm>
            <a:off x="9582912" y="230428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4" dirty="0"/>
          </a:p>
        </p:txBody>
      </p:sp>
      <p:sp>
        <p:nvSpPr>
          <p:cNvPr id="38" name="Text 36"/>
          <p:cNvSpPr/>
          <p:nvPr/>
        </p:nvSpPr>
        <p:spPr>
          <a:xfrm>
            <a:off x="10351008" y="276148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94" dirty="0"/>
          </a:p>
        </p:txBody>
      </p:sp>
      <p:sp>
        <p:nvSpPr>
          <p:cNvPr id="39" name="Text 37"/>
          <p:cNvSpPr/>
          <p:nvPr/>
        </p:nvSpPr>
        <p:spPr>
          <a:xfrm>
            <a:off x="10607040" y="230428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4" dirty="0"/>
          </a:p>
        </p:txBody>
      </p:sp>
      <p:sp>
        <p:nvSpPr>
          <p:cNvPr id="40" name="Text 38"/>
          <p:cNvSpPr/>
          <p:nvPr/>
        </p:nvSpPr>
        <p:spPr>
          <a:xfrm>
            <a:off x="10094976" y="184708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4" dirty="0"/>
          </a:p>
        </p:txBody>
      </p:sp>
      <p:sp>
        <p:nvSpPr>
          <p:cNvPr id="41" name="Text 39"/>
          <p:cNvSpPr txBox="1"/>
          <p:nvPr/>
        </p:nvSpPr>
        <p:spPr>
          <a:xfrm>
            <a:off x="8869680" y="31546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levels full except maybe the last, filled left → right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760720" y="393192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85216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 flipV="1">
            <a:off x="6409944" y="4956048"/>
            <a:ext cx="256032" cy="4572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65976" y="4956048"/>
            <a:ext cx="256032" cy="4572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6665976" y="4498848"/>
            <a:ext cx="512064" cy="4572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7434072" y="4956048"/>
            <a:ext cx="256032" cy="4572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90104" y="4956048"/>
            <a:ext cx="256032" cy="4572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78040" y="4498848"/>
            <a:ext cx="512064" cy="4572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27064" y="523036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4" dirty="0"/>
          </a:p>
        </p:txBody>
      </p:sp>
      <p:sp>
        <p:nvSpPr>
          <p:cNvPr id="51" name="Text 49"/>
          <p:cNvSpPr/>
          <p:nvPr/>
        </p:nvSpPr>
        <p:spPr>
          <a:xfrm>
            <a:off x="6739128" y="523036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4" dirty="0"/>
          </a:p>
        </p:txBody>
      </p:sp>
      <p:sp>
        <p:nvSpPr>
          <p:cNvPr id="52" name="Text 50"/>
          <p:cNvSpPr/>
          <p:nvPr/>
        </p:nvSpPr>
        <p:spPr>
          <a:xfrm>
            <a:off x="6483096" y="477316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4" dirty="0"/>
          </a:p>
        </p:txBody>
      </p:sp>
      <p:sp>
        <p:nvSpPr>
          <p:cNvPr id="53" name="Text 51"/>
          <p:cNvSpPr/>
          <p:nvPr/>
        </p:nvSpPr>
        <p:spPr>
          <a:xfrm>
            <a:off x="7251192" y="523036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94" dirty="0"/>
          </a:p>
        </p:txBody>
      </p:sp>
      <p:sp>
        <p:nvSpPr>
          <p:cNvPr id="54" name="Text 52"/>
          <p:cNvSpPr/>
          <p:nvPr/>
        </p:nvSpPr>
        <p:spPr>
          <a:xfrm>
            <a:off x="7763256" y="523036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94" dirty="0"/>
          </a:p>
        </p:txBody>
      </p:sp>
      <p:sp>
        <p:nvSpPr>
          <p:cNvPr id="55" name="Text 53"/>
          <p:cNvSpPr/>
          <p:nvPr/>
        </p:nvSpPr>
        <p:spPr>
          <a:xfrm>
            <a:off x="7507224" y="477316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4" dirty="0"/>
          </a:p>
        </p:txBody>
      </p:sp>
      <p:sp>
        <p:nvSpPr>
          <p:cNvPr id="56" name="Text 54"/>
          <p:cNvSpPr/>
          <p:nvPr/>
        </p:nvSpPr>
        <p:spPr>
          <a:xfrm>
            <a:off x="6995160" y="431596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4" dirty="0"/>
          </a:p>
        </p:txBody>
      </p:sp>
      <p:sp>
        <p:nvSpPr>
          <p:cNvPr id="57" name="Text 55"/>
          <p:cNvSpPr txBox="1"/>
          <p:nvPr/>
        </p:nvSpPr>
        <p:spPr>
          <a:xfrm>
            <a:off x="5897880" y="5623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internal nodes have 2 children, all leaves on one level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8732520" y="393192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82396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Skewed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10247243" y="5123025"/>
            <a:ext cx="194807" cy="333955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052437" y="4789071"/>
            <a:ext cx="194807" cy="333955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857630" y="4455116"/>
            <a:ext cx="194807" cy="333955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302903" y="5317832"/>
            <a:ext cx="278296" cy="2782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33" dirty="0"/>
          </a:p>
        </p:txBody>
      </p:sp>
      <p:sp>
        <p:nvSpPr>
          <p:cNvPr id="64" name="Text 62"/>
          <p:cNvSpPr/>
          <p:nvPr/>
        </p:nvSpPr>
        <p:spPr>
          <a:xfrm>
            <a:off x="10108096" y="4983878"/>
            <a:ext cx="278296" cy="2782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33" dirty="0"/>
          </a:p>
        </p:txBody>
      </p:sp>
      <p:sp>
        <p:nvSpPr>
          <p:cNvPr id="65" name="Text 63"/>
          <p:cNvSpPr/>
          <p:nvPr/>
        </p:nvSpPr>
        <p:spPr>
          <a:xfrm>
            <a:off x="9913289" y="4649923"/>
            <a:ext cx="278296" cy="2782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33" dirty="0"/>
          </a:p>
        </p:txBody>
      </p:sp>
      <p:sp>
        <p:nvSpPr>
          <p:cNvPr id="66" name="Text 64"/>
          <p:cNvSpPr/>
          <p:nvPr/>
        </p:nvSpPr>
        <p:spPr>
          <a:xfrm>
            <a:off x="9718482" y="4315968"/>
            <a:ext cx="278296" cy="2782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33" dirty="0"/>
          </a:p>
        </p:txBody>
      </p:sp>
      <p:sp>
        <p:nvSpPr>
          <p:cNvPr id="67" name="Text 65"/>
          <p:cNvSpPr txBox="1"/>
          <p:nvPr/>
        </p:nvSpPr>
        <p:spPr>
          <a:xfrm>
            <a:off x="8869680" y="5623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has one child: a chain, height n − 1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BINARY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Counting rules: nodes per level, nodes per height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 flipV="1">
            <a:off x="1783994" y="3010205"/>
            <a:ext cx="189281" cy="69128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73275" y="3010205"/>
            <a:ext cx="189281" cy="69128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973275" y="2318918"/>
            <a:ext cx="378562" cy="69128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541118" y="3010205"/>
            <a:ext cx="189281" cy="69128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30398" y="3010205"/>
            <a:ext cx="189281" cy="69128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51837" y="2318918"/>
            <a:ext cx="378562" cy="69128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351837" y="1627632"/>
            <a:ext cx="757123" cy="69128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298241" y="3010205"/>
            <a:ext cx="189281" cy="69128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87522" y="3010205"/>
            <a:ext cx="189281" cy="69128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3487522" y="2318918"/>
            <a:ext cx="378562" cy="69128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055364" y="3010205"/>
            <a:ext cx="189281" cy="69128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44645" y="3010205"/>
            <a:ext cx="189281" cy="69128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66083" y="2318918"/>
            <a:ext cx="378562" cy="69128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1627632"/>
            <a:ext cx="757123" cy="69128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19402" y="3536899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85" dirty="0"/>
          </a:p>
        </p:txBody>
      </p:sp>
      <p:sp>
        <p:nvSpPr>
          <p:cNvPr id="20" name="Text 18"/>
          <p:cNvSpPr/>
          <p:nvPr/>
        </p:nvSpPr>
        <p:spPr>
          <a:xfrm>
            <a:off x="1997964" y="3536899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85" dirty="0"/>
          </a:p>
        </p:txBody>
      </p:sp>
      <p:sp>
        <p:nvSpPr>
          <p:cNvPr id="21" name="Text 19"/>
          <p:cNvSpPr/>
          <p:nvPr/>
        </p:nvSpPr>
        <p:spPr>
          <a:xfrm>
            <a:off x="1808683" y="2845613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85" dirty="0"/>
          </a:p>
        </p:txBody>
      </p:sp>
      <p:sp>
        <p:nvSpPr>
          <p:cNvPr id="22" name="Text 20"/>
          <p:cNvSpPr/>
          <p:nvPr/>
        </p:nvSpPr>
        <p:spPr>
          <a:xfrm>
            <a:off x="2376526" y="3536899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85" dirty="0"/>
          </a:p>
        </p:txBody>
      </p:sp>
      <p:sp>
        <p:nvSpPr>
          <p:cNvPr id="23" name="Text 21"/>
          <p:cNvSpPr/>
          <p:nvPr/>
        </p:nvSpPr>
        <p:spPr>
          <a:xfrm>
            <a:off x="2755087" y="3536899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85" dirty="0"/>
          </a:p>
        </p:txBody>
      </p:sp>
      <p:sp>
        <p:nvSpPr>
          <p:cNvPr id="24" name="Text 22"/>
          <p:cNvSpPr/>
          <p:nvPr/>
        </p:nvSpPr>
        <p:spPr>
          <a:xfrm>
            <a:off x="2565806" y="2845613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85" dirty="0"/>
          </a:p>
        </p:txBody>
      </p:sp>
      <p:sp>
        <p:nvSpPr>
          <p:cNvPr id="25" name="Text 23"/>
          <p:cNvSpPr/>
          <p:nvPr/>
        </p:nvSpPr>
        <p:spPr>
          <a:xfrm>
            <a:off x="2187245" y="215432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85" dirty="0"/>
          </a:p>
        </p:txBody>
      </p:sp>
      <p:sp>
        <p:nvSpPr>
          <p:cNvPr id="26" name="Text 24"/>
          <p:cNvSpPr/>
          <p:nvPr/>
        </p:nvSpPr>
        <p:spPr>
          <a:xfrm>
            <a:off x="3133649" y="3536899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85" dirty="0"/>
          </a:p>
        </p:txBody>
      </p:sp>
      <p:sp>
        <p:nvSpPr>
          <p:cNvPr id="27" name="Text 25"/>
          <p:cNvSpPr/>
          <p:nvPr/>
        </p:nvSpPr>
        <p:spPr>
          <a:xfrm>
            <a:off x="3512210" y="3536899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85" dirty="0"/>
          </a:p>
        </p:txBody>
      </p:sp>
      <p:sp>
        <p:nvSpPr>
          <p:cNvPr id="28" name="Text 26"/>
          <p:cNvSpPr/>
          <p:nvPr/>
        </p:nvSpPr>
        <p:spPr>
          <a:xfrm>
            <a:off x="3322930" y="2845613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85" dirty="0"/>
          </a:p>
        </p:txBody>
      </p:sp>
      <p:sp>
        <p:nvSpPr>
          <p:cNvPr id="29" name="Text 27"/>
          <p:cNvSpPr/>
          <p:nvPr/>
        </p:nvSpPr>
        <p:spPr>
          <a:xfrm>
            <a:off x="3890772" y="3536899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85" dirty="0"/>
          </a:p>
        </p:txBody>
      </p:sp>
      <p:sp>
        <p:nvSpPr>
          <p:cNvPr id="30" name="Text 28"/>
          <p:cNvSpPr/>
          <p:nvPr/>
        </p:nvSpPr>
        <p:spPr>
          <a:xfrm>
            <a:off x="4269334" y="3536899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85" dirty="0"/>
          </a:p>
        </p:txBody>
      </p:sp>
      <p:sp>
        <p:nvSpPr>
          <p:cNvPr id="31" name="Text 29"/>
          <p:cNvSpPr/>
          <p:nvPr/>
        </p:nvSpPr>
        <p:spPr>
          <a:xfrm>
            <a:off x="4080053" y="2845613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85" dirty="0"/>
          </a:p>
        </p:txBody>
      </p:sp>
      <p:sp>
        <p:nvSpPr>
          <p:cNvPr id="32" name="Text 30"/>
          <p:cNvSpPr/>
          <p:nvPr/>
        </p:nvSpPr>
        <p:spPr>
          <a:xfrm>
            <a:off x="3701491" y="215432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85" dirty="0"/>
          </a:p>
        </p:txBody>
      </p:sp>
      <p:sp>
        <p:nvSpPr>
          <p:cNvPr id="33" name="Text 31"/>
          <p:cNvSpPr/>
          <p:nvPr/>
        </p:nvSpPr>
        <p:spPr>
          <a:xfrm>
            <a:off x="2944368" y="146304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85" dirty="0"/>
          </a:p>
        </p:txBody>
      </p:sp>
      <p:sp>
        <p:nvSpPr>
          <p:cNvPr id="34" name="Text 32"/>
          <p:cNvSpPr txBox="1"/>
          <p:nvPr/>
        </p:nvSpPr>
        <p:spPr>
          <a:xfrm>
            <a:off x="5715000" y="15179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0: 2⁰ = 1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715000" y="220919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2¹ = 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715000" y="2900477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 2² = 4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715000" y="3591763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3: 2³ = 8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166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tree of height 3: 1 + 2 + 4 + 8 = 15 = 2⁴ − 1 nodes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406640" y="1463040"/>
            <a:ext cx="4251960" cy="1188720"/>
          </a:xfrm>
          <a:prstGeom prst="roundRect">
            <a:avLst>
              <a:gd name="adj" fmla="val 6154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589520" y="15544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level l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58952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most </a:t>
            </a:r>
            <a:r>
              <a:rPr lang="en-US" sz="19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2^l</a:t>
            </a:r>
            <a:r>
              <a:rPr lang="en-US" sz="1900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nodes</a:t>
            </a:r>
            <a:endParaRPr lang="en-US" sz="1900" dirty="0"/>
          </a:p>
        </p:txBody>
      </p:sp>
      <p:sp>
        <p:nvSpPr>
          <p:cNvPr id="42" name="Text 40"/>
          <p:cNvSpPr txBox="1"/>
          <p:nvPr/>
        </p:nvSpPr>
        <p:spPr>
          <a:xfrm>
            <a:off x="7589520" y="2267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 → at most 32 nodes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406640" y="2788920"/>
            <a:ext cx="4251960" cy="1188720"/>
          </a:xfrm>
          <a:prstGeom prst="roundRect">
            <a:avLst>
              <a:gd name="adj" fmla="val 6154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89520" y="2880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h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58952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most </a:t>
            </a:r>
            <a:r>
              <a:rPr lang="en-US" sz="19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2^(h+1) − 1</a:t>
            </a:r>
            <a:r>
              <a:rPr lang="en-US" sz="1900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nodes</a:t>
            </a:r>
            <a:endParaRPr lang="en-US" sz="1900" dirty="0"/>
          </a:p>
        </p:txBody>
      </p:sp>
      <p:sp>
        <p:nvSpPr>
          <p:cNvPr id="46" name="Text 44"/>
          <p:cNvSpPr txBox="1"/>
          <p:nvPr/>
        </p:nvSpPr>
        <p:spPr>
          <a:xfrm>
            <a:off x="7589520" y="3593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4 → at most 31 nodes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406640" y="4114800"/>
            <a:ext cx="4251960" cy="1188720"/>
          </a:xfrm>
          <a:prstGeom prst="roundRect">
            <a:avLst>
              <a:gd name="adj" fmla="val 6154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589520" y="4206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nodes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589520" y="4480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 at least </a:t>
            </a:r>
            <a:r>
              <a:rPr lang="en-US" sz="19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⌊log₂ n⌋</a:t>
            </a:r>
            <a:endParaRPr lang="en-US" sz="1900" dirty="0"/>
          </a:p>
        </p:txBody>
      </p:sp>
      <p:sp>
        <p:nvSpPr>
          <p:cNvPr id="50" name="Text 48"/>
          <p:cNvSpPr txBox="1"/>
          <p:nvPr/>
        </p:nvSpPr>
        <p:spPr>
          <a:xfrm>
            <a:off x="7589520" y="4919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 → height ≥ 4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7406640" y="544068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Level i holds at most twice the nodes of level i − 1, so a tree of height h holds at most 1 + 2 + … + 2^h = 2^(h+1) − 1. Turn it around (2^(h+1) − 1 ≥ n) to get the minimum height.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BINARY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Leaves, degree-2 nodes and edges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 flipV="1">
            <a:off x="2052828" y="2640330"/>
            <a:ext cx="352044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404872" y="3520440"/>
            <a:ext cx="352044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56916" y="3520440"/>
            <a:ext cx="352044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04872" y="2640330"/>
            <a:ext cx="352044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404872" y="1760220"/>
            <a:ext cx="704088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3813048" y="3520440"/>
            <a:ext cx="352044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13048" y="2640330"/>
            <a:ext cx="352044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760220"/>
            <a:ext cx="704088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01368" y="3268980"/>
            <a:ext cx="502920" cy="502920"/>
          </a:xfrm>
          <a:prstGeom prst="ellipse">
            <a:avLst/>
          </a:prstGeom>
          <a:solidFill>
            <a:srgbClr val="9BD9B4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5" dirty="0"/>
          </a:p>
        </p:txBody>
      </p:sp>
      <p:sp>
        <p:nvSpPr>
          <p:cNvPr id="14" name="Text 12"/>
          <p:cNvSpPr/>
          <p:nvPr/>
        </p:nvSpPr>
        <p:spPr>
          <a:xfrm>
            <a:off x="2153412" y="4149090"/>
            <a:ext cx="502920" cy="502920"/>
          </a:xfrm>
          <a:prstGeom prst="ellipse">
            <a:avLst/>
          </a:prstGeom>
          <a:solidFill>
            <a:srgbClr val="9BD9B4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05" dirty="0"/>
          </a:p>
        </p:txBody>
      </p:sp>
      <p:sp>
        <p:nvSpPr>
          <p:cNvPr id="15" name="Text 13"/>
          <p:cNvSpPr/>
          <p:nvPr/>
        </p:nvSpPr>
        <p:spPr>
          <a:xfrm>
            <a:off x="2857500" y="4149090"/>
            <a:ext cx="502920" cy="502920"/>
          </a:xfrm>
          <a:prstGeom prst="ellipse">
            <a:avLst/>
          </a:prstGeom>
          <a:solidFill>
            <a:srgbClr val="9BD9B4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5" dirty="0"/>
          </a:p>
        </p:txBody>
      </p:sp>
      <p:sp>
        <p:nvSpPr>
          <p:cNvPr id="16" name="Text 14"/>
          <p:cNvSpPr/>
          <p:nvPr/>
        </p:nvSpPr>
        <p:spPr>
          <a:xfrm>
            <a:off x="2505456" y="3268980"/>
            <a:ext cx="502920" cy="502920"/>
          </a:xfrm>
          <a:prstGeom prst="ellipse">
            <a:avLst/>
          </a:prstGeom>
          <a:solidFill>
            <a:srgbClr val="FFD166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5" dirty="0"/>
          </a:p>
        </p:txBody>
      </p:sp>
      <p:sp>
        <p:nvSpPr>
          <p:cNvPr id="17" name="Text 15"/>
          <p:cNvSpPr/>
          <p:nvPr/>
        </p:nvSpPr>
        <p:spPr>
          <a:xfrm>
            <a:off x="2153412" y="2388870"/>
            <a:ext cx="502920" cy="502920"/>
          </a:xfrm>
          <a:prstGeom prst="ellipse">
            <a:avLst/>
          </a:prstGeom>
          <a:solidFill>
            <a:srgbClr val="FFD166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5" dirty="0"/>
          </a:p>
        </p:txBody>
      </p:sp>
      <p:sp>
        <p:nvSpPr>
          <p:cNvPr id="18" name="Text 16"/>
          <p:cNvSpPr/>
          <p:nvPr/>
        </p:nvSpPr>
        <p:spPr>
          <a:xfrm>
            <a:off x="3561588" y="4149090"/>
            <a:ext cx="502920" cy="502920"/>
          </a:xfrm>
          <a:prstGeom prst="ellipse">
            <a:avLst/>
          </a:prstGeom>
          <a:solidFill>
            <a:srgbClr val="9BD9B4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5" dirty="0"/>
          </a:p>
        </p:txBody>
      </p:sp>
      <p:sp>
        <p:nvSpPr>
          <p:cNvPr id="19" name="Text 17"/>
          <p:cNvSpPr/>
          <p:nvPr/>
        </p:nvSpPr>
        <p:spPr>
          <a:xfrm>
            <a:off x="3913632" y="3268980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5" dirty="0"/>
          </a:p>
        </p:txBody>
      </p:sp>
      <p:sp>
        <p:nvSpPr>
          <p:cNvPr id="20" name="Text 18"/>
          <p:cNvSpPr/>
          <p:nvPr/>
        </p:nvSpPr>
        <p:spPr>
          <a:xfrm>
            <a:off x="3561588" y="2388870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5" dirty="0"/>
          </a:p>
        </p:txBody>
      </p:sp>
      <p:sp>
        <p:nvSpPr>
          <p:cNvPr id="21" name="Text 19"/>
          <p:cNvSpPr/>
          <p:nvPr/>
        </p:nvSpPr>
        <p:spPr>
          <a:xfrm>
            <a:off x="2857500" y="1508760"/>
            <a:ext cx="502920" cy="502920"/>
          </a:xfrm>
          <a:prstGeom prst="ellipse">
            <a:avLst/>
          </a:prstGeom>
          <a:solidFill>
            <a:srgbClr val="FFD166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5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237744" cy="237744"/>
          </a:xfrm>
          <a:prstGeom prst="ellipse">
            <a:avLst/>
          </a:prstGeom>
          <a:solidFill>
            <a:srgbClr val="9BD9B4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4983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(degree 0): D, G, H, I → n₀ = 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349240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" y="5349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1: C, F → n₁ = 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715000"/>
            <a:ext cx="237744" cy="237744"/>
          </a:xfrm>
          <a:prstGeom prst="ellipse">
            <a:avLst/>
          </a:prstGeom>
          <a:solidFill>
            <a:srgbClr val="FFD166"/>
          </a:solidFill>
          <a:ln w="19050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5840" y="5715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2: A, B, E → n₂ = 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1463040"/>
            <a:ext cx="5623560" cy="2880360"/>
          </a:xfrm>
          <a:prstGeom prst="roundRect">
            <a:avLst>
              <a:gd name="adj" fmla="val 2540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63640" y="15727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n₀ = n₂ + 1   (Handbook Lemma 3.3)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201168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n = n₀ + n₁ + n₂ (leaves, one-child, two-child nodes).</a:t>
            </a:r>
            <a:endParaRPr lang="en-US" sz="1500" dirty="0"/>
          </a:p>
          <a:p>
            <a:pPr marL="171450" indent="-17145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except the root has one incoming edge, so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= n − 1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171450" indent="-17145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from the parent side: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= n₁ + 2n₂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171450" indent="-17145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n₀ + n₁ + n₂ − 1 = n₁ + 2n₂, giving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n₀ = n₂ + 1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035040" y="4526280"/>
            <a:ext cx="5623560" cy="1691640"/>
          </a:xfrm>
          <a:prstGeom prst="roundRect">
            <a:avLst>
              <a:gd name="adj" fmla="val 4324"/>
            </a:avLst>
          </a:prstGeom>
          <a:solidFill>
            <a:srgbClr val="FFF3D1"/>
          </a:solidFill>
          <a:ln w="9525">
            <a:solidFill>
              <a:srgbClr val="FFF3D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0" y="4636008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4892040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on the tree: n = 9 nodes → 8 edges;  n₁ + 2n₂ = 2 + 6 = 8 ✔.   n₀ = 4 = 3 + 1 ✔.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empty “external” nodes to every missing child gives n + 1 external nodes for n real nodes (Lemma 3.2).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BINARY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different BSTs can n keys make?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00200" y="2377440"/>
            <a:ext cx="288036" cy="63093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12164" y="1746504"/>
            <a:ext cx="288036" cy="63093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6212" y="281635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49" dirty="0"/>
          </a:p>
        </p:txBody>
      </p:sp>
      <p:sp>
        <p:nvSpPr>
          <p:cNvPr id="8" name="Text 6"/>
          <p:cNvSpPr/>
          <p:nvPr/>
        </p:nvSpPr>
        <p:spPr>
          <a:xfrm>
            <a:off x="1408176" y="218541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9" dirty="0"/>
          </a:p>
        </p:txBody>
      </p:sp>
      <p:sp>
        <p:nvSpPr>
          <p:cNvPr id="9" name="Text 7"/>
          <p:cNvSpPr/>
          <p:nvPr/>
        </p:nvSpPr>
        <p:spPr>
          <a:xfrm>
            <a:off x="1120140" y="155448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9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1868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flipV="1">
            <a:off x="3696462" y="2377440"/>
            <a:ext cx="288036" cy="63093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96462" y="1746504"/>
            <a:ext cx="288036" cy="63093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4438" y="281635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9" dirty="0"/>
          </a:p>
        </p:txBody>
      </p:sp>
      <p:sp>
        <p:nvSpPr>
          <p:cNvPr id="14" name="Text 12"/>
          <p:cNvSpPr/>
          <p:nvPr/>
        </p:nvSpPr>
        <p:spPr>
          <a:xfrm>
            <a:off x="3792474" y="218541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49" dirty="0"/>
          </a:p>
        </p:txBody>
      </p:sp>
      <p:sp>
        <p:nvSpPr>
          <p:cNvPr id="15" name="Text 13"/>
          <p:cNvSpPr/>
          <p:nvPr/>
        </p:nvSpPr>
        <p:spPr>
          <a:xfrm>
            <a:off x="3504438" y="155448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9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21868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flipV="1">
            <a:off x="5792724" y="2041398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2041398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00700" y="252145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9" dirty="0"/>
          </a:p>
        </p:txBody>
      </p:sp>
      <p:sp>
        <p:nvSpPr>
          <p:cNvPr id="20" name="Text 18"/>
          <p:cNvSpPr/>
          <p:nvPr/>
        </p:nvSpPr>
        <p:spPr>
          <a:xfrm>
            <a:off x="6176772" y="252145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49" dirty="0"/>
          </a:p>
        </p:txBody>
      </p:sp>
      <p:sp>
        <p:nvSpPr>
          <p:cNvPr id="21" name="Text 19"/>
          <p:cNvSpPr/>
          <p:nvPr/>
        </p:nvSpPr>
        <p:spPr>
          <a:xfrm>
            <a:off x="5888736" y="184937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9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321868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77022" y="2377440"/>
            <a:ext cx="288036" cy="63093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8177022" y="1746504"/>
            <a:ext cx="288036" cy="63093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3034" y="281635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9" dirty="0"/>
          </a:p>
        </p:txBody>
      </p:sp>
      <p:sp>
        <p:nvSpPr>
          <p:cNvPr id="26" name="Text 24"/>
          <p:cNvSpPr/>
          <p:nvPr/>
        </p:nvSpPr>
        <p:spPr>
          <a:xfrm>
            <a:off x="7984998" y="218541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9" dirty="0"/>
          </a:p>
        </p:txBody>
      </p:sp>
      <p:sp>
        <p:nvSpPr>
          <p:cNvPr id="27" name="Text 25"/>
          <p:cNvSpPr/>
          <p:nvPr/>
        </p:nvSpPr>
        <p:spPr>
          <a:xfrm>
            <a:off x="8273034" y="155448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49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321868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 flipV="1">
            <a:off x="10273284" y="2377440"/>
            <a:ext cx="288036" cy="63093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0561320" y="1746504"/>
            <a:ext cx="288036" cy="63093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81260" y="281635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9" dirty="0"/>
          </a:p>
        </p:txBody>
      </p:sp>
      <p:sp>
        <p:nvSpPr>
          <p:cNvPr id="32" name="Text 30"/>
          <p:cNvSpPr/>
          <p:nvPr/>
        </p:nvSpPr>
        <p:spPr>
          <a:xfrm>
            <a:off x="10369296" y="218541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9" dirty="0"/>
          </a:p>
        </p:txBody>
      </p:sp>
      <p:sp>
        <p:nvSpPr>
          <p:cNvPr id="33" name="Text 31"/>
          <p:cNvSpPr/>
          <p:nvPr/>
        </p:nvSpPr>
        <p:spPr>
          <a:xfrm>
            <a:off x="10657332" y="155448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49" dirty="0"/>
          </a:p>
        </p:txBody>
      </p:sp>
      <p:sp>
        <p:nvSpPr>
          <p:cNvPr id="34" name="Text 32"/>
          <p:cNvSpPr txBox="1"/>
          <p:nvPr/>
        </p:nvSpPr>
        <p:spPr>
          <a:xfrm>
            <a:off x="9509760" y="321868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3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3749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shapes for the keys 1, 2, 3 (insert them in different orders to get each one)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420624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43159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BSTs with n distinct keys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4617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C(2n, n) / (n + 1)</a:t>
            </a:r>
            <a:endParaRPr lang="en-US" sz="26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" y="5257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3:  C(6,3) / 4 = 20 / 4 = </a:t>
            </a: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✔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777240" y="5669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Catalan numbers (lecture slide 136, Handbook Lemma 3.8).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4343400"/>
          <a:ext cx="53492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640080"/>
                <a:gridCol w="640080"/>
                <a:gridCol w="640080"/>
                <a:gridCol w="640080"/>
                <a:gridCol w="640080"/>
                <a:gridCol w="640080"/>
                <a:gridCol w="640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</a:tbl>
          </a:graphicData>
        </a:graphic>
      </p:graphicFrame>
      <p:sp>
        <p:nvSpPr>
          <p:cNvPr id="42" name="Text 39"/>
          <p:cNvSpPr txBox="1"/>
          <p:nvPr/>
        </p:nvSpPr>
        <p:spPr>
          <a:xfrm>
            <a:off x="6309360" y="54406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explode quickly — and most of those shapes are tall and thin. That is the motivation for balancing.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BINARY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Storing a binary tree: array or pointers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 flipV="1">
            <a:off x="1885493" y="3319272"/>
            <a:ext cx="332842" cy="8321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8334" y="3319272"/>
            <a:ext cx="332842" cy="8321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218334" y="2487168"/>
            <a:ext cx="665683" cy="8321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3216859" y="3319272"/>
            <a:ext cx="332842" cy="8321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4018" y="2487168"/>
            <a:ext cx="665683" cy="8321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884018" y="1655064"/>
            <a:ext cx="832104" cy="8321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4215384" y="2487168"/>
            <a:ext cx="332842" cy="8321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8226" y="2487168"/>
            <a:ext cx="332842" cy="8321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16122" y="1655064"/>
            <a:ext cx="832104" cy="8321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7749" y="3913632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23" dirty="0"/>
          </a:p>
        </p:txBody>
      </p:sp>
      <p:sp>
        <p:nvSpPr>
          <p:cNvPr id="15" name="Text 13"/>
          <p:cNvSpPr/>
          <p:nvPr/>
        </p:nvSpPr>
        <p:spPr>
          <a:xfrm>
            <a:off x="2313432" y="3913632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23" dirty="0"/>
          </a:p>
        </p:txBody>
      </p:sp>
      <p:sp>
        <p:nvSpPr>
          <p:cNvPr id="16" name="Text 14"/>
          <p:cNvSpPr/>
          <p:nvPr/>
        </p:nvSpPr>
        <p:spPr>
          <a:xfrm>
            <a:off x="1980590" y="3081528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23" dirty="0"/>
          </a:p>
        </p:txBody>
      </p:sp>
      <p:sp>
        <p:nvSpPr>
          <p:cNvPr id="17" name="Text 15"/>
          <p:cNvSpPr/>
          <p:nvPr/>
        </p:nvSpPr>
        <p:spPr>
          <a:xfrm>
            <a:off x="2979115" y="3913632"/>
            <a:ext cx="475488" cy="475488"/>
          </a:xfrm>
          <a:prstGeom prst="ellipse">
            <a:avLst/>
          </a:prstGeom>
          <a:solidFill>
            <a:srgbClr val="9BD9B4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423" dirty="0"/>
          </a:p>
        </p:txBody>
      </p:sp>
      <p:sp>
        <p:nvSpPr>
          <p:cNvPr id="18" name="Text 16"/>
          <p:cNvSpPr/>
          <p:nvPr/>
        </p:nvSpPr>
        <p:spPr>
          <a:xfrm>
            <a:off x="3311957" y="3081528"/>
            <a:ext cx="475488" cy="475488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23" dirty="0"/>
          </a:p>
        </p:txBody>
      </p:sp>
      <p:sp>
        <p:nvSpPr>
          <p:cNvPr id="19" name="Text 17"/>
          <p:cNvSpPr/>
          <p:nvPr/>
        </p:nvSpPr>
        <p:spPr>
          <a:xfrm>
            <a:off x="2646274" y="2249424"/>
            <a:ext cx="475488" cy="475488"/>
          </a:xfrm>
          <a:prstGeom prst="ellipse">
            <a:avLst/>
          </a:prstGeom>
          <a:solidFill>
            <a:srgbClr val="9BD9B4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23" dirty="0"/>
          </a:p>
        </p:txBody>
      </p:sp>
      <p:sp>
        <p:nvSpPr>
          <p:cNvPr id="20" name="Text 18"/>
          <p:cNvSpPr/>
          <p:nvPr/>
        </p:nvSpPr>
        <p:spPr>
          <a:xfrm>
            <a:off x="3977640" y="3081528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23" dirty="0"/>
          </a:p>
        </p:txBody>
      </p:sp>
      <p:sp>
        <p:nvSpPr>
          <p:cNvPr id="21" name="Text 19"/>
          <p:cNvSpPr/>
          <p:nvPr/>
        </p:nvSpPr>
        <p:spPr>
          <a:xfrm>
            <a:off x="4643323" y="3081528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23" dirty="0"/>
          </a:p>
        </p:txBody>
      </p:sp>
      <p:sp>
        <p:nvSpPr>
          <p:cNvPr id="22" name="Text 20"/>
          <p:cNvSpPr/>
          <p:nvPr/>
        </p:nvSpPr>
        <p:spPr>
          <a:xfrm>
            <a:off x="4310482" y="2249424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23" dirty="0"/>
          </a:p>
        </p:txBody>
      </p:sp>
      <p:sp>
        <p:nvSpPr>
          <p:cNvPr id="23" name="Text 21"/>
          <p:cNvSpPr/>
          <p:nvPr/>
        </p:nvSpPr>
        <p:spPr>
          <a:xfrm>
            <a:off x="3478378" y="1417320"/>
            <a:ext cx="475488" cy="47548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23" dirty="0"/>
          </a:p>
        </p:txBody>
      </p:sp>
      <p:sp>
        <p:nvSpPr>
          <p:cNvPr id="24" name="Text 22"/>
          <p:cNvSpPr/>
          <p:nvPr/>
        </p:nvSpPr>
        <p:spPr>
          <a:xfrm>
            <a:off x="548640" y="4846320"/>
            <a:ext cx="54864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349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4846320"/>
            <a:ext cx="548640" cy="457200"/>
          </a:xfrm>
          <a:prstGeom prst="rect">
            <a:avLst/>
          </a:prstGeom>
          <a:solidFill>
            <a:srgbClr val="9BD9B4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349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45920" y="4846320"/>
            <a:ext cx="54864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645920" y="5349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94560" y="4846320"/>
            <a:ext cx="54864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2194560" y="5349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4846320"/>
            <a:ext cx="548640" cy="457200"/>
          </a:xfrm>
          <a:prstGeom prst="rect">
            <a:avLst/>
          </a:prstGeom>
          <a:solidFill>
            <a:srgbClr val="FFD166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2743200" y="5349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91840" y="4846320"/>
            <a:ext cx="54864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3291840" y="5349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40480" y="4846320"/>
            <a:ext cx="54864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840480" y="5349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389120" y="4846320"/>
            <a:ext cx="54864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4389120" y="5349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37760" y="4846320"/>
            <a:ext cx="54864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4937760" y="5349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0" y="4846320"/>
            <a:ext cx="548640" cy="457200"/>
          </a:xfrm>
          <a:prstGeom prst="rect">
            <a:avLst/>
          </a:prstGeom>
          <a:solidFill>
            <a:srgbClr val="9BD9B4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0" y="5349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457200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(index starts at 1) — a complete tree with n = 10 nodes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583680" y="1463040"/>
            <a:ext cx="5074920" cy="2423160"/>
          </a:xfrm>
          <a:prstGeom prst="roundRect">
            <a:avLst>
              <a:gd name="adj" fmla="val 3019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766560" y="15544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node at index i: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766560" y="1920240"/>
            <a:ext cx="4709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=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⌊i / 2⌋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(if i &gt; 1)</a:t>
            </a:r>
            <a:endParaRPr lang="en-US" sz="1500" dirty="0"/>
          </a:p>
          <a:p>
            <a:pPr marL="171450" indent="-17145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child =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2i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(if 2i ≤ n)</a:t>
            </a:r>
            <a:endParaRPr lang="en-US" sz="1500" dirty="0"/>
          </a:p>
          <a:p>
            <a:pPr marL="171450" indent="-17145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child =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2i + 1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(if 2i + 1 ≤ n)</a:t>
            </a:r>
            <a:endParaRPr lang="en-US" sz="1500" dirty="0"/>
          </a:p>
          <a:p>
            <a:pPr marL="171450" indent="-17145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is i = 5 → parent ⌊5/2⌋ = 2 = B; left child 10 = J; right child 11 &gt; n → none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583680" y="406908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766560" y="4160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to use?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6766560" y="448056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Array: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compact and fast for complete trees; wastes cells for skinny trees (a right-skewed tree of n nodes can need 2ⁿ − 1 cells)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Pointers: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node per key; grows and shrinks freely — the usual choice for BSTs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BINARY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visit every node exactly once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97480" cy="3703320"/>
          </a:xfrm>
          <a:prstGeom prst="roundRect">
            <a:avLst>
              <a:gd name="adj" fmla="val 2712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Pre-order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470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· Left · Right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flipV="1">
            <a:off x="1392631" y="3108960"/>
            <a:ext cx="336499" cy="6583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29130" y="3108960"/>
            <a:ext cx="336499" cy="6583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729130" y="2450592"/>
            <a:ext cx="336499" cy="6583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65630" y="2450592"/>
            <a:ext cx="336499" cy="6583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2319" y="355701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9" dirty="0"/>
          </a:p>
        </p:txBody>
      </p:sp>
      <p:sp>
        <p:nvSpPr>
          <p:cNvPr id="13" name="Text 11"/>
          <p:cNvSpPr txBox="1"/>
          <p:nvPr/>
        </p:nvSpPr>
        <p:spPr>
          <a:xfrm>
            <a:off x="716707" y="34655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59" dirty="0"/>
          </a:p>
        </p:txBody>
      </p:sp>
      <p:sp>
        <p:nvSpPr>
          <p:cNvPr id="14" name="Text 12"/>
          <p:cNvSpPr/>
          <p:nvPr/>
        </p:nvSpPr>
        <p:spPr>
          <a:xfrm>
            <a:off x="1855318" y="355701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59" dirty="0"/>
          </a:p>
        </p:txBody>
      </p:sp>
      <p:sp>
        <p:nvSpPr>
          <p:cNvPr id="15" name="Text 13"/>
          <p:cNvSpPr txBox="1"/>
          <p:nvPr/>
        </p:nvSpPr>
        <p:spPr>
          <a:xfrm>
            <a:off x="2284354" y="34655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059" dirty="0"/>
          </a:p>
        </p:txBody>
      </p:sp>
      <p:sp>
        <p:nvSpPr>
          <p:cNvPr id="16" name="Text 14"/>
          <p:cNvSpPr/>
          <p:nvPr/>
        </p:nvSpPr>
        <p:spPr>
          <a:xfrm>
            <a:off x="1518818" y="28986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9" dirty="0"/>
          </a:p>
        </p:txBody>
      </p:sp>
      <p:sp>
        <p:nvSpPr>
          <p:cNvPr id="17" name="Text 15"/>
          <p:cNvSpPr txBox="1"/>
          <p:nvPr/>
        </p:nvSpPr>
        <p:spPr>
          <a:xfrm>
            <a:off x="1053206" y="2807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59" dirty="0"/>
          </a:p>
        </p:txBody>
      </p:sp>
      <p:sp>
        <p:nvSpPr>
          <p:cNvPr id="18" name="Text 16"/>
          <p:cNvSpPr/>
          <p:nvPr/>
        </p:nvSpPr>
        <p:spPr>
          <a:xfrm>
            <a:off x="2191817" y="28986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9" dirty="0"/>
          </a:p>
        </p:txBody>
      </p:sp>
      <p:sp>
        <p:nvSpPr>
          <p:cNvPr id="19" name="Text 17"/>
          <p:cNvSpPr txBox="1"/>
          <p:nvPr/>
        </p:nvSpPr>
        <p:spPr>
          <a:xfrm>
            <a:off x="2620853" y="2807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059" dirty="0"/>
          </a:p>
        </p:txBody>
      </p:sp>
      <p:sp>
        <p:nvSpPr>
          <p:cNvPr id="20" name="Text 18"/>
          <p:cNvSpPr/>
          <p:nvPr/>
        </p:nvSpPr>
        <p:spPr>
          <a:xfrm>
            <a:off x="1855318" y="224028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9" dirty="0"/>
          </a:p>
        </p:txBody>
      </p:sp>
      <p:sp>
        <p:nvSpPr>
          <p:cNvPr id="21" name="Text 19"/>
          <p:cNvSpPr txBox="1"/>
          <p:nvPr/>
        </p:nvSpPr>
        <p:spPr>
          <a:xfrm>
            <a:off x="2284354" y="21488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59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206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43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B  D  E  C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663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recursion / a stack (DFS)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64992" y="1417320"/>
            <a:ext cx="2697480" cy="3703320"/>
          </a:xfrm>
          <a:prstGeom prst="roundRect">
            <a:avLst>
              <a:gd name="adj" fmla="val 2712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6432" y="1508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In-order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3456432" y="18470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· Root · Right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 flipV="1">
            <a:off x="4208983" y="3108960"/>
            <a:ext cx="336499" cy="6583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45482" y="3108960"/>
            <a:ext cx="336499" cy="6583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4545482" y="2450592"/>
            <a:ext cx="336499" cy="6583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81982" y="2450592"/>
            <a:ext cx="336499" cy="6583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98671" y="355701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9" dirty="0"/>
          </a:p>
        </p:txBody>
      </p:sp>
      <p:sp>
        <p:nvSpPr>
          <p:cNvPr id="32" name="Text 30"/>
          <p:cNvSpPr txBox="1"/>
          <p:nvPr/>
        </p:nvSpPr>
        <p:spPr>
          <a:xfrm>
            <a:off x="3533059" y="34655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59" dirty="0"/>
          </a:p>
        </p:txBody>
      </p:sp>
      <p:sp>
        <p:nvSpPr>
          <p:cNvPr id="33" name="Text 31"/>
          <p:cNvSpPr/>
          <p:nvPr/>
        </p:nvSpPr>
        <p:spPr>
          <a:xfrm>
            <a:off x="4671670" y="355701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59" dirty="0"/>
          </a:p>
        </p:txBody>
      </p:sp>
      <p:sp>
        <p:nvSpPr>
          <p:cNvPr id="34" name="Text 32"/>
          <p:cNvSpPr txBox="1"/>
          <p:nvPr/>
        </p:nvSpPr>
        <p:spPr>
          <a:xfrm>
            <a:off x="5100706" y="34655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59" dirty="0"/>
          </a:p>
        </p:txBody>
      </p:sp>
      <p:sp>
        <p:nvSpPr>
          <p:cNvPr id="35" name="Text 33"/>
          <p:cNvSpPr/>
          <p:nvPr/>
        </p:nvSpPr>
        <p:spPr>
          <a:xfrm>
            <a:off x="4335170" y="28986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9" dirty="0"/>
          </a:p>
        </p:txBody>
      </p:sp>
      <p:sp>
        <p:nvSpPr>
          <p:cNvPr id="36" name="Text 34"/>
          <p:cNvSpPr txBox="1"/>
          <p:nvPr/>
        </p:nvSpPr>
        <p:spPr>
          <a:xfrm>
            <a:off x="3869558" y="2807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59" dirty="0"/>
          </a:p>
        </p:txBody>
      </p:sp>
      <p:sp>
        <p:nvSpPr>
          <p:cNvPr id="37" name="Text 35"/>
          <p:cNvSpPr/>
          <p:nvPr/>
        </p:nvSpPr>
        <p:spPr>
          <a:xfrm>
            <a:off x="5008169" y="28986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9" dirty="0"/>
          </a:p>
        </p:txBody>
      </p:sp>
      <p:sp>
        <p:nvSpPr>
          <p:cNvPr id="38" name="Text 36"/>
          <p:cNvSpPr txBox="1"/>
          <p:nvPr/>
        </p:nvSpPr>
        <p:spPr>
          <a:xfrm>
            <a:off x="5437205" y="2807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059" dirty="0"/>
          </a:p>
        </p:txBody>
      </p:sp>
      <p:sp>
        <p:nvSpPr>
          <p:cNvPr id="39" name="Text 37"/>
          <p:cNvSpPr/>
          <p:nvPr/>
        </p:nvSpPr>
        <p:spPr>
          <a:xfrm>
            <a:off x="4671670" y="224028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9" dirty="0"/>
          </a:p>
        </p:txBody>
      </p:sp>
      <p:sp>
        <p:nvSpPr>
          <p:cNvPr id="40" name="Text 38"/>
          <p:cNvSpPr txBox="1"/>
          <p:nvPr/>
        </p:nvSpPr>
        <p:spPr>
          <a:xfrm>
            <a:off x="5100706" y="21488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059" dirty="0"/>
          </a:p>
        </p:txBody>
      </p:sp>
      <p:sp>
        <p:nvSpPr>
          <p:cNvPr id="41" name="Text 39"/>
          <p:cNvSpPr txBox="1"/>
          <p:nvPr/>
        </p:nvSpPr>
        <p:spPr>
          <a:xfrm>
            <a:off x="3456432" y="4206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43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 B  E  A  C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>
            <a:off x="3456432" y="4663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recursion / a stack (DFS)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81344" y="1417320"/>
            <a:ext cx="2697480" cy="3703320"/>
          </a:xfrm>
          <a:prstGeom prst="roundRect">
            <a:avLst>
              <a:gd name="adj" fmla="val 2712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72784" y="1508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Post-order</a:t>
            </a:r>
            <a:endParaRPr lang="en-US" sz="1700" dirty="0"/>
          </a:p>
        </p:txBody>
      </p:sp>
      <p:sp>
        <p:nvSpPr>
          <p:cNvPr id="45" name="Text 43"/>
          <p:cNvSpPr txBox="1"/>
          <p:nvPr/>
        </p:nvSpPr>
        <p:spPr>
          <a:xfrm>
            <a:off x="6272784" y="18470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· Right · Root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 flipV="1">
            <a:off x="7025335" y="3108960"/>
            <a:ext cx="336499" cy="6583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61834" y="3108960"/>
            <a:ext cx="336499" cy="6583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7361834" y="2450592"/>
            <a:ext cx="336499" cy="6583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98334" y="2450592"/>
            <a:ext cx="336499" cy="6583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15023" y="355701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9" dirty="0"/>
          </a:p>
        </p:txBody>
      </p:sp>
      <p:sp>
        <p:nvSpPr>
          <p:cNvPr id="51" name="Text 49"/>
          <p:cNvSpPr txBox="1"/>
          <p:nvPr/>
        </p:nvSpPr>
        <p:spPr>
          <a:xfrm>
            <a:off x="6349411" y="34655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59" dirty="0"/>
          </a:p>
        </p:txBody>
      </p:sp>
      <p:sp>
        <p:nvSpPr>
          <p:cNvPr id="52" name="Text 50"/>
          <p:cNvSpPr/>
          <p:nvPr/>
        </p:nvSpPr>
        <p:spPr>
          <a:xfrm>
            <a:off x="7488022" y="355701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59" dirty="0"/>
          </a:p>
        </p:txBody>
      </p:sp>
      <p:sp>
        <p:nvSpPr>
          <p:cNvPr id="53" name="Text 51"/>
          <p:cNvSpPr txBox="1"/>
          <p:nvPr/>
        </p:nvSpPr>
        <p:spPr>
          <a:xfrm>
            <a:off x="7917058" y="34655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59" dirty="0"/>
          </a:p>
        </p:txBody>
      </p:sp>
      <p:sp>
        <p:nvSpPr>
          <p:cNvPr id="54" name="Text 52"/>
          <p:cNvSpPr/>
          <p:nvPr/>
        </p:nvSpPr>
        <p:spPr>
          <a:xfrm>
            <a:off x="7151522" y="28986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9" dirty="0"/>
          </a:p>
        </p:txBody>
      </p:sp>
      <p:sp>
        <p:nvSpPr>
          <p:cNvPr id="55" name="Text 53"/>
          <p:cNvSpPr txBox="1"/>
          <p:nvPr/>
        </p:nvSpPr>
        <p:spPr>
          <a:xfrm>
            <a:off x="6685910" y="2807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59" dirty="0"/>
          </a:p>
        </p:txBody>
      </p:sp>
      <p:sp>
        <p:nvSpPr>
          <p:cNvPr id="56" name="Text 54"/>
          <p:cNvSpPr/>
          <p:nvPr/>
        </p:nvSpPr>
        <p:spPr>
          <a:xfrm>
            <a:off x="7824521" y="28986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9" dirty="0"/>
          </a:p>
        </p:txBody>
      </p:sp>
      <p:sp>
        <p:nvSpPr>
          <p:cNvPr id="57" name="Text 55"/>
          <p:cNvSpPr txBox="1"/>
          <p:nvPr/>
        </p:nvSpPr>
        <p:spPr>
          <a:xfrm>
            <a:off x="8253557" y="2807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059" dirty="0"/>
          </a:p>
        </p:txBody>
      </p:sp>
      <p:sp>
        <p:nvSpPr>
          <p:cNvPr id="58" name="Text 56"/>
          <p:cNvSpPr/>
          <p:nvPr/>
        </p:nvSpPr>
        <p:spPr>
          <a:xfrm>
            <a:off x="7488022" y="224028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9" dirty="0"/>
          </a:p>
        </p:txBody>
      </p:sp>
      <p:sp>
        <p:nvSpPr>
          <p:cNvPr id="59" name="Text 57"/>
          <p:cNvSpPr txBox="1"/>
          <p:nvPr/>
        </p:nvSpPr>
        <p:spPr>
          <a:xfrm>
            <a:off x="7917058" y="21488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059" dirty="0"/>
          </a:p>
        </p:txBody>
      </p:sp>
      <p:sp>
        <p:nvSpPr>
          <p:cNvPr id="60" name="Text 58"/>
          <p:cNvSpPr txBox="1"/>
          <p:nvPr/>
        </p:nvSpPr>
        <p:spPr>
          <a:xfrm>
            <a:off x="6272784" y="4206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43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 E  B  C  A</a:t>
            </a:r>
            <a:endParaRPr lang="en-US" sz="2200" dirty="0"/>
          </a:p>
        </p:txBody>
      </p:sp>
      <p:sp>
        <p:nvSpPr>
          <p:cNvPr id="61" name="Text 59"/>
          <p:cNvSpPr txBox="1"/>
          <p:nvPr/>
        </p:nvSpPr>
        <p:spPr>
          <a:xfrm>
            <a:off x="6272784" y="4663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recursion / a stack (DFS)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997696" y="1417320"/>
            <a:ext cx="2697480" cy="3703320"/>
          </a:xfrm>
          <a:prstGeom prst="roundRect">
            <a:avLst>
              <a:gd name="adj" fmla="val 2712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089136" y="1508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Level-order</a:t>
            </a:r>
            <a:endParaRPr lang="en-US" sz="1700" dirty="0"/>
          </a:p>
        </p:txBody>
      </p:sp>
      <p:sp>
        <p:nvSpPr>
          <p:cNvPr id="64" name="Text 62"/>
          <p:cNvSpPr txBox="1"/>
          <p:nvPr/>
        </p:nvSpPr>
        <p:spPr>
          <a:xfrm>
            <a:off x="9089136" y="18470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to bottom, left to right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 flipV="1">
            <a:off x="9841687" y="3108960"/>
            <a:ext cx="336499" cy="6583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178186" y="3108960"/>
            <a:ext cx="336499" cy="6583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10178186" y="2450592"/>
            <a:ext cx="336499" cy="6583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514686" y="2450592"/>
            <a:ext cx="336499" cy="6583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631375" y="355701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59" dirty="0"/>
          </a:p>
        </p:txBody>
      </p:sp>
      <p:sp>
        <p:nvSpPr>
          <p:cNvPr id="70" name="Text 68"/>
          <p:cNvSpPr txBox="1"/>
          <p:nvPr/>
        </p:nvSpPr>
        <p:spPr>
          <a:xfrm>
            <a:off x="9165763" y="34655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059" dirty="0"/>
          </a:p>
        </p:txBody>
      </p:sp>
      <p:sp>
        <p:nvSpPr>
          <p:cNvPr id="71" name="Text 69"/>
          <p:cNvSpPr/>
          <p:nvPr/>
        </p:nvSpPr>
        <p:spPr>
          <a:xfrm>
            <a:off x="10304374" y="355701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59" dirty="0"/>
          </a:p>
        </p:txBody>
      </p:sp>
      <p:sp>
        <p:nvSpPr>
          <p:cNvPr id="72" name="Text 70"/>
          <p:cNvSpPr txBox="1"/>
          <p:nvPr/>
        </p:nvSpPr>
        <p:spPr>
          <a:xfrm>
            <a:off x="10733410" y="34655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059" dirty="0"/>
          </a:p>
        </p:txBody>
      </p:sp>
      <p:sp>
        <p:nvSpPr>
          <p:cNvPr id="73" name="Text 71"/>
          <p:cNvSpPr/>
          <p:nvPr/>
        </p:nvSpPr>
        <p:spPr>
          <a:xfrm>
            <a:off x="9967874" y="28986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59" dirty="0"/>
          </a:p>
        </p:txBody>
      </p:sp>
      <p:sp>
        <p:nvSpPr>
          <p:cNvPr id="74" name="Text 72"/>
          <p:cNvSpPr txBox="1"/>
          <p:nvPr/>
        </p:nvSpPr>
        <p:spPr>
          <a:xfrm>
            <a:off x="9502262" y="2807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059" dirty="0"/>
          </a:p>
        </p:txBody>
      </p:sp>
      <p:sp>
        <p:nvSpPr>
          <p:cNvPr id="75" name="Text 73"/>
          <p:cNvSpPr/>
          <p:nvPr/>
        </p:nvSpPr>
        <p:spPr>
          <a:xfrm>
            <a:off x="10640873" y="28986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59" dirty="0"/>
          </a:p>
        </p:txBody>
      </p:sp>
      <p:sp>
        <p:nvSpPr>
          <p:cNvPr id="76" name="Text 74"/>
          <p:cNvSpPr txBox="1"/>
          <p:nvPr/>
        </p:nvSpPr>
        <p:spPr>
          <a:xfrm>
            <a:off x="11069909" y="2807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59" dirty="0"/>
          </a:p>
        </p:txBody>
      </p:sp>
      <p:sp>
        <p:nvSpPr>
          <p:cNvPr id="77" name="Text 75"/>
          <p:cNvSpPr/>
          <p:nvPr/>
        </p:nvSpPr>
        <p:spPr>
          <a:xfrm>
            <a:off x="10304374" y="224028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59" dirty="0"/>
          </a:p>
        </p:txBody>
      </p:sp>
      <p:sp>
        <p:nvSpPr>
          <p:cNvPr id="78" name="Text 76"/>
          <p:cNvSpPr txBox="1"/>
          <p:nvPr/>
        </p:nvSpPr>
        <p:spPr>
          <a:xfrm>
            <a:off x="10733410" y="21488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059" dirty="0"/>
          </a:p>
        </p:txBody>
      </p:sp>
      <p:sp>
        <p:nvSpPr>
          <p:cNvPr id="79" name="Text 77"/>
          <p:cNvSpPr txBox="1"/>
          <p:nvPr/>
        </p:nvSpPr>
        <p:spPr>
          <a:xfrm>
            <a:off x="9089136" y="4206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43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B  C  D  E</a:t>
            </a:r>
            <a:endParaRPr lang="en-US" sz="2200" dirty="0"/>
          </a:p>
        </p:txBody>
      </p:sp>
      <p:sp>
        <p:nvSpPr>
          <p:cNvPr id="80" name="Text 78"/>
          <p:cNvSpPr txBox="1"/>
          <p:nvPr/>
        </p:nvSpPr>
        <p:spPr>
          <a:xfrm>
            <a:off x="9089136" y="4663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queue (BFS)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548640" y="5257800"/>
            <a:ext cx="11109960" cy="1097280"/>
          </a:xfrm>
          <a:prstGeom prst="roundRect">
            <a:avLst>
              <a:gd name="adj" fmla="val 6667"/>
            </a:avLst>
          </a:prstGeom>
          <a:solidFill>
            <a:srgbClr val="E6F0FA"/>
          </a:solidFill>
          <a:ln w="9525">
            <a:solidFill>
              <a:srgbClr val="E6F0F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731520" y="536752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4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TRICK</a:t>
            </a:r>
            <a:endParaRPr lang="en-US" sz="1100" dirty="0"/>
          </a:p>
        </p:txBody>
      </p:sp>
      <p:sp>
        <p:nvSpPr>
          <p:cNvPr id="83" name="Text 81"/>
          <p:cNvSpPr txBox="1"/>
          <p:nvPr/>
        </p:nvSpPr>
        <p:spPr>
          <a:xfrm>
            <a:off x="731520" y="562356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trick for pre / in / post: put a dot on the LEFT of every node (pre-order), BELOW it (in-order) or on its RIGHT (post-order). Now walk around the tree from the root, hugging the edges, and write a node down each time you pass its dot.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BINARY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Traversal code and cost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2743200"/>
          </a:xfrm>
          <a:prstGeom prst="roundRect">
            <a:avLst>
              <a:gd name="adj" fmla="val 2000"/>
            </a:avLst>
          </a:prstGeom>
          <a:solidFill>
            <a:srgbClr val="1B2B24"/>
          </a:solidFill>
          <a:ln w="9525">
            <a:solidFill>
              <a:srgbClr val="1B2B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72768"/>
            <a:ext cx="502920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inorder(TreeNode* p)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inorder(p-&gt;left);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p-&gt;data;      // visit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inorder(p-&gt;right);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preorder: visit FIRST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postorder: visit LAST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2743200"/>
          </a:xfrm>
          <a:prstGeom prst="roundRect">
            <a:avLst>
              <a:gd name="adj" fmla="val 2000"/>
            </a:avLst>
          </a:prstGeom>
          <a:solidFill>
            <a:srgbClr val="1B2B24"/>
          </a:solidFill>
          <a:ln w="9525">
            <a:solidFill>
              <a:srgbClr val="1B2B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572768"/>
            <a:ext cx="502920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levelOrder(TreeNode* root)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Queue&lt;TreeNode*&gt; q;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TreeNode* p = root;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(p)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p-&gt;data;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(p-&gt;left)  q.Add(p-&gt;left);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(p-&gt;right) q.Add(p-&gt;right);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q.Delete();   // NULL if empty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73152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219456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Traversal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space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 / In / Post-order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O(h) recursion stack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(implicit)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Level-order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O(width) queue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138160" y="44805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3D1"/>
          </a:solidFill>
          <a:ln w="9525">
            <a:solidFill>
              <a:srgbClr val="FFF3D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21040" y="459028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48463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on a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prints the keys in sorted order.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BINARY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Level-order in action: a queue at 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 flipV="1">
            <a:off x="1554480" y="2743200"/>
            <a:ext cx="438912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93392" y="2743200"/>
            <a:ext cx="438912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993392" y="1783080"/>
            <a:ext cx="877824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3310128" y="2743200"/>
            <a:ext cx="438912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71216" y="1783080"/>
            <a:ext cx="877824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42900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57984" y="342900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19072" y="246888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35808" y="342900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46888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96896" y="150876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46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the front of the queue, then add its children at the back.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508760"/>
          <a:ext cx="6537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22960"/>
                <a:gridCol w="288036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afterwards (front → back)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so far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 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D  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 E  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 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 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 C 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 C D 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(empty)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 C D E 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120640" y="5257800"/>
            <a:ext cx="6537960" cy="1051560"/>
          </a:xfrm>
          <a:prstGeom prst="roundRect">
            <a:avLst>
              <a:gd name="adj" fmla="val 6957"/>
            </a:avLst>
          </a:prstGeom>
          <a:solidFill>
            <a:srgbClr val="E6F0FA"/>
          </a:solidFill>
          <a:ln w="9525">
            <a:solidFill>
              <a:srgbClr val="E6F0F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03520" y="536752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4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0" y="5623560"/>
            <a:ext cx="6172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and friends dive deep first, so they use a stack (recursion). Level-order spreads sideways first, so it uses a queue.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BINARY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Traversals in the wild: expression trees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 flipV="1">
            <a:off x="1656893" y="2784348"/>
            <a:ext cx="453542" cy="99212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10435" y="2784348"/>
            <a:ext cx="453542" cy="99212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110435" y="1792224"/>
            <a:ext cx="907085" cy="99212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3471062" y="2784348"/>
            <a:ext cx="453542" cy="99212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24605" y="2784348"/>
            <a:ext cx="453542" cy="99212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792224"/>
            <a:ext cx="907085" cy="99212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3429" y="3493008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0514" y="3493008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6971" y="2500884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87598" y="3493008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94683" y="3493008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41141" y="2500884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34056" y="1508760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72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are internal nodes, operands are leaves (Handbook Fig. 3.7).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52160" y="1508760"/>
            <a:ext cx="5806440" cy="1097280"/>
          </a:xfrm>
          <a:prstGeom prst="roundRect">
            <a:avLst>
              <a:gd name="adj" fmla="val 666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1892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43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 B + C * D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2286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infix form (needs brackets in general)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52160" y="2743200"/>
            <a:ext cx="5806440" cy="1097280"/>
          </a:xfrm>
          <a:prstGeom prst="roundRect">
            <a:avLst>
              <a:gd name="adj" fmla="val 666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350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31272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43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* A B * C D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3520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form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52160" y="3977640"/>
            <a:ext cx="5806440" cy="1097280"/>
          </a:xfrm>
          <a:prstGeom prst="roundRect">
            <a:avLst>
              <a:gd name="adj" fmla="val 666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3504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Post-order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4361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43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 * C D * +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603504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form — easy to evaluate with a stack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21208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532180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(compilers)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577840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postfix with a stack: push operands; on an operator pop two, apply, push the result.  With A = 3, B = 4, C = 5, D = 2:  3 4 * 5 2 * +  →  12, 10, +  → 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BINARY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Rebuilding a tree from two traversals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760720" cy="868680"/>
          </a:xfrm>
          <a:prstGeom prst="roundRect">
            <a:avLst>
              <a:gd name="adj" fmla="val 6316"/>
            </a:avLst>
          </a:prstGeom>
          <a:solidFill>
            <a:srgbClr val="1B2B24"/>
          </a:solidFill>
          <a:ln w="9525">
            <a:solidFill>
              <a:srgbClr val="1B2B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47088"/>
            <a:ext cx="5394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Pre-order : A B D E C F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In-order  : D B E A F C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8892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Pre-order’s first key is the root: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A.</a:t>
            </a:r>
            <a:endParaRPr lang="en-US" sz="1450" dirty="0"/>
          </a:p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in the in-order list: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B E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lies to its left (left subtree),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C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its right.</a:t>
            </a:r>
            <a:endParaRPr lang="en-US" sz="1450" dirty="0"/>
          </a:p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part has 3 keys, so its pre-order is the next 3 keys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D E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root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in-order D B E puts D left, E right.</a:t>
            </a:r>
            <a:endParaRPr lang="en-US" sz="1450" dirty="0"/>
          </a:p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part pre-order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in-order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C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root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left child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 flipV="1">
            <a:off x="8046720" y="2697480"/>
            <a:ext cx="438912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85632" y="2697480"/>
            <a:ext cx="438912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8485632" y="1737360"/>
            <a:ext cx="877824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802368" y="2697480"/>
            <a:ext cx="438912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63456" y="1737360"/>
            <a:ext cx="877824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338328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50224" y="338328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11312" y="242316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28048" y="338328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66960" y="242316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89136" y="146304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4480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3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Post-order of the result: D E B F C 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75120" y="489204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FDE8EA"/>
          </a:solidFill>
          <a:ln w="9525">
            <a:solidFill>
              <a:srgbClr val="FDE8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0" y="50017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A0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5257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+ In (or Post + In) rebuild the tree </a:t>
            </a:r>
            <a:r>
              <a:rPr lang="en-US" sz="12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</a:t>
            </a:r>
            <a:r>
              <a:rPr lang="en-US" sz="12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Pre + Post do </a:t>
            </a:r>
            <a:r>
              <a:rPr lang="en-US" sz="12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2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for “A with one child B”, both pre-order AB and post-order BA fit B as a left child and as a right child.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3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Search Trees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ordering rule that makes search fast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insert and delete — with every case drawn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shape of a BST depends on insertion order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 flipV="1">
            <a:off x="836676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778240" y="2514600"/>
            <a:ext cx="82296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01268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0" y="2514600"/>
            <a:ext cx="82296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1540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03920" y="320040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73836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6132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49840" y="320040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0" y="224028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5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BINARY SEARCH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BST rule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72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node x: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keys in the left subtree  &lt;  x  &lt;  all keys in the right subtree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both subtrees are BSTs themselves.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5760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 this course).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traversal = sorted order.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Height: about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 n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balanced, up to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− 1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skewed.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DE8EA"/>
          </a:solidFill>
          <a:ln w="9525">
            <a:solidFill>
              <a:srgbClr val="FDE8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13892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A0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394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only “left child &lt; node &lt; right child” is NOT enough. Every key in the whole left subtree must be smaller than the root, not just its child.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 valid BST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6812280" y="309067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55180" y="309067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7155180" y="229057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40980" y="309067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229057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66217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68" dirty="0"/>
          </a:p>
        </p:txBody>
      </p:sp>
      <p:sp>
        <p:nvSpPr>
          <p:cNvPr id="20" name="Text 18"/>
          <p:cNvSpPr/>
          <p:nvPr/>
        </p:nvSpPr>
        <p:spPr>
          <a:xfrm>
            <a:off x="7269480" y="366217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68" dirty="0"/>
          </a:p>
        </p:txBody>
      </p:sp>
      <p:sp>
        <p:nvSpPr>
          <p:cNvPr id="21" name="Text 19"/>
          <p:cNvSpPr/>
          <p:nvPr/>
        </p:nvSpPr>
        <p:spPr>
          <a:xfrm>
            <a:off x="6926580" y="286207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68" dirty="0"/>
          </a:p>
        </p:txBody>
      </p:sp>
      <p:sp>
        <p:nvSpPr>
          <p:cNvPr id="22" name="Text 20"/>
          <p:cNvSpPr/>
          <p:nvPr/>
        </p:nvSpPr>
        <p:spPr>
          <a:xfrm>
            <a:off x="7955280" y="366217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368" dirty="0"/>
          </a:p>
        </p:txBody>
      </p:sp>
      <p:sp>
        <p:nvSpPr>
          <p:cNvPr id="23" name="Text 21"/>
          <p:cNvSpPr/>
          <p:nvPr/>
        </p:nvSpPr>
        <p:spPr>
          <a:xfrm>
            <a:off x="7612380" y="286207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68" dirty="0"/>
          </a:p>
        </p:txBody>
      </p:sp>
      <p:sp>
        <p:nvSpPr>
          <p:cNvPr id="24" name="Text 22"/>
          <p:cNvSpPr/>
          <p:nvPr/>
        </p:nvSpPr>
        <p:spPr>
          <a:xfrm>
            <a:off x="7269480" y="206197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68" dirty="0"/>
          </a:p>
        </p:txBody>
      </p:sp>
      <p:sp>
        <p:nvSpPr>
          <p:cNvPr id="25" name="Text 23"/>
          <p:cNvSpPr txBox="1"/>
          <p:nvPr/>
        </p:nvSpPr>
        <p:spPr>
          <a:xfrm>
            <a:off x="896112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Not a BST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 flipV="1">
            <a:off x="9818370" y="309067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61270" y="309067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0161270" y="229057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04170" y="229057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89770" y="366217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68" dirty="0"/>
          </a:p>
        </p:txBody>
      </p:sp>
      <p:sp>
        <p:nvSpPr>
          <p:cNvPr id="31" name="Text 29"/>
          <p:cNvSpPr/>
          <p:nvPr/>
        </p:nvSpPr>
        <p:spPr>
          <a:xfrm>
            <a:off x="10275570" y="3662172"/>
            <a:ext cx="457200" cy="457200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68" dirty="0"/>
          </a:p>
        </p:txBody>
      </p:sp>
      <p:sp>
        <p:nvSpPr>
          <p:cNvPr id="32" name="Text 30"/>
          <p:cNvSpPr/>
          <p:nvPr/>
        </p:nvSpPr>
        <p:spPr>
          <a:xfrm>
            <a:off x="9932670" y="286207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68" dirty="0"/>
          </a:p>
        </p:txBody>
      </p:sp>
      <p:sp>
        <p:nvSpPr>
          <p:cNvPr id="33" name="Text 31"/>
          <p:cNvSpPr/>
          <p:nvPr/>
        </p:nvSpPr>
        <p:spPr>
          <a:xfrm>
            <a:off x="10618470" y="286207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68" dirty="0"/>
          </a:p>
        </p:txBody>
      </p:sp>
      <p:sp>
        <p:nvSpPr>
          <p:cNvPr id="34" name="Text 32"/>
          <p:cNvSpPr/>
          <p:nvPr/>
        </p:nvSpPr>
        <p:spPr>
          <a:xfrm>
            <a:off x="10275570" y="206197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68" dirty="0"/>
          </a:p>
        </p:txBody>
      </p:sp>
      <p:sp>
        <p:nvSpPr>
          <p:cNvPr id="35" name="Text 33"/>
          <p:cNvSpPr txBox="1"/>
          <p:nvPr/>
        </p:nvSpPr>
        <p:spPr>
          <a:xfrm>
            <a:off x="612648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In-order: 4  8  11  15  22  27  (sorted ✔)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961120" y="4434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A0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sits in the left subtree of 10 but 12 &gt; 10. In-order: 2 5 12 10 15 (not sorted ✘)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26480" y="521208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E6F0FA"/>
          </a:solidFill>
          <a:ln w="9525">
            <a:solidFill>
              <a:srgbClr val="E6F0F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09360" y="532180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4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309360" y="55778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test for a valid BST: run an in-order traversal. If the output is strictly increasing, it is a BST.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BINARY SEARCH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Searching a BST: one comparison per level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11  →  found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645920" y="2679192"/>
            <a:ext cx="342900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88820" y="2679192"/>
            <a:ext cx="342900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988820" y="1975104"/>
            <a:ext cx="342900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74620" y="2679192"/>
            <a:ext cx="342900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1975104"/>
            <a:ext cx="342900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315468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68" dirty="0"/>
          </a:p>
        </p:txBody>
      </p:sp>
      <p:sp>
        <p:nvSpPr>
          <p:cNvPr id="12" name="Text 10"/>
          <p:cNvSpPr/>
          <p:nvPr/>
        </p:nvSpPr>
        <p:spPr>
          <a:xfrm>
            <a:off x="2103120" y="3154680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68" dirty="0"/>
          </a:p>
        </p:txBody>
      </p:sp>
      <p:sp>
        <p:nvSpPr>
          <p:cNvPr id="13" name="Text 11"/>
          <p:cNvSpPr/>
          <p:nvPr/>
        </p:nvSpPr>
        <p:spPr>
          <a:xfrm>
            <a:off x="1760220" y="2450592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68" dirty="0"/>
          </a:p>
        </p:txBody>
      </p:sp>
      <p:sp>
        <p:nvSpPr>
          <p:cNvPr id="14" name="Text 12"/>
          <p:cNvSpPr/>
          <p:nvPr/>
        </p:nvSpPr>
        <p:spPr>
          <a:xfrm>
            <a:off x="2788920" y="315468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368" dirty="0"/>
          </a:p>
        </p:txBody>
      </p:sp>
      <p:sp>
        <p:nvSpPr>
          <p:cNvPr id="15" name="Text 13"/>
          <p:cNvSpPr/>
          <p:nvPr/>
        </p:nvSpPr>
        <p:spPr>
          <a:xfrm>
            <a:off x="2446020" y="245059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68" dirty="0"/>
          </a:p>
        </p:txBody>
      </p:sp>
      <p:sp>
        <p:nvSpPr>
          <p:cNvPr id="16" name="Text 14"/>
          <p:cNvSpPr/>
          <p:nvPr/>
        </p:nvSpPr>
        <p:spPr>
          <a:xfrm>
            <a:off x="2103120" y="1746504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68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3016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&lt; 15 → left;  11 &gt; 8 → right;  11 = 11 ✔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25  →  not found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V="1">
            <a:off x="5303520" y="2679192"/>
            <a:ext cx="342900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46420" y="2679192"/>
            <a:ext cx="342900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5646420" y="1975104"/>
            <a:ext cx="342900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32220" y="2679192"/>
            <a:ext cx="342900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1975104"/>
            <a:ext cx="342900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15468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68" dirty="0"/>
          </a:p>
        </p:txBody>
      </p:sp>
      <p:sp>
        <p:nvSpPr>
          <p:cNvPr id="25" name="Text 23"/>
          <p:cNvSpPr/>
          <p:nvPr/>
        </p:nvSpPr>
        <p:spPr>
          <a:xfrm>
            <a:off x="5760720" y="315468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68" dirty="0"/>
          </a:p>
        </p:txBody>
      </p:sp>
      <p:sp>
        <p:nvSpPr>
          <p:cNvPr id="26" name="Text 24"/>
          <p:cNvSpPr/>
          <p:nvPr/>
        </p:nvSpPr>
        <p:spPr>
          <a:xfrm>
            <a:off x="5417820" y="245059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68" dirty="0"/>
          </a:p>
        </p:txBody>
      </p:sp>
      <p:sp>
        <p:nvSpPr>
          <p:cNvPr id="27" name="Text 25"/>
          <p:cNvSpPr/>
          <p:nvPr/>
        </p:nvSpPr>
        <p:spPr>
          <a:xfrm>
            <a:off x="6446520" y="3154680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368" dirty="0"/>
          </a:p>
        </p:txBody>
      </p:sp>
      <p:sp>
        <p:nvSpPr>
          <p:cNvPr id="28" name="Text 26"/>
          <p:cNvSpPr/>
          <p:nvPr/>
        </p:nvSpPr>
        <p:spPr>
          <a:xfrm>
            <a:off x="6103620" y="2450592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68" dirty="0"/>
          </a:p>
        </p:txBody>
      </p:sp>
      <p:sp>
        <p:nvSpPr>
          <p:cNvPr id="29" name="Text 27"/>
          <p:cNvSpPr/>
          <p:nvPr/>
        </p:nvSpPr>
        <p:spPr>
          <a:xfrm>
            <a:off x="5760720" y="1746504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68" dirty="0"/>
          </a:p>
        </p:txBody>
      </p:sp>
      <p:sp>
        <p:nvSpPr>
          <p:cNvPr id="30" name="Text 28"/>
          <p:cNvSpPr txBox="1"/>
          <p:nvPr/>
        </p:nvSpPr>
        <p:spPr>
          <a:xfrm>
            <a:off x="4206240" y="363016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&gt; 15 → right;  25 &gt; 22 → right;  25 &lt; 27 → left = empty 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01000" y="1463040"/>
            <a:ext cx="3657600" cy="2606040"/>
          </a:xfrm>
          <a:prstGeom prst="roundRect">
            <a:avLst>
              <a:gd name="adj" fmla="val 2105"/>
            </a:avLst>
          </a:prstGeom>
          <a:solidFill>
            <a:srgbClr val="1B2B24"/>
          </a:solidFill>
          <a:ln w="9525">
            <a:solidFill>
              <a:srgbClr val="1B2B2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83880" y="1572768"/>
            <a:ext cx="3291840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Search(TreeNode* b, KeyType k)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 == 0)          return 0;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(k == b-&gt;data)    return 1;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(k &lt;  b-&gt;data)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Search(b-&gt;left, k);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Search(b-&gt;right, k);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343400"/>
            <a:ext cx="7315200" cy="1920240"/>
          </a:xfrm>
          <a:prstGeom prst="roundRect">
            <a:avLst>
              <a:gd name="adj" fmla="val 3810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434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= number of nodes on the path = O(h)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484632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comparison throws away one whole subtree.</a:t>
            </a:r>
            <a:endParaRPr lang="en-US" sz="1400" dirty="0"/>
          </a:p>
          <a:p>
            <a:pPr marL="160020" indent="-16002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pointer (NULL) means “not in the tree”.</a:t>
            </a:r>
            <a:endParaRPr lang="en-US" sz="1400" dirty="0"/>
          </a:p>
          <a:p>
            <a:pPr marL="160020" indent="-16002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recursive version needs O(h) stack space; a loop version needs O(1).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046720" y="434340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E6F0FA"/>
          </a:solidFill>
          <a:ln w="9525">
            <a:solidFill>
              <a:srgbClr val="E6F0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0" y="445312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4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470916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binary search on a sorted array — but a tree also lets you insert and delete quickly.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BINARY SEARCH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Inserting into a BST: always at a leaf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tree?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new key becomes the root.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the current node: smaller → go left, larger → go right.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until you reach an empty (NULL) pointer.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new node there. It is always a new leaf.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1B2B24"/>
          </a:solidFill>
          <a:ln w="9525">
            <a:solidFill>
              <a:srgbClr val="1B2B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950208"/>
            <a:ext cx="50292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Node* Insert(TreeNodePtr&amp; b, KeyType k)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 == 0) { b = new TreeNode;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b-&gt;data = k; return b;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(k == b-&gt;data) return 0;  // no duplicates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(k &lt;  b-&gt;data) Insert(b-&gt;left,  k);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(k &gt;  b-&gt;data) Insert(b-&gt;right, k);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463040"/>
            <a:ext cx="172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tree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V="1">
            <a:off x="6646926" y="3136392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934962" y="2464308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2998" y="2464308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4902" y="361645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9" dirty="0"/>
          </a:p>
        </p:txBody>
      </p:sp>
      <p:sp>
        <p:nvSpPr>
          <p:cNvPr id="13" name="Text 11"/>
          <p:cNvSpPr/>
          <p:nvPr/>
        </p:nvSpPr>
        <p:spPr>
          <a:xfrm>
            <a:off x="6742938" y="294436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49" dirty="0"/>
          </a:p>
        </p:txBody>
      </p:sp>
      <p:sp>
        <p:nvSpPr>
          <p:cNvPr id="14" name="Text 12"/>
          <p:cNvSpPr/>
          <p:nvPr/>
        </p:nvSpPr>
        <p:spPr>
          <a:xfrm>
            <a:off x="7319010" y="294436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49" dirty="0"/>
          </a:p>
        </p:txBody>
      </p:sp>
      <p:sp>
        <p:nvSpPr>
          <p:cNvPr id="15" name="Text 13"/>
          <p:cNvSpPr/>
          <p:nvPr/>
        </p:nvSpPr>
        <p:spPr>
          <a:xfrm>
            <a:off x="7030974" y="227228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49" dirty="0"/>
          </a:p>
        </p:txBody>
      </p:sp>
      <p:sp>
        <p:nvSpPr>
          <p:cNvPr id="16" name="Text 14"/>
          <p:cNvSpPr txBox="1"/>
          <p:nvPr/>
        </p:nvSpPr>
        <p:spPr>
          <a:xfrm>
            <a:off x="8077200" y="1463040"/>
            <a:ext cx="172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80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V="1">
            <a:off x="8364220" y="2907792"/>
            <a:ext cx="287020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8651240" y="2235708"/>
            <a:ext cx="287020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25280" y="2907792"/>
            <a:ext cx="287020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38260" y="2235708"/>
            <a:ext cx="287020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2196" y="338785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9" dirty="0"/>
          </a:p>
        </p:txBody>
      </p:sp>
      <p:sp>
        <p:nvSpPr>
          <p:cNvPr id="22" name="Text 20"/>
          <p:cNvSpPr/>
          <p:nvPr/>
        </p:nvSpPr>
        <p:spPr>
          <a:xfrm>
            <a:off x="8459216" y="271576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49" dirty="0"/>
          </a:p>
        </p:txBody>
      </p:sp>
      <p:sp>
        <p:nvSpPr>
          <p:cNvPr id="23" name="Text 21"/>
          <p:cNvSpPr/>
          <p:nvPr/>
        </p:nvSpPr>
        <p:spPr>
          <a:xfrm>
            <a:off x="9320276" y="3387852"/>
            <a:ext cx="384048" cy="384048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49" dirty="0"/>
          </a:p>
        </p:txBody>
      </p:sp>
      <p:sp>
        <p:nvSpPr>
          <p:cNvPr id="24" name="Text 22"/>
          <p:cNvSpPr/>
          <p:nvPr/>
        </p:nvSpPr>
        <p:spPr>
          <a:xfrm>
            <a:off x="9033256" y="271576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49" dirty="0"/>
          </a:p>
        </p:txBody>
      </p:sp>
      <p:sp>
        <p:nvSpPr>
          <p:cNvPr id="25" name="Text 23"/>
          <p:cNvSpPr/>
          <p:nvPr/>
        </p:nvSpPr>
        <p:spPr>
          <a:xfrm>
            <a:off x="8746236" y="204368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49" dirty="0"/>
          </a:p>
        </p:txBody>
      </p:sp>
      <p:sp>
        <p:nvSpPr>
          <p:cNvPr id="26" name="Text 24"/>
          <p:cNvSpPr txBox="1"/>
          <p:nvPr/>
        </p:nvSpPr>
        <p:spPr>
          <a:xfrm>
            <a:off x="8077200" y="4041648"/>
            <a:ext cx="1722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80&gt;30 → R; 80&gt;40 → R; place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936480" y="1463040"/>
            <a:ext cx="172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35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flipV="1">
            <a:off x="10365486" y="2907792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0653522" y="2235708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10941558" y="2907792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41558" y="2235708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73462" y="338785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9" dirty="0"/>
          </a:p>
        </p:txBody>
      </p:sp>
      <p:sp>
        <p:nvSpPr>
          <p:cNvPr id="33" name="Text 31"/>
          <p:cNvSpPr/>
          <p:nvPr/>
        </p:nvSpPr>
        <p:spPr>
          <a:xfrm>
            <a:off x="10461498" y="271576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49" dirty="0"/>
          </a:p>
        </p:txBody>
      </p:sp>
      <p:sp>
        <p:nvSpPr>
          <p:cNvPr id="34" name="Text 32"/>
          <p:cNvSpPr/>
          <p:nvPr/>
        </p:nvSpPr>
        <p:spPr>
          <a:xfrm>
            <a:off x="10749534" y="3387852"/>
            <a:ext cx="384048" cy="384048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49" dirty="0"/>
          </a:p>
        </p:txBody>
      </p:sp>
      <p:sp>
        <p:nvSpPr>
          <p:cNvPr id="35" name="Text 33"/>
          <p:cNvSpPr/>
          <p:nvPr/>
        </p:nvSpPr>
        <p:spPr>
          <a:xfrm>
            <a:off x="11037570" y="271576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49" dirty="0"/>
          </a:p>
        </p:txBody>
      </p:sp>
      <p:sp>
        <p:nvSpPr>
          <p:cNvPr id="36" name="Text 34"/>
          <p:cNvSpPr/>
          <p:nvPr/>
        </p:nvSpPr>
        <p:spPr>
          <a:xfrm>
            <a:off x="10749534" y="204368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49" dirty="0"/>
          </a:p>
        </p:txBody>
      </p:sp>
      <p:sp>
        <p:nvSpPr>
          <p:cNvPr id="37" name="Text 35"/>
          <p:cNvSpPr txBox="1"/>
          <p:nvPr/>
        </p:nvSpPr>
        <p:spPr>
          <a:xfrm>
            <a:off x="9936480" y="4041648"/>
            <a:ext cx="1722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35&gt;30 → R; 35&lt;40 → L; place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475488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3D1"/>
          </a:solidFill>
          <a:ln w="9525">
            <a:solidFill>
              <a:srgbClr val="FFF3D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864608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1206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never rearranges existing nodes. Cost: O(h), the length of the search path.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BINARY SEARCH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BST from 50, 70, 60, 20, 90, 10, 40, 100  (1 of 2)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insert 50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81528" y="2308860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101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is empty → 50 becomes the root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insert 70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57666" y="215112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2822" y="2676906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59" dirty="0"/>
          </a:p>
        </p:txBody>
      </p:sp>
      <p:sp>
        <p:nvSpPr>
          <p:cNvPr id="13" name="Text 11"/>
          <p:cNvSpPr/>
          <p:nvPr/>
        </p:nvSpPr>
        <p:spPr>
          <a:xfrm>
            <a:off x="8547354" y="194081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3101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70&gt;50 → R;  empty → place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931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insert 60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V="1">
            <a:off x="3134106" y="503377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34106" y="4471416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3794" y="5385816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59" dirty="0"/>
          </a:p>
        </p:txBody>
      </p:sp>
      <p:sp>
        <p:nvSpPr>
          <p:cNvPr id="20" name="Text 18"/>
          <p:cNvSpPr/>
          <p:nvPr/>
        </p:nvSpPr>
        <p:spPr>
          <a:xfrm>
            <a:off x="3239262" y="48234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59" dirty="0"/>
          </a:p>
        </p:txBody>
      </p:sp>
      <p:sp>
        <p:nvSpPr>
          <p:cNvPr id="21" name="Text 19"/>
          <p:cNvSpPr/>
          <p:nvPr/>
        </p:nvSpPr>
        <p:spPr>
          <a:xfrm>
            <a:off x="2923794" y="426110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8247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60&gt;50 → R;  60&lt;70 → L;  empty → place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38862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3931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insert 20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 flipV="1">
            <a:off x="8599932" y="4471416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8915400" y="503377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15400" y="4471416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89620" y="4823460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29" name="Text 27"/>
          <p:cNvSpPr/>
          <p:nvPr/>
        </p:nvSpPr>
        <p:spPr>
          <a:xfrm>
            <a:off x="8705088" y="538581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59" dirty="0"/>
          </a:p>
        </p:txBody>
      </p:sp>
      <p:sp>
        <p:nvSpPr>
          <p:cNvPr id="30" name="Text 28"/>
          <p:cNvSpPr/>
          <p:nvPr/>
        </p:nvSpPr>
        <p:spPr>
          <a:xfrm>
            <a:off x="9020556" y="48234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59" dirty="0"/>
          </a:p>
        </p:txBody>
      </p:sp>
      <p:sp>
        <p:nvSpPr>
          <p:cNvPr id="31" name="Text 29"/>
          <p:cNvSpPr/>
          <p:nvPr/>
        </p:nvSpPr>
        <p:spPr>
          <a:xfrm>
            <a:off x="8705088" y="426110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58247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20&lt;50 → L;  empty → place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BINARY SEARCH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BST from 50, 70, 60, 20, 90, 10, 40, 100  (2 of 2)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insert 90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V="1">
            <a:off x="2818638" y="1956816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3134106" y="251917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49574" y="251917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34106" y="1956816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8326" y="23088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12" name="Text 10"/>
          <p:cNvSpPr/>
          <p:nvPr/>
        </p:nvSpPr>
        <p:spPr>
          <a:xfrm>
            <a:off x="2923794" y="287121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59" dirty="0"/>
          </a:p>
        </p:txBody>
      </p:sp>
      <p:sp>
        <p:nvSpPr>
          <p:cNvPr id="13" name="Text 11"/>
          <p:cNvSpPr/>
          <p:nvPr/>
        </p:nvSpPr>
        <p:spPr>
          <a:xfrm>
            <a:off x="3554730" y="2871216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259" dirty="0"/>
          </a:p>
        </p:txBody>
      </p:sp>
      <p:sp>
        <p:nvSpPr>
          <p:cNvPr id="14" name="Text 12"/>
          <p:cNvSpPr/>
          <p:nvPr/>
        </p:nvSpPr>
        <p:spPr>
          <a:xfrm>
            <a:off x="3239262" y="23088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59" dirty="0"/>
          </a:p>
        </p:txBody>
      </p:sp>
      <p:sp>
        <p:nvSpPr>
          <p:cNvPr id="15" name="Text 13"/>
          <p:cNvSpPr/>
          <p:nvPr/>
        </p:nvSpPr>
        <p:spPr>
          <a:xfrm>
            <a:off x="2923794" y="174650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3101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90&gt;50 → R;  90&gt;70 → R;  empty → place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13716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insert 10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V="1">
            <a:off x="8284464" y="251917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8599932" y="1956816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8915400" y="251917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0868" y="251917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15400" y="1956816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74152" y="2871216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9" dirty="0"/>
          </a:p>
        </p:txBody>
      </p:sp>
      <p:sp>
        <p:nvSpPr>
          <p:cNvPr id="25" name="Text 23"/>
          <p:cNvSpPr/>
          <p:nvPr/>
        </p:nvSpPr>
        <p:spPr>
          <a:xfrm>
            <a:off x="8389620" y="23088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26" name="Text 24"/>
          <p:cNvSpPr/>
          <p:nvPr/>
        </p:nvSpPr>
        <p:spPr>
          <a:xfrm>
            <a:off x="8705088" y="287121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59" dirty="0"/>
          </a:p>
        </p:txBody>
      </p:sp>
      <p:sp>
        <p:nvSpPr>
          <p:cNvPr id="27" name="Text 25"/>
          <p:cNvSpPr/>
          <p:nvPr/>
        </p:nvSpPr>
        <p:spPr>
          <a:xfrm>
            <a:off x="9336024" y="287121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259" dirty="0"/>
          </a:p>
        </p:txBody>
      </p:sp>
      <p:sp>
        <p:nvSpPr>
          <p:cNvPr id="28" name="Text 26"/>
          <p:cNvSpPr/>
          <p:nvPr/>
        </p:nvSpPr>
        <p:spPr>
          <a:xfrm>
            <a:off x="9020556" y="23088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59" dirty="0"/>
          </a:p>
        </p:txBody>
      </p:sp>
      <p:sp>
        <p:nvSpPr>
          <p:cNvPr id="29" name="Text 27"/>
          <p:cNvSpPr/>
          <p:nvPr/>
        </p:nvSpPr>
        <p:spPr>
          <a:xfrm>
            <a:off x="8705088" y="174650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33101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10&lt;50 → L;  10&lt;20 → L;  empty → place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38862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3931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insert 40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 flipV="1">
            <a:off x="2345436" y="503377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60904" y="503377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2660904" y="4471416"/>
            <a:ext cx="630936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3607308" y="503377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22776" y="503377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0" y="4471416"/>
            <a:ext cx="630936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35124" y="538581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9" dirty="0"/>
          </a:p>
        </p:txBody>
      </p:sp>
      <p:sp>
        <p:nvSpPr>
          <p:cNvPr id="40" name="Text 38"/>
          <p:cNvSpPr/>
          <p:nvPr/>
        </p:nvSpPr>
        <p:spPr>
          <a:xfrm>
            <a:off x="2766060" y="5385816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59" dirty="0"/>
          </a:p>
        </p:txBody>
      </p:sp>
      <p:sp>
        <p:nvSpPr>
          <p:cNvPr id="41" name="Text 39"/>
          <p:cNvSpPr/>
          <p:nvPr/>
        </p:nvSpPr>
        <p:spPr>
          <a:xfrm>
            <a:off x="2450592" y="48234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42" name="Text 40"/>
          <p:cNvSpPr/>
          <p:nvPr/>
        </p:nvSpPr>
        <p:spPr>
          <a:xfrm>
            <a:off x="3396996" y="538581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59" dirty="0"/>
          </a:p>
        </p:txBody>
      </p:sp>
      <p:sp>
        <p:nvSpPr>
          <p:cNvPr id="43" name="Text 41"/>
          <p:cNvSpPr/>
          <p:nvPr/>
        </p:nvSpPr>
        <p:spPr>
          <a:xfrm>
            <a:off x="4027932" y="538581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259" dirty="0"/>
          </a:p>
        </p:txBody>
      </p:sp>
      <p:sp>
        <p:nvSpPr>
          <p:cNvPr id="44" name="Text 42"/>
          <p:cNvSpPr/>
          <p:nvPr/>
        </p:nvSpPr>
        <p:spPr>
          <a:xfrm>
            <a:off x="3712464" y="48234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59" dirty="0"/>
          </a:p>
        </p:txBody>
      </p:sp>
      <p:sp>
        <p:nvSpPr>
          <p:cNvPr id="45" name="Text 43"/>
          <p:cNvSpPr/>
          <p:nvPr/>
        </p:nvSpPr>
        <p:spPr>
          <a:xfrm>
            <a:off x="3081528" y="426110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58247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40&lt;50 → L;  40&gt;20 → R;  empty → place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72200" y="38862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63640" y="3931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8: insert 100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 flipV="1">
            <a:off x="8033551" y="4832206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85508" y="4832206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8285508" y="4429075"/>
            <a:ext cx="503914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9041378" y="4832206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545292" y="5235338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293335" y="4832206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89422" y="4429075"/>
            <a:ext cx="503914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65579" y="5067366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5" dirty="0"/>
          </a:p>
        </p:txBody>
      </p:sp>
      <p:sp>
        <p:nvSpPr>
          <p:cNvPr id="57" name="Text 55"/>
          <p:cNvSpPr/>
          <p:nvPr/>
        </p:nvSpPr>
        <p:spPr>
          <a:xfrm>
            <a:off x="8369493" y="5067366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5" dirty="0"/>
          </a:p>
        </p:txBody>
      </p:sp>
      <p:sp>
        <p:nvSpPr>
          <p:cNvPr id="58" name="Text 56"/>
          <p:cNvSpPr/>
          <p:nvPr/>
        </p:nvSpPr>
        <p:spPr>
          <a:xfrm>
            <a:off x="8117536" y="4664235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5" dirty="0"/>
          </a:p>
        </p:txBody>
      </p:sp>
      <p:sp>
        <p:nvSpPr>
          <p:cNvPr id="59" name="Text 57"/>
          <p:cNvSpPr/>
          <p:nvPr/>
        </p:nvSpPr>
        <p:spPr>
          <a:xfrm>
            <a:off x="8873407" y="5067366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5" dirty="0"/>
          </a:p>
        </p:txBody>
      </p:sp>
      <p:sp>
        <p:nvSpPr>
          <p:cNvPr id="60" name="Text 58"/>
          <p:cNvSpPr/>
          <p:nvPr/>
        </p:nvSpPr>
        <p:spPr>
          <a:xfrm>
            <a:off x="9629278" y="5470497"/>
            <a:ext cx="335943" cy="335943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5" dirty="0"/>
          </a:p>
        </p:txBody>
      </p:sp>
      <p:sp>
        <p:nvSpPr>
          <p:cNvPr id="61" name="Text 59"/>
          <p:cNvSpPr/>
          <p:nvPr/>
        </p:nvSpPr>
        <p:spPr>
          <a:xfrm>
            <a:off x="9377321" y="5067366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005" dirty="0"/>
          </a:p>
        </p:txBody>
      </p:sp>
      <p:sp>
        <p:nvSpPr>
          <p:cNvPr id="62" name="Text 60"/>
          <p:cNvSpPr/>
          <p:nvPr/>
        </p:nvSpPr>
        <p:spPr>
          <a:xfrm>
            <a:off x="9125364" y="4664235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5" dirty="0"/>
          </a:p>
        </p:txBody>
      </p:sp>
      <p:sp>
        <p:nvSpPr>
          <p:cNvPr id="63" name="Text 61"/>
          <p:cNvSpPr/>
          <p:nvPr/>
        </p:nvSpPr>
        <p:spPr>
          <a:xfrm>
            <a:off x="8621450" y="4261104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5" dirty="0"/>
          </a:p>
        </p:txBody>
      </p:sp>
      <p:sp>
        <p:nvSpPr>
          <p:cNvPr id="64" name="Text 62"/>
          <p:cNvSpPr txBox="1"/>
          <p:nvPr/>
        </p:nvSpPr>
        <p:spPr>
          <a:xfrm>
            <a:off x="6263640" y="58247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100&gt;50 → R;  100&gt;70 → R;  100&gt;90 → R;  empty → place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BINARY SEARCH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example: 12 keys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 flipV="1">
            <a:off x="2971800" y="3291840"/>
            <a:ext cx="32004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3291840" y="4091940"/>
            <a:ext cx="32004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3291840"/>
            <a:ext cx="32004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3291840" y="2491740"/>
            <a:ext cx="32004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3611880" y="1691640"/>
            <a:ext cx="32004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3931920" y="2491740"/>
            <a:ext cx="32004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4251960" y="3291840"/>
            <a:ext cx="32004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4572000" y="4091940"/>
            <a:ext cx="32004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3291840"/>
            <a:ext cx="32004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2491740"/>
            <a:ext cx="32004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0" y="1691640"/>
            <a:ext cx="32004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38633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68" dirty="0"/>
          </a:p>
        </p:txBody>
      </p:sp>
      <p:sp>
        <p:nvSpPr>
          <p:cNvPr id="17" name="Text 15"/>
          <p:cNvSpPr/>
          <p:nvPr/>
        </p:nvSpPr>
        <p:spPr>
          <a:xfrm>
            <a:off x="3063240" y="46634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368" dirty="0"/>
          </a:p>
        </p:txBody>
      </p:sp>
      <p:sp>
        <p:nvSpPr>
          <p:cNvPr id="18" name="Text 16"/>
          <p:cNvSpPr/>
          <p:nvPr/>
        </p:nvSpPr>
        <p:spPr>
          <a:xfrm>
            <a:off x="3383280" y="38633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368" dirty="0"/>
          </a:p>
        </p:txBody>
      </p:sp>
      <p:sp>
        <p:nvSpPr>
          <p:cNvPr id="19" name="Text 17"/>
          <p:cNvSpPr/>
          <p:nvPr/>
        </p:nvSpPr>
        <p:spPr>
          <a:xfrm>
            <a:off x="3063240" y="30632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68" dirty="0"/>
          </a:p>
        </p:txBody>
      </p:sp>
      <p:sp>
        <p:nvSpPr>
          <p:cNvPr id="20" name="Text 18"/>
          <p:cNvSpPr/>
          <p:nvPr/>
        </p:nvSpPr>
        <p:spPr>
          <a:xfrm>
            <a:off x="3383280" y="22631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368" dirty="0"/>
          </a:p>
        </p:txBody>
      </p:sp>
      <p:sp>
        <p:nvSpPr>
          <p:cNvPr id="21" name="Text 19"/>
          <p:cNvSpPr/>
          <p:nvPr/>
        </p:nvSpPr>
        <p:spPr>
          <a:xfrm>
            <a:off x="3703320" y="30632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368" dirty="0"/>
          </a:p>
        </p:txBody>
      </p:sp>
      <p:sp>
        <p:nvSpPr>
          <p:cNvPr id="22" name="Text 20"/>
          <p:cNvSpPr/>
          <p:nvPr/>
        </p:nvSpPr>
        <p:spPr>
          <a:xfrm>
            <a:off x="4023360" y="38633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368" dirty="0"/>
          </a:p>
        </p:txBody>
      </p:sp>
      <p:sp>
        <p:nvSpPr>
          <p:cNvPr id="23" name="Text 21"/>
          <p:cNvSpPr/>
          <p:nvPr/>
        </p:nvSpPr>
        <p:spPr>
          <a:xfrm>
            <a:off x="4343400" y="46634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368" dirty="0"/>
          </a:p>
        </p:txBody>
      </p:sp>
      <p:sp>
        <p:nvSpPr>
          <p:cNvPr id="24" name="Text 22"/>
          <p:cNvSpPr/>
          <p:nvPr/>
        </p:nvSpPr>
        <p:spPr>
          <a:xfrm>
            <a:off x="4663440" y="38633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368" dirty="0"/>
          </a:p>
        </p:txBody>
      </p:sp>
      <p:sp>
        <p:nvSpPr>
          <p:cNvPr id="25" name="Text 23"/>
          <p:cNvSpPr/>
          <p:nvPr/>
        </p:nvSpPr>
        <p:spPr>
          <a:xfrm>
            <a:off x="4343400" y="30632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368" dirty="0"/>
          </a:p>
        </p:txBody>
      </p:sp>
      <p:sp>
        <p:nvSpPr>
          <p:cNvPr id="26" name="Text 24"/>
          <p:cNvSpPr/>
          <p:nvPr/>
        </p:nvSpPr>
        <p:spPr>
          <a:xfrm>
            <a:off x="4023360" y="22631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368" dirty="0"/>
          </a:p>
        </p:txBody>
      </p:sp>
      <p:sp>
        <p:nvSpPr>
          <p:cNvPr id="27" name="Text 25"/>
          <p:cNvSpPr/>
          <p:nvPr/>
        </p:nvSpPr>
        <p:spPr>
          <a:xfrm>
            <a:off x="3703320" y="14630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68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440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 order:  45, 39, 56, 12, 34, 78, 32, 10, 89, 54, 67, 81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80960" y="146304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638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 in-order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1874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3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10  12  32  34  39  45  54  56  67  78  81  89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✔ — so this is a valid BST.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680960" y="3840480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638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one insertion: 81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42976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&gt; 45 → R (56)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&gt; 56 → R (78)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&gt; 78 → R (89)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&lt; 89 → L, empty → place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BINARY SEARCH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keys, different insertion order, different shape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DE8EA"/>
          </a:solidFill>
          <a:ln w="9525">
            <a:solidFill>
              <a:srgbClr val="FDE8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A0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sorted input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105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1, 2, 3, 4, 5, 6, 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31491" y="4033396"/>
            <a:ext cx="188456" cy="34791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43036" y="3685478"/>
            <a:ext cx="188456" cy="34791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54580" y="3337560"/>
            <a:ext cx="188456" cy="34791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66124" y="2989642"/>
            <a:ext cx="188456" cy="34791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77669" y="2641724"/>
            <a:ext cx="188456" cy="34791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9213" y="2293806"/>
            <a:ext cx="188456" cy="34791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4981" y="4236348"/>
            <a:ext cx="289932" cy="28993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68" dirty="0"/>
          </a:p>
        </p:txBody>
      </p:sp>
      <p:sp>
        <p:nvSpPr>
          <p:cNvPr id="15" name="Text 13"/>
          <p:cNvSpPr/>
          <p:nvPr/>
        </p:nvSpPr>
        <p:spPr>
          <a:xfrm>
            <a:off x="2586525" y="3888430"/>
            <a:ext cx="289932" cy="28993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68" dirty="0"/>
          </a:p>
        </p:txBody>
      </p:sp>
      <p:sp>
        <p:nvSpPr>
          <p:cNvPr id="16" name="Text 14"/>
          <p:cNvSpPr/>
          <p:nvPr/>
        </p:nvSpPr>
        <p:spPr>
          <a:xfrm>
            <a:off x="2398070" y="3540512"/>
            <a:ext cx="289932" cy="28993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68" dirty="0"/>
          </a:p>
        </p:txBody>
      </p:sp>
      <p:sp>
        <p:nvSpPr>
          <p:cNvPr id="17" name="Text 15"/>
          <p:cNvSpPr/>
          <p:nvPr/>
        </p:nvSpPr>
        <p:spPr>
          <a:xfrm>
            <a:off x="2209614" y="3192594"/>
            <a:ext cx="289932" cy="28993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68" dirty="0"/>
          </a:p>
        </p:txBody>
      </p:sp>
      <p:sp>
        <p:nvSpPr>
          <p:cNvPr id="18" name="Text 16"/>
          <p:cNvSpPr/>
          <p:nvPr/>
        </p:nvSpPr>
        <p:spPr>
          <a:xfrm>
            <a:off x="2021159" y="2844676"/>
            <a:ext cx="289932" cy="28993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68" dirty="0"/>
          </a:p>
        </p:txBody>
      </p:sp>
      <p:sp>
        <p:nvSpPr>
          <p:cNvPr id="19" name="Text 17"/>
          <p:cNvSpPr/>
          <p:nvPr/>
        </p:nvSpPr>
        <p:spPr>
          <a:xfrm>
            <a:off x="1832703" y="2496758"/>
            <a:ext cx="289932" cy="28993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68" dirty="0"/>
          </a:p>
        </p:txBody>
      </p:sp>
      <p:sp>
        <p:nvSpPr>
          <p:cNvPr id="20" name="Text 18"/>
          <p:cNvSpPr/>
          <p:nvPr/>
        </p:nvSpPr>
        <p:spPr>
          <a:xfrm>
            <a:off x="1644247" y="2148840"/>
            <a:ext cx="289932" cy="28993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68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709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D628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 = 6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297680" y="141732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89120" y="15087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 key first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389120" y="18105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4, 2, 6, 1, 3, 5, 7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flipV="1">
            <a:off x="5301234" y="2930652"/>
            <a:ext cx="267462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68696" y="2930652"/>
            <a:ext cx="267462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5568696" y="2354580"/>
            <a:ext cx="534924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6371082" y="2930652"/>
            <a:ext cx="267462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38544" y="2930652"/>
            <a:ext cx="267462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03620" y="2354580"/>
            <a:ext cx="534924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95494" y="3300984"/>
            <a:ext cx="411480" cy="4114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1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31" dirty="0"/>
          </a:p>
        </p:txBody>
      </p:sp>
      <p:sp>
        <p:nvSpPr>
          <p:cNvPr id="32" name="Text 30"/>
          <p:cNvSpPr/>
          <p:nvPr/>
        </p:nvSpPr>
        <p:spPr>
          <a:xfrm>
            <a:off x="5630418" y="3300984"/>
            <a:ext cx="411480" cy="4114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1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31" dirty="0"/>
          </a:p>
        </p:txBody>
      </p:sp>
      <p:sp>
        <p:nvSpPr>
          <p:cNvPr id="33" name="Text 31"/>
          <p:cNvSpPr/>
          <p:nvPr/>
        </p:nvSpPr>
        <p:spPr>
          <a:xfrm>
            <a:off x="5362956" y="2724912"/>
            <a:ext cx="411480" cy="4114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1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31" dirty="0"/>
          </a:p>
        </p:txBody>
      </p:sp>
      <p:sp>
        <p:nvSpPr>
          <p:cNvPr id="34" name="Text 32"/>
          <p:cNvSpPr/>
          <p:nvPr/>
        </p:nvSpPr>
        <p:spPr>
          <a:xfrm>
            <a:off x="6165342" y="3300984"/>
            <a:ext cx="411480" cy="4114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1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31" dirty="0"/>
          </a:p>
        </p:txBody>
      </p:sp>
      <p:sp>
        <p:nvSpPr>
          <p:cNvPr id="35" name="Text 33"/>
          <p:cNvSpPr/>
          <p:nvPr/>
        </p:nvSpPr>
        <p:spPr>
          <a:xfrm>
            <a:off x="6700266" y="3300984"/>
            <a:ext cx="411480" cy="4114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1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31" dirty="0"/>
          </a:p>
        </p:txBody>
      </p:sp>
      <p:sp>
        <p:nvSpPr>
          <p:cNvPr id="36" name="Text 34"/>
          <p:cNvSpPr/>
          <p:nvPr/>
        </p:nvSpPr>
        <p:spPr>
          <a:xfrm>
            <a:off x="6432804" y="2724912"/>
            <a:ext cx="411480" cy="4114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1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31" dirty="0"/>
          </a:p>
        </p:txBody>
      </p:sp>
      <p:sp>
        <p:nvSpPr>
          <p:cNvPr id="37" name="Text 35"/>
          <p:cNvSpPr/>
          <p:nvPr/>
        </p:nvSpPr>
        <p:spPr>
          <a:xfrm>
            <a:off x="5897880" y="2148840"/>
            <a:ext cx="411480" cy="4114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1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31" dirty="0"/>
          </a:p>
        </p:txBody>
      </p:sp>
      <p:sp>
        <p:nvSpPr>
          <p:cNvPr id="38" name="Text 36"/>
          <p:cNvSpPr txBox="1"/>
          <p:nvPr/>
        </p:nvSpPr>
        <p:spPr>
          <a:xfrm>
            <a:off x="4389120" y="4709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 = 2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8046720" y="141732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38160" y="15087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mixed order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138160" y="18105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3, 1, 6, 2, 5, 7, 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184005" y="2930652"/>
            <a:ext cx="267462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9184005" y="2354580"/>
            <a:ext cx="534924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9718929" y="3506724"/>
            <a:ext cx="267462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9986391" y="2930652"/>
            <a:ext cx="267462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253853" y="2930652"/>
            <a:ext cx="267462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718929" y="2354580"/>
            <a:ext cx="534924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45727" y="3300984"/>
            <a:ext cx="411480" cy="4114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1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31" dirty="0"/>
          </a:p>
        </p:txBody>
      </p:sp>
      <p:sp>
        <p:nvSpPr>
          <p:cNvPr id="49" name="Text 47"/>
          <p:cNvSpPr/>
          <p:nvPr/>
        </p:nvSpPr>
        <p:spPr>
          <a:xfrm>
            <a:off x="8978265" y="2724912"/>
            <a:ext cx="411480" cy="4114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1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31" dirty="0"/>
          </a:p>
        </p:txBody>
      </p:sp>
      <p:sp>
        <p:nvSpPr>
          <p:cNvPr id="50" name="Text 48"/>
          <p:cNvSpPr/>
          <p:nvPr/>
        </p:nvSpPr>
        <p:spPr>
          <a:xfrm>
            <a:off x="9513189" y="3877056"/>
            <a:ext cx="411480" cy="4114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1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31" dirty="0"/>
          </a:p>
        </p:txBody>
      </p:sp>
      <p:sp>
        <p:nvSpPr>
          <p:cNvPr id="51" name="Text 49"/>
          <p:cNvSpPr/>
          <p:nvPr/>
        </p:nvSpPr>
        <p:spPr>
          <a:xfrm>
            <a:off x="9780651" y="3300984"/>
            <a:ext cx="411480" cy="4114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1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31" dirty="0"/>
          </a:p>
        </p:txBody>
      </p:sp>
      <p:sp>
        <p:nvSpPr>
          <p:cNvPr id="52" name="Text 50"/>
          <p:cNvSpPr/>
          <p:nvPr/>
        </p:nvSpPr>
        <p:spPr>
          <a:xfrm>
            <a:off x="10315575" y="3300984"/>
            <a:ext cx="411480" cy="4114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1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31" dirty="0"/>
          </a:p>
        </p:txBody>
      </p:sp>
      <p:sp>
        <p:nvSpPr>
          <p:cNvPr id="53" name="Text 51"/>
          <p:cNvSpPr/>
          <p:nvPr/>
        </p:nvSpPr>
        <p:spPr>
          <a:xfrm>
            <a:off x="10048113" y="2724912"/>
            <a:ext cx="411480" cy="4114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1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31" dirty="0"/>
          </a:p>
        </p:txBody>
      </p:sp>
      <p:sp>
        <p:nvSpPr>
          <p:cNvPr id="54" name="Text 52"/>
          <p:cNvSpPr/>
          <p:nvPr/>
        </p:nvSpPr>
        <p:spPr>
          <a:xfrm>
            <a:off x="9513189" y="2148840"/>
            <a:ext cx="411480" cy="4114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1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31" dirty="0"/>
          </a:p>
        </p:txBody>
      </p:sp>
      <p:sp>
        <p:nvSpPr>
          <p:cNvPr id="55" name="Text 53"/>
          <p:cNvSpPr txBox="1"/>
          <p:nvPr/>
        </p:nvSpPr>
        <p:spPr>
          <a:xfrm>
            <a:off x="8138160" y="47091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 = 3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548640" y="539496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FDE8EA"/>
          </a:solidFill>
          <a:ln w="9525">
            <a:solidFill>
              <a:srgbClr val="FDE8E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31520" y="550468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A0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731520" y="5760720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input turns the BST into a linked list: search, insert and delete all cost O(n). Nothing in a plain BST prevents this. Balanced trees (AVL, Red-Black, Splay) are the cure.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BINARY SEARCH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Deleting from a BST: leaf and one-child cases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926080" cy="2331720"/>
          </a:xfrm>
          <a:prstGeom prst="roundRect">
            <a:avLst>
              <a:gd name="adj" fmla="val 3137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1: leaf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20. Simply cut the link from its parent.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417320"/>
            <a:ext cx="3698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V="1">
            <a:off x="4751103" y="2317606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03060" y="2317606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5003060" y="1914475"/>
            <a:ext cx="503914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58931" y="2720738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5758931" y="2317606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10888" y="2317606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06974" y="1914475"/>
            <a:ext cx="503914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3132" y="2552766"/>
            <a:ext cx="335943" cy="335943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5" dirty="0"/>
          </a:p>
        </p:txBody>
      </p:sp>
      <p:sp>
        <p:nvSpPr>
          <p:cNvPr id="17" name="Text 15"/>
          <p:cNvSpPr/>
          <p:nvPr/>
        </p:nvSpPr>
        <p:spPr>
          <a:xfrm>
            <a:off x="5087046" y="2552766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5" dirty="0"/>
          </a:p>
        </p:txBody>
      </p:sp>
      <p:sp>
        <p:nvSpPr>
          <p:cNvPr id="18" name="Text 16"/>
          <p:cNvSpPr/>
          <p:nvPr/>
        </p:nvSpPr>
        <p:spPr>
          <a:xfrm>
            <a:off x="4835089" y="2149635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5" dirty="0"/>
          </a:p>
        </p:txBody>
      </p:sp>
      <p:sp>
        <p:nvSpPr>
          <p:cNvPr id="19" name="Text 17"/>
          <p:cNvSpPr/>
          <p:nvPr/>
        </p:nvSpPr>
        <p:spPr>
          <a:xfrm>
            <a:off x="5842917" y="2955897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5" dirty="0"/>
          </a:p>
        </p:txBody>
      </p:sp>
      <p:sp>
        <p:nvSpPr>
          <p:cNvPr id="20" name="Text 18"/>
          <p:cNvSpPr/>
          <p:nvPr/>
        </p:nvSpPr>
        <p:spPr>
          <a:xfrm>
            <a:off x="5590960" y="2552766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5" dirty="0"/>
          </a:p>
        </p:txBody>
      </p:sp>
      <p:sp>
        <p:nvSpPr>
          <p:cNvPr id="21" name="Text 19"/>
          <p:cNvSpPr/>
          <p:nvPr/>
        </p:nvSpPr>
        <p:spPr>
          <a:xfrm>
            <a:off x="6094874" y="2552766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5" dirty="0"/>
          </a:p>
        </p:txBody>
      </p:sp>
      <p:sp>
        <p:nvSpPr>
          <p:cNvPr id="22" name="Text 20"/>
          <p:cNvSpPr/>
          <p:nvPr/>
        </p:nvSpPr>
        <p:spPr>
          <a:xfrm>
            <a:off x="5842917" y="2149635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5" dirty="0"/>
          </a:p>
        </p:txBody>
      </p:sp>
      <p:sp>
        <p:nvSpPr>
          <p:cNvPr id="23" name="Text 21"/>
          <p:cNvSpPr/>
          <p:nvPr/>
        </p:nvSpPr>
        <p:spPr>
          <a:xfrm>
            <a:off x="5339003" y="1746504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5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3310128"/>
            <a:ext cx="3698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ring = node to delete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29500" y="233172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9852" y="1417320"/>
            <a:ext cx="3698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79334" y="2317606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9179334" y="1914475"/>
            <a:ext cx="503914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35204" y="2720738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9935204" y="2317606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87161" y="2317606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83248" y="1914475"/>
            <a:ext cx="503914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63319" y="2552766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5" dirty="0"/>
          </a:p>
        </p:txBody>
      </p:sp>
      <p:sp>
        <p:nvSpPr>
          <p:cNvPr id="34" name="Text 32"/>
          <p:cNvSpPr/>
          <p:nvPr/>
        </p:nvSpPr>
        <p:spPr>
          <a:xfrm>
            <a:off x="9011362" y="2149635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5" dirty="0"/>
          </a:p>
        </p:txBody>
      </p:sp>
      <p:sp>
        <p:nvSpPr>
          <p:cNvPr id="35" name="Text 33"/>
          <p:cNvSpPr/>
          <p:nvPr/>
        </p:nvSpPr>
        <p:spPr>
          <a:xfrm>
            <a:off x="10019190" y="2955897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5" dirty="0"/>
          </a:p>
        </p:txBody>
      </p:sp>
      <p:sp>
        <p:nvSpPr>
          <p:cNvPr id="36" name="Text 34"/>
          <p:cNvSpPr/>
          <p:nvPr/>
        </p:nvSpPr>
        <p:spPr>
          <a:xfrm>
            <a:off x="9767233" y="2552766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5" dirty="0"/>
          </a:p>
        </p:txBody>
      </p:sp>
      <p:sp>
        <p:nvSpPr>
          <p:cNvPr id="37" name="Text 35"/>
          <p:cNvSpPr/>
          <p:nvPr/>
        </p:nvSpPr>
        <p:spPr>
          <a:xfrm>
            <a:off x="10271147" y="2552766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5" dirty="0"/>
          </a:p>
        </p:txBody>
      </p:sp>
      <p:sp>
        <p:nvSpPr>
          <p:cNvPr id="38" name="Text 36"/>
          <p:cNvSpPr/>
          <p:nvPr/>
        </p:nvSpPr>
        <p:spPr>
          <a:xfrm>
            <a:off x="10019190" y="2149635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5" dirty="0"/>
          </a:p>
        </p:txBody>
      </p:sp>
      <p:sp>
        <p:nvSpPr>
          <p:cNvPr id="39" name="Text 37"/>
          <p:cNvSpPr/>
          <p:nvPr/>
        </p:nvSpPr>
        <p:spPr>
          <a:xfrm>
            <a:off x="9515276" y="1746504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5" dirty="0"/>
          </a:p>
        </p:txBody>
      </p:sp>
      <p:sp>
        <p:nvSpPr>
          <p:cNvPr id="40" name="Text 38"/>
          <p:cNvSpPr txBox="1"/>
          <p:nvPr/>
        </p:nvSpPr>
        <p:spPr>
          <a:xfrm>
            <a:off x="7959852" y="3310128"/>
            <a:ext cx="3698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 valid BST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3886200"/>
            <a:ext cx="2926080" cy="2331720"/>
          </a:xfrm>
          <a:prstGeom prst="roundRect">
            <a:avLst>
              <a:gd name="adj" fmla="val 3137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152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2: one child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731520" y="448056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60. Its only child 65 moves up into its place.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3657600" y="3886200"/>
            <a:ext cx="3698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 flipV="1">
            <a:off x="4751103" y="4786486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03060" y="4786486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5003060" y="4383355"/>
            <a:ext cx="503914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58931" y="5189618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5758931" y="4786486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10888" y="4786486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06974" y="4383355"/>
            <a:ext cx="503914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83132" y="5021646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5" dirty="0"/>
          </a:p>
        </p:txBody>
      </p:sp>
      <p:sp>
        <p:nvSpPr>
          <p:cNvPr id="53" name="Text 51"/>
          <p:cNvSpPr/>
          <p:nvPr/>
        </p:nvSpPr>
        <p:spPr>
          <a:xfrm>
            <a:off x="5087046" y="5021646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5" dirty="0"/>
          </a:p>
        </p:txBody>
      </p:sp>
      <p:sp>
        <p:nvSpPr>
          <p:cNvPr id="54" name="Text 52"/>
          <p:cNvSpPr/>
          <p:nvPr/>
        </p:nvSpPr>
        <p:spPr>
          <a:xfrm>
            <a:off x="4835089" y="4618515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5" dirty="0"/>
          </a:p>
        </p:txBody>
      </p:sp>
      <p:sp>
        <p:nvSpPr>
          <p:cNvPr id="55" name="Text 53"/>
          <p:cNvSpPr/>
          <p:nvPr/>
        </p:nvSpPr>
        <p:spPr>
          <a:xfrm>
            <a:off x="5842917" y="5424777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5" dirty="0"/>
          </a:p>
        </p:txBody>
      </p:sp>
      <p:sp>
        <p:nvSpPr>
          <p:cNvPr id="56" name="Text 54"/>
          <p:cNvSpPr/>
          <p:nvPr/>
        </p:nvSpPr>
        <p:spPr>
          <a:xfrm>
            <a:off x="5590960" y="5021646"/>
            <a:ext cx="335943" cy="335943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5" dirty="0"/>
          </a:p>
        </p:txBody>
      </p:sp>
      <p:sp>
        <p:nvSpPr>
          <p:cNvPr id="57" name="Text 55"/>
          <p:cNvSpPr/>
          <p:nvPr/>
        </p:nvSpPr>
        <p:spPr>
          <a:xfrm>
            <a:off x="6094874" y="5021646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5" dirty="0"/>
          </a:p>
        </p:txBody>
      </p:sp>
      <p:sp>
        <p:nvSpPr>
          <p:cNvPr id="58" name="Text 56"/>
          <p:cNvSpPr/>
          <p:nvPr/>
        </p:nvSpPr>
        <p:spPr>
          <a:xfrm>
            <a:off x="5842917" y="4618515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5" dirty="0"/>
          </a:p>
        </p:txBody>
      </p:sp>
      <p:sp>
        <p:nvSpPr>
          <p:cNvPr id="59" name="Text 57"/>
          <p:cNvSpPr/>
          <p:nvPr/>
        </p:nvSpPr>
        <p:spPr>
          <a:xfrm>
            <a:off x="5339003" y="4215384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5" dirty="0"/>
          </a:p>
        </p:txBody>
      </p:sp>
      <p:sp>
        <p:nvSpPr>
          <p:cNvPr id="60" name="Text 58"/>
          <p:cNvSpPr txBox="1"/>
          <p:nvPr/>
        </p:nvSpPr>
        <p:spPr>
          <a:xfrm>
            <a:off x="3657600" y="5779008"/>
            <a:ext cx="3698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ring = node to delete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429500" y="480060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959852" y="3886200"/>
            <a:ext cx="36987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 flipV="1">
            <a:off x="8945118" y="4988052"/>
            <a:ext cx="288036" cy="5806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233154" y="4988052"/>
            <a:ext cx="288036" cy="5806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9233154" y="4407408"/>
            <a:ext cx="576072" cy="5806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10097262" y="4988052"/>
            <a:ext cx="288036" cy="5806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385298" y="4988052"/>
            <a:ext cx="288036" cy="5806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809226" y="4407408"/>
            <a:ext cx="576072" cy="5806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753094" y="537667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49" dirty="0"/>
          </a:p>
        </p:txBody>
      </p:sp>
      <p:sp>
        <p:nvSpPr>
          <p:cNvPr id="70" name="Text 68"/>
          <p:cNvSpPr/>
          <p:nvPr/>
        </p:nvSpPr>
        <p:spPr>
          <a:xfrm>
            <a:off x="9329166" y="537667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49" dirty="0"/>
          </a:p>
        </p:txBody>
      </p:sp>
      <p:sp>
        <p:nvSpPr>
          <p:cNvPr id="71" name="Text 69"/>
          <p:cNvSpPr/>
          <p:nvPr/>
        </p:nvSpPr>
        <p:spPr>
          <a:xfrm>
            <a:off x="9041130" y="479602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49" dirty="0"/>
          </a:p>
        </p:txBody>
      </p:sp>
      <p:sp>
        <p:nvSpPr>
          <p:cNvPr id="72" name="Text 70"/>
          <p:cNvSpPr/>
          <p:nvPr/>
        </p:nvSpPr>
        <p:spPr>
          <a:xfrm>
            <a:off x="9905238" y="537667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49" dirty="0"/>
          </a:p>
        </p:txBody>
      </p:sp>
      <p:sp>
        <p:nvSpPr>
          <p:cNvPr id="73" name="Text 71"/>
          <p:cNvSpPr/>
          <p:nvPr/>
        </p:nvSpPr>
        <p:spPr>
          <a:xfrm>
            <a:off x="10481310" y="537667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49" dirty="0"/>
          </a:p>
        </p:txBody>
      </p:sp>
      <p:sp>
        <p:nvSpPr>
          <p:cNvPr id="74" name="Text 72"/>
          <p:cNvSpPr/>
          <p:nvPr/>
        </p:nvSpPr>
        <p:spPr>
          <a:xfrm>
            <a:off x="10193274" y="479602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49" dirty="0"/>
          </a:p>
        </p:txBody>
      </p:sp>
      <p:sp>
        <p:nvSpPr>
          <p:cNvPr id="75" name="Text 73"/>
          <p:cNvSpPr/>
          <p:nvPr/>
        </p:nvSpPr>
        <p:spPr>
          <a:xfrm>
            <a:off x="9617202" y="421538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49" dirty="0"/>
          </a:p>
        </p:txBody>
      </p:sp>
      <p:sp>
        <p:nvSpPr>
          <p:cNvPr id="76" name="Text 74"/>
          <p:cNvSpPr txBox="1"/>
          <p:nvPr/>
        </p:nvSpPr>
        <p:spPr>
          <a:xfrm>
            <a:off x="7959852" y="5779008"/>
            <a:ext cx="36987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 valid BST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BINARY SEARCH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Deleting a node with two children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50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362456" y="2651760"/>
            <a:ext cx="315468" cy="6949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7924" y="2651760"/>
            <a:ext cx="315468" cy="6949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677924" y="1956816"/>
            <a:ext cx="630936" cy="6949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24328" y="3346704"/>
            <a:ext cx="315468" cy="6949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624328" y="2651760"/>
            <a:ext cx="315468" cy="6949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39796" y="2651760"/>
            <a:ext cx="315468" cy="6949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08860" y="1956816"/>
            <a:ext cx="630936" cy="6949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13639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14" name="Text 12"/>
          <p:cNvSpPr/>
          <p:nvPr/>
        </p:nvSpPr>
        <p:spPr>
          <a:xfrm>
            <a:off x="1783080" y="313639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59" dirty="0"/>
          </a:p>
        </p:txBody>
      </p:sp>
      <p:sp>
        <p:nvSpPr>
          <p:cNvPr id="15" name="Text 13"/>
          <p:cNvSpPr/>
          <p:nvPr/>
        </p:nvSpPr>
        <p:spPr>
          <a:xfrm>
            <a:off x="1467612" y="24414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16" name="Text 14"/>
          <p:cNvSpPr/>
          <p:nvPr/>
        </p:nvSpPr>
        <p:spPr>
          <a:xfrm>
            <a:off x="2729484" y="383133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259" dirty="0"/>
          </a:p>
        </p:txBody>
      </p:sp>
      <p:sp>
        <p:nvSpPr>
          <p:cNvPr id="17" name="Text 15"/>
          <p:cNvSpPr/>
          <p:nvPr/>
        </p:nvSpPr>
        <p:spPr>
          <a:xfrm>
            <a:off x="2414016" y="3136392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59" dirty="0"/>
          </a:p>
        </p:txBody>
      </p:sp>
      <p:sp>
        <p:nvSpPr>
          <p:cNvPr id="18" name="Text 16"/>
          <p:cNvSpPr/>
          <p:nvPr/>
        </p:nvSpPr>
        <p:spPr>
          <a:xfrm>
            <a:off x="3044952" y="313639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259" dirty="0"/>
          </a:p>
        </p:txBody>
      </p:sp>
      <p:sp>
        <p:nvSpPr>
          <p:cNvPr id="19" name="Text 17"/>
          <p:cNvSpPr/>
          <p:nvPr/>
        </p:nvSpPr>
        <p:spPr>
          <a:xfrm>
            <a:off x="2729484" y="24414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59" dirty="0"/>
          </a:p>
        </p:txBody>
      </p:sp>
      <p:sp>
        <p:nvSpPr>
          <p:cNvPr id="20" name="Text 18"/>
          <p:cNvSpPr/>
          <p:nvPr/>
        </p:nvSpPr>
        <p:spPr>
          <a:xfrm>
            <a:off x="2098548" y="1746504"/>
            <a:ext cx="420624" cy="420624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7024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amber: in-order successor 60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(smallest key in the right subtree)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1: successor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flipV="1">
            <a:off x="5157216" y="2999232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72684" y="2999232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5472684" y="2263140"/>
            <a:ext cx="630936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6419088" y="2999232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34556" y="2999232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03620" y="2263140"/>
            <a:ext cx="630936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46904" y="352501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30" name="Text 28"/>
          <p:cNvSpPr/>
          <p:nvPr/>
        </p:nvSpPr>
        <p:spPr>
          <a:xfrm>
            <a:off x="5577840" y="352501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59" dirty="0"/>
          </a:p>
        </p:txBody>
      </p:sp>
      <p:sp>
        <p:nvSpPr>
          <p:cNvPr id="31" name="Text 29"/>
          <p:cNvSpPr/>
          <p:nvPr/>
        </p:nvSpPr>
        <p:spPr>
          <a:xfrm>
            <a:off x="5262372" y="278892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32" name="Text 30"/>
          <p:cNvSpPr/>
          <p:nvPr/>
        </p:nvSpPr>
        <p:spPr>
          <a:xfrm>
            <a:off x="6208776" y="352501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259" dirty="0"/>
          </a:p>
        </p:txBody>
      </p:sp>
      <p:sp>
        <p:nvSpPr>
          <p:cNvPr id="33" name="Text 31"/>
          <p:cNvSpPr/>
          <p:nvPr/>
        </p:nvSpPr>
        <p:spPr>
          <a:xfrm>
            <a:off x="6839712" y="352501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259" dirty="0"/>
          </a:p>
        </p:txBody>
      </p:sp>
      <p:sp>
        <p:nvSpPr>
          <p:cNvPr id="34" name="Text 32"/>
          <p:cNvSpPr/>
          <p:nvPr/>
        </p:nvSpPr>
        <p:spPr>
          <a:xfrm>
            <a:off x="6524244" y="278892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59" dirty="0"/>
          </a:p>
        </p:txBody>
      </p:sp>
      <p:sp>
        <p:nvSpPr>
          <p:cNvPr id="35" name="Text 33"/>
          <p:cNvSpPr/>
          <p:nvPr/>
        </p:nvSpPr>
        <p:spPr>
          <a:xfrm>
            <a:off x="5893308" y="205282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59" dirty="0"/>
          </a:p>
        </p:txBody>
      </p:sp>
      <p:sp>
        <p:nvSpPr>
          <p:cNvPr id="36" name="Text 34"/>
          <p:cNvSpPr txBox="1"/>
          <p:nvPr/>
        </p:nvSpPr>
        <p:spPr>
          <a:xfrm>
            <a:off x="4343400" y="427024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60 into the root, then delete the old 60 (one child: case 2)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13816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2: predecessor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 flipV="1">
            <a:off x="9267444" y="2651760"/>
            <a:ext cx="315468" cy="6949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9582912" y="1956816"/>
            <a:ext cx="315468" cy="6949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98380" y="3346704"/>
            <a:ext cx="315468" cy="6949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9898380" y="2651760"/>
            <a:ext cx="315468" cy="6949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13848" y="2651760"/>
            <a:ext cx="315468" cy="6949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898380" y="1956816"/>
            <a:ext cx="315468" cy="6949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57132" y="313639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45" name="Text 43"/>
          <p:cNvSpPr/>
          <p:nvPr/>
        </p:nvSpPr>
        <p:spPr>
          <a:xfrm>
            <a:off x="9372600" y="24414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46" name="Text 44"/>
          <p:cNvSpPr/>
          <p:nvPr/>
        </p:nvSpPr>
        <p:spPr>
          <a:xfrm>
            <a:off x="10003536" y="383133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259" dirty="0"/>
          </a:p>
        </p:txBody>
      </p:sp>
      <p:sp>
        <p:nvSpPr>
          <p:cNvPr id="47" name="Text 45"/>
          <p:cNvSpPr/>
          <p:nvPr/>
        </p:nvSpPr>
        <p:spPr>
          <a:xfrm>
            <a:off x="9688068" y="313639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59" dirty="0"/>
          </a:p>
        </p:txBody>
      </p:sp>
      <p:sp>
        <p:nvSpPr>
          <p:cNvPr id="48" name="Text 46"/>
          <p:cNvSpPr/>
          <p:nvPr/>
        </p:nvSpPr>
        <p:spPr>
          <a:xfrm>
            <a:off x="10319004" y="313639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259" dirty="0"/>
          </a:p>
        </p:txBody>
      </p:sp>
      <p:sp>
        <p:nvSpPr>
          <p:cNvPr id="49" name="Text 47"/>
          <p:cNvSpPr/>
          <p:nvPr/>
        </p:nvSpPr>
        <p:spPr>
          <a:xfrm>
            <a:off x="10003536" y="24414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59" dirty="0"/>
          </a:p>
        </p:txBody>
      </p:sp>
      <p:sp>
        <p:nvSpPr>
          <p:cNvPr id="50" name="Text 48"/>
          <p:cNvSpPr/>
          <p:nvPr/>
        </p:nvSpPr>
        <p:spPr>
          <a:xfrm>
            <a:off x="9688068" y="174650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59" dirty="0"/>
          </a:p>
        </p:txBody>
      </p:sp>
      <p:sp>
        <p:nvSpPr>
          <p:cNvPr id="51" name="Text 49"/>
          <p:cNvSpPr txBox="1"/>
          <p:nvPr/>
        </p:nvSpPr>
        <p:spPr>
          <a:xfrm>
            <a:off x="8138160" y="427024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40 into the root, then delete the old 40 (a leaf: case 1)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49377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node’s key by its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successor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(leftmost node of the right subtree)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its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predecessor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(rightmost node of the left subtree). Both keep the BST rule true.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replacement node has at most one child, so removing it is case 1 or case 2. (Handbook 3.6.4)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8138160" y="49377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3D1"/>
          </a:solidFill>
          <a:ln w="9525">
            <a:solidFill>
              <a:srgbClr val="FFF3D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321040" y="504748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8321040" y="53035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deletion cases cost O(h). The lecture uses either method; state which one you use in exams.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BINARY SEARCH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BST operations at a glance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699516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/ Insert / Delete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 one root-to-leaf path (+ local repair)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/ Maximum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going left / keep going right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Successor of 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leftmost node in x’s right subtree (or the nearest ancestor of which x is in the left subtree)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k-th smallest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each node’s left-subtree size, then decide left / here / right (Handbook 3.6.5)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search [k₁, k₂]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in-order walk that skips subtrees outside the 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O(h + output)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/ Split (Handbook 3.6.5)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join: delete max of A, make it root over A and B · split: follow the search path for 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In-order traversal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visits keys in sorted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59612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852160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h is the tree’s height. It ranges from ⌊log₂ n⌋ (balanced) to n − 1 (skewed), so “O(h)” means O(log n) on good days and O(n) on bad days.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BINARY SEARCH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BST: strengths, weaknesses, uses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3246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insert, delete in O(h)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always kept in sorted order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successor / predecessor / range queries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and shrinks dynamically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DE8EA"/>
          </a:solidFill>
          <a:ln w="9525">
            <a:solidFill>
              <a:srgbClr val="FDE8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A0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11680"/>
            <a:ext cx="3246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self-balancing: sorted input gives O(n)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memory for two pointers per node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cache behaviour on big data sets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only need search/insert/delete, a hash table usually wins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67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 for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01168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maps and sets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lookups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Priority-queue-like access to min and max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parsing</a:t>
            </a:r>
            <a:endParaRPr lang="en-US" sz="1600" dirty="0"/>
          </a:p>
          <a:p>
            <a:pPr marL="182880" indent="-18288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AVL, Red-Black and Splay trees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3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Balance, rotations &amp; AVL trees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“balanced” means and why it matters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Rotations: the one repair tool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trees: the four cases (LL, RR, LR, RL) and worked examples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 flipV="1">
            <a:off x="836676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778240" y="2514600"/>
            <a:ext cx="82296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01268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0" y="2514600"/>
            <a:ext cx="82296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1540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03920" y="320040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73836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6132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49840" y="320040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0" y="224028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5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BALANCE &amp; AVL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“balanced” mean?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Balanced (every |BF| ≤ 1)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737360" y="322783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80260" y="322783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080260" y="242773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66060" y="322783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242773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379933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68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37078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8" dirty="0"/>
          </a:p>
        </p:txBody>
      </p:sp>
      <p:sp>
        <p:nvSpPr>
          <p:cNvPr id="13" name="Text 11"/>
          <p:cNvSpPr/>
          <p:nvPr/>
        </p:nvSpPr>
        <p:spPr>
          <a:xfrm>
            <a:off x="2194560" y="379933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68" dirty="0"/>
          </a:p>
        </p:txBody>
      </p:sp>
      <p:sp>
        <p:nvSpPr>
          <p:cNvPr id="14" name="Text 12"/>
          <p:cNvSpPr txBox="1"/>
          <p:nvPr/>
        </p:nvSpPr>
        <p:spPr>
          <a:xfrm>
            <a:off x="2660904" y="37078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8" dirty="0"/>
          </a:p>
        </p:txBody>
      </p:sp>
      <p:sp>
        <p:nvSpPr>
          <p:cNvPr id="15" name="Text 13"/>
          <p:cNvSpPr/>
          <p:nvPr/>
        </p:nvSpPr>
        <p:spPr>
          <a:xfrm>
            <a:off x="1851660" y="299923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68" dirty="0"/>
          </a:p>
        </p:txBody>
      </p:sp>
      <p:sp>
        <p:nvSpPr>
          <p:cNvPr id="16" name="Text 14"/>
          <p:cNvSpPr txBox="1"/>
          <p:nvPr/>
        </p:nvSpPr>
        <p:spPr>
          <a:xfrm>
            <a:off x="1385316" y="29077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8" dirty="0"/>
          </a:p>
        </p:txBody>
      </p:sp>
      <p:sp>
        <p:nvSpPr>
          <p:cNvPr id="17" name="Text 15"/>
          <p:cNvSpPr/>
          <p:nvPr/>
        </p:nvSpPr>
        <p:spPr>
          <a:xfrm>
            <a:off x="2880360" y="379933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68" dirty="0"/>
          </a:p>
        </p:txBody>
      </p:sp>
      <p:sp>
        <p:nvSpPr>
          <p:cNvPr id="18" name="Text 16"/>
          <p:cNvSpPr txBox="1"/>
          <p:nvPr/>
        </p:nvSpPr>
        <p:spPr>
          <a:xfrm>
            <a:off x="3346704" y="37078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8" dirty="0"/>
          </a:p>
        </p:txBody>
      </p:sp>
      <p:sp>
        <p:nvSpPr>
          <p:cNvPr id="19" name="Text 17"/>
          <p:cNvSpPr/>
          <p:nvPr/>
        </p:nvSpPr>
        <p:spPr>
          <a:xfrm>
            <a:off x="2537460" y="299923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68" dirty="0"/>
          </a:p>
        </p:txBody>
      </p:sp>
      <p:sp>
        <p:nvSpPr>
          <p:cNvPr id="20" name="Text 18"/>
          <p:cNvSpPr txBox="1"/>
          <p:nvPr/>
        </p:nvSpPr>
        <p:spPr>
          <a:xfrm>
            <a:off x="3003804" y="29077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168" dirty="0"/>
          </a:p>
        </p:txBody>
      </p:sp>
      <p:sp>
        <p:nvSpPr>
          <p:cNvPr id="21" name="Text 19"/>
          <p:cNvSpPr/>
          <p:nvPr/>
        </p:nvSpPr>
        <p:spPr>
          <a:xfrm>
            <a:off x="2194560" y="219913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68" dirty="0"/>
          </a:p>
        </p:txBody>
      </p:sp>
      <p:sp>
        <p:nvSpPr>
          <p:cNvPr id="22" name="Text 20"/>
          <p:cNvSpPr txBox="1"/>
          <p:nvPr/>
        </p:nvSpPr>
        <p:spPr>
          <a:xfrm>
            <a:off x="2660904" y="21076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8" dirty="0"/>
          </a:p>
        </p:txBody>
      </p:sp>
      <p:sp>
        <p:nvSpPr>
          <p:cNvPr id="23" name="Text 21"/>
          <p:cNvSpPr txBox="1"/>
          <p:nvPr/>
        </p:nvSpPr>
        <p:spPr>
          <a:xfrm>
            <a:off x="443484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Not balanced (BF = +2)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 flipV="1">
            <a:off x="5623560" y="362788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5966460" y="282778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6309360" y="202768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52260" y="202768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419938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68" dirty="0"/>
          </a:p>
        </p:txBody>
      </p:sp>
      <p:sp>
        <p:nvSpPr>
          <p:cNvPr id="29" name="Text 27"/>
          <p:cNvSpPr txBox="1"/>
          <p:nvPr/>
        </p:nvSpPr>
        <p:spPr>
          <a:xfrm>
            <a:off x="4928616" y="410794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8" dirty="0"/>
          </a:p>
        </p:txBody>
      </p:sp>
      <p:sp>
        <p:nvSpPr>
          <p:cNvPr id="30" name="Text 28"/>
          <p:cNvSpPr/>
          <p:nvPr/>
        </p:nvSpPr>
        <p:spPr>
          <a:xfrm>
            <a:off x="5737860" y="339928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68" dirty="0"/>
          </a:p>
        </p:txBody>
      </p:sp>
      <p:sp>
        <p:nvSpPr>
          <p:cNvPr id="31" name="Text 29"/>
          <p:cNvSpPr txBox="1"/>
          <p:nvPr/>
        </p:nvSpPr>
        <p:spPr>
          <a:xfrm>
            <a:off x="5271516" y="330784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68" dirty="0"/>
          </a:p>
        </p:txBody>
      </p:sp>
      <p:sp>
        <p:nvSpPr>
          <p:cNvPr id="32" name="Text 30"/>
          <p:cNvSpPr/>
          <p:nvPr/>
        </p:nvSpPr>
        <p:spPr>
          <a:xfrm>
            <a:off x="6080760" y="2599182"/>
            <a:ext cx="457200" cy="457200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68" dirty="0"/>
          </a:p>
        </p:txBody>
      </p:sp>
      <p:sp>
        <p:nvSpPr>
          <p:cNvPr id="33" name="Text 31"/>
          <p:cNvSpPr txBox="1"/>
          <p:nvPr/>
        </p:nvSpPr>
        <p:spPr>
          <a:xfrm>
            <a:off x="5614416" y="250774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68" dirty="0"/>
          </a:p>
        </p:txBody>
      </p:sp>
      <p:sp>
        <p:nvSpPr>
          <p:cNvPr id="34" name="Text 32"/>
          <p:cNvSpPr/>
          <p:nvPr/>
        </p:nvSpPr>
        <p:spPr>
          <a:xfrm>
            <a:off x="6766560" y="259918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68" dirty="0"/>
          </a:p>
        </p:txBody>
      </p:sp>
      <p:sp>
        <p:nvSpPr>
          <p:cNvPr id="35" name="Text 33"/>
          <p:cNvSpPr txBox="1"/>
          <p:nvPr/>
        </p:nvSpPr>
        <p:spPr>
          <a:xfrm>
            <a:off x="7232904" y="250774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8" dirty="0"/>
          </a:p>
        </p:txBody>
      </p:sp>
      <p:sp>
        <p:nvSpPr>
          <p:cNvPr id="36" name="Text 34"/>
          <p:cNvSpPr/>
          <p:nvPr/>
        </p:nvSpPr>
        <p:spPr>
          <a:xfrm>
            <a:off x="6423660" y="179908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68" dirty="0"/>
          </a:p>
        </p:txBody>
      </p:sp>
      <p:sp>
        <p:nvSpPr>
          <p:cNvPr id="37" name="Text 35"/>
          <p:cNvSpPr txBox="1"/>
          <p:nvPr/>
        </p:nvSpPr>
        <p:spPr>
          <a:xfrm>
            <a:off x="6890004" y="170764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68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numbers = balance factor of each node.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458200" y="1417320"/>
            <a:ext cx="3200400" cy="3611880"/>
          </a:xfrm>
          <a:prstGeom prst="roundRect">
            <a:avLst>
              <a:gd name="adj" fmla="val 2286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641080" y="1536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factor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641080" y="1874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BF(x) = height(left) − height(right)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8641080" y="27432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subtree has height −1.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tree: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|BF| ≤ 1 at every node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48640" y="5166360"/>
            <a:ext cx="11109960" cy="1143000"/>
          </a:xfrm>
          <a:prstGeom prst="roundRect">
            <a:avLst>
              <a:gd name="adj" fmla="val 6400"/>
            </a:avLst>
          </a:prstGeom>
          <a:solidFill>
            <a:srgbClr val="FDE8EA"/>
          </a:solidFill>
          <a:ln w="9525">
            <a:solidFill>
              <a:srgbClr val="FDE8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1520" y="527608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A0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731520" y="553212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is about subtree HEIGHTS, not node counts. To check a tree, compute heights bottom-up, then the BF of each node.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BALANCE &amp; AVL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keep the tree short?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41732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0" y="1536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18745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height = O(log n) after every insertion and deletion.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863840" y="3886200"/>
            <a:ext cx="3794760" cy="2286000"/>
          </a:xfrm>
          <a:prstGeom prst="roundRect">
            <a:avLst>
              <a:gd name="adj" fmla="val 3200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0" y="4005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43434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update, check the balance rule along the search path. If it is broken, repair it with a few local rotations. The extra work is small; the payoff on all later operations is large.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BALANCE &amp; AVL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Rotation: the one repair tool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0" y="141732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508760" y="1965960"/>
            <a:ext cx="640080" cy="82296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965960"/>
            <a:ext cx="731520" cy="8686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60120" y="2788920"/>
            <a:ext cx="548640" cy="8686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2788920"/>
            <a:ext cx="548640" cy="8686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173736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68" dirty="0"/>
          </a:p>
        </p:txBody>
      </p:sp>
      <p:sp>
        <p:nvSpPr>
          <p:cNvPr id="12" name="Text 10"/>
          <p:cNvSpPr/>
          <p:nvPr/>
        </p:nvSpPr>
        <p:spPr>
          <a:xfrm>
            <a:off x="1280160" y="25603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68" dirty="0"/>
          </a:p>
        </p:txBody>
      </p:sp>
      <p:sp>
        <p:nvSpPr>
          <p:cNvPr id="13" name="Text 11"/>
          <p:cNvSpPr/>
          <p:nvPr/>
        </p:nvSpPr>
        <p:spPr>
          <a:xfrm>
            <a:off x="2491740" y="2766060"/>
            <a:ext cx="777240" cy="571500"/>
          </a:xfrm>
          <a:prstGeom prst="triangle">
            <a:avLst/>
          </a:prstGeom>
          <a:solidFill>
            <a:srgbClr val="E2EEE7"/>
          </a:solidFill>
          <a:ln w="15875">
            <a:solidFill>
              <a:srgbClr val="2D6A4F"/>
            </a:solidFill>
          </a:ln>
        </p:spPr>
        <p:txBody>
          <a:bodyPr wrap="square" lIns="0" tIns="0" rIns="0" bIns="254" rtlCol="0" anchor="b"/>
          <a:lstStyle/>
          <a:p>
            <a:pPr algn="ctr" indent="0" marL="0">
              <a:buNone/>
            </a:pPr>
            <a:r>
              <a:rPr lang="en-US" sz="1368" b="1" i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68" dirty="0"/>
          </a:p>
        </p:txBody>
      </p:sp>
      <p:sp>
        <p:nvSpPr>
          <p:cNvPr id="14" name="Text 12"/>
          <p:cNvSpPr/>
          <p:nvPr/>
        </p:nvSpPr>
        <p:spPr>
          <a:xfrm>
            <a:off x="571500" y="3589020"/>
            <a:ext cx="777240" cy="571500"/>
          </a:xfrm>
          <a:prstGeom prst="triangle">
            <a:avLst/>
          </a:prstGeom>
          <a:solidFill>
            <a:srgbClr val="E2EEE7"/>
          </a:solidFill>
          <a:ln w="15875">
            <a:solidFill>
              <a:srgbClr val="2D6A4F"/>
            </a:solidFill>
          </a:ln>
        </p:spPr>
        <p:txBody>
          <a:bodyPr wrap="square" lIns="0" tIns="0" rIns="0" bIns="254" rtlCol="0" anchor="b"/>
          <a:lstStyle/>
          <a:p>
            <a:pPr algn="ctr" indent="0" marL="0">
              <a:buNone/>
            </a:pPr>
            <a:r>
              <a:rPr lang="en-US" sz="1368" b="1" i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68" dirty="0"/>
          </a:p>
        </p:txBody>
      </p:sp>
      <p:sp>
        <p:nvSpPr>
          <p:cNvPr id="15" name="Text 13"/>
          <p:cNvSpPr/>
          <p:nvPr/>
        </p:nvSpPr>
        <p:spPr>
          <a:xfrm>
            <a:off x="1668780" y="3589020"/>
            <a:ext cx="777240" cy="571500"/>
          </a:xfrm>
          <a:prstGeom prst="triangle">
            <a:avLst/>
          </a:prstGeom>
          <a:solidFill>
            <a:srgbClr val="E2EEE7"/>
          </a:solidFill>
          <a:ln w="15875">
            <a:solidFill>
              <a:srgbClr val="2D6A4F"/>
            </a:solidFill>
          </a:ln>
        </p:spPr>
        <p:txBody>
          <a:bodyPr wrap="square" lIns="0" tIns="0" rIns="0" bIns="254" rtlCol="0" anchor="b"/>
          <a:lstStyle/>
          <a:p>
            <a:pPr algn="ctr" indent="0" marL="0">
              <a:buNone/>
            </a:pPr>
            <a:r>
              <a:rPr lang="en-US" sz="1368" b="1" i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68" dirty="0"/>
          </a:p>
        </p:txBody>
      </p:sp>
      <p:sp>
        <p:nvSpPr>
          <p:cNvPr id="16" name="Shape 14"/>
          <p:cNvSpPr/>
          <p:nvPr/>
        </p:nvSpPr>
        <p:spPr>
          <a:xfrm flipV="1">
            <a:off x="6309360" y="1965960"/>
            <a:ext cx="731520" cy="8686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1965960"/>
            <a:ext cx="640080" cy="82296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7040880" y="2788920"/>
            <a:ext cx="640080" cy="8686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2788920"/>
            <a:ext cx="640080" cy="8686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73736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68" dirty="0"/>
          </a:p>
        </p:txBody>
      </p:sp>
      <p:sp>
        <p:nvSpPr>
          <p:cNvPr id="21" name="Text 19"/>
          <p:cNvSpPr/>
          <p:nvPr/>
        </p:nvSpPr>
        <p:spPr>
          <a:xfrm>
            <a:off x="5920740" y="2766060"/>
            <a:ext cx="777240" cy="571500"/>
          </a:xfrm>
          <a:prstGeom prst="triangle">
            <a:avLst/>
          </a:prstGeom>
          <a:solidFill>
            <a:srgbClr val="E2EEE7"/>
          </a:solidFill>
          <a:ln w="15875">
            <a:solidFill>
              <a:srgbClr val="2D6A4F"/>
            </a:solidFill>
          </a:ln>
        </p:spPr>
        <p:txBody>
          <a:bodyPr wrap="square" lIns="0" tIns="0" rIns="0" bIns="254" rtlCol="0" anchor="b"/>
          <a:lstStyle/>
          <a:p>
            <a:pPr algn="ctr" indent="0" marL="0">
              <a:buNone/>
            </a:pPr>
            <a:r>
              <a:rPr lang="en-US" sz="1368" b="1" i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68" dirty="0"/>
          </a:p>
        </p:txBody>
      </p:sp>
      <p:sp>
        <p:nvSpPr>
          <p:cNvPr id="22" name="Text 20"/>
          <p:cNvSpPr/>
          <p:nvPr/>
        </p:nvSpPr>
        <p:spPr>
          <a:xfrm>
            <a:off x="7452360" y="25603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368" dirty="0"/>
          </a:p>
        </p:txBody>
      </p:sp>
      <p:sp>
        <p:nvSpPr>
          <p:cNvPr id="23" name="Text 21"/>
          <p:cNvSpPr/>
          <p:nvPr/>
        </p:nvSpPr>
        <p:spPr>
          <a:xfrm>
            <a:off x="6652260" y="3589020"/>
            <a:ext cx="777240" cy="571500"/>
          </a:xfrm>
          <a:prstGeom prst="triangle">
            <a:avLst/>
          </a:prstGeom>
          <a:solidFill>
            <a:srgbClr val="E2EEE7"/>
          </a:solidFill>
          <a:ln w="15875">
            <a:solidFill>
              <a:srgbClr val="2D6A4F"/>
            </a:solidFill>
          </a:ln>
        </p:spPr>
        <p:txBody>
          <a:bodyPr wrap="square" lIns="0" tIns="0" rIns="0" bIns="254" rtlCol="0" anchor="b"/>
          <a:lstStyle/>
          <a:p>
            <a:pPr algn="ctr" indent="0" marL="0">
              <a:buNone/>
            </a:pPr>
            <a:r>
              <a:rPr lang="en-US" sz="1368" b="1" i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68" dirty="0"/>
          </a:p>
        </p:txBody>
      </p:sp>
      <p:sp>
        <p:nvSpPr>
          <p:cNvPr id="24" name="Text 22"/>
          <p:cNvSpPr/>
          <p:nvPr/>
        </p:nvSpPr>
        <p:spPr>
          <a:xfrm>
            <a:off x="7932420" y="3589020"/>
            <a:ext cx="777240" cy="571500"/>
          </a:xfrm>
          <a:prstGeom prst="triangle">
            <a:avLst/>
          </a:prstGeom>
          <a:solidFill>
            <a:srgbClr val="E2EEE7"/>
          </a:solidFill>
          <a:ln w="15875">
            <a:solidFill>
              <a:srgbClr val="2D6A4F"/>
            </a:solidFill>
          </a:ln>
        </p:spPr>
        <p:txBody>
          <a:bodyPr wrap="square" lIns="0" tIns="0" rIns="0" bIns="254" rtlCol="0" anchor="b"/>
          <a:lstStyle/>
          <a:p>
            <a:pPr algn="ctr" indent="0" marL="0">
              <a:buNone/>
            </a:pPr>
            <a:r>
              <a:rPr lang="en-US" sz="1368" b="1" i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68" dirty="0"/>
          </a:p>
        </p:txBody>
      </p:sp>
      <p:sp>
        <p:nvSpPr>
          <p:cNvPr id="25" name="Shape 23"/>
          <p:cNvSpPr/>
          <p:nvPr/>
        </p:nvSpPr>
        <p:spPr>
          <a:xfrm>
            <a:off x="4023360" y="2377440"/>
            <a:ext cx="1463040" cy="384048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8620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rotation at 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 rot="10800000">
            <a:off x="4023360" y="3429000"/>
            <a:ext cx="1463040" cy="384048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86200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rotation at x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0292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B, C are whole subtrees (possibly empty).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81160" y="1417320"/>
            <a:ext cx="2377440" cy="1737360"/>
          </a:xfrm>
          <a:prstGeom prst="roundRect">
            <a:avLst>
              <a:gd name="adj" fmla="val 3158"/>
            </a:avLst>
          </a:prstGeom>
          <a:solidFill>
            <a:srgbClr val="1B2B24"/>
          </a:solidFill>
          <a:ln w="9525">
            <a:solidFill>
              <a:srgbClr val="1B2B2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64040" y="1527048"/>
            <a:ext cx="20116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right rotation at y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y-&gt;left;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y-&gt;left  = x-&gt;right;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x-&gt;right = y;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(root pointer := x)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281160" y="3291840"/>
            <a:ext cx="2377440" cy="1691640"/>
          </a:xfrm>
          <a:prstGeom prst="roundRect">
            <a:avLst>
              <a:gd name="adj" fmla="val 3243"/>
            </a:avLst>
          </a:prstGeom>
          <a:solidFill>
            <a:srgbClr val="1B2B24"/>
          </a:solidFill>
          <a:ln w="9525">
            <a:solidFill>
              <a:srgbClr val="1B2B2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64040" y="3401568"/>
            <a:ext cx="20116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left rotation at x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x-&gt;right;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x-&gt;right = y-&gt;left;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y-&gt;left  = x;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F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(root pointer := y)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545896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SAFE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5715000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stays  A x B y C  before and after, so the BST rule is never broken. Only the middle subtree B changes parent; three pointers change, so a rotation costs O(1). Right and left rotations undo each other.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BALANCE &amp; AVL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rotation with real numbers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633347" y="3136392"/>
            <a:ext cx="377190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0537" y="3136392"/>
            <a:ext cx="377190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010537" y="2256282"/>
            <a:ext cx="377190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87727" y="2256282"/>
            <a:ext cx="377190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1887" y="3765042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5" dirty="0"/>
          </a:p>
        </p:txBody>
      </p:sp>
      <p:sp>
        <p:nvSpPr>
          <p:cNvPr id="11" name="Text 9"/>
          <p:cNvSpPr/>
          <p:nvPr/>
        </p:nvSpPr>
        <p:spPr>
          <a:xfrm>
            <a:off x="2136267" y="3765042"/>
            <a:ext cx="502920" cy="50292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5" dirty="0"/>
          </a:p>
        </p:txBody>
      </p:sp>
      <p:sp>
        <p:nvSpPr>
          <p:cNvPr id="12" name="Text 10"/>
          <p:cNvSpPr/>
          <p:nvPr/>
        </p:nvSpPr>
        <p:spPr>
          <a:xfrm>
            <a:off x="1759077" y="2884932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5" dirty="0"/>
          </a:p>
        </p:txBody>
      </p:sp>
      <p:sp>
        <p:nvSpPr>
          <p:cNvPr id="13" name="Text 11"/>
          <p:cNvSpPr/>
          <p:nvPr/>
        </p:nvSpPr>
        <p:spPr>
          <a:xfrm>
            <a:off x="2513457" y="2884932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5" dirty="0"/>
          </a:p>
        </p:txBody>
      </p:sp>
      <p:sp>
        <p:nvSpPr>
          <p:cNvPr id="14" name="Text 12"/>
          <p:cNvSpPr/>
          <p:nvPr/>
        </p:nvSpPr>
        <p:spPr>
          <a:xfrm>
            <a:off x="2136267" y="2004822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5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4456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2     in-order: 10 20 25 30 40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22776" y="260604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53128" y="14173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rotation at 30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5537835" y="2256282"/>
            <a:ext cx="377190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5915025" y="3136392"/>
            <a:ext cx="377190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92215" y="3136392"/>
            <a:ext cx="377190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15025" y="2256282"/>
            <a:ext cx="377190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86375" y="2884932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5" dirty="0"/>
          </a:p>
        </p:txBody>
      </p:sp>
      <p:sp>
        <p:nvSpPr>
          <p:cNvPr id="23" name="Text 21"/>
          <p:cNvSpPr/>
          <p:nvPr/>
        </p:nvSpPr>
        <p:spPr>
          <a:xfrm>
            <a:off x="5663565" y="3765042"/>
            <a:ext cx="502920" cy="50292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5" dirty="0"/>
          </a:p>
        </p:txBody>
      </p:sp>
      <p:sp>
        <p:nvSpPr>
          <p:cNvPr id="24" name="Text 22"/>
          <p:cNvSpPr/>
          <p:nvPr/>
        </p:nvSpPr>
        <p:spPr>
          <a:xfrm>
            <a:off x="6417945" y="3765042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5" dirty="0"/>
          </a:p>
        </p:txBody>
      </p:sp>
      <p:sp>
        <p:nvSpPr>
          <p:cNvPr id="25" name="Text 23"/>
          <p:cNvSpPr/>
          <p:nvPr/>
        </p:nvSpPr>
        <p:spPr>
          <a:xfrm>
            <a:off x="6040755" y="2884932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5" dirty="0"/>
          </a:p>
        </p:txBody>
      </p:sp>
      <p:sp>
        <p:nvSpPr>
          <p:cNvPr id="26" name="Text 24"/>
          <p:cNvSpPr/>
          <p:nvPr/>
        </p:nvSpPr>
        <p:spPr>
          <a:xfrm>
            <a:off x="5663565" y="2004822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5" dirty="0"/>
          </a:p>
        </p:txBody>
      </p:sp>
      <p:sp>
        <p:nvSpPr>
          <p:cNvPr id="27" name="Text 25"/>
          <p:cNvSpPr txBox="1"/>
          <p:nvPr/>
        </p:nvSpPr>
        <p:spPr>
          <a:xfrm>
            <a:off x="4453128" y="454456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lifted, 30 pushed down; 25 moved from 20 to 30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827264" y="260604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57616" y="14173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rotation at 20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 flipV="1">
            <a:off x="9442323" y="3136392"/>
            <a:ext cx="377190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19513" y="3136392"/>
            <a:ext cx="377190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9819513" y="2256282"/>
            <a:ext cx="377190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96703" y="2256282"/>
            <a:ext cx="377190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90863" y="3765042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5" dirty="0"/>
          </a:p>
        </p:txBody>
      </p:sp>
      <p:sp>
        <p:nvSpPr>
          <p:cNvPr id="35" name="Text 33"/>
          <p:cNvSpPr/>
          <p:nvPr/>
        </p:nvSpPr>
        <p:spPr>
          <a:xfrm>
            <a:off x="9945243" y="3765042"/>
            <a:ext cx="502920" cy="50292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5" dirty="0"/>
          </a:p>
        </p:txBody>
      </p:sp>
      <p:sp>
        <p:nvSpPr>
          <p:cNvPr id="36" name="Text 34"/>
          <p:cNvSpPr/>
          <p:nvPr/>
        </p:nvSpPr>
        <p:spPr>
          <a:xfrm>
            <a:off x="9568053" y="2884932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5" dirty="0"/>
          </a:p>
        </p:txBody>
      </p:sp>
      <p:sp>
        <p:nvSpPr>
          <p:cNvPr id="37" name="Text 35"/>
          <p:cNvSpPr/>
          <p:nvPr/>
        </p:nvSpPr>
        <p:spPr>
          <a:xfrm>
            <a:off x="10322433" y="2884932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5" dirty="0"/>
          </a:p>
        </p:txBody>
      </p:sp>
      <p:sp>
        <p:nvSpPr>
          <p:cNvPr id="38" name="Text 36"/>
          <p:cNvSpPr/>
          <p:nvPr/>
        </p:nvSpPr>
        <p:spPr>
          <a:xfrm>
            <a:off x="9945243" y="2004822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5" dirty="0"/>
          </a:p>
        </p:txBody>
      </p:sp>
      <p:sp>
        <p:nvSpPr>
          <p:cNvPr id="39" name="Text 37"/>
          <p:cNvSpPr txBox="1"/>
          <p:nvPr/>
        </p:nvSpPr>
        <p:spPr>
          <a:xfrm>
            <a:off x="8357616" y="454456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the start: the two rotations are inverses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120640"/>
            <a:ext cx="11109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node 25 is the “middle” subtree B. It is the only subtree that switches parents.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is 10 20 25 30 40 in all three trees.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BALANCE &amp; AVL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self-balancing BSTs, three philosophies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08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01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height balance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V="1">
            <a:off x="1881378" y="3108960"/>
            <a:ext cx="315468" cy="6126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6846" y="3108960"/>
            <a:ext cx="315468" cy="6126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196846" y="2496312"/>
            <a:ext cx="315468" cy="6126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2314" y="2496312"/>
            <a:ext cx="315468" cy="6126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71066" y="351129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9" dirty="0"/>
          </a:p>
        </p:txBody>
      </p:sp>
      <p:sp>
        <p:nvSpPr>
          <p:cNvPr id="13" name="Text 11"/>
          <p:cNvSpPr/>
          <p:nvPr/>
        </p:nvSpPr>
        <p:spPr>
          <a:xfrm>
            <a:off x="2302002" y="351129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9" dirty="0"/>
          </a:p>
        </p:txBody>
      </p:sp>
      <p:sp>
        <p:nvSpPr>
          <p:cNvPr id="14" name="Text 12"/>
          <p:cNvSpPr/>
          <p:nvPr/>
        </p:nvSpPr>
        <p:spPr>
          <a:xfrm>
            <a:off x="1986534" y="28986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9" dirty="0"/>
          </a:p>
        </p:txBody>
      </p:sp>
      <p:sp>
        <p:nvSpPr>
          <p:cNvPr id="15" name="Text 13"/>
          <p:cNvSpPr/>
          <p:nvPr/>
        </p:nvSpPr>
        <p:spPr>
          <a:xfrm>
            <a:off x="2617470" y="28986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9" dirty="0"/>
          </a:p>
        </p:txBody>
      </p:sp>
      <p:sp>
        <p:nvSpPr>
          <p:cNvPr id="16" name="Text 14"/>
          <p:cNvSpPr/>
          <p:nvPr/>
        </p:nvSpPr>
        <p:spPr>
          <a:xfrm>
            <a:off x="2302002" y="228600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9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1148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|BF| ≤ 1 at every node</a:t>
            </a:r>
            <a:endParaRPr lang="en-US" sz="1400" dirty="0"/>
          </a:p>
          <a:p>
            <a:pPr marL="160020" indent="-16002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height or BF per node</a:t>
            </a:r>
            <a:endParaRPr lang="en-US" sz="1400" dirty="0"/>
          </a:p>
          <a:p>
            <a:pPr marL="160020" indent="-16002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balance with rotations</a:t>
            </a:r>
            <a:endParaRPr lang="en-US" sz="1400" dirty="0"/>
          </a:p>
          <a:p>
            <a:pPr marL="160020" indent="-16002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lookups (shortest trees)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141732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80560" y="1508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Red-Black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1901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rules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flipV="1">
            <a:off x="5788152" y="2496312"/>
            <a:ext cx="315468" cy="6126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6103620" y="3108960"/>
            <a:ext cx="315468" cy="6126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03620" y="2496312"/>
            <a:ext cx="315468" cy="6126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2898648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9" dirty="0"/>
          </a:p>
        </p:txBody>
      </p:sp>
      <p:sp>
        <p:nvSpPr>
          <p:cNvPr id="25" name="Text 23"/>
          <p:cNvSpPr/>
          <p:nvPr/>
        </p:nvSpPr>
        <p:spPr>
          <a:xfrm>
            <a:off x="5893308" y="3511296"/>
            <a:ext cx="420624" cy="420624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9" dirty="0"/>
          </a:p>
        </p:txBody>
      </p:sp>
      <p:sp>
        <p:nvSpPr>
          <p:cNvPr id="26" name="Text 24"/>
          <p:cNvSpPr/>
          <p:nvPr/>
        </p:nvSpPr>
        <p:spPr>
          <a:xfrm>
            <a:off x="6208776" y="2898648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9" dirty="0"/>
          </a:p>
        </p:txBody>
      </p:sp>
      <p:sp>
        <p:nvSpPr>
          <p:cNvPr id="27" name="Text 25"/>
          <p:cNvSpPr/>
          <p:nvPr/>
        </p:nvSpPr>
        <p:spPr>
          <a:xfrm>
            <a:off x="5893308" y="2286000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9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1148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red or black</a:t>
            </a:r>
            <a:endParaRPr lang="en-US" sz="1400" dirty="0"/>
          </a:p>
          <a:p>
            <a:pPr marL="160020" indent="-16002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1 colour bit per node</a:t>
            </a:r>
            <a:endParaRPr lang="en-US" sz="1400" dirty="0"/>
          </a:p>
          <a:p>
            <a:pPr marL="160020" indent="-16002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rotations per update</a:t>
            </a:r>
            <a:endParaRPr lang="en-US" sz="1400" dirty="0"/>
          </a:p>
          <a:p>
            <a:pPr marL="160020" indent="-16002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C++ map/set, Java TreeMap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0" y="141732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0" y="1508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Splay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0" y="19019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self-adjusting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 flipV="1">
            <a:off x="9379458" y="3108960"/>
            <a:ext cx="315468" cy="6126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9694926" y="2496312"/>
            <a:ext cx="315468" cy="6126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10010394" y="3108960"/>
            <a:ext cx="315468" cy="6126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10394" y="2496312"/>
            <a:ext cx="315468" cy="61264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69146" y="351129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9" dirty="0"/>
          </a:p>
        </p:txBody>
      </p:sp>
      <p:sp>
        <p:nvSpPr>
          <p:cNvPr id="37" name="Text 35"/>
          <p:cNvSpPr/>
          <p:nvPr/>
        </p:nvSpPr>
        <p:spPr>
          <a:xfrm>
            <a:off x="9484614" y="28986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9" dirty="0"/>
          </a:p>
        </p:txBody>
      </p:sp>
      <p:sp>
        <p:nvSpPr>
          <p:cNvPr id="38" name="Text 36"/>
          <p:cNvSpPr/>
          <p:nvPr/>
        </p:nvSpPr>
        <p:spPr>
          <a:xfrm>
            <a:off x="9800082" y="351129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9" dirty="0"/>
          </a:p>
        </p:txBody>
      </p:sp>
      <p:sp>
        <p:nvSpPr>
          <p:cNvPr id="39" name="Text 37"/>
          <p:cNvSpPr/>
          <p:nvPr/>
        </p:nvSpPr>
        <p:spPr>
          <a:xfrm>
            <a:off x="10115550" y="28986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9" dirty="0"/>
          </a:p>
        </p:txBody>
      </p:sp>
      <p:sp>
        <p:nvSpPr>
          <p:cNvPr id="40" name="Text 38"/>
          <p:cNvSpPr/>
          <p:nvPr/>
        </p:nvSpPr>
        <p:spPr>
          <a:xfrm>
            <a:off x="9800082" y="228600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9" dirty="0"/>
          </a:p>
        </p:txBody>
      </p:sp>
      <p:sp>
        <p:nvSpPr>
          <p:cNvPr id="41" name="Text 39"/>
          <p:cNvSpPr txBox="1"/>
          <p:nvPr/>
        </p:nvSpPr>
        <p:spPr>
          <a:xfrm>
            <a:off x="8321040" y="41148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balance data at all</a:t>
            </a:r>
            <a:endParaRPr lang="en-US" sz="1400" dirty="0"/>
          </a:p>
          <a:p>
            <a:pPr marL="160020" indent="-16002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every accessed node to the root</a:t>
            </a:r>
            <a:endParaRPr lang="en-US" sz="1400" dirty="0"/>
          </a:p>
          <a:p>
            <a:pPr marL="160020" indent="-16002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amortized, not per operation</a:t>
            </a:r>
            <a:endParaRPr lang="en-US" sz="1400" dirty="0"/>
          </a:p>
          <a:p>
            <a:pPr marL="160020" indent="-16002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when the same keys repeat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BALANCE &amp; AVL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AVL tree = BST + balance factor in {−1, 0, +1}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 flipV="1">
            <a:off x="7509053" y="3730752"/>
            <a:ext cx="453542" cy="99212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7962595" y="2738628"/>
            <a:ext cx="453542" cy="99212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6138" y="2738628"/>
            <a:ext cx="453542" cy="99212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8416138" y="1746504"/>
            <a:ext cx="907085" cy="99212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776765" y="2738628"/>
            <a:ext cx="453542" cy="99212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3222" y="1746504"/>
            <a:ext cx="907085" cy="99212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5589" y="4439412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757050" y="43479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79131" y="3447288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210593" y="3355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86216" y="3447288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64483" y="3355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32674" y="2455164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664135" y="23637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93301" y="3447288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024762" y="3355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946843" y="2455164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525110" y="23637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39758" y="1463040"/>
            <a:ext cx="566928" cy="5669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618025" y="1371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5257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159 of the lecture: BFs are 12: +1, 8: +1, 18: +1, 5: +1, and 0 for 11, 17, 4.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146304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after </a:t>
            </a: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Adelson-Velsky and Landis (1962)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first balanced BST (Handbook 10.4.1).</a:t>
            </a:r>
            <a:endParaRPr lang="en-US" sz="1600" dirty="0"/>
          </a:p>
          <a:p>
            <a:pPr marL="182880" indent="-18288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for every node, </a:t>
            </a: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|height(left) − height(right)| ≤ 1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182880" indent="-182880">
              <a:spcAft>
                <a:spcPts val="1100"/>
              </a:spcAft>
              <a:buSzPct val="100000"/>
              <a:buChar char="•"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 = height(left) − height(right)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 leaf has BF 0.</a:t>
            </a:r>
            <a:endParaRPr lang="en-US" sz="1600" dirty="0"/>
          </a:p>
          <a:p>
            <a:pPr marL="182880" indent="-18288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Guarantee: height ≤ </a:t>
            </a: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 · log₂(n + 1)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search, insert and delete are </a:t>
            </a: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182880" indent="-18288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in-order traversal is still sorted, because it is a BST.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521208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FFF3D1"/>
          </a:solidFill>
          <a:ln w="9525">
            <a:solidFill>
              <a:srgbClr val="FFF3D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53218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577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deck BF = left − right. Some books use right − left; the signs flip but the cases are identical.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BALANCE &amp; AVL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tall can an AVL tree be? (Handbook 10.4.1)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37744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85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0156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node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17904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V="1">
            <a:off x="1897380" y="2253996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2788" y="266547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85" dirty="0"/>
          </a:p>
        </p:txBody>
      </p:sp>
      <p:sp>
        <p:nvSpPr>
          <p:cNvPr id="11" name="Text 9"/>
          <p:cNvSpPr/>
          <p:nvPr/>
        </p:nvSpPr>
        <p:spPr>
          <a:xfrm>
            <a:off x="1979676" y="208940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85" dirty="0"/>
          </a:p>
        </p:txBody>
      </p:sp>
      <p:sp>
        <p:nvSpPr>
          <p:cNvPr id="12" name="Text 10"/>
          <p:cNvSpPr txBox="1"/>
          <p:nvPr/>
        </p:nvSpPr>
        <p:spPr>
          <a:xfrm>
            <a:off x="1517904" y="34015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nodes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3168396" y="2542032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3415284" y="1965960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62172" y="1965960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03804" y="295351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85" dirty="0"/>
          </a:p>
        </p:txBody>
      </p:sp>
      <p:sp>
        <p:nvSpPr>
          <p:cNvPr id="18" name="Text 16"/>
          <p:cNvSpPr/>
          <p:nvPr/>
        </p:nvSpPr>
        <p:spPr>
          <a:xfrm>
            <a:off x="3250692" y="237744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85" dirty="0"/>
          </a:p>
        </p:txBody>
      </p:sp>
      <p:sp>
        <p:nvSpPr>
          <p:cNvPr id="19" name="Text 17"/>
          <p:cNvSpPr/>
          <p:nvPr/>
        </p:nvSpPr>
        <p:spPr>
          <a:xfrm>
            <a:off x="3744468" y="237744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5" dirty="0"/>
          </a:p>
        </p:txBody>
      </p:sp>
      <p:sp>
        <p:nvSpPr>
          <p:cNvPr id="20" name="Text 18"/>
          <p:cNvSpPr/>
          <p:nvPr/>
        </p:nvSpPr>
        <p:spPr>
          <a:xfrm>
            <a:off x="3497580" y="180136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85" dirty="0"/>
          </a:p>
        </p:txBody>
      </p:sp>
      <p:sp>
        <p:nvSpPr>
          <p:cNvPr id="21" name="Text 19"/>
          <p:cNvSpPr txBox="1"/>
          <p:nvPr/>
        </p:nvSpPr>
        <p:spPr>
          <a:xfrm>
            <a:off x="2670048" y="340156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nodes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53712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flipV="1">
            <a:off x="5276088" y="2767584"/>
            <a:ext cx="246888" cy="4511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5522976" y="2316480"/>
            <a:ext cx="246888" cy="4511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9864" y="2316480"/>
            <a:ext cx="246888" cy="4511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5769864" y="1865376"/>
            <a:ext cx="493776" cy="4511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6510528" y="2316480"/>
            <a:ext cx="246888" cy="4511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1865376"/>
            <a:ext cx="493776" cy="4511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11496" y="305409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85" dirty="0"/>
          </a:p>
        </p:txBody>
      </p:sp>
      <p:sp>
        <p:nvSpPr>
          <p:cNvPr id="30" name="Text 28"/>
          <p:cNvSpPr/>
          <p:nvPr/>
        </p:nvSpPr>
        <p:spPr>
          <a:xfrm>
            <a:off x="5358384" y="260299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85" dirty="0"/>
          </a:p>
        </p:txBody>
      </p:sp>
      <p:sp>
        <p:nvSpPr>
          <p:cNvPr id="31" name="Text 29"/>
          <p:cNvSpPr/>
          <p:nvPr/>
        </p:nvSpPr>
        <p:spPr>
          <a:xfrm>
            <a:off x="5852160" y="260299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5" dirty="0"/>
          </a:p>
        </p:txBody>
      </p:sp>
      <p:sp>
        <p:nvSpPr>
          <p:cNvPr id="32" name="Text 30"/>
          <p:cNvSpPr/>
          <p:nvPr/>
        </p:nvSpPr>
        <p:spPr>
          <a:xfrm>
            <a:off x="5605272" y="215188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85" dirty="0"/>
          </a:p>
        </p:txBody>
      </p:sp>
      <p:sp>
        <p:nvSpPr>
          <p:cNvPr id="33" name="Text 31"/>
          <p:cNvSpPr/>
          <p:nvPr/>
        </p:nvSpPr>
        <p:spPr>
          <a:xfrm>
            <a:off x="6345936" y="260299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85" dirty="0"/>
          </a:p>
        </p:txBody>
      </p:sp>
      <p:sp>
        <p:nvSpPr>
          <p:cNvPr id="34" name="Text 32"/>
          <p:cNvSpPr/>
          <p:nvPr/>
        </p:nvSpPr>
        <p:spPr>
          <a:xfrm>
            <a:off x="6592824" y="215188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85" dirty="0"/>
          </a:p>
        </p:txBody>
      </p:sp>
      <p:sp>
        <p:nvSpPr>
          <p:cNvPr id="35" name="Text 33"/>
          <p:cNvSpPr/>
          <p:nvPr/>
        </p:nvSpPr>
        <p:spPr>
          <a:xfrm>
            <a:off x="6099048" y="170078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85" dirty="0"/>
          </a:p>
        </p:txBody>
      </p:sp>
      <p:sp>
        <p:nvSpPr>
          <p:cNvPr id="36" name="Text 34"/>
          <p:cNvSpPr txBox="1"/>
          <p:nvPr/>
        </p:nvSpPr>
        <p:spPr>
          <a:xfrm>
            <a:off x="4553712" y="340156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nodes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626096" y="1371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4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 flipV="1">
            <a:off x="8641395" y="2890135"/>
            <a:ext cx="217564" cy="34810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8858959" y="2542032"/>
            <a:ext cx="217564" cy="34810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76524" y="2542032"/>
            <a:ext cx="217564" cy="34810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9076524" y="2193929"/>
            <a:ext cx="435128" cy="34810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9729216" y="2542032"/>
            <a:ext cx="217564" cy="34810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11652" y="2193929"/>
            <a:ext cx="435128" cy="34810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9511652" y="1845827"/>
            <a:ext cx="543910" cy="34810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10164344" y="2542032"/>
            <a:ext cx="217564" cy="34810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10381908" y="2193929"/>
            <a:ext cx="217564" cy="34810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99473" y="2193929"/>
            <a:ext cx="217564" cy="34810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055562" y="1845827"/>
            <a:ext cx="543910" cy="34810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96353" y="3093194"/>
            <a:ext cx="290086" cy="29008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68" dirty="0"/>
          </a:p>
        </p:txBody>
      </p:sp>
      <p:sp>
        <p:nvSpPr>
          <p:cNvPr id="50" name="Text 48"/>
          <p:cNvSpPr/>
          <p:nvPr/>
        </p:nvSpPr>
        <p:spPr>
          <a:xfrm>
            <a:off x="8713917" y="2745092"/>
            <a:ext cx="290086" cy="29008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68" dirty="0"/>
          </a:p>
        </p:txBody>
      </p:sp>
      <p:sp>
        <p:nvSpPr>
          <p:cNvPr id="51" name="Text 49"/>
          <p:cNvSpPr/>
          <p:nvPr/>
        </p:nvSpPr>
        <p:spPr>
          <a:xfrm>
            <a:off x="9149045" y="2745092"/>
            <a:ext cx="290086" cy="29008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68" dirty="0"/>
          </a:p>
        </p:txBody>
      </p:sp>
      <p:sp>
        <p:nvSpPr>
          <p:cNvPr id="52" name="Text 50"/>
          <p:cNvSpPr/>
          <p:nvPr/>
        </p:nvSpPr>
        <p:spPr>
          <a:xfrm>
            <a:off x="8931481" y="2396989"/>
            <a:ext cx="290086" cy="29008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68" dirty="0"/>
          </a:p>
        </p:txBody>
      </p:sp>
      <p:sp>
        <p:nvSpPr>
          <p:cNvPr id="53" name="Text 51"/>
          <p:cNvSpPr/>
          <p:nvPr/>
        </p:nvSpPr>
        <p:spPr>
          <a:xfrm>
            <a:off x="9584173" y="2745092"/>
            <a:ext cx="290086" cy="29008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68" dirty="0"/>
          </a:p>
        </p:txBody>
      </p:sp>
      <p:sp>
        <p:nvSpPr>
          <p:cNvPr id="54" name="Text 52"/>
          <p:cNvSpPr/>
          <p:nvPr/>
        </p:nvSpPr>
        <p:spPr>
          <a:xfrm>
            <a:off x="9801737" y="2396989"/>
            <a:ext cx="290086" cy="29008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68" dirty="0"/>
          </a:p>
        </p:txBody>
      </p:sp>
      <p:sp>
        <p:nvSpPr>
          <p:cNvPr id="55" name="Text 53"/>
          <p:cNvSpPr/>
          <p:nvPr/>
        </p:nvSpPr>
        <p:spPr>
          <a:xfrm>
            <a:off x="9366609" y="2048887"/>
            <a:ext cx="290086" cy="29008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68" dirty="0"/>
          </a:p>
        </p:txBody>
      </p:sp>
      <p:sp>
        <p:nvSpPr>
          <p:cNvPr id="56" name="Text 54"/>
          <p:cNvSpPr/>
          <p:nvPr/>
        </p:nvSpPr>
        <p:spPr>
          <a:xfrm>
            <a:off x="10019302" y="2745092"/>
            <a:ext cx="290086" cy="29008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68" dirty="0"/>
          </a:p>
        </p:txBody>
      </p:sp>
      <p:sp>
        <p:nvSpPr>
          <p:cNvPr id="57" name="Text 55"/>
          <p:cNvSpPr/>
          <p:nvPr/>
        </p:nvSpPr>
        <p:spPr>
          <a:xfrm>
            <a:off x="10236866" y="2396989"/>
            <a:ext cx="290086" cy="29008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68" dirty="0"/>
          </a:p>
        </p:txBody>
      </p:sp>
      <p:sp>
        <p:nvSpPr>
          <p:cNvPr id="58" name="Text 56"/>
          <p:cNvSpPr/>
          <p:nvPr/>
        </p:nvSpPr>
        <p:spPr>
          <a:xfrm>
            <a:off x="10671994" y="2396989"/>
            <a:ext cx="290086" cy="29008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68" dirty="0"/>
          </a:p>
        </p:txBody>
      </p:sp>
      <p:sp>
        <p:nvSpPr>
          <p:cNvPr id="59" name="Text 57"/>
          <p:cNvSpPr/>
          <p:nvPr/>
        </p:nvSpPr>
        <p:spPr>
          <a:xfrm>
            <a:off x="10454430" y="2048887"/>
            <a:ext cx="290086" cy="29008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68" dirty="0"/>
          </a:p>
        </p:txBody>
      </p:sp>
      <p:sp>
        <p:nvSpPr>
          <p:cNvPr id="60" name="Text 58"/>
          <p:cNvSpPr/>
          <p:nvPr/>
        </p:nvSpPr>
        <p:spPr>
          <a:xfrm>
            <a:off x="9910519" y="1700784"/>
            <a:ext cx="290086" cy="29008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68" dirty="0"/>
          </a:p>
        </p:txBody>
      </p:sp>
      <p:sp>
        <p:nvSpPr>
          <p:cNvPr id="61" name="Text 59"/>
          <p:cNvSpPr txBox="1"/>
          <p:nvPr/>
        </p:nvSpPr>
        <p:spPr>
          <a:xfrm>
            <a:off x="7626096" y="340156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nodes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48640" y="402336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3152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nodes N(h) in an AVL tree of height h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731520" y="4434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N(h) = N(h−1) + N(h−2) + 1</a:t>
            </a:r>
            <a:endParaRPr lang="en-US" sz="2400" dirty="0"/>
          </a:p>
        </p:txBody>
      </p:sp>
      <p:sp>
        <p:nvSpPr>
          <p:cNvPr id="65" name="Text 63"/>
          <p:cNvSpPr txBox="1"/>
          <p:nvPr/>
        </p:nvSpPr>
        <p:spPr>
          <a:xfrm>
            <a:off x="731520" y="49834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tree: one subtree is a minimal tree of height h−1, the other a minimal tree of height h−2 (the shortest side the rule allows), plus the root. N(0) = 1, N(1) = 2.</a:t>
            </a:r>
            <a:endParaRPr lang="en-US" sz="13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4114800"/>
          <a:ext cx="54406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48640"/>
                <a:gridCol w="548640"/>
                <a:gridCol w="548640"/>
                <a:gridCol w="548640"/>
                <a:gridCol w="594360"/>
                <a:gridCol w="594360"/>
                <a:gridCol w="594360"/>
                <a:gridCol w="6400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N(h)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</a:tbl>
          </a:graphicData>
        </a:graphic>
      </p:graphicFrame>
      <p:sp>
        <p:nvSpPr>
          <p:cNvPr id="67" name="Text 64"/>
          <p:cNvSpPr txBox="1"/>
          <p:nvPr/>
        </p:nvSpPr>
        <p:spPr>
          <a:xfrm>
            <a:off x="6217920" y="5120640"/>
            <a:ext cx="5440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Fibonacci numbers (N(h) = F(h+3) − 1), which grow like φʰ with φ ≈ 1.618. So n ≥ φʰ and the height is at most log_φ(n) ≈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 · log₂ n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BALANCE &amp; AVL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an AVL tree goes out of balance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  (left-left)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V="1">
            <a:off x="1581912" y="2610612"/>
            <a:ext cx="315468" cy="60807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897380" y="2002536"/>
            <a:ext cx="315468" cy="60807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00837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9" dirty="0"/>
          </a:p>
        </p:txBody>
      </p:sp>
      <p:sp>
        <p:nvSpPr>
          <p:cNvPr id="10" name="Text 8"/>
          <p:cNvSpPr txBox="1"/>
          <p:nvPr/>
        </p:nvSpPr>
        <p:spPr>
          <a:xfrm>
            <a:off x="905988" y="29169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11" name="Text 9"/>
          <p:cNvSpPr/>
          <p:nvPr/>
        </p:nvSpPr>
        <p:spPr>
          <a:xfrm>
            <a:off x="1687068" y="240030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12" name="Text 10"/>
          <p:cNvSpPr txBox="1"/>
          <p:nvPr/>
        </p:nvSpPr>
        <p:spPr>
          <a:xfrm>
            <a:off x="1221456" y="23088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59" dirty="0"/>
          </a:p>
        </p:txBody>
      </p:sp>
      <p:sp>
        <p:nvSpPr>
          <p:cNvPr id="13" name="Text 11"/>
          <p:cNvSpPr/>
          <p:nvPr/>
        </p:nvSpPr>
        <p:spPr>
          <a:xfrm>
            <a:off x="2002536" y="1792224"/>
            <a:ext cx="420624" cy="420624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14" name="Text 12"/>
          <p:cNvSpPr txBox="1"/>
          <p:nvPr/>
        </p:nvSpPr>
        <p:spPr>
          <a:xfrm>
            <a:off x="2431572" y="17007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059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4472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64992" y="141732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10712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 (right-right)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13732" y="2610612"/>
            <a:ext cx="315468" cy="60807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98264" y="2002536"/>
            <a:ext cx="315468" cy="60807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00837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21" name="Text 19"/>
          <p:cNvSpPr txBox="1"/>
          <p:nvPr/>
        </p:nvSpPr>
        <p:spPr>
          <a:xfrm>
            <a:off x="5247924" y="29169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22" name="Text 20"/>
          <p:cNvSpPr/>
          <p:nvPr/>
        </p:nvSpPr>
        <p:spPr>
          <a:xfrm>
            <a:off x="4503420" y="240030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23" name="Text 21"/>
          <p:cNvSpPr txBox="1"/>
          <p:nvPr/>
        </p:nvSpPr>
        <p:spPr>
          <a:xfrm>
            <a:off x="4932456" y="23088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059" dirty="0"/>
          </a:p>
        </p:txBody>
      </p:sp>
      <p:sp>
        <p:nvSpPr>
          <p:cNvPr id="24" name="Text 22"/>
          <p:cNvSpPr/>
          <p:nvPr/>
        </p:nvSpPr>
        <p:spPr>
          <a:xfrm>
            <a:off x="4187952" y="1792224"/>
            <a:ext cx="420624" cy="420624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9" dirty="0"/>
          </a:p>
        </p:txBody>
      </p:sp>
      <p:sp>
        <p:nvSpPr>
          <p:cNvPr id="25" name="Text 23"/>
          <p:cNvSpPr txBox="1"/>
          <p:nvPr/>
        </p:nvSpPr>
        <p:spPr>
          <a:xfrm>
            <a:off x="4616988" y="17007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1059" dirty="0"/>
          </a:p>
        </p:txBody>
      </p:sp>
      <p:sp>
        <p:nvSpPr>
          <p:cNvPr id="26" name="Text 24"/>
          <p:cNvSpPr txBox="1"/>
          <p:nvPr/>
        </p:nvSpPr>
        <p:spPr>
          <a:xfrm>
            <a:off x="3410712" y="34472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81344" y="141732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27064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 (left-right)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72350" y="2610612"/>
            <a:ext cx="315468" cy="60807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7372350" y="2002536"/>
            <a:ext cx="315468" cy="60807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7506" y="300837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32" name="Text 30"/>
          <p:cNvSpPr txBox="1"/>
          <p:nvPr/>
        </p:nvSpPr>
        <p:spPr>
          <a:xfrm>
            <a:off x="7906542" y="29169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33" name="Text 31"/>
          <p:cNvSpPr/>
          <p:nvPr/>
        </p:nvSpPr>
        <p:spPr>
          <a:xfrm>
            <a:off x="7162038" y="240030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9" dirty="0"/>
          </a:p>
        </p:txBody>
      </p:sp>
      <p:sp>
        <p:nvSpPr>
          <p:cNvPr id="34" name="Text 32"/>
          <p:cNvSpPr txBox="1"/>
          <p:nvPr/>
        </p:nvSpPr>
        <p:spPr>
          <a:xfrm>
            <a:off x="6696426" y="23088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059" dirty="0"/>
          </a:p>
        </p:txBody>
      </p:sp>
      <p:sp>
        <p:nvSpPr>
          <p:cNvPr id="35" name="Text 33"/>
          <p:cNvSpPr/>
          <p:nvPr/>
        </p:nvSpPr>
        <p:spPr>
          <a:xfrm>
            <a:off x="7477506" y="1792224"/>
            <a:ext cx="420624" cy="420624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36" name="Text 34"/>
          <p:cNvSpPr txBox="1"/>
          <p:nvPr/>
        </p:nvSpPr>
        <p:spPr>
          <a:xfrm>
            <a:off x="7906542" y="17007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059" dirty="0"/>
          </a:p>
        </p:txBody>
      </p:sp>
      <p:sp>
        <p:nvSpPr>
          <p:cNvPr id="37" name="Text 35"/>
          <p:cNvSpPr txBox="1"/>
          <p:nvPr/>
        </p:nvSpPr>
        <p:spPr>
          <a:xfrm>
            <a:off x="6227064" y="34472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 (zig-zag)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997696" y="1417320"/>
            <a:ext cx="2697480" cy="2514600"/>
          </a:xfrm>
          <a:prstGeom prst="roundRect">
            <a:avLst>
              <a:gd name="adj" fmla="val 290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43416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 (right-left)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 flipV="1">
            <a:off x="10188702" y="2610612"/>
            <a:ext cx="315468" cy="60807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88702" y="2002536"/>
            <a:ext cx="315468" cy="60807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78390" y="300837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43" name="Text 41"/>
          <p:cNvSpPr txBox="1"/>
          <p:nvPr/>
        </p:nvSpPr>
        <p:spPr>
          <a:xfrm>
            <a:off x="9512778" y="29169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44" name="Text 42"/>
          <p:cNvSpPr/>
          <p:nvPr/>
        </p:nvSpPr>
        <p:spPr>
          <a:xfrm>
            <a:off x="10293858" y="240030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45" name="Text 43"/>
          <p:cNvSpPr txBox="1"/>
          <p:nvPr/>
        </p:nvSpPr>
        <p:spPr>
          <a:xfrm>
            <a:off x="10722894" y="23088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59" dirty="0"/>
          </a:p>
        </p:txBody>
      </p:sp>
      <p:sp>
        <p:nvSpPr>
          <p:cNvPr id="46" name="Text 44"/>
          <p:cNvSpPr/>
          <p:nvPr/>
        </p:nvSpPr>
        <p:spPr>
          <a:xfrm>
            <a:off x="9978390" y="1792224"/>
            <a:ext cx="420624" cy="420624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9" dirty="0"/>
          </a:p>
        </p:txBody>
      </p:sp>
      <p:sp>
        <p:nvSpPr>
          <p:cNvPr id="47" name="Text 45"/>
          <p:cNvSpPr txBox="1"/>
          <p:nvPr/>
        </p:nvSpPr>
        <p:spPr>
          <a:xfrm>
            <a:off x="10407426" y="17007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1059" dirty="0"/>
          </a:p>
        </p:txBody>
      </p:sp>
      <p:sp>
        <p:nvSpPr>
          <p:cNvPr id="48" name="Text 46"/>
          <p:cNvSpPr txBox="1"/>
          <p:nvPr/>
        </p:nvSpPr>
        <p:spPr>
          <a:xfrm>
            <a:off x="9043416" y="34472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 (zig-zag)</a:t>
            </a:r>
            <a:endParaRPr lang="en-US" sz="1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109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91840"/>
                <a:gridCol w="1554480"/>
                <a:gridCol w="141732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key went…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Unbalanced node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 heavy child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into the left subtree of the left child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 = +2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 ≥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right rotation at the node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into the right subtree of the right child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 = −2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 ≤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left rotation at the node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into the right subtree of the left child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 = +2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 = −1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rotation at the child, then right rotation at the node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into the left subtree of the right child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 = −2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 = +1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rotation at the child, then left rotation at the node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Text 47"/>
          <p:cNvSpPr txBox="1"/>
          <p:nvPr/>
        </p:nvSpPr>
        <p:spPr>
          <a:xfrm>
            <a:off x="548640" y="5989320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straight line → ONE rotation.   Bend → TWO rotations.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BALANCE &amp; AVL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rotations: LL and RR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270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 case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30 has BF +2 and its left child leans left.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right rotation at 30.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417320"/>
            <a:ext cx="3515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Unbalanced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V="1">
            <a:off x="5465826" y="251917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5781294" y="1956816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5514" y="287121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9" dirty="0"/>
          </a:p>
        </p:txBody>
      </p:sp>
      <p:sp>
        <p:nvSpPr>
          <p:cNvPr id="13" name="Text 11"/>
          <p:cNvSpPr txBox="1"/>
          <p:nvPr/>
        </p:nvSpPr>
        <p:spPr>
          <a:xfrm>
            <a:off x="4789902" y="27797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14" name="Text 12"/>
          <p:cNvSpPr/>
          <p:nvPr/>
        </p:nvSpPr>
        <p:spPr>
          <a:xfrm>
            <a:off x="5570982" y="23088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15" name="Text 13"/>
          <p:cNvSpPr txBox="1"/>
          <p:nvPr/>
        </p:nvSpPr>
        <p:spPr>
          <a:xfrm>
            <a:off x="5105370" y="22174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59" dirty="0"/>
          </a:p>
        </p:txBody>
      </p:sp>
      <p:sp>
        <p:nvSpPr>
          <p:cNvPr id="16" name="Text 14"/>
          <p:cNvSpPr/>
          <p:nvPr/>
        </p:nvSpPr>
        <p:spPr>
          <a:xfrm>
            <a:off x="5886450" y="1746504"/>
            <a:ext cx="420624" cy="420624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17" name="Text 15"/>
          <p:cNvSpPr txBox="1"/>
          <p:nvPr/>
        </p:nvSpPr>
        <p:spPr>
          <a:xfrm>
            <a:off x="6315486" y="16550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059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3310128"/>
            <a:ext cx="35158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 shown by each node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12380" y="233172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42732" y="1417320"/>
            <a:ext cx="3515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right rotation at 30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flipV="1">
            <a:off x="9585198" y="215112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00666" y="215112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74886" y="267690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9" dirty="0"/>
          </a:p>
        </p:txBody>
      </p:sp>
      <p:sp>
        <p:nvSpPr>
          <p:cNvPr id="24" name="Text 22"/>
          <p:cNvSpPr txBox="1"/>
          <p:nvPr/>
        </p:nvSpPr>
        <p:spPr>
          <a:xfrm>
            <a:off x="8909274" y="258546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25" name="Text 23"/>
          <p:cNvSpPr/>
          <p:nvPr/>
        </p:nvSpPr>
        <p:spPr>
          <a:xfrm>
            <a:off x="10005822" y="267690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26" name="Text 24"/>
          <p:cNvSpPr txBox="1"/>
          <p:nvPr/>
        </p:nvSpPr>
        <p:spPr>
          <a:xfrm>
            <a:off x="10434858" y="258546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27" name="Text 25"/>
          <p:cNvSpPr/>
          <p:nvPr/>
        </p:nvSpPr>
        <p:spPr>
          <a:xfrm>
            <a:off x="9690354" y="194081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28" name="Text 26"/>
          <p:cNvSpPr txBox="1"/>
          <p:nvPr/>
        </p:nvSpPr>
        <p:spPr>
          <a:xfrm>
            <a:off x="10119390" y="184937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29" name="Text 27"/>
          <p:cNvSpPr txBox="1"/>
          <p:nvPr/>
        </p:nvSpPr>
        <p:spPr>
          <a:xfrm>
            <a:off x="8142732" y="3310128"/>
            <a:ext cx="35158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balanced, same in-order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88620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3995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 case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4434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10 has BF −2 and its right child leans right.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257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left rotation at 10.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023360" y="3886200"/>
            <a:ext cx="3515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Unbalanced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781294" y="498805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65826" y="4425696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86450" y="534009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38" name="Text 36"/>
          <p:cNvSpPr txBox="1"/>
          <p:nvPr/>
        </p:nvSpPr>
        <p:spPr>
          <a:xfrm>
            <a:off x="6315486" y="52486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39" name="Text 37"/>
          <p:cNvSpPr/>
          <p:nvPr/>
        </p:nvSpPr>
        <p:spPr>
          <a:xfrm>
            <a:off x="5570982" y="477774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40" name="Text 38"/>
          <p:cNvSpPr txBox="1"/>
          <p:nvPr/>
        </p:nvSpPr>
        <p:spPr>
          <a:xfrm>
            <a:off x="6000018" y="46863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059" dirty="0"/>
          </a:p>
        </p:txBody>
      </p:sp>
      <p:sp>
        <p:nvSpPr>
          <p:cNvPr id="41" name="Text 39"/>
          <p:cNvSpPr/>
          <p:nvPr/>
        </p:nvSpPr>
        <p:spPr>
          <a:xfrm>
            <a:off x="5255514" y="4215384"/>
            <a:ext cx="420624" cy="420624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9" dirty="0"/>
          </a:p>
        </p:txBody>
      </p:sp>
      <p:sp>
        <p:nvSpPr>
          <p:cNvPr id="42" name="Text 40"/>
          <p:cNvSpPr txBox="1"/>
          <p:nvPr/>
        </p:nvSpPr>
        <p:spPr>
          <a:xfrm>
            <a:off x="5684550" y="41239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1059" dirty="0"/>
          </a:p>
        </p:txBody>
      </p:sp>
      <p:sp>
        <p:nvSpPr>
          <p:cNvPr id="43" name="Text 41"/>
          <p:cNvSpPr txBox="1"/>
          <p:nvPr/>
        </p:nvSpPr>
        <p:spPr>
          <a:xfrm>
            <a:off x="4023360" y="5779008"/>
            <a:ext cx="35158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 shown by each node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612380" y="480060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142732" y="3886200"/>
            <a:ext cx="3515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left rotation at 10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 flipV="1">
            <a:off x="9585198" y="462000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00666" y="462000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74886" y="514578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9" dirty="0"/>
          </a:p>
        </p:txBody>
      </p:sp>
      <p:sp>
        <p:nvSpPr>
          <p:cNvPr id="49" name="Text 47"/>
          <p:cNvSpPr txBox="1"/>
          <p:nvPr/>
        </p:nvSpPr>
        <p:spPr>
          <a:xfrm>
            <a:off x="8909274" y="505434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50" name="Text 48"/>
          <p:cNvSpPr/>
          <p:nvPr/>
        </p:nvSpPr>
        <p:spPr>
          <a:xfrm>
            <a:off x="10005822" y="514578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51" name="Text 49"/>
          <p:cNvSpPr txBox="1"/>
          <p:nvPr/>
        </p:nvSpPr>
        <p:spPr>
          <a:xfrm>
            <a:off x="10434858" y="505434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52" name="Text 50"/>
          <p:cNvSpPr/>
          <p:nvPr/>
        </p:nvSpPr>
        <p:spPr>
          <a:xfrm>
            <a:off x="9690354" y="440969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53" name="Text 51"/>
          <p:cNvSpPr txBox="1"/>
          <p:nvPr/>
        </p:nvSpPr>
        <p:spPr>
          <a:xfrm>
            <a:off x="10119390" y="431825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54" name="Text 52"/>
          <p:cNvSpPr txBox="1"/>
          <p:nvPr/>
        </p:nvSpPr>
        <p:spPr>
          <a:xfrm>
            <a:off x="8142732" y="5779008"/>
            <a:ext cx="35158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balanced, same in-order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BALANCE &amp; AVL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rotation: the LR case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Unbalanced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98092" y="2999232"/>
            <a:ext cx="411480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498092" y="2039112"/>
            <a:ext cx="411480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35252" y="3685032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194865" y="35935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23772" y="2724912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55599" y="2633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35252" y="1764792"/>
            <a:ext cx="548640" cy="548640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194865" y="16733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70248"/>
            <a:ext cx="2310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BF(30) = +2, but its child 10 leans RIGHT (BF −1): a bend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32176" y="269748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62528" y="1417320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Left rotation at 10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V="1">
            <a:off x="4206240" y="2999232"/>
            <a:ext cx="411480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4617720" y="2039112"/>
            <a:ext cx="411480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3685032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463747" y="35935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43400" y="2724912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875227" y="2633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1764792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314493" y="16733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462528" y="4270248"/>
            <a:ext cx="2310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bend into a straight line (LL shape)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46064" y="269748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76416" y="1417320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Right rotation at 30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flipV="1">
            <a:off x="7120128" y="2519172"/>
            <a:ext cx="411480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31608" y="2519172"/>
            <a:ext cx="411480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5808" y="3204972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377635" y="31135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68768" y="3204972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28381" y="31135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57288" y="2244852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816901" y="21534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376416" y="4270248"/>
            <a:ext cx="23103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✔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915400" y="1417320"/>
            <a:ext cx="2743200" cy="3246120"/>
          </a:xfrm>
          <a:prstGeom prst="roundRect">
            <a:avLst>
              <a:gd name="adj" fmla="val 2667"/>
            </a:avLst>
          </a:prstGeom>
          <a:solidFill>
            <a:srgbClr val="FDE8EA"/>
          </a:solidFill>
          <a:ln w="9525">
            <a:solidFill>
              <a:srgbClr val="FDE8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5256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A0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rotation fails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 flipV="1">
            <a:off x="10136124" y="2734056"/>
            <a:ext cx="301752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36124" y="2029968"/>
            <a:ext cx="301752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34956" y="3236976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4" dirty="0"/>
          </a:p>
        </p:txBody>
      </p:sp>
      <p:sp>
        <p:nvSpPr>
          <p:cNvPr id="42" name="Text 40"/>
          <p:cNvSpPr txBox="1"/>
          <p:nvPr/>
        </p:nvSpPr>
        <p:spPr>
          <a:xfrm>
            <a:off x="9469709" y="31455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4" dirty="0"/>
          </a:p>
        </p:txBody>
      </p:sp>
      <p:sp>
        <p:nvSpPr>
          <p:cNvPr id="43" name="Text 41"/>
          <p:cNvSpPr/>
          <p:nvPr/>
        </p:nvSpPr>
        <p:spPr>
          <a:xfrm>
            <a:off x="10236708" y="2532888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4" dirty="0"/>
          </a:p>
        </p:txBody>
      </p:sp>
      <p:sp>
        <p:nvSpPr>
          <p:cNvPr id="44" name="Text 42"/>
          <p:cNvSpPr txBox="1"/>
          <p:nvPr/>
        </p:nvSpPr>
        <p:spPr>
          <a:xfrm>
            <a:off x="10647091" y="24414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04" dirty="0"/>
          </a:p>
        </p:txBody>
      </p:sp>
      <p:sp>
        <p:nvSpPr>
          <p:cNvPr id="45" name="Text 43"/>
          <p:cNvSpPr/>
          <p:nvPr/>
        </p:nvSpPr>
        <p:spPr>
          <a:xfrm>
            <a:off x="9934956" y="1828800"/>
            <a:ext cx="402336" cy="402336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4" dirty="0"/>
          </a:p>
        </p:txBody>
      </p:sp>
      <p:sp>
        <p:nvSpPr>
          <p:cNvPr id="46" name="Text 44"/>
          <p:cNvSpPr txBox="1"/>
          <p:nvPr/>
        </p:nvSpPr>
        <p:spPr>
          <a:xfrm>
            <a:off x="10345339" y="1737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1004" dirty="0"/>
          </a:p>
        </p:txBody>
      </p:sp>
      <p:sp>
        <p:nvSpPr>
          <p:cNvPr id="47" name="Text 45"/>
          <p:cNvSpPr txBox="1"/>
          <p:nvPr/>
        </p:nvSpPr>
        <p:spPr>
          <a:xfrm>
            <a:off x="9052560" y="37033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right rotation at 30 only moves the bend to the other side (now an RL shape, BF −2).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4937760"/>
            <a:ext cx="11109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rotate the child (10) → straight line.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rotate the node (30) → balanced.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key (20) ends up on top.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BALANCE &amp; AVL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rotation: the RL case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Unbalanced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993392" y="2999232"/>
            <a:ext cx="411480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93392" y="2039112"/>
            <a:ext cx="411480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19072" y="3685032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50899" y="35935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30552" y="2724912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90165" y="2633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19072" y="1764792"/>
            <a:ext cx="548640" cy="548640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78685" y="16733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7024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BF(10) = −2, but its child 30 leans LEFT (BF +1): a bend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22776" y="269748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53128" y="14173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Right rotation at 30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03620" y="2999232"/>
            <a:ext cx="411480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92140" y="2039112"/>
            <a:ext cx="411480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0780" y="3685032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00393" y="35935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29300" y="2724912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88913" y="26334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17820" y="1764792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977433" y="16733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453128" y="427024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bend into a straight line (RR shape)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27264" y="269748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57616" y="14173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Left rotation at 10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flipV="1">
            <a:off x="9596628" y="2519172"/>
            <a:ext cx="411480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08108" y="2519172"/>
            <a:ext cx="411480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2308" y="3204972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854135" y="31135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145268" y="3204972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0704881" y="31135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733788" y="2244852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293401" y="21534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357616" y="427024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✔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937760"/>
            <a:ext cx="11109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rotate the child (30) → straight line.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rotate the node (10) → balanced.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image of LR; the middle key (20) again ends up on top.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BALANCE &amp; AVL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AVL insertion, step by step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91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like a BST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231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down, compare, attach the new key as a leaf.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64992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164592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233672" y="1691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back up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4231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new leaf towards the root, recompute heights and BFs.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81344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64592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050024" y="1691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lowest violation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64224" y="24231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ancestor with BF = ±2 is the one to fix.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997696" y="1463040"/>
            <a:ext cx="2697480" cy="2286000"/>
          </a:xfrm>
          <a:prstGeom prst="roundRect">
            <a:avLst>
              <a:gd name="adj" fmla="val 3200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0576" y="164592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866376" y="16916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180576" y="24231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 → right · RR → left · LR → left+right · RL → right+left.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13308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3891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 INSERTION one (single or double) rotation restores balance for the whole tree: O(1) structural change, O(log n) total.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402336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DE8EA"/>
          </a:solidFill>
          <a:ln w="9525">
            <a:solidFill>
              <a:srgbClr val="FDE8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413308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A0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43891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DELETION the fix at one node can shorten its subtree and unbalance the parent, so you may rotate at every level on the way up: up to O(log n) rotations.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7607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in an AVL tree is ordinary BST search: O(log n) guaranteed.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BALANCE &amp; AVL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AVL example 1: insert 63, 9, 19, 27, 18, 108, 99, 81 (1 of 3)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63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63240" y="2290572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368" dirty="0"/>
          </a:p>
        </p:txBody>
      </p:sp>
      <p:sp>
        <p:nvSpPr>
          <p:cNvPr id="8" name="Text 6"/>
          <p:cNvSpPr txBox="1"/>
          <p:nvPr/>
        </p:nvSpPr>
        <p:spPr>
          <a:xfrm>
            <a:off x="3529584" y="21991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8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3101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key becomes the root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9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8743950" y="211912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15350" y="2690622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68" dirty="0"/>
          </a:p>
        </p:txBody>
      </p:sp>
      <p:sp>
        <p:nvSpPr>
          <p:cNvPr id="14" name="Text 12"/>
          <p:cNvSpPr txBox="1"/>
          <p:nvPr/>
        </p:nvSpPr>
        <p:spPr>
          <a:xfrm>
            <a:off x="8049006" y="259918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8" dirty="0"/>
          </a:p>
        </p:txBody>
      </p:sp>
      <p:sp>
        <p:nvSpPr>
          <p:cNvPr id="15" name="Text 13"/>
          <p:cNvSpPr/>
          <p:nvPr/>
        </p:nvSpPr>
        <p:spPr>
          <a:xfrm>
            <a:off x="8858250" y="189052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368" dirty="0"/>
          </a:p>
        </p:txBody>
      </p:sp>
      <p:sp>
        <p:nvSpPr>
          <p:cNvPr id="16" name="Text 14"/>
          <p:cNvSpPr txBox="1"/>
          <p:nvPr/>
        </p:nvSpPr>
        <p:spPr>
          <a:xfrm>
            <a:off x="9324594" y="179908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68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3101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&lt; 63 → left. All BFs within ±1.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931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19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121399" y="5033772"/>
            <a:ext cx="340883" cy="5454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121399" y="4488359"/>
            <a:ext cx="340883" cy="5454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35026" y="5351929"/>
            <a:ext cx="454511" cy="454511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60" dirty="0"/>
          </a:p>
        </p:txBody>
      </p:sp>
      <p:sp>
        <p:nvSpPr>
          <p:cNvPr id="23" name="Text 21"/>
          <p:cNvSpPr txBox="1"/>
          <p:nvPr/>
        </p:nvSpPr>
        <p:spPr>
          <a:xfrm>
            <a:off x="3698627" y="5260489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0" dirty="0"/>
          </a:p>
        </p:txBody>
      </p:sp>
      <p:sp>
        <p:nvSpPr>
          <p:cNvPr id="24" name="Text 22"/>
          <p:cNvSpPr/>
          <p:nvPr/>
        </p:nvSpPr>
        <p:spPr>
          <a:xfrm>
            <a:off x="2894143" y="4806517"/>
            <a:ext cx="454511" cy="45451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60" dirty="0"/>
          </a:p>
        </p:txBody>
      </p:sp>
      <p:sp>
        <p:nvSpPr>
          <p:cNvPr id="25" name="Text 23"/>
          <p:cNvSpPr txBox="1"/>
          <p:nvPr/>
        </p:nvSpPr>
        <p:spPr>
          <a:xfrm>
            <a:off x="2427853" y="4715077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6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160" dirty="0"/>
          </a:p>
        </p:txBody>
      </p:sp>
      <p:sp>
        <p:nvSpPr>
          <p:cNvPr id="26" name="Text 24"/>
          <p:cNvSpPr/>
          <p:nvPr/>
        </p:nvSpPr>
        <p:spPr>
          <a:xfrm>
            <a:off x="3235026" y="4261104"/>
            <a:ext cx="454511" cy="454511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360" dirty="0"/>
          </a:p>
        </p:txBody>
      </p:sp>
      <p:sp>
        <p:nvSpPr>
          <p:cNvPr id="27" name="Text 25"/>
          <p:cNvSpPr txBox="1"/>
          <p:nvPr/>
        </p:nvSpPr>
        <p:spPr>
          <a:xfrm>
            <a:off x="3698627" y="4169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6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8247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BF(63) = +2 and child 9 leans right (−1) → LR case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38862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3931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LR fix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 flipV="1">
            <a:off x="8572500" y="463372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15400" y="463372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43900" y="520522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68" dirty="0"/>
          </a:p>
        </p:txBody>
      </p:sp>
      <p:sp>
        <p:nvSpPr>
          <p:cNvPr id="34" name="Text 32"/>
          <p:cNvSpPr txBox="1"/>
          <p:nvPr/>
        </p:nvSpPr>
        <p:spPr>
          <a:xfrm>
            <a:off x="7877556" y="511378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8" dirty="0"/>
          </a:p>
        </p:txBody>
      </p:sp>
      <p:sp>
        <p:nvSpPr>
          <p:cNvPr id="35" name="Text 33"/>
          <p:cNvSpPr/>
          <p:nvPr/>
        </p:nvSpPr>
        <p:spPr>
          <a:xfrm>
            <a:off x="9029700" y="520522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368" dirty="0"/>
          </a:p>
        </p:txBody>
      </p:sp>
      <p:sp>
        <p:nvSpPr>
          <p:cNvPr id="36" name="Text 34"/>
          <p:cNvSpPr txBox="1"/>
          <p:nvPr/>
        </p:nvSpPr>
        <p:spPr>
          <a:xfrm>
            <a:off x="9496044" y="511378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8" dirty="0"/>
          </a:p>
        </p:txBody>
      </p:sp>
      <p:sp>
        <p:nvSpPr>
          <p:cNvPr id="37" name="Text 35"/>
          <p:cNvSpPr/>
          <p:nvPr/>
        </p:nvSpPr>
        <p:spPr>
          <a:xfrm>
            <a:off x="8686800" y="4405122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68" dirty="0"/>
          </a:p>
        </p:txBody>
      </p:sp>
      <p:sp>
        <p:nvSpPr>
          <p:cNvPr id="38" name="Text 36"/>
          <p:cNvSpPr txBox="1"/>
          <p:nvPr/>
        </p:nvSpPr>
        <p:spPr>
          <a:xfrm>
            <a:off x="9153144" y="431368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8" dirty="0"/>
          </a:p>
        </p:txBody>
      </p:sp>
      <p:sp>
        <p:nvSpPr>
          <p:cNvPr id="39" name="Text 37"/>
          <p:cNvSpPr txBox="1"/>
          <p:nvPr/>
        </p:nvSpPr>
        <p:spPr>
          <a:xfrm>
            <a:off x="6263640" y="58247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rotation at 9, then right rotation at 63 → 19 on top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BALANCE &amp; AVL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AVL example 1: insert 63, 9, 19, 27, 18, 108, 99, 81 (2 of 3)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27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V="1">
            <a:off x="2976372" y="1956816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3291840" y="251917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956816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66060" y="23088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9" dirty="0"/>
          </a:p>
        </p:txBody>
      </p:sp>
      <p:sp>
        <p:nvSpPr>
          <p:cNvPr id="11" name="Text 9"/>
          <p:cNvSpPr txBox="1"/>
          <p:nvPr/>
        </p:nvSpPr>
        <p:spPr>
          <a:xfrm>
            <a:off x="2300448" y="22174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12" name="Text 10"/>
          <p:cNvSpPr/>
          <p:nvPr/>
        </p:nvSpPr>
        <p:spPr>
          <a:xfrm>
            <a:off x="3081528" y="2871216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59" dirty="0"/>
          </a:p>
        </p:txBody>
      </p:sp>
      <p:sp>
        <p:nvSpPr>
          <p:cNvPr id="13" name="Text 11"/>
          <p:cNvSpPr txBox="1"/>
          <p:nvPr/>
        </p:nvSpPr>
        <p:spPr>
          <a:xfrm>
            <a:off x="2615916" y="27797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14" name="Text 12"/>
          <p:cNvSpPr/>
          <p:nvPr/>
        </p:nvSpPr>
        <p:spPr>
          <a:xfrm>
            <a:off x="3396996" y="23088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259" dirty="0"/>
          </a:p>
        </p:txBody>
      </p:sp>
      <p:sp>
        <p:nvSpPr>
          <p:cNvPr id="15" name="Text 13"/>
          <p:cNvSpPr txBox="1"/>
          <p:nvPr/>
        </p:nvSpPr>
        <p:spPr>
          <a:xfrm>
            <a:off x="3826032" y="22174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59" dirty="0"/>
          </a:p>
        </p:txBody>
      </p:sp>
      <p:sp>
        <p:nvSpPr>
          <p:cNvPr id="16" name="Text 14"/>
          <p:cNvSpPr/>
          <p:nvPr/>
        </p:nvSpPr>
        <p:spPr>
          <a:xfrm>
            <a:off x="3081528" y="174650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59" dirty="0"/>
          </a:p>
        </p:txBody>
      </p:sp>
      <p:sp>
        <p:nvSpPr>
          <p:cNvPr id="17" name="Text 15"/>
          <p:cNvSpPr txBox="1"/>
          <p:nvPr/>
        </p:nvSpPr>
        <p:spPr>
          <a:xfrm>
            <a:off x="3510564" y="16550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059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3101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&lt; 63 → left of 63. Balanced.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3716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18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84464" y="251917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8284464" y="1956816"/>
            <a:ext cx="630936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9230868" y="251917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1956816"/>
            <a:ext cx="630936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9620" y="2871216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59" dirty="0"/>
          </a:p>
        </p:txBody>
      </p:sp>
      <p:sp>
        <p:nvSpPr>
          <p:cNvPr id="26" name="Text 24"/>
          <p:cNvSpPr txBox="1"/>
          <p:nvPr/>
        </p:nvSpPr>
        <p:spPr>
          <a:xfrm>
            <a:off x="8818656" y="27797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27" name="Text 25"/>
          <p:cNvSpPr/>
          <p:nvPr/>
        </p:nvSpPr>
        <p:spPr>
          <a:xfrm>
            <a:off x="8074152" y="23088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9" dirty="0"/>
          </a:p>
        </p:txBody>
      </p:sp>
      <p:sp>
        <p:nvSpPr>
          <p:cNvPr id="28" name="Text 26"/>
          <p:cNvSpPr txBox="1"/>
          <p:nvPr/>
        </p:nvSpPr>
        <p:spPr>
          <a:xfrm>
            <a:off x="7608540" y="22174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059" dirty="0"/>
          </a:p>
        </p:txBody>
      </p:sp>
      <p:sp>
        <p:nvSpPr>
          <p:cNvPr id="29" name="Text 27"/>
          <p:cNvSpPr/>
          <p:nvPr/>
        </p:nvSpPr>
        <p:spPr>
          <a:xfrm>
            <a:off x="9020556" y="287121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59" dirty="0"/>
          </a:p>
        </p:txBody>
      </p:sp>
      <p:sp>
        <p:nvSpPr>
          <p:cNvPr id="30" name="Text 28"/>
          <p:cNvSpPr txBox="1"/>
          <p:nvPr/>
        </p:nvSpPr>
        <p:spPr>
          <a:xfrm>
            <a:off x="8554944" y="27797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31" name="Text 29"/>
          <p:cNvSpPr/>
          <p:nvPr/>
        </p:nvSpPr>
        <p:spPr>
          <a:xfrm>
            <a:off x="9336024" y="23088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259" dirty="0"/>
          </a:p>
        </p:txBody>
      </p:sp>
      <p:sp>
        <p:nvSpPr>
          <p:cNvPr id="32" name="Text 30"/>
          <p:cNvSpPr txBox="1"/>
          <p:nvPr/>
        </p:nvSpPr>
        <p:spPr>
          <a:xfrm>
            <a:off x="9765060" y="22174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59" dirty="0"/>
          </a:p>
        </p:txBody>
      </p:sp>
      <p:sp>
        <p:nvSpPr>
          <p:cNvPr id="33" name="Text 31"/>
          <p:cNvSpPr/>
          <p:nvPr/>
        </p:nvSpPr>
        <p:spPr>
          <a:xfrm>
            <a:off x="8705088" y="174650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59" dirty="0"/>
          </a:p>
        </p:txBody>
      </p:sp>
      <p:sp>
        <p:nvSpPr>
          <p:cNvPr id="34" name="Text 32"/>
          <p:cNvSpPr txBox="1"/>
          <p:nvPr/>
        </p:nvSpPr>
        <p:spPr>
          <a:xfrm>
            <a:off x="9134124" y="16550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35" name="Text 33"/>
          <p:cNvSpPr txBox="1"/>
          <p:nvPr/>
        </p:nvSpPr>
        <p:spPr>
          <a:xfrm>
            <a:off x="6263640" y="33101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&lt; 19 → 9 → right of 9. Balanced.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38862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3931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108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503170" y="503377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2503170" y="4471416"/>
            <a:ext cx="630936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3449574" y="503377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65042" y="503377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34106" y="4471416"/>
            <a:ext cx="630936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8326" y="538581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59" dirty="0"/>
          </a:p>
        </p:txBody>
      </p:sp>
      <p:sp>
        <p:nvSpPr>
          <p:cNvPr id="44" name="Text 42"/>
          <p:cNvSpPr txBox="1"/>
          <p:nvPr/>
        </p:nvSpPr>
        <p:spPr>
          <a:xfrm>
            <a:off x="3037362" y="5294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45" name="Text 43"/>
          <p:cNvSpPr/>
          <p:nvPr/>
        </p:nvSpPr>
        <p:spPr>
          <a:xfrm>
            <a:off x="2292858" y="48234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9" dirty="0"/>
          </a:p>
        </p:txBody>
      </p:sp>
      <p:sp>
        <p:nvSpPr>
          <p:cNvPr id="46" name="Text 44"/>
          <p:cNvSpPr txBox="1"/>
          <p:nvPr/>
        </p:nvSpPr>
        <p:spPr>
          <a:xfrm>
            <a:off x="1827246" y="47320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059" dirty="0"/>
          </a:p>
        </p:txBody>
      </p:sp>
      <p:sp>
        <p:nvSpPr>
          <p:cNvPr id="47" name="Text 45"/>
          <p:cNvSpPr/>
          <p:nvPr/>
        </p:nvSpPr>
        <p:spPr>
          <a:xfrm>
            <a:off x="3239262" y="538581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59" dirty="0"/>
          </a:p>
        </p:txBody>
      </p:sp>
      <p:sp>
        <p:nvSpPr>
          <p:cNvPr id="48" name="Text 46"/>
          <p:cNvSpPr txBox="1"/>
          <p:nvPr/>
        </p:nvSpPr>
        <p:spPr>
          <a:xfrm>
            <a:off x="2773650" y="5294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49" name="Text 47"/>
          <p:cNvSpPr/>
          <p:nvPr/>
        </p:nvSpPr>
        <p:spPr>
          <a:xfrm>
            <a:off x="3870198" y="5385816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259" dirty="0"/>
          </a:p>
        </p:txBody>
      </p:sp>
      <p:sp>
        <p:nvSpPr>
          <p:cNvPr id="50" name="Text 48"/>
          <p:cNvSpPr txBox="1"/>
          <p:nvPr/>
        </p:nvSpPr>
        <p:spPr>
          <a:xfrm>
            <a:off x="4299234" y="5294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51" name="Text 49"/>
          <p:cNvSpPr/>
          <p:nvPr/>
        </p:nvSpPr>
        <p:spPr>
          <a:xfrm>
            <a:off x="3554730" y="48234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259" dirty="0"/>
          </a:p>
        </p:txBody>
      </p:sp>
      <p:sp>
        <p:nvSpPr>
          <p:cNvPr id="52" name="Text 50"/>
          <p:cNvSpPr txBox="1"/>
          <p:nvPr/>
        </p:nvSpPr>
        <p:spPr>
          <a:xfrm>
            <a:off x="3983766" y="47320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53" name="Text 51"/>
          <p:cNvSpPr/>
          <p:nvPr/>
        </p:nvSpPr>
        <p:spPr>
          <a:xfrm>
            <a:off x="2923794" y="426110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59" dirty="0"/>
          </a:p>
        </p:txBody>
      </p:sp>
      <p:sp>
        <p:nvSpPr>
          <p:cNvPr id="54" name="Text 52"/>
          <p:cNvSpPr txBox="1"/>
          <p:nvPr/>
        </p:nvSpPr>
        <p:spPr>
          <a:xfrm>
            <a:off x="3352830" y="4169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55" name="Text 53"/>
          <p:cNvSpPr txBox="1"/>
          <p:nvPr/>
        </p:nvSpPr>
        <p:spPr>
          <a:xfrm>
            <a:off x="640080" y="58247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&gt; 19 → 63 → right of 63. Balanced.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172200" y="38862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263640" y="3931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99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8285508" y="4832206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8285508" y="4429075"/>
            <a:ext cx="503914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9041378" y="4832206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9293335" y="5235338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293335" y="4832206"/>
            <a:ext cx="251957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789422" y="4429075"/>
            <a:ext cx="503914" cy="403131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69493" y="5067366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5" dirty="0"/>
          </a:p>
        </p:txBody>
      </p:sp>
      <p:sp>
        <p:nvSpPr>
          <p:cNvPr id="65" name="Text 63"/>
          <p:cNvSpPr txBox="1"/>
          <p:nvPr/>
        </p:nvSpPr>
        <p:spPr>
          <a:xfrm>
            <a:off x="8712155" y="497592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117536" y="4664235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5" dirty="0"/>
          </a:p>
        </p:txBody>
      </p:sp>
      <p:sp>
        <p:nvSpPr>
          <p:cNvPr id="67" name="Text 65"/>
          <p:cNvSpPr txBox="1"/>
          <p:nvPr/>
        </p:nvSpPr>
        <p:spPr>
          <a:xfrm>
            <a:off x="7653617" y="4572795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873407" y="5067366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5" dirty="0"/>
          </a:p>
        </p:txBody>
      </p:sp>
      <p:sp>
        <p:nvSpPr>
          <p:cNvPr id="69" name="Text 67"/>
          <p:cNvSpPr txBox="1"/>
          <p:nvPr/>
        </p:nvSpPr>
        <p:spPr>
          <a:xfrm>
            <a:off x="8409488" y="497592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9125364" y="5470497"/>
            <a:ext cx="335943" cy="335943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005" dirty="0"/>
          </a:p>
        </p:txBody>
      </p:sp>
      <p:sp>
        <p:nvSpPr>
          <p:cNvPr id="71" name="Text 69"/>
          <p:cNvSpPr txBox="1"/>
          <p:nvPr/>
        </p:nvSpPr>
        <p:spPr>
          <a:xfrm>
            <a:off x="8661445" y="5379057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377321" y="5067366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005" dirty="0"/>
          </a:p>
        </p:txBody>
      </p:sp>
      <p:sp>
        <p:nvSpPr>
          <p:cNvPr id="73" name="Text 71"/>
          <p:cNvSpPr txBox="1"/>
          <p:nvPr/>
        </p:nvSpPr>
        <p:spPr>
          <a:xfrm>
            <a:off x="9719983" y="497592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9125364" y="4664235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5" dirty="0"/>
          </a:p>
        </p:txBody>
      </p:sp>
      <p:sp>
        <p:nvSpPr>
          <p:cNvPr id="75" name="Text 73"/>
          <p:cNvSpPr txBox="1"/>
          <p:nvPr/>
        </p:nvSpPr>
        <p:spPr>
          <a:xfrm>
            <a:off x="9468026" y="4572795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621450" y="4261104"/>
            <a:ext cx="335943" cy="33594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5" dirty="0"/>
          </a:p>
        </p:txBody>
      </p:sp>
      <p:sp>
        <p:nvSpPr>
          <p:cNvPr id="77" name="Text 75"/>
          <p:cNvSpPr txBox="1"/>
          <p:nvPr/>
        </p:nvSpPr>
        <p:spPr>
          <a:xfrm>
            <a:off x="8964112" y="4169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6263640" y="58247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goes left of 108. BF(63) = −1: still fine.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BALANCE &amp; AVL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AVL example 1: insert 63, 9, 19, 27, 18, 108, 99, 81 (3 of 3)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81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97914" y="2500884"/>
            <a:ext cx="315468" cy="5897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597914" y="1911096"/>
            <a:ext cx="630936" cy="5897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544318" y="2500884"/>
            <a:ext cx="315468" cy="5897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544318" y="3680460"/>
            <a:ext cx="315468" cy="5897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859786" y="3090672"/>
            <a:ext cx="315468" cy="5897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59786" y="2500884"/>
            <a:ext cx="315468" cy="5897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1911096"/>
            <a:ext cx="630936" cy="5897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03070" y="28803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59" dirty="0"/>
          </a:p>
        </p:txBody>
      </p:sp>
      <p:sp>
        <p:nvSpPr>
          <p:cNvPr id="14" name="Text 12"/>
          <p:cNvSpPr txBox="1"/>
          <p:nvPr/>
        </p:nvSpPr>
        <p:spPr>
          <a:xfrm>
            <a:off x="2132106" y="2788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15" name="Text 13"/>
          <p:cNvSpPr/>
          <p:nvPr/>
        </p:nvSpPr>
        <p:spPr>
          <a:xfrm>
            <a:off x="1387602" y="229057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9" dirty="0"/>
          </a:p>
        </p:txBody>
      </p:sp>
      <p:sp>
        <p:nvSpPr>
          <p:cNvPr id="16" name="Text 14"/>
          <p:cNvSpPr txBox="1"/>
          <p:nvPr/>
        </p:nvSpPr>
        <p:spPr>
          <a:xfrm>
            <a:off x="921990" y="21991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059" dirty="0"/>
          </a:p>
        </p:txBody>
      </p:sp>
      <p:sp>
        <p:nvSpPr>
          <p:cNvPr id="17" name="Text 15"/>
          <p:cNvSpPr/>
          <p:nvPr/>
        </p:nvSpPr>
        <p:spPr>
          <a:xfrm>
            <a:off x="2334006" y="28803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59" dirty="0"/>
          </a:p>
        </p:txBody>
      </p:sp>
      <p:sp>
        <p:nvSpPr>
          <p:cNvPr id="18" name="Text 16"/>
          <p:cNvSpPr txBox="1"/>
          <p:nvPr/>
        </p:nvSpPr>
        <p:spPr>
          <a:xfrm>
            <a:off x="1868394" y="2788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19" name="Text 17"/>
          <p:cNvSpPr/>
          <p:nvPr/>
        </p:nvSpPr>
        <p:spPr>
          <a:xfrm>
            <a:off x="2334006" y="4059936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259" dirty="0"/>
          </a:p>
        </p:txBody>
      </p:sp>
      <p:sp>
        <p:nvSpPr>
          <p:cNvPr id="20" name="Text 18"/>
          <p:cNvSpPr txBox="1"/>
          <p:nvPr/>
        </p:nvSpPr>
        <p:spPr>
          <a:xfrm>
            <a:off x="1868394" y="39684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21" name="Text 19"/>
          <p:cNvSpPr/>
          <p:nvPr/>
        </p:nvSpPr>
        <p:spPr>
          <a:xfrm>
            <a:off x="2649474" y="34701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259" dirty="0"/>
          </a:p>
        </p:txBody>
      </p:sp>
      <p:sp>
        <p:nvSpPr>
          <p:cNvPr id="22" name="Text 20"/>
          <p:cNvSpPr txBox="1"/>
          <p:nvPr/>
        </p:nvSpPr>
        <p:spPr>
          <a:xfrm>
            <a:off x="2183862" y="33787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59" dirty="0"/>
          </a:p>
        </p:txBody>
      </p:sp>
      <p:sp>
        <p:nvSpPr>
          <p:cNvPr id="23" name="Text 21"/>
          <p:cNvSpPr/>
          <p:nvPr/>
        </p:nvSpPr>
        <p:spPr>
          <a:xfrm>
            <a:off x="2964942" y="2880360"/>
            <a:ext cx="420624" cy="420624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259" dirty="0"/>
          </a:p>
        </p:txBody>
      </p:sp>
      <p:sp>
        <p:nvSpPr>
          <p:cNvPr id="24" name="Text 22"/>
          <p:cNvSpPr txBox="1"/>
          <p:nvPr/>
        </p:nvSpPr>
        <p:spPr>
          <a:xfrm>
            <a:off x="3393978" y="2788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059" dirty="0"/>
          </a:p>
        </p:txBody>
      </p:sp>
      <p:sp>
        <p:nvSpPr>
          <p:cNvPr id="25" name="Text 23"/>
          <p:cNvSpPr/>
          <p:nvPr/>
        </p:nvSpPr>
        <p:spPr>
          <a:xfrm>
            <a:off x="2649474" y="229057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259" dirty="0"/>
          </a:p>
        </p:txBody>
      </p:sp>
      <p:sp>
        <p:nvSpPr>
          <p:cNvPr id="26" name="Text 24"/>
          <p:cNvSpPr txBox="1"/>
          <p:nvPr/>
        </p:nvSpPr>
        <p:spPr>
          <a:xfrm>
            <a:off x="3078510" y="21991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1059" dirty="0"/>
          </a:p>
        </p:txBody>
      </p:sp>
      <p:sp>
        <p:nvSpPr>
          <p:cNvPr id="27" name="Text 25"/>
          <p:cNvSpPr/>
          <p:nvPr/>
        </p:nvSpPr>
        <p:spPr>
          <a:xfrm>
            <a:off x="2018538" y="170078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59" dirty="0"/>
          </a:p>
        </p:txBody>
      </p:sp>
      <p:sp>
        <p:nvSpPr>
          <p:cNvPr id="28" name="Text 26"/>
          <p:cNvSpPr txBox="1"/>
          <p:nvPr/>
        </p:nvSpPr>
        <p:spPr>
          <a:xfrm>
            <a:off x="2447574" y="16093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1059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498848"/>
            <a:ext cx="3675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BF(108) = +2, child 99 leans left → LL case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97680" y="274320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28032" y="137160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rotation at 108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719572" y="272262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5719572" y="1986534"/>
            <a:ext cx="630936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6665976" y="272262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6981444" y="3458718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96912" y="3458718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81444" y="272262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50508" y="1986534"/>
            <a:ext cx="630936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24728" y="324840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59" dirty="0"/>
          </a:p>
        </p:txBody>
      </p:sp>
      <p:sp>
        <p:nvSpPr>
          <p:cNvPr id="40" name="Text 38"/>
          <p:cNvSpPr txBox="1"/>
          <p:nvPr/>
        </p:nvSpPr>
        <p:spPr>
          <a:xfrm>
            <a:off x="6253764" y="315696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41" name="Text 39"/>
          <p:cNvSpPr/>
          <p:nvPr/>
        </p:nvSpPr>
        <p:spPr>
          <a:xfrm>
            <a:off x="5509260" y="251231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9" dirty="0"/>
          </a:p>
        </p:txBody>
      </p:sp>
      <p:sp>
        <p:nvSpPr>
          <p:cNvPr id="42" name="Text 40"/>
          <p:cNvSpPr txBox="1"/>
          <p:nvPr/>
        </p:nvSpPr>
        <p:spPr>
          <a:xfrm>
            <a:off x="5043648" y="242087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059" dirty="0"/>
          </a:p>
        </p:txBody>
      </p:sp>
      <p:sp>
        <p:nvSpPr>
          <p:cNvPr id="43" name="Text 41"/>
          <p:cNvSpPr/>
          <p:nvPr/>
        </p:nvSpPr>
        <p:spPr>
          <a:xfrm>
            <a:off x="6455664" y="324840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59" dirty="0"/>
          </a:p>
        </p:txBody>
      </p:sp>
      <p:sp>
        <p:nvSpPr>
          <p:cNvPr id="44" name="Text 42"/>
          <p:cNvSpPr txBox="1"/>
          <p:nvPr/>
        </p:nvSpPr>
        <p:spPr>
          <a:xfrm>
            <a:off x="5990052" y="315696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45" name="Text 43"/>
          <p:cNvSpPr/>
          <p:nvPr/>
        </p:nvSpPr>
        <p:spPr>
          <a:xfrm>
            <a:off x="6771132" y="3984498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259" dirty="0"/>
          </a:p>
        </p:txBody>
      </p:sp>
      <p:sp>
        <p:nvSpPr>
          <p:cNvPr id="46" name="Text 44"/>
          <p:cNvSpPr txBox="1"/>
          <p:nvPr/>
        </p:nvSpPr>
        <p:spPr>
          <a:xfrm>
            <a:off x="6305520" y="389305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47" name="Text 45"/>
          <p:cNvSpPr/>
          <p:nvPr/>
        </p:nvSpPr>
        <p:spPr>
          <a:xfrm>
            <a:off x="7402068" y="398449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259" dirty="0"/>
          </a:p>
        </p:txBody>
      </p:sp>
      <p:sp>
        <p:nvSpPr>
          <p:cNvPr id="48" name="Text 46"/>
          <p:cNvSpPr txBox="1"/>
          <p:nvPr/>
        </p:nvSpPr>
        <p:spPr>
          <a:xfrm>
            <a:off x="7831104" y="389305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49" name="Text 47"/>
          <p:cNvSpPr/>
          <p:nvPr/>
        </p:nvSpPr>
        <p:spPr>
          <a:xfrm>
            <a:off x="7086600" y="324840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259" dirty="0"/>
          </a:p>
        </p:txBody>
      </p:sp>
      <p:sp>
        <p:nvSpPr>
          <p:cNvPr id="50" name="Text 48"/>
          <p:cNvSpPr txBox="1"/>
          <p:nvPr/>
        </p:nvSpPr>
        <p:spPr>
          <a:xfrm>
            <a:off x="7515636" y="315696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51" name="Text 49"/>
          <p:cNvSpPr/>
          <p:nvPr/>
        </p:nvSpPr>
        <p:spPr>
          <a:xfrm>
            <a:off x="6771132" y="251231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259" dirty="0"/>
          </a:p>
        </p:txBody>
      </p:sp>
      <p:sp>
        <p:nvSpPr>
          <p:cNvPr id="52" name="Text 50"/>
          <p:cNvSpPr txBox="1"/>
          <p:nvPr/>
        </p:nvSpPr>
        <p:spPr>
          <a:xfrm>
            <a:off x="7200168" y="242087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059" dirty="0"/>
          </a:p>
        </p:txBody>
      </p:sp>
      <p:sp>
        <p:nvSpPr>
          <p:cNvPr id="53" name="Text 51"/>
          <p:cNvSpPr/>
          <p:nvPr/>
        </p:nvSpPr>
        <p:spPr>
          <a:xfrm>
            <a:off x="6140196" y="177622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59" dirty="0"/>
          </a:p>
        </p:txBody>
      </p:sp>
      <p:sp>
        <p:nvSpPr>
          <p:cNvPr id="54" name="Text 52"/>
          <p:cNvSpPr txBox="1"/>
          <p:nvPr/>
        </p:nvSpPr>
        <p:spPr>
          <a:xfrm>
            <a:off x="6569232" y="168478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059" dirty="0"/>
          </a:p>
        </p:txBody>
      </p:sp>
      <p:sp>
        <p:nvSpPr>
          <p:cNvPr id="55" name="Text 53"/>
          <p:cNvSpPr txBox="1"/>
          <p:nvPr/>
        </p:nvSpPr>
        <p:spPr>
          <a:xfrm>
            <a:off x="4828032" y="4498848"/>
            <a:ext cx="3675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moves up; 81 and 108 become its children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732520" y="1371600"/>
            <a:ext cx="2926080" cy="3566160"/>
          </a:xfrm>
          <a:prstGeom prst="roundRect">
            <a:avLst>
              <a:gd name="adj" fmla="val 2500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86968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tree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8869680" y="182880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3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keys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in-order: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9 18 19 27 63 81 99 108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548640" y="5120640"/>
            <a:ext cx="11109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rotations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were needed: one LR (at 63) and one LL (at 108).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sorted input would have built a chain of height 7 in a plain BST.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BALANCE &amp; AVL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AVL example 2: insert 30, 20, 10, 40, 50, 25 (1 of 2)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2400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30, 20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577340" y="250774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8740" y="3079242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68" dirty="0"/>
          </a:p>
        </p:txBody>
      </p:sp>
      <p:sp>
        <p:nvSpPr>
          <p:cNvPr id="8" name="Text 6"/>
          <p:cNvSpPr txBox="1"/>
          <p:nvPr/>
        </p:nvSpPr>
        <p:spPr>
          <a:xfrm>
            <a:off x="882396" y="298780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8" dirty="0"/>
          </a:p>
        </p:txBody>
      </p:sp>
      <p:sp>
        <p:nvSpPr>
          <p:cNvPr id="9" name="Text 7"/>
          <p:cNvSpPr/>
          <p:nvPr/>
        </p:nvSpPr>
        <p:spPr>
          <a:xfrm>
            <a:off x="1691640" y="227914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68" dirty="0"/>
          </a:p>
        </p:txBody>
      </p:sp>
      <p:sp>
        <p:nvSpPr>
          <p:cNvPr id="10" name="Text 8"/>
          <p:cNvSpPr txBox="1"/>
          <p:nvPr/>
        </p:nvSpPr>
        <p:spPr>
          <a:xfrm>
            <a:off x="2157984" y="218770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68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41648"/>
            <a:ext cx="2400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1463040"/>
            <a:ext cx="2400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V="1">
            <a:off x="4309110" y="290779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4652010" y="210769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80510" y="3479292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68" dirty="0"/>
          </a:p>
        </p:txBody>
      </p:sp>
      <p:sp>
        <p:nvSpPr>
          <p:cNvPr id="16" name="Text 14"/>
          <p:cNvSpPr txBox="1"/>
          <p:nvPr/>
        </p:nvSpPr>
        <p:spPr>
          <a:xfrm>
            <a:off x="3614166" y="33878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8" dirty="0"/>
          </a:p>
        </p:txBody>
      </p:sp>
      <p:sp>
        <p:nvSpPr>
          <p:cNvPr id="17" name="Text 15"/>
          <p:cNvSpPr/>
          <p:nvPr/>
        </p:nvSpPr>
        <p:spPr>
          <a:xfrm>
            <a:off x="4423410" y="267919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68" dirty="0"/>
          </a:p>
        </p:txBody>
      </p:sp>
      <p:sp>
        <p:nvSpPr>
          <p:cNvPr id="18" name="Text 16"/>
          <p:cNvSpPr txBox="1"/>
          <p:nvPr/>
        </p:nvSpPr>
        <p:spPr>
          <a:xfrm>
            <a:off x="3957066" y="2587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168" dirty="0"/>
          </a:p>
        </p:txBody>
      </p:sp>
      <p:sp>
        <p:nvSpPr>
          <p:cNvPr id="19" name="Text 17"/>
          <p:cNvSpPr/>
          <p:nvPr/>
        </p:nvSpPr>
        <p:spPr>
          <a:xfrm>
            <a:off x="4766310" y="1879092"/>
            <a:ext cx="457200" cy="457200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68" dirty="0"/>
          </a:p>
        </p:txBody>
      </p:sp>
      <p:sp>
        <p:nvSpPr>
          <p:cNvPr id="20" name="Text 18"/>
          <p:cNvSpPr txBox="1"/>
          <p:nvPr/>
        </p:nvSpPr>
        <p:spPr>
          <a:xfrm>
            <a:off x="5232654" y="17876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168" dirty="0"/>
          </a:p>
        </p:txBody>
      </p:sp>
      <p:sp>
        <p:nvSpPr>
          <p:cNvPr id="21" name="Text 19"/>
          <p:cNvSpPr txBox="1"/>
          <p:nvPr/>
        </p:nvSpPr>
        <p:spPr>
          <a:xfrm>
            <a:off x="3451860" y="4041648"/>
            <a:ext cx="2400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BF(30) = +2, LL case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97880" y="2560320"/>
            <a:ext cx="41148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1463040"/>
            <a:ext cx="2400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rotation at 30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 flipV="1">
            <a:off x="7212330" y="250774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55230" y="250774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83730" y="3079242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68" dirty="0"/>
          </a:p>
        </p:txBody>
      </p:sp>
      <p:sp>
        <p:nvSpPr>
          <p:cNvPr id="27" name="Text 25"/>
          <p:cNvSpPr txBox="1"/>
          <p:nvPr/>
        </p:nvSpPr>
        <p:spPr>
          <a:xfrm>
            <a:off x="6517386" y="298780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8" dirty="0"/>
          </a:p>
        </p:txBody>
      </p:sp>
      <p:sp>
        <p:nvSpPr>
          <p:cNvPr id="28" name="Text 26"/>
          <p:cNvSpPr/>
          <p:nvPr/>
        </p:nvSpPr>
        <p:spPr>
          <a:xfrm>
            <a:off x="7669530" y="307924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68" dirty="0"/>
          </a:p>
        </p:txBody>
      </p:sp>
      <p:sp>
        <p:nvSpPr>
          <p:cNvPr id="29" name="Text 27"/>
          <p:cNvSpPr txBox="1"/>
          <p:nvPr/>
        </p:nvSpPr>
        <p:spPr>
          <a:xfrm>
            <a:off x="8135874" y="298780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8" dirty="0"/>
          </a:p>
        </p:txBody>
      </p:sp>
      <p:sp>
        <p:nvSpPr>
          <p:cNvPr id="30" name="Text 28"/>
          <p:cNvSpPr/>
          <p:nvPr/>
        </p:nvSpPr>
        <p:spPr>
          <a:xfrm>
            <a:off x="7326630" y="227914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68" dirty="0"/>
          </a:p>
        </p:txBody>
      </p:sp>
      <p:sp>
        <p:nvSpPr>
          <p:cNvPr id="31" name="Text 29"/>
          <p:cNvSpPr txBox="1"/>
          <p:nvPr/>
        </p:nvSpPr>
        <p:spPr>
          <a:xfrm>
            <a:off x="7792974" y="218770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8" dirty="0"/>
          </a:p>
        </p:txBody>
      </p:sp>
      <p:sp>
        <p:nvSpPr>
          <p:cNvPr id="32" name="Text 30"/>
          <p:cNvSpPr txBox="1"/>
          <p:nvPr/>
        </p:nvSpPr>
        <p:spPr>
          <a:xfrm>
            <a:off x="6355080" y="4041648"/>
            <a:ext cx="2400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801100" y="2560320"/>
            <a:ext cx="41148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58300" y="1463040"/>
            <a:ext cx="2400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40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 flipV="1">
            <a:off x="9944100" y="210769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29900" y="290779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87000" y="210769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15500" y="267919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68" dirty="0"/>
          </a:p>
        </p:txBody>
      </p:sp>
      <p:sp>
        <p:nvSpPr>
          <p:cNvPr id="39" name="Text 37"/>
          <p:cNvSpPr txBox="1"/>
          <p:nvPr/>
        </p:nvSpPr>
        <p:spPr>
          <a:xfrm>
            <a:off x="9249156" y="2587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8" dirty="0"/>
          </a:p>
        </p:txBody>
      </p:sp>
      <p:sp>
        <p:nvSpPr>
          <p:cNvPr id="40" name="Text 38"/>
          <p:cNvSpPr/>
          <p:nvPr/>
        </p:nvSpPr>
        <p:spPr>
          <a:xfrm>
            <a:off x="10744200" y="3479292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68" dirty="0"/>
          </a:p>
        </p:txBody>
      </p:sp>
      <p:sp>
        <p:nvSpPr>
          <p:cNvPr id="41" name="Text 39"/>
          <p:cNvSpPr txBox="1"/>
          <p:nvPr/>
        </p:nvSpPr>
        <p:spPr>
          <a:xfrm>
            <a:off x="11210544" y="33878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68" dirty="0"/>
          </a:p>
        </p:txBody>
      </p:sp>
      <p:sp>
        <p:nvSpPr>
          <p:cNvPr id="42" name="Text 40"/>
          <p:cNvSpPr/>
          <p:nvPr/>
        </p:nvSpPr>
        <p:spPr>
          <a:xfrm>
            <a:off x="10401300" y="267919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68" dirty="0"/>
          </a:p>
        </p:txBody>
      </p:sp>
      <p:sp>
        <p:nvSpPr>
          <p:cNvPr id="43" name="Text 41"/>
          <p:cNvSpPr txBox="1"/>
          <p:nvPr/>
        </p:nvSpPr>
        <p:spPr>
          <a:xfrm>
            <a:off x="10867644" y="2587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168" dirty="0"/>
          </a:p>
        </p:txBody>
      </p:sp>
      <p:sp>
        <p:nvSpPr>
          <p:cNvPr id="44" name="Text 42"/>
          <p:cNvSpPr/>
          <p:nvPr/>
        </p:nvSpPr>
        <p:spPr>
          <a:xfrm>
            <a:off x="10058400" y="187909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68" dirty="0"/>
          </a:p>
        </p:txBody>
      </p:sp>
      <p:sp>
        <p:nvSpPr>
          <p:cNvPr id="45" name="Text 43"/>
          <p:cNvSpPr txBox="1"/>
          <p:nvPr/>
        </p:nvSpPr>
        <p:spPr>
          <a:xfrm>
            <a:off x="10524744" y="17876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68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168" dirty="0"/>
          </a:p>
        </p:txBody>
      </p:sp>
      <p:sp>
        <p:nvSpPr>
          <p:cNvPr id="46" name="Text 44"/>
          <p:cNvSpPr txBox="1"/>
          <p:nvPr/>
        </p:nvSpPr>
        <p:spPr>
          <a:xfrm>
            <a:off x="9258300" y="4041648"/>
            <a:ext cx="24003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balanced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4754880"/>
            <a:ext cx="11109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10 makes a left-left straight line 30 → 20 → 10: one right rotation.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40 hangs to the right of 30 without upsetting any node.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BALANCE &amp; AVL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AVL example 2: insert 30, 20, 10, 40, 50, 25 (2 of 2)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50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165860" y="1901952"/>
            <a:ext cx="301752" cy="4876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71116" y="2877312"/>
            <a:ext cx="301752" cy="4876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9364" y="2389632"/>
            <a:ext cx="301752" cy="4876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7612" y="1901952"/>
            <a:ext cx="301752" cy="4876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4692" y="2188464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4" dirty="0"/>
          </a:p>
        </p:txBody>
      </p:sp>
      <p:sp>
        <p:nvSpPr>
          <p:cNvPr id="11" name="Text 9"/>
          <p:cNvSpPr txBox="1"/>
          <p:nvPr/>
        </p:nvSpPr>
        <p:spPr>
          <a:xfrm>
            <a:off x="499445" y="20970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4" dirty="0"/>
          </a:p>
        </p:txBody>
      </p:sp>
      <p:sp>
        <p:nvSpPr>
          <p:cNvPr id="12" name="Text 10"/>
          <p:cNvSpPr/>
          <p:nvPr/>
        </p:nvSpPr>
        <p:spPr>
          <a:xfrm>
            <a:off x="2171700" y="3163824"/>
            <a:ext cx="402336" cy="402336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4" dirty="0"/>
          </a:p>
        </p:txBody>
      </p:sp>
      <p:sp>
        <p:nvSpPr>
          <p:cNvPr id="13" name="Text 11"/>
          <p:cNvSpPr txBox="1"/>
          <p:nvPr/>
        </p:nvSpPr>
        <p:spPr>
          <a:xfrm>
            <a:off x="2582083" y="3072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4" dirty="0"/>
          </a:p>
        </p:txBody>
      </p:sp>
      <p:sp>
        <p:nvSpPr>
          <p:cNvPr id="14" name="Text 12"/>
          <p:cNvSpPr/>
          <p:nvPr/>
        </p:nvSpPr>
        <p:spPr>
          <a:xfrm>
            <a:off x="1869948" y="2676144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4" dirty="0"/>
          </a:p>
        </p:txBody>
      </p:sp>
      <p:sp>
        <p:nvSpPr>
          <p:cNvPr id="15" name="Text 13"/>
          <p:cNvSpPr txBox="1"/>
          <p:nvPr/>
        </p:nvSpPr>
        <p:spPr>
          <a:xfrm>
            <a:off x="2280331" y="25847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004" dirty="0"/>
          </a:p>
        </p:txBody>
      </p:sp>
      <p:sp>
        <p:nvSpPr>
          <p:cNvPr id="16" name="Text 14"/>
          <p:cNvSpPr/>
          <p:nvPr/>
        </p:nvSpPr>
        <p:spPr>
          <a:xfrm>
            <a:off x="1568196" y="2188464"/>
            <a:ext cx="402336" cy="402336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4" dirty="0"/>
          </a:p>
        </p:txBody>
      </p:sp>
      <p:sp>
        <p:nvSpPr>
          <p:cNvPr id="17" name="Text 15"/>
          <p:cNvSpPr txBox="1"/>
          <p:nvPr/>
        </p:nvSpPr>
        <p:spPr>
          <a:xfrm>
            <a:off x="1978579" y="20970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1004" dirty="0"/>
          </a:p>
        </p:txBody>
      </p:sp>
      <p:sp>
        <p:nvSpPr>
          <p:cNvPr id="18" name="Text 16"/>
          <p:cNvSpPr/>
          <p:nvPr/>
        </p:nvSpPr>
        <p:spPr>
          <a:xfrm>
            <a:off x="1266444" y="1700784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4" dirty="0"/>
          </a:p>
        </p:txBody>
      </p:sp>
      <p:sp>
        <p:nvSpPr>
          <p:cNvPr id="19" name="Text 17"/>
          <p:cNvSpPr txBox="1"/>
          <p:nvPr/>
        </p:nvSpPr>
        <p:spPr>
          <a:xfrm>
            <a:off x="1676827" y="16093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1004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584448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BF(30) = −2 (lowest); child 40 leans right → RR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063240" y="237744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93592" y="137160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rotation at 30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flipV="1">
            <a:off x="4361688" y="1929384"/>
            <a:ext cx="301752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4663440" y="2633472"/>
            <a:ext cx="301752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65192" y="2633472"/>
            <a:ext cx="301752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929384"/>
            <a:ext cx="301752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2432304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4" dirty="0"/>
          </a:p>
        </p:txBody>
      </p:sp>
      <p:sp>
        <p:nvSpPr>
          <p:cNvPr id="28" name="Text 26"/>
          <p:cNvSpPr txBox="1"/>
          <p:nvPr/>
        </p:nvSpPr>
        <p:spPr>
          <a:xfrm>
            <a:off x="3695273" y="23408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4" dirty="0"/>
          </a:p>
        </p:txBody>
      </p:sp>
      <p:sp>
        <p:nvSpPr>
          <p:cNvPr id="29" name="Text 27"/>
          <p:cNvSpPr/>
          <p:nvPr/>
        </p:nvSpPr>
        <p:spPr>
          <a:xfrm>
            <a:off x="4462272" y="3136392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4" dirty="0"/>
          </a:p>
        </p:txBody>
      </p:sp>
      <p:sp>
        <p:nvSpPr>
          <p:cNvPr id="30" name="Text 28"/>
          <p:cNvSpPr txBox="1"/>
          <p:nvPr/>
        </p:nvSpPr>
        <p:spPr>
          <a:xfrm>
            <a:off x="3997025" y="3044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4" dirty="0"/>
          </a:p>
        </p:txBody>
      </p:sp>
      <p:sp>
        <p:nvSpPr>
          <p:cNvPr id="31" name="Text 29"/>
          <p:cNvSpPr/>
          <p:nvPr/>
        </p:nvSpPr>
        <p:spPr>
          <a:xfrm>
            <a:off x="5065776" y="3136392"/>
            <a:ext cx="402336" cy="402336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4" dirty="0"/>
          </a:p>
        </p:txBody>
      </p:sp>
      <p:sp>
        <p:nvSpPr>
          <p:cNvPr id="32" name="Text 30"/>
          <p:cNvSpPr txBox="1"/>
          <p:nvPr/>
        </p:nvSpPr>
        <p:spPr>
          <a:xfrm>
            <a:off x="5476159" y="3044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4" dirty="0"/>
          </a:p>
        </p:txBody>
      </p:sp>
      <p:sp>
        <p:nvSpPr>
          <p:cNvPr id="33" name="Text 31"/>
          <p:cNvSpPr/>
          <p:nvPr/>
        </p:nvSpPr>
        <p:spPr>
          <a:xfrm>
            <a:off x="4764024" y="2432304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4" dirty="0"/>
          </a:p>
        </p:txBody>
      </p:sp>
      <p:sp>
        <p:nvSpPr>
          <p:cNvPr id="34" name="Text 32"/>
          <p:cNvSpPr txBox="1"/>
          <p:nvPr/>
        </p:nvSpPr>
        <p:spPr>
          <a:xfrm>
            <a:off x="5174407" y="23408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4" dirty="0"/>
          </a:p>
        </p:txBody>
      </p:sp>
      <p:sp>
        <p:nvSpPr>
          <p:cNvPr id="35" name="Text 33"/>
          <p:cNvSpPr/>
          <p:nvPr/>
        </p:nvSpPr>
        <p:spPr>
          <a:xfrm>
            <a:off x="4462272" y="1728216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4" dirty="0"/>
          </a:p>
        </p:txBody>
      </p:sp>
      <p:sp>
        <p:nvSpPr>
          <p:cNvPr id="36" name="Text 34"/>
          <p:cNvSpPr txBox="1"/>
          <p:nvPr/>
        </p:nvSpPr>
        <p:spPr>
          <a:xfrm>
            <a:off x="4872655" y="16367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004" dirty="0"/>
          </a:p>
        </p:txBody>
      </p:sp>
      <p:sp>
        <p:nvSpPr>
          <p:cNvPr id="37" name="Text 35"/>
          <p:cNvSpPr txBox="1"/>
          <p:nvPr/>
        </p:nvSpPr>
        <p:spPr>
          <a:xfrm>
            <a:off x="3593592" y="3584448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lifted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172200" y="137160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25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 flipV="1">
            <a:off x="6940296" y="1901952"/>
            <a:ext cx="301752" cy="4876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6940296" y="2877312"/>
            <a:ext cx="301752" cy="4876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7242048" y="2389632"/>
            <a:ext cx="301752" cy="4876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43800" y="2389632"/>
            <a:ext cx="301752" cy="4876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42048" y="1901952"/>
            <a:ext cx="301752" cy="4876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39128" y="2188464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4" dirty="0"/>
          </a:p>
        </p:txBody>
      </p:sp>
      <p:sp>
        <p:nvSpPr>
          <p:cNvPr id="45" name="Text 43"/>
          <p:cNvSpPr txBox="1"/>
          <p:nvPr/>
        </p:nvSpPr>
        <p:spPr>
          <a:xfrm>
            <a:off x="6273881" y="20970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4" dirty="0"/>
          </a:p>
        </p:txBody>
      </p:sp>
      <p:sp>
        <p:nvSpPr>
          <p:cNvPr id="46" name="Text 44"/>
          <p:cNvSpPr/>
          <p:nvPr/>
        </p:nvSpPr>
        <p:spPr>
          <a:xfrm>
            <a:off x="6739128" y="3163824"/>
            <a:ext cx="402336" cy="402336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4" dirty="0"/>
          </a:p>
        </p:txBody>
      </p:sp>
      <p:sp>
        <p:nvSpPr>
          <p:cNvPr id="47" name="Text 45"/>
          <p:cNvSpPr txBox="1"/>
          <p:nvPr/>
        </p:nvSpPr>
        <p:spPr>
          <a:xfrm>
            <a:off x="6273881" y="3072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4" dirty="0"/>
          </a:p>
        </p:txBody>
      </p:sp>
      <p:sp>
        <p:nvSpPr>
          <p:cNvPr id="48" name="Text 46"/>
          <p:cNvSpPr/>
          <p:nvPr/>
        </p:nvSpPr>
        <p:spPr>
          <a:xfrm>
            <a:off x="7040880" y="2676144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4" dirty="0"/>
          </a:p>
        </p:txBody>
      </p:sp>
      <p:sp>
        <p:nvSpPr>
          <p:cNvPr id="49" name="Text 47"/>
          <p:cNvSpPr txBox="1"/>
          <p:nvPr/>
        </p:nvSpPr>
        <p:spPr>
          <a:xfrm>
            <a:off x="6575633" y="25847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04" dirty="0"/>
          </a:p>
        </p:txBody>
      </p:sp>
      <p:sp>
        <p:nvSpPr>
          <p:cNvPr id="50" name="Text 48"/>
          <p:cNvSpPr/>
          <p:nvPr/>
        </p:nvSpPr>
        <p:spPr>
          <a:xfrm>
            <a:off x="7644384" y="2676144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4" dirty="0"/>
          </a:p>
        </p:txBody>
      </p:sp>
      <p:sp>
        <p:nvSpPr>
          <p:cNvPr id="51" name="Text 49"/>
          <p:cNvSpPr txBox="1"/>
          <p:nvPr/>
        </p:nvSpPr>
        <p:spPr>
          <a:xfrm>
            <a:off x="8054767" y="25847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4" dirty="0"/>
          </a:p>
        </p:txBody>
      </p:sp>
      <p:sp>
        <p:nvSpPr>
          <p:cNvPr id="52" name="Text 50"/>
          <p:cNvSpPr/>
          <p:nvPr/>
        </p:nvSpPr>
        <p:spPr>
          <a:xfrm>
            <a:off x="7342632" y="2188464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4" dirty="0"/>
          </a:p>
        </p:txBody>
      </p:sp>
      <p:sp>
        <p:nvSpPr>
          <p:cNvPr id="53" name="Text 51"/>
          <p:cNvSpPr txBox="1"/>
          <p:nvPr/>
        </p:nvSpPr>
        <p:spPr>
          <a:xfrm>
            <a:off x="7753015" y="20970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04" dirty="0"/>
          </a:p>
        </p:txBody>
      </p:sp>
      <p:sp>
        <p:nvSpPr>
          <p:cNvPr id="54" name="Text 52"/>
          <p:cNvSpPr/>
          <p:nvPr/>
        </p:nvSpPr>
        <p:spPr>
          <a:xfrm>
            <a:off x="7040880" y="1700784"/>
            <a:ext cx="402336" cy="402336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4" dirty="0"/>
          </a:p>
        </p:txBody>
      </p:sp>
      <p:sp>
        <p:nvSpPr>
          <p:cNvPr id="55" name="Text 53"/>
          <p:cNvSpPr txBox="1"/>
          <p:nvPr/>
        </p:nvSpPr>
        <p:spPr>
          <a:xfrm>
            <a:off x="7451263" y="16093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1004" dirty="0"/>
          </a:p>
        </p:txBody>
      </p:sp>
      <p:sp>
        <p:nvSpPr>
          <p:cNvPr id="56" name="Text 54"/>
          <p:cNvSpPr txBox="1"/>
          <p:nvPr/>
        </p:nvSpPr>
        <p:spPr>
          <a:xfrm>
            <a:off x="6172200" y="3584448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BF(20) = −2; child 40 leans left → RL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8686800" y="237744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217152" y="137160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at 40, then left at 20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 flipV="1">
            <a:off x="9834372" y="2633472"/>
            <a:ext cx="301752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136124" y="2633472"/>
            <a:ext cx="301752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10136124" y="1929384"/>
            <a:ext cx="301752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739628" y="2633472"/>
            <a:ext cx="301752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437876" y="1929384"/>
            <a:ext cx="301752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33204" y="3136392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4" dirty="0"/>
          </a:p>
        </p:txBody>
      </p:sp>
      <p:sp>
        <p:nvSpPr>
          <p:cNvPr id="65" name="Text 63"/>
          <p:cNvSpPr txBox="1"/>
          <p:nvPr/>
        </p:nvSpPr>
        <p:spPr>
          <a:xfrm>
            <a:off x="9167957" y="3044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4" dirty="0"/>
          </a:p>
        </p:txBody>
      </p:sp>
      <p:sp>
        <p:nvSpPr>
          <p:cNvPr id="66" name="Text 64"/>
          <p:cNvSpPr/>
          <p:nvPr/>
        </p:nvSpPr>
        <p:spPr>
          <a:xfrm>
            <a:off x="10236708" y="3136392"/>
            <a:ext cx="402336" cy="402336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4" dirty="0"/>
          </a:p>
        </p:txBody>
      </p:sp>
      <p:sp>
        <p:nvSpPr>
          <p:cNvPr id="67" name="Text 65"/>
          <p:cNvSpPr txBox="1"/>
          <p:nvPr/>
        </p:nvSpPr>
        <p:spPr>
          <a:xfrm>
            <a:off x="10647091" y="3044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4" dirty="0"/>
          </a:p>
        </p:txBody>
      </p:sp>
      <p:sp>
        <p:nvSpPr>
          <p:cNvPr id="68" name="Text 66"/>
          <p:cNvSpPr/>
          <p:nvPr/>
        </p:nvSpPr>
        <p:spPr>
          <a:xfrm>
            <a:off x="9934956" y="2432304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4" dirty="0"/>
          </a:p>
        </p:txBody>
      </p:sp>
      <p:sp>
        <p:nvSpPr>
          <p:cNvPr id="69" name="Text 67"/>
          <p:cNvSpPr txBox="1"/>
          <p:nvPr/>
        </p:nvSpPr>
        <p:spPr>
          <a:xfrm>
            <a:off x="9469709" y="23408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4" dirty="0"/>
          </a:p>
        </p:txBody>
      </p:sp>
      <p:sp>
        <p:nvSpPr>
          <p:cNvPr id="70" name="Text 68"/>
          <p:cNvSpPr/>
          <p:nvPr/>
        </p:nvSpPr>
        <p:spPr>
          <a:xfrm>
            <a:off x="10840212" y="3136392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4" dirty="0"/>
          </a:p>
        </p:txBody>
      </p:sp>
      <p:sp>
        <p:nvSpPr>
          <p:cNvPr id="71" name="Text 69"/>
          <p:cNvSpPr txBox="1"/>
          <p:nvPr/>
        </p:nvSpPr>
        <p:spPr>
          <a:xfrm>
            <a:off x="11250595" y="3044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4" dirty="0"/>
          </a:p>
        </p:txBody>
      </p:sp>
      <p:sp>
        <p:nvSpPr>
          <p:cNvPr id="72" name="Text 70"/>
          <p:cNvSpPr/>
          <p:nvPr/>
        </p:nvSpPr>
        <p:spPr>
          <a:xfrm>
            <a:off x="10538460" y="2432304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4" dirty="0"/>
          </a:p>
        </p:txBody>
      </p:sp>
      <p:sp>
        <p:nvSpPr>
          <p:cNvPr id="73" name="Text 71"/>
          <p:cNvSpPr txBox="1"/>
          <p:nvPr/>
        </p:nvSpPr>
        <p:spPr>
          <a:xfrm>
            <a:off x="10948843" y="23408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004" dirty="0"/>
          </a:p>
        </p:txBody>
      </p:sp>
      <p:sp>
        <p:nvSpPr>
          <p:cNvPr id="74" name="Text 72"/>
          <p:cNvSpPr/>
          <p:nvPr/>
        </p:nvSpPr>
        <p:spPr>
          <a:xfrm>
            <a:off x="10236708" y="1728216"/>
            <a:ext cx="402336" cy="40233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4" dirty="0"/>
          </a:p>
        </p:txBody>
      </p:sp>
      <p:sp>
        <p:nvSpPr>
          <p:cNvPr id="75" name="Text 73"/>
          <p:cNvSpPr txBox="1"/>
          <p:nvPr/>
        </p:nvSpPr>
        <p:spPr>
          <a:xfrm>
            <a:off x="10647091" y="16367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4" dirty="0"/>
          </a:p>
        </p:txBody>
      </p:sp>
      <p:sp>
        <p:nvSpPr>
          <p:cNvPr id="76" name="Text 74"/>
          <p:cNvSpPr txBox="1"/>
          <p:nvPr/>
        </p:nvSpPr>
        <p:spPr>
          <a:xfrm>
            <a:off x="9217152" y="3584448"/>
            <a:ext cx="2441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on top ✔ balanced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548640" y="4297680"/>
            <a:ext cx="6858000" cy="1554480"/>
          </a:xfrm>
          <a:prstGeom prst="roundRect">
            <a:avLst>
              <a:gd name="adj" fmla="val 4706"/>
            </a:avLst>
          </a:prstGeom>
          <a:solidFill>
            <a:srgbClr val="E6F0FA"/>
          </a:solidFill>
          <a:ln w="9525">
            <a:solidFill>
              <a:srgbClr val="E6F0F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731520" y="4407408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4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79" name="Text 77"/>
          <p:cNvSpPr txBox="1"/>
          <p:nvPr/>
        </p:nvSpPr>
        <p:spPr>
          <a:xfrm>
            <a:off x="731520" y="466344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repair the LOWEST node with |BF| = 2 on the path from the new key to the root. Here that is 20 (BF −2); its descendants 30 and 40 are still within ±1. After the RL double rotation the whole tree is balanced again.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7680960" y="4206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AVL tree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 flipV="1">
            <a:off x="9098280" y="5303520"/>
            <a:ext cx="27432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372600" y="5303520"/>
            <a:ext cx="27432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9372600" y="4663440"/>
            <a:ext cx="27432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921240" y="5303520"/>
            <a:ext cx="27432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646920" y="4663440"/>
            <a:ext cx="27432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915400" y="576072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94" dirty="0"/>
          </a:p>
        </p:txBody>
      </p:sp>
      <p:sp>
        <p:nvSpPr>
          <p:cNvPr id="87" name="Text 85"/>
          <p:cNvSpPr txBox="1"/>
          <p:nvPr/>
        </p:nvSpPr>
        <p:spPr>
          <a:xfrm>
            <a:off x="8450885" y="56692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9464040" y="576072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94" dirty="0"/>
          </a:p>
        </p:txBody>
      </p:sp>
      <p:sp>
        <p:nvSpPr>
          <p:cNvPr id="89" name="Text 87"/>
          <p:cNvSpPr txBox="1"/>
          <p:nvPr/>
        </p:nvSpPr>
        <p:spPr>
          <a:xfrm>
            <a:off x="9837115" y="56692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9189720" y="512064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94" dirty="0"/>
          </a:p>
        </p:txBody>
      </p:sp>
      <p:sp>
        <p:nvSpPr>
          <p:cNvPr id="91" name="Text 89"/>
          <p:cNvSpPr txBox="1"/>
          <p:nvPr/>
        </p:nvSpPr>
        <p:spPr>
          <a:xfrm>
            <a:off x="8725205" y="5029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10012680" y="576072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94" dirty="0"/>
          </a:p>
        </p:txBody>
      </p:sp>
      <p:sp>
        <p:nvSpPr>
          <p:cNvPr id="93" name="Text 91"/>
          <p:cNvSpPr txBox="1"/>
          <p:nvPr/>
        </p:nvSpPr>
        <p:spPr>
          <a:xfrm>
            <a:off x="10385755" y="56692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9738360" y="512064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94" dirty="0"/>
          </a:p>
        </p:txBody>
      </p:sp>
      <p:sp>
        <p:nvSpPr>
          <p:cNvPr id="95" name="Text 93"/>
          <p:cNvSpPr txBox="1"/>
          <p:nvPr/>
        </p:nvSpPr>
        <p:spPr>
          <a:xfrm>
            <a:off x="10111435" y="5029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9464040" y="448056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94" dirty="0"/>
          </a:p>
        </p:txBody>
      </p:sp>
      <p:sp>
        <p:nvSpPr>
          <p:cNvPr id="97" name="Text 95"/>
          <p:cNvSpPr txBox="1"/>
          <p:nvPr/>
        </p:nvSpPr>
        <p:spPr>
          <a:xfrm>
            <a:off x="9837115" y="4389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BALANCE &amp; AVL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AVL deletion: delete like a BST, then rebalance upwards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delete 72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568196" y="276834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883664" y="3504438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9132" y="3504438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83664" y="276834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883664" y="2032254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276834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9132" y="2032254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7884" y="329412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59" dirty="0"/>
          </a:p>
        </p:txBody>
      </p:sp>
      <p:sp>
        <p:nvSpPr>
          <p:cNvPr id="14" name="Text 12"/>
          <p:cNvSpPr txBox="1"/>
          <p:nvPr/>
        </p:nvSpPr>
        <p:spPr>
          <a:xfrm>
            <a:off x="892272" y="320268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15" name="Text 13"/>
          <p:cNvSpPr/>
          <p:nvPr/>
        </p:nvSpPr>
        <p:spPr>
          <a:xfrm>
            <a:off x="1673352" y="403021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59" dirty="0"/>
          </a:p>
        </p:txBody>
      </p:sp>
      <p:sp>
        <p:nvSpPr>
          <p:cNvPr id="16" name="Text 14"/>
          <p:cNvSpPr txBox="1"/>
          <p:nvPr/>
        </p:nvSpPr>
        <p:spPr>
          <a:xfrm>
            <a:off x="1207740" y="393877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17" name="Text 15"/>
          <p:cNvSpPr/>
          <p:nvPr/>
        </p:nvSpPr>
        <p:spPr>
          <a:xfrm>
            <a:off x="2304288" y="403021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59" dirty="0"/>
          </a:p>
        </p:txBody>
      </p:sp>
      <p:sp>
        <p:nvSpPr>
          <p:cNvPr id="18" name="Text 16"/>
          <p:cNvSpPr txBox="1"/>
          <p:nvPr/>
        </p:nvSpPr>
        <p:spPr>
          <a:xfrm>
            <a:off x="2733324" y="393877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19" name="Text 17"/>
          <p:cNvSpPr/>
          <p:nvPr/>
        </p:nvSpPr>
        <p:spPr>
          <a:xfrm>
            <a:off x="1988820" y="329412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59" dirty="0"/>
          </a:p>
        </p:txBody>
      </p:sp>
      <p:sp>
        <p:nvSpPr>
          <p:cNvPr id="20" name="Text 18"/>
          <p:cNvSpPr txBox="1"/>
          <p:nvPr/>
        </p:nvSpPr>
        <p:spPr>
          <a:xfrm>
            <a:off x="2417856" y="320268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21" name="Text 19"/>
          <p:cNvSpPr/>
          <p:nvPr/>
        </p:nvSpPr>
        <p:spPr>
          <a:xfrm>
            <a:off x="1673352" y="255803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59" dirty="0"/>
          </a:p>
        </p:txBody>
      </p:sp>
      <p:sp>
        <p:nvSpPr>
          <p:cNvPr id="22" name="Text 20"/>
          <p:cNvSpPr txBox="1"/>
          <p:nvPr/>
        </p:nvSpPr>
        <p:spPr>
          <a:xfrm>
            <a:off x="1207740" y="246659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059" dirty="0"/>
          </a:p>
        </p:txBody>
      </p:sp>
      <p:sp>
        <p:nvSpPr>
          <p:cNvPr id="23" name="Text 21"/>
          <p:cNvSpPr/>
          <p:nvPr/>
        </p:nvSpPr>
        <p:spPr>
          <a:xfrm>
            <a:off x="2619756" y="3294126"/>
            <a:ext cx="420624" cy="420624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259" dirty="0"/>
          </a:p>
        </p:txBody>
      </p:sp>
      <p:sp>
        <p:nvSpPr>
          <p:cNvPr id="24" name="Text 22"/>
          <p:cNvSpPr txBox="1"/>
          <p:nvPr/>
        </p:nvSpPr>
        <p:spPr>
          <a:xfrm>
            <a:off x="3048792" y="320268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25" name="Text 23"/>
          <p:cNvSpPr/>
          <p:nvPr/>
        </p:nvSpPr>
        <p:spPr>
          <a:xfrm>
            <a:off x="2304288" y="255803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259" dirty="0"/>
          </a:p>
        </p:txBody>
      </p:sp>
      <p:sp>
        <p:nvSpPr>
          <p:cNvPr id="26" name="Text 24"/>
          <p:cNvSpPr txBox="1"/>
          <p:nvPr/>
        </p:nvSpPr>
        <p:spPr>
          <a:xfrm>
            <a:off x="2733324" y="246659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059" dirty="0"/>
          </a:p>
        </p:txBody>
      </p:sp>
      <p:sp>
        <p:nvSpPr>
          <p:cNvPr id="27" name="Text 25"/>
          <p:cNvSpPr/>
          <p:nvPr/>
        </p:nvSpPr>
        <p:spPr>
          <a:xfrm>
            <a:off x="1988820" y="182194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59" dirty="0"/>
          </a:p>
        </p:txBody>
      </p:sp>
      <p:sp>
        <p:nvSpPr>
          <p:cNvPr id="28" name="Text 26"/>
          <p:cNvSpPr txBox="1"/>
          <p:nvPr/>
        </p:nvSpPr>
        <p:spPr>
          <a:xfrm>
            <a:off x="2417856" y="173050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59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54456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leaf: plain BST deletion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922776" y="278892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53128" y="14173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removal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 flipV="1">
            <a:off x="5630418" y="276834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5945886" y="3504438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1354" y="3504438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5886" y="276834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5945886" y="2032254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61354" y="2032254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20106" y="329412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59" dirty="0"/>
          </a:p>
        </p:txBody>
      </p:sp>
      <p:sp>
        <p:nvSpPr>
          <p:cNvPr id="39" name="Text 37"/>
          <p:cNvSpPr txBox="1"/>
          <p:nvPr/>
        </p:nvSpPr>
        <p:spPr>
          <a:xfrm>
            <a:off x="4954494" y="320268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40" name="Text 38"/>
          <p:cNvSpPr/>
          <p:nvPr/>
        </p:nvSpPr>
        <p:spPr>
          <a:xfrm>
            <a:off x="5735574" y="403021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59" dirty="0"/>
          </a:p>
        </p:txBody>
      </p:sp>
      <p:sp>
        <p:nvSpPr>
          <p:cNvPr id="41" name="Text 39"/>
          <p:cNvSpPr txBox="1"/>
          <p:nvPr/>
        </p:nvSpPr>
        <p:spPr>
          <a:xfrm>
            <a:off x="5269962" y="393877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42" name="Text 40"/>
          <p:cNvSpPr/>
          <p:nvPr/>
        </p:nvSpPr>
        <p:spPr>
          <a:xfrm>
            <a:off x="6366510" y="403021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59" dirty="0"/>
          </a:p>
        </p:txBody>
      </p:sp>
      <p:sp>
        <p:nvSpPr>
          <p:cNvPr id="43" name="Text 41"/>
          <p:cNvSpPr txBox="1"/>
          <p:nvPr/>
        </p:nvSpPr>
        <p:spPr>
          <a:xfrm>
            <a:off x="6795546" y="393877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44" name="Text 42"/>
          <p:cNvSpPr/>
          <p:nvPr/>
        </p:nvSpPr>
        <p:spPr>
          <a:xfrm>
            <a:off x="6051042" y="329412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59" dirty="0"/>
          </a:p>
        </p:txBody>
      </p:sp>
      <p:sp>
        <p:nvSpPr>
          <p:cNvPr id="45" name="Text 43"/>
          <p:cNvSpPr txBox="1"/>
          <p:nvPr/>
        </p:nvSpPr>
        <p:spPr>
          <a:xfrm>
            <a:off x="6480078" y="320268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46" name="Text 44"/>
          <p:cNvSpPr/>
          <p:nvPr/>
        </p:nvSpPr>
        <p:spPr>
          <a:xfrm>
            <a:off x="5735574" y="255803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59" dirty="0"/>
          </a:p>
        </p:txBody>
      </p:sp>
      <p:sp>
        <p:nvSpPr>
          <p:cNvPr id="47" name="Text 45"/>
          <p:cNvSpPr txBox="1"/>
          <p:nvPr/>
        </p:nvSpPr>
        <p:spPr>
          <a:xfrm>
            <a:off x="5269962" y="246659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059" dirty="0"/>
          </a:p>
        </p:txBody>
      </p:sp>
      <p:sp>
        <p:nvSpPr>
          <p:cNvPr id="48" name="Text 46"/>
          <p:cNvSpPr/>
          <p:nvPr/>
        </p:nvSpPr>
        <p:spPr>
          <a:xfrm>
            <a:off x="6366510" y="255803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259" dirty="0"/>
          </a:p>
        </p:txBody>
      </p:sp>
      <p:sp>
        <p:nvSpPr>
          <p:cNvPr id="49" name="Text 47"/>
          <p:cNvSpPr txBox="1"/>
          <p:nvPr/>
        </p:nvSpPr>
        <p:spPr>
          <a:xfrm>
            <a:off x="6795546" y="246659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50" name="Text 48"/>
          <p:cNvSpPr/>
          <p:nvPr/>
        </p:nvSpPr>
        <p:spPr>
          <a:xfrm>
            <a:off x="6051042" y="1821942"/>
            <a:ext cx="420624" cy="420624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59" dirty="0"/>
          </a:p>
        </p:txBody>
      </p:sp>
      <p:sp>
        <p:nvSpPr>
          <p:cNvPr id="51" name="Text 49"/>
          <p:cNvSpPr txBox="1"/>
          <p:nvPr/>
        </p:nvSpPr>
        <p:spPr>
          <a:xfrm>
            <a:off x="6480078" y="173050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059" dirty="0"/>
          </a:p>
        </p:txBody>
      </p:sp>
      <p:sp>
        <p:nvSpPr>
          <p:cNvPr id="52" name="Text 50"/>
          <p:cNvSpPr txBox="1"/>
          <p:nvPr/>
        </p:nvSpPr>
        <p:spPr>
          <a:xfrm>
            <a:off x="4453128" y="454456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BF(45) = +2; its heavy child 36 has BF −1 → LR case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827264" y="278892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357616" y="14173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LR fix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 flipV="1">
            <a:off x="9061704" y="3136392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77172" y="3136392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9377172" y="2400300"/>
            <a:ext cx="630936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10323576" y="3136392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639044" y="3136392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008108" y="2400300"/>
            <a:ext cx="630936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851392" y="366217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59" dirty="0"/>
          </a:p>
        </p:txBody>
      </p:sp>
      <p:sp>
        <p:nvSpPr>
          <p:cNvPr id="62" name="Text 60"/>
          <p:cNvSpPr txBox="1"/>
          <p:nvPr/>
        </p:nvSpPr>
        <p:spPr>
          <a:xfrm>
            <a:off x="8385780" y="35707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63" name="Text 61"/>
          <p:cNvSpPr/>
          <p:nvPr/>
        </p:nvSpPr>
        <p:spPr>
          <a:xfrm>
            <a:off x="9482328" y="366217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59" dirty="0"/>
          </a:p>
        </p:txBody>
      </p:sp>
      <p:sp>
        <p:nvSpPr>
          <p:cNvPr id="64" name="Text 62"/>
          <p:cNvSpPr txBox="1"/>
          <p:nvPr/>
        </p:nvSpPr>
        <p:spPr>
          <a:xfrm>
            <a:off x="9911364" y="35707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65" name="Text 63"/>
          <p:cNvSpPr/>
          <p:nvPr/>
        </p:nvSpPr>
        <p:spPr>
          <a:xfrm>
            <a:off x="9166860" y="292608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59" dirty="0"/>
          </a:p>
        </p:txBody>
      </p:sp>
      <p:sp>
        <p:nvSpPr>
          <p:cNvPr id="66" name="Text 64"/>
          <p:cNvSpPr txBox="1"/>
          <p:nvPr/>
        </p:nvSpPr>
        <p:spPr>
          <a:xfrm>
            <a:off x="8701248" y="28346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67" name="Text 65"/>
          <p:cNvSpPr/>
          <p:nvPr/>
        </p:nvSpPr>
        <p:spPr>
          <a:xfrm>
            <a:off x="10113264" y="366217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259" dirty="0"/>
          </a:p>
        </p:txBody>
      </p:sp>
      <p:sp>
        <p:nvSpPr>
          <p:cNvPr id="68" name="Text 66"/>
          <p:cNvSpPr txBox="1"/>
          <p:nvPr/>
        </p:nvSpPr>
        <p:spPr>
          <a:xfrm>
            <a:off x="9647652" y="35707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69" name="Text 67"/>
          <p:cNvSpPr/>
          <p:nvPr/>
        </p:nvSpPr>
        <p:spPr>
          <a:xfrm>
            <a:off x="10744200" y="366217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259" dirty="0"/>
          </a:p>
        </p:txBody>
      </p:sp>
      <p:sp>
        <p:nvSpPr>
          <p:cNvPr id="70" name="Text 68"/>
          <p:cNvSpPr txBox="1"/>
          <p:nvPr/>
        </p:nvSpPr>
        <p:spPr>
          <a:xfrm>
            <a:off x="11173236" y="35707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71" name="Text 69"/>
          <p:cNvSpPr/>
          <p:nvPr/>
        </p:nvSpPr>
        <p:spPr>
          <a:xfrm>
            <a:off x="10428732" y="292608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59" dirty="0"/>
          </a:p>
        </p:txBody>
      </p:sp>
      <p:sp>
        <p:nvSpPr>
          <p:cNvPr id="72" name="Text 70"/>
          <p:cNvSpPr txBox="1"/>
          <p:nvPr/>
        </p:nvSpPr>
        <p:spPr>
          <a:xfrm>
            <a:off x="10857768" y="28346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73" name="Text 71"/>
          <p:cNvSpPr/>
          <p:nvPr/>
        </p:nvSpPr>
        <p:spPr>
          <a:xfrm>
            <a:off x="9797796" y="218998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59" dirty="0"/>
          </a:p>
        </p:txBody>
      </p:sp>
      <p:sp>
        <p:nvSpPr>
          <p:cNvPr id="74" name="Text 72"/>
          <p:cNvSpPr txBox="1"/>
          <p:nvPr/>
        </p:nvSpPr>
        <p:spPr>
          <a:xfrm>
            <a:off x="10226832" y="20985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75" name="Text 73"/>
          <p:cNvSpPr txBox="1"/>
          <p:nvPr/>
        </p:nvSpPr>
        <p:spPr>
          <a:xfrm>
            <a:off x="8357616" y="454456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at 36, right at 45 → 39 on top ✔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548640" y="5120640"/>
            <a:ext cx="11109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735" indent="-165735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two-child node: use its in-order successor (or predecessor), then rebalance from the spot where a node was really removed.</a:t>
            </a:r>
            <a:endParaRPr lang="en-US" sz="1450" dirty="0"/>
          </a:p>
          <a:p>
            <a:pPr marL="165735" indent="-165735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insertion, one rotation may not be the end: the subtree got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can unbalance the next ancestor.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BALANCE &amp; AVL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AVL trees: summary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n), always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most 1 (single or double)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O(log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0332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3794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bound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114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≤ 1.44 · log₂ n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8006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 height or balance factor at each node; rebalancing keeps the tree very short, so lookups are the fastest of the three balanced trees.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26480" y="146304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 Strengths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19202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O(log n) for every operation</a:t>
            </a:r>
            <a:endParaRPr lang="en-US" sz="1400" dirty="0"/>
          </a:p>
          <a:p>
            <a:pPr marL="160020" indent="-16002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trees → fastest searches</a:t>
            </a:r>
            <a:endParaRPr lang="en-US" sz="1400" dirty="0"/>
          </a:p>
          <a:p>
            <a:pPr marL="160020" indent="-16002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in-order traversal</a:t>
            </a:r>
            <a:endParaRPr lang="en-US" sz="1400" dirty="0"/>
          </a:p>
          <a:p>
            <a:pPr marL="160020" indent="-16002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Predictable: good for real-time use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26480" y="393192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DE8EA"/>
          </a:solidFill>
          <a:ln w="9525">
            <a:solidFill>
              <a:srgbClr val="FDE8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A0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 Weaknesses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43891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code than a plain BST</a:t>
            </a:r>
            <a:endParaRPr lang="en-US" sz="1400" dirty="0"/>
          </a:p>
          <a:p>
            <a:pPr marL="160020" indent="-16002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rotations on updates than red-black trees</a:t>
            </a:r>
            <a:endParaRPr lang="en-US" sz="1400" dirty="0"/>
          </a:p>
          <a:p>
            <a:pPr marL="160020" indent="-16002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field per node (height or BF)</a:t>
            </a:r>
            <a:endParaRPr lang="en-US" sz="1400" dirty="0"/>
          </a:p>
          <a:p>
            <a:pPr marL="160020" indent="-16002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common in libraries than red-black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43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Red-Black trees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colour rules that keep the height ≤ 2·log₂(n+1)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Insertion: recolour or rotate, decided by the uncle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Deletion: the “double-black” problem and its four cases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 flipV="1">
            <a:off x="8778240" y="203454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189720" y="299466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601200" y="395478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12680" y="395478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0" y="299466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89720" y="203454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720340"/>
            <a:ext cx="548640" cy="54864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15400" y="3680460"/>
            <a:ext cx="548640" cy="54864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0" y="4640580"/>
            <a:ext cx="548640" cy="54864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49840" y="4640580"/>
            <a:ext cx="548640" cy="54864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38360" y="3680460"/>
            <a:ext cx="548640" cy="54864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0" y="2720340"/>
            <a:ext cx="548640" cy="54864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15400" y="1760220"/>
            <a:ext cx="548640" cy="54864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5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RED-BLACK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Red-Black rules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502920" cy="502920"/>
          </a:xfrm>
          <a:prstGeom prst="ellipse">
            <a:avLst/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90472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is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502920" cy="502920"/>
          </a:xfrm>
          <a:prstGeom prst="ellipse">
            <a:avLst/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432304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black.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300984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456432"/>
            <a:ext cx="502920" cy="502920"/>
          </a:xfrm>
          <a:prstGeom prst="ellipse">
            <a:avLst/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374136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 empty NIL pointer) is black.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242816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FF3D1"/>
          </a:solidFill>
          <a:ln w="9525">
            <a:solidFill>
              <a:srgbClr val="FFF3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398264"/>
            <a:ext cx="502920" cy="502920"/>
          </a:xfrm>
          <a:prstGeom prst="ellipse">
            <a:avLst/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31596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 red: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red node never has a red child.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184648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FF3D1"/>
          </a:solidFill>
          <a:ln w="9525">
            <a:solidFill>
              <a:srgbClr val="FFF3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340096"/>
            <a:ext cx="502920" cy="502920"/>
          </a:xfrm>
          <a:prstGeom prst="ellipse">
            <a:avLst/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25780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height: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path from a node down to a NIL leaf has the same number of black nodes.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 flipV="1">
            <a:off x="7831836" y="2529840"/>
            <a:ext cx="384048" cy="88392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8215884" y="3413760"/>
            <a:ext cx="384048" cy="88392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99932" y="3413760"/>
            <a:ext cx="384048" cy="88392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15884" y="2529840"/>
            <a:ext cx="384048" cy="8839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8215884" y="1645920"/>
            <a:ext cx="768096" cy="8839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9368028" y="2529840"/>
            <a:ext cx="384048" cy="88392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52076" y="2529840"/>
            <a:ext cx="384048" cy="88392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83980" y="1645920"/>
            <a:ext cx="768096" cy="8839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33081" y="3315005"/>
            <a:ext cx="197510" cy="197510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17129" y="4198925"/>
            <a:ext cx="197510" cy="197510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85225" y="4198925"/>
            <a:ext cx="197510" cy="197510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5612" y="3139440"/>
            <a:ext cx="548640" cy="54864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41564" y="2255520"/>
            <a:ext cx="548640" cy="54864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269273" y="3315005"/>
            <a:ext cx="197510" cy="197510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37369" y="3315005"/>
            <a:ext cx="197510" cy="197510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77756" y="2255520"/>
            <a:ext cx="548640" cy="54864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709660" y="1371600"/>
            <a:ext cx="548640" cy="54864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309360" y="46177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black squares are NIL leaves.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09360" y="493776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92240" y="50109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 check (count black nodes, not NIL):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492240" y="532180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20–10–NIL: 2 blacks   20–10–15–NIL: 2 blacks</a:t>
            </a:r>
            <a:endParaRPr lang="en-US" sz="13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20–30–NIL: 2 blacks   ✔ all equal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RED-BLACK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colours keep the tree short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011680" cy="4846320"/>
          </a:xfrm>
          <a:prstGeom prst="roundRect">
            <a:avLst>
              <a:gd name="adj" fmla="val 3636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1417320"/>
            <a:ext cx="2011680" cy="4846320"/>
          </a:xfrm>
          <a:prstGeom prst="roundRect">
            <a:avLst>
              <a:gd name="adj" fmla="val 3636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black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nodes · 5 blacks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280160" y="2788920"/>
            <a:ext cx="0" cy="36576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3154680"/>
            <a:ext cx="0" cy="36576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3520440"/>
            <a:ext cx="0" cy="36576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3886200"/>
            <a:ext cx="0" cy="36576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651760"/>
            <a:ext cx="274320" cy="27432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" y="3017520"/>
            <a:ext cx="274320" cy="27432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" y="3383280"/>
            <a:ext cx="274320" cy="27432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3749040"/>
            <a:ext cx="274320" cy="27432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" y="4114800"/>
            <a:ext cx="274320" cy="27432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path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nodes · 5 blacks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74720" y="2788920"/>
            <a:ext cx="0" cy="36576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3154680"/>
            <a:ext cx="0" cy="36576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3520440"/>
            <a:ext cx="0" cy="36576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3886200"/>
            <a:ext cx="0" cy="36576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4251960"/>
            <a:ext cx="0" cy="36576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4617720"/>
            <a:ext cx="0" cy="36576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0" y="4983480"/>
            <a:ext cx="0" cy="36576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5349240"/>
            <a:ext cx="0" cy="36576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5715000"/>
            <a:ext cx="0" cy="36576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651760"/>
            <a:ext cx="274320" cy="27432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37560" y="3017520"/>
            <a:ext cx="274320" cy="27432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37560" y="3383280"/>
            <a:ext cx="274320" cy="27432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37560" y="3749040"/>
            <a:ext cx="274320" cy="27432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37560" y="4114800"/>
            <a:ext cx="274320" cy="27432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37560" y="4480560"/>
            <a:ext cx="274320" cy="27432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37560" y="4846320"/>
            <a:ext cx="274320" cy="27432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37560" y="5212080"/>
            <a:ext cx="274320" cy="27432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37560" y="5577840"/>
            <a:ext cx="274320" cy="27432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37560" y="5943600"/>
            <a:ext cx="274320" cy="27432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5074920" y="1463040"/>
            <a:ext cx="6583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5: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root-to-leaf path has the same number of blacks, say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171450" indent="-17145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4: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two reds in a row, so at most every second node on a path is red. Any path has at most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2·bh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nodes.</a:t>
            </a:r>
            <a:endParaRPr lang="en-US" sz="1500" dirty="0"/>
          </a:p>
          <a:p>
            <a:pPr marL="171450" indent="-17145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longest path is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twice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shortest path.</a:t>
            </a:r>
            <a:endParaRPr lang="en-US" sz="1500" dirty="0"/>
          </a:p>
          <a:p>
            <a:pPr marL="171450" indent="-17145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nodes: a subtree with black height bh holds at least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2^bh − 1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nodes, so bh ≤ log₂(n + 1).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074920" y="4892040"/>
            <a:ext cx="6583680" cy="1371600"/>
          </a:xfrm>
          <a:prstGeom prst="roundRect">
            <a:avLst>
              <a:gd name="adj" fmla="val 5333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257800" y="49834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 ≤ 2 · log₂(n + 1)</a:t>
            </a:r>
            <a:endParaRPr lang="en-US" sz="2400" dirty="0"/>
          </a:p>
        </p:txBody>
      </p:sp>
      <p:sp>
        <p:nvSpPr>
          <p:cNvPr id="44" name="Text 42"/>
          <p:cNvSpPr txBox="1"/>
          <p:nvPr/>
        </p:nvSpPr>
        <p:spPr>
          <a:xfrm>
            <a:off x="5257800" y="553212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taller than AVL’s 1.44·log₂ n, but keeping the rules needs fewer rotations (lecture slide 224).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RED-BLACK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Red-Black insertion: the decision 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474720" cy="457200"/>
          </a:xfrm>
          <a:prstGeom prst="roundRect">
            <a:avLst>
              <a:gd name="adj" fmla="val 20000"/>
            </a:avLst>
          </a:prstGeom>
          <a:solidFill>
            <a:srgbClr val="E8F3EC"/>
          </a:solidFill>
          <a:ln w="12700">
            <a:solidFill>
              <a:srgbClr val="E8F3EC"/>
            </a:solidFill>
          </a:ln>
        </p:spPr>
        <p:txBody>
          <a:bodyPr wrap="square" lIns="508" tIns="1524" rIns="1524" bIns="508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X like a BST and colour X </a:t>
            </a:r>
            <a:r>
              <a:rPr lang="en-US" sz="12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474720" cy="731520"/>
          </a:xfrm>
          <a:prstGeom prst="diamond">
            <a:avLst/>
          </a:prstGeom>
          <a:solidFill>
            <a:srgbClr val="FFF3D1"/>
          </a:solidFill>
          <a:ln w="158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is the root?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474720" cy="731520"/>
          </a:xfrm>
          <a:prstGeom prst="diamond">
            <a:avLst/>
          </a:prstGeom>
          <a:solidFill>
            <a:srgbClr val="FFF3D1"/>
          </a:solidFill>
          <a:ln w="158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 is black?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3474720" cy="731520"/>
          </a:xfrm>
          <a:prstGeom prst="diamond">
            <a:avLst/>
          </a:prstGeom>
          <a:solidFill>
            <a:srgbClr val="FFF3D1"/>
          </a:solidFill>
          <a:ln w="158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 U is red?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3474720" cy="731520"/>
          </a:xfrm>
          <a:prstGeom prst="diamond">
            <a:avLst/>
          </a:prstGeom>
          <a:solidFill>
            <a:srgbClr val="FFF3D1"/>
          </a:solidFill>
          <a:ln w="158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P, G in a straight line?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1828800"/>
            <a:ext cx="0" cy="18288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86000" y="2743200"/>
            <a:ext cx="0" cy="18288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377440" y="27432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3657600"/>
            <a:ext cx="0" cy="18288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377440" y="3657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4572000"/>
            <a:ext cx="0" cy="18288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377440" y="45720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2377440"/>
            <a:ext cx="1005840" cy="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206240" y="21305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011680"/>
            <a:ext cx="6629400" cy="731520"/>
          </a:xfrm>
          <a:prstGeom prst="roundRect">
            <a:avLst>
              <a:gd name="adj" fmla="val 12500"/>
            </a:avLst>
          </a:prstGeom>
          <a:solidFill>
            <a:srgbClr val="E8F3EC"/>
          </a:solidFill>
          <a:ln w="12700">
            <a:solidFill>
              <a:srgbClr val="E8F3EC"/>
            </a:solidFill>
          </a:ln>
        </p:spPr>
        <p:txBody>
          <a:bodyPr wrap="square" lIns="508" tIns="1524" rIns="1524" bIns="508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X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Done.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023360" y="3291840"/>
            <a:ext cx="1005840" cy="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206240" y="3044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926080"/>
            <a:ext cx="6629400" cy="731520"/>
          </a:xfrm>
          <a:prstGeom prst="roundRect">
            <a:avLst>
              <a:gd name="adj" fmla="val 12500"/>
            </a:avLst>
          </a:prstGeom>
          <a:solidFill>
            <a:srgbClr val="E8F3EC"/>
          </a:solidFill>
          <a:ln w="12700">
            <a:solidFill>
              <a:srgbClr val="E8F3EC"/>
            </a:solidFill>
          </a:ln>
        </p:spPr>
        <p:txBody>
          <a:bodyPr wrap="square" lIns="508" tIns="1524" rIns="1524" bIns="508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fix. Done.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023360" y="4206240"/>
            <a:ext cx="1005840" cy="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206240" y="39593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3840480"/>
            <a:ext cx="6629400" cy="731520"/>
          </a:xfrm>
          <a:prstGeom prst="roundRect">
            <a:avLst>
              <a:gd name="adj" fmla="val 12500"/>
            </a:avLst>
          </a:prstGeom>
          <a:solidFill>
            <a:srgbClr val="FFF3D1"/>
          </a:solidFill>
          <a:ln w="12700">
            <a:solidFill>
              <a:srgbClr val="FFF3D1"/>
            </a:solidFill>
          </a:ln>
        </p:spPr>
        <p:txBody>
          <a:bodyPr wrap="square" lIns="508" tIns="1524" rIns="1524" bIns="508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— recolour: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 and U → black, G → red. Then treat G as the new X and repeat.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023360" y="5120640"/>
            <a:ext cx="1005840" cy="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206240" y="4873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4754880"/>
            <a:ext cx="6629400" cy="731520"/>
          </a:xfrm>
          <a:prstGeom prst="roundRect">
            <a:avLst>
              <a:gd name="adj" fmla="val 12500"/>
            </a:avLst>
          </a:prstGeom>
          <a:solidFill>
            <a:srgbClr val="FFF3D1"/>
          </a:solidFill>
          <a:ln w="12700">
            <a:solidFill>
              <a:srgbClr val="FFF3D1"/>
            </a:solidFill>
          </a:ln>
        </p:spPr>
        <p:txBody>
          <a:bodyPr wrap="square" lIns="508" tIns="1524" rIns="1524" bIns="508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— line: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rotate G away from X, then swap the colours of P and G. Done.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2286000" y="5486400"/>
            <a:ext cx="0" cy="45720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0" y="5943600"/>
            <a:ext cx="2743200" cy="0"/>
          </a:xfrm>
          <a:prstGeom prst="line">
            <a:avLst/>
          </a:prstGeom>
          <a:noFill/>
          <a:ln w="19050">
            <a:solidFill>
              <a:srgbClr val="2D6A4F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2377440" y="54864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5669280"/>
            <a:ext cx="6629400" cy="548640"/>
          </a:xfrm>
          <a:prstGeom prst="roundRect">
            <a:avLst>
              <a:gd name="adj" fmla="val 16667"/>
            </a:avLst>
          </a:prstGeom>
          <a:solidFill>
            <a:srgbClr val="FFF3D1"/>
          </a:solidFill>
          <a:ln w="12700">
            <a:solidFill>
              <a:srgbClr val="FFF3D1"/>
            </a:solidFill>
          </a:ln>
        </p:spPr>
        <p:txBody>
          <a:bodyPr wrap="square" lIns="508" tIns="1524" rIns="1524" bIns="508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 — triangle: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rotate P to make a line, then do Case 2.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RED-BLACK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1: the uncle is red → recolour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15: red-red (10 – 15)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06524" y="3136392"/>
            <a:ext cx="411480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906524" y="2176272"/>
            <a:ext cx="411480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18004" y="2176272"/>
            <a:ext cx="411480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3684" y="3822192"/>
            <a:ext cx="548640" cy="548640"/>
          </a:xfrm>
          <a:prstGeom prst="ellipse">
            <a:avLst/>
          </a:prstGeom>
          <a:solidFill>
            <a:srgbClr val="D62839"/>
          </a:solidFill>
          <a:ln w="444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76756" y="40050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32204" y="2862072"/>
            <a:ext cx="548640" cy="54864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65276" y="3044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55164" y="2862072"/>
            <a:ext cx="548640" cy="54864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888236" y="3044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43684" y="1901952"/>
            <a:ext cx="548640" cy="54864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76756" y="20848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4456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 30 is 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60520" y="278892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90872" y="141732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Recolour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48756" y="3136392"/>
            <a:ext cx="411480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48756" y="2176272"/>
            <a:ext cx="411480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0236" y="2176272"/>
            <a:ext cx="411480" cy="9601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5916" y="3822192"/>
            <a:ext cx="548640" cy="54864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618988" y="40050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74436" y="2862072"/>
            <a:ext cx="548640" cy="54864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207508" y="3044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97396" y="2862072"/>
            <a:ext cx="548640" cy="54864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030468" y="30449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85916" y="1901952"/>
            <a:ext cx="548640" cy="54864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618988" y="20848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690872" y="4544568"/>
            <a:ext cx="3538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U → black;  G → red, but G is the root → black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03920" y="1417320"/>
            <a:ext cx="3154680" cy="3566160"/>
          </a:xfrm>
          <a:prstGeom prst="roundRect">
            <a:avLst>
              <a:gd name="adj" fmla="val 23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0" y="1508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686800" y="18745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and U black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red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 is the root, keep it black; if G’s parent is red, G is the new X —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two levels up.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rotation needed!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48640" y="5166360"/>
            <a:ext cx="11109960" cy="1143000"/>
          </a:xfrm>
          <a:prstGeom prst="roundRect">
            <a:avLst>
              <a:gd name="adj" fmla="val 6400"/>
            </a:avLst>
          </a:prstGeom>
          <a:solidFill>
            <a:srgbClr val="E6F0FA"/>
          </a:solidFill>
          <a:ln w="9525">
            <a:solidFill>
              <a:srgbClr val="E6F0F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527608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4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553212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G was black, and now both of its children are black. Every path through G still sees the same number of blacks, but the red-red pair is gone.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RED-BLACK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2: uncle black, straight line → rotate G, swap colours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30: red-red (20 – 30)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403604" y="2011680"/>
            <a:ext cx="397764" cy="704088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801368" y="2715768"/>
            <a:ext cx="397764" cy="704088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199132" y="3419856"/>
            <a:ext cx="397764" cy="704088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6896" y="3419856"/>
            <a:ext cx="397764" cy="704088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9132" y="2715768"/>
            <a:ext cx="397764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01368" y="2011680"/>
            <a:ext cx="397764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08141" y="2620305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05905" y="3324393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669" y="4028481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99197" y="4028481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3154680"/>
            <a:ext cx="530352" cy="530352"/>
          </a:xfrm>
          <a:prstGeom prst="ellipse">
            <a:avLst/>
          </a:prstGeom>
          <a:solidFill>
            <a:srgbClr val="D62839"/>
          </a:solidFill>
          <a:ln w="444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87" dirty="0"/>
          </a:p>
        </p:txBody>
      </p:sp>
      <p:sp>
        <p:nvSpPr>
          <p:cNvPr id="17" name="Text 15"/>
          <p:cNvSpPr txBox="1"/>
          <p:nvPr/>
        </p:nvSpPr>
        <p:spPr>
          <a:xfrm>
            <a:off x="1764792" y="33284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7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87" dirty="0"/>
          </a:p>
        </p:txBody>
      </p:sp>
      <p:sp>
        <p:nvSpPr>
          <p:cNvPr id="18" name="Text 16"/>
          <p:cNvSpPr/>
          <p:nvPr/>
        </p:nvSpPr>
        <p:spPr>
          <a:xfrm>
            <a:off x="1933956" y="2450592"/>
            <a:ext cx="530352" cy="530352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87" dirty="0"/>
          </a:p>
        </p:txBody>
      </p:sp>
      <p:sp>
        <p:nvSpPr>
          <p:cNvPr id="19" name="Text 17"/>
          <p:cNvSpPr txBox="1"/>
          <p:nvPr/>
        </p:nvSpPr>
        <p:spPr>
          <a:xfrm>
            <a:off x="1367028" y="2624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7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87" dirty="0"/>
          </a:p>
        </p:txBody>
      </p:sp>
      <p:sp>
        <p:nvSpPr>
          <p:cNvPr id="20" name="Text 18"/>
          <p:cNvSpPr/>
          <p:nvPr/>
        </p:nvSpPr>
        <p:spPr>
          <a:xfrm>
            <a:off x="1536192" y="1746504"/>
            <a:ext cx="530352" cy="530352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87" dirty="0"/>
          </a:p>
        </p:txBody>
      </p:sp>
      <p:sp>
        <p:nvSpPr>
          <p:cNvPr id="21" name="Text 19"/>
          <p:cNvSpPr txBox="1"/>
          <p:nvPr/>
        </p:nvSpPr>
        <p:spPr>
          <a:xfrm>
            <a:off x="969264" y="19202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7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87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40740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 = NIL (counts as black); X, P, G form a line (RR)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22776" y="269748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53128" y="14173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left at G = 10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 flipV="1">
            <a:off x="4910328" y="3067812"/>
            <a:ext cx="397764" cy="928116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8092" y="3067812"/>
            <a:ext cx="397764" cy="928116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5308092" y="2139696"/>
            <a:ext cx="795528" cy="92811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6501384" y="3067812"/>
            <a:ext cx="397764" cy="928116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99148" y="3067812"/>
            <a:ext cx="397764" cy="928116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03620" y="2139696"/>
            <a:ext cx="795528" cy="92811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14865" y="3900465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10393" y="3900465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2916" y="2802636"/>
            <a:ext cx="530352" cy="530352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87" dirty="0"/>
          </a:p>
        </p:txBody>
      </p:sp>
      <p:sp>
        <p:nvSpPr>
          <p:cNvPr id="34" name="Text 32"/>
          <p:cNvSpPr txBox="1"/>
          <p:nvPr/>
        </p:nvSpPr>
        <p:spPr>
          <a:xfrm>
            <a:off x="4475988" y="29763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7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87" dirty="0"/>
          </a:p>
        </p:txBody>
      </p:sp>
      <p:sp>
        <p:nvSpPr>
          <p:cNvPr id="35" name="Shape 33"/>
          <p:cNvSpPr/>
          <p:nvPr/>
        </p:nvSpPr>
        <p:spPr>
          <a:xfrm>
            <a:off x="6405921" y="3900465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01449" y="3900465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3972" y="2802636"/>
            <a:ext cx="530352" cy="530352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87" dirty="0"/>
          </a:p>
        </p:txBody>
      </p:sp>
      <p:sp>
        <p:nvSpPr>
          <p:cNvPr id="38" name="Text 36"/>
          <p:cNvSpPr txBox="1"/>
          <p:nvPr/>
        </p:nvSpPr>
        <p:spPr>
          <a:xfrm>
            <a:off x="6067044" y="29763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7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87" dirty="0"/>
          </a:p>
        </p:txBody>
      </p:sp>
      <p:sp>
        <p:nvSpPr>
          <p:cNvPr id="39" name="Text 37"/>
          <p:cNvSpPr/>
          <p:nvPr/>
        </p:nvSpPr>
        <p:spPr>
          <a:xfrm>
            <a:off x="5838444" y="1874520"/>
            <a:ext cx="530352" cy="530352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87" dirty="0"/>
          </a:p>
        </p:txBody>
      </p:sp>
      <p:sp>
        <p:nvSpPr>
          <p:cNvPr id="40" name="Text 38"/>
          <p:cNvSpPr txBox="1"/>
          <p:nvPr/>
        </p:nvSpPr>
        <p:spPr>
          <a:xfrm>
            <a:off x="5271516" y="20482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7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87" dirty="0"/>
          </a:p>
        </p:txBody>
      </p:sp>
      <p:sp>
        <p:nvSpPr>
          <p:cNvPr id="41" name="Text 39"/>
          <p:cNvSpPr txBox="1"/>
          <p:nvPr/>
        </p:nvSpPr>
        <p:spPr>
          <a:xfrm>
            <a:off x="4453128" y="440740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20 moves up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27264" y="269748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57616" y="14173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colours of P and G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 flipV="1">
            <a:off x="8814816" y="3067812"/>
            <a:ext cx="397764" cy="928116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12580" y="3067812"/>
            <a:ext cx="397764" cy="928116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9212580" y="2139696"/>
            <a:ext cx="795528" cy="92811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0405872" y="3067812"/>
            <a:ext cx="397764" cy="928116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03636" y="3067812"/>
            <a:ext cx="397764" cy="928116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008108" y="2139696"/>
            <a:ext cx="795528" cy="92811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19353" y="3900465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14881" y="3900465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47404" y="2802636"/>
            <a:ext cx="530352" cy="530352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87" dirty="0"/>
          </a:p>
        </p:txBody>
      </p:sp>
      <p:sp>
        <p:nvSpPr>
          <p:cNvPr id="53" name="Text 51"/>
          <p:cNvSpPr txBox="1"/>
          <p:nvPr/>
        </p:nvSpPr>
        <p:spPr>
          <a:xfrm>
            <a:off x="8380476" y="29763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7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87" dirty="0"/>
          </a:p>
        </p:txBody>
      </p:sp>
      <p:sp>
        <p:nvSpPr>
          <p:cNvPr id="54" name="Shape 52"/>
          <p:cNvSpPr/>
          <p:nvPr/>
        </p:nvSpPr>
        <p:spPr>
          <a:xfrm>
            <a:off x="10310409" y="3900465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105937" y="3900465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538460" y="2802636"/>
            <a:ext cx="530352" cy="530352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87" dirty="0"/>
          </a:p>
        </p:txBody>
      </p:sp>
      <p:sp>
        <p:nvSpPr>
          <p:cNvPr id="57" name="Text 55"/>
          <p:cNvSpPr txBox="1"/>
          <p:nvPr/>
        </p:nvSpPr>
        <p:spPr>
          <a:xfrm>
            <a:off x="9971532" y="29763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7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87" dirty="0"/>
          </a:p>
        </p:txBody>
      </p:sp>
      <p:sp>
        <p:nvSpPr>
          <p:cNvPr id="58" name="Text 56"/>
          <p:cNvSpPr/>
          <p:nvPr/>
        </p:nvSpPr>
        <p:spPr>
          <a:xfrm>
            <a:off x="9742932" y="1874520"/>
            <a:ext cx="530352" cy="530352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87" dirty="0"/>
          </a:p>
        </p:txBody>
      </p:sp>
      <p:sp>
        <p:nvSpPr>
          <p:cNvPr id="59" name="Text 57"/>
          <p:cNvSpPr txBox="1"/>
          <p:nvPr/>
        </p:nvSpPr>
        <p:spPr>
          <a:xfrm>
            <a:off x="9176004" y="20482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7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87" dirty="0"/>
          </a:p>
        </p:txBody>
      </p:sp>
      <p:sp>
        <p:nvSpPr>
          <p:cNvPr id="60" name="Text 58"/>
          <p:cNvSpPr txBox="1"/>
          <p:nvPr/>
        </p:nvSpPr>
        <p:spPr>
          <a:xfrm>
            <a:off x="8357616" y="440740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→ black, 10 → red ✔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5029200"/>
            <a:ext cx="11109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(LL or RR):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rotate the grandparent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from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new node (right for LL, left for RR).</a:t>
            </a:r>
            <a:endParaRPr lang="en-US" sz="1500" dirty="0"/>
          </a:p>
          <a:p>
            <a:pPr marL="171450" indent="-17145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colours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old parent and the old grandparent. The subtree root is black again, so nothing above is disturbed.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RED-BLACK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3: uncle black, triangle → rotate P first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40: red-red (30 – 40)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602486" y="2715768"/>
            <a:ext cx="397764" cy="704088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000250" y="3419856"/>
            <a:ext cx="397764" cy="704088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98014" y="3419856"/>
            <a:ext cx="397764" cy="704088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00250" y="2715768"/>
            <a:ext cx="397764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000250" y="2011680"/>
            <a:ext cx="397764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98014" y="2011680"/>
            <a:ext cx="397764" cy="704088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07023" y="3324393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4787" y="4028481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00315" y="4028481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32838" y="3154680"/>
            <a:ext cx="530352" cy="530352"/>
          </a:xfrm>
          <a:prstGeom prst="ellipse">
            <a:avLst/>
          </a:prstGeom>
          <a:solidFill>
            <a:srgbClr val="D62839"/>
          </a:solidFill>
          <a:ln w="444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87" dirty="0"/>
          </a:p>
        </p:txBody>
      </p:sp>
      <p:sp>
        <p:nvSpPr>
          <p:cNvPr id="16" name="Text 14"/>
          <p:cNvSpPr txBox="1"/>
          <p:nvPr/>
        </p:nvSpPr>
        <p:spPr>
          <a:xfrm>
            <a:off x="1565910" y="33284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7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87" dirty="0"/>
          </a:p>
        </p:txBody>
      </p:sp>
      <p:sp>
        <p:nvSpPr>
          <p:cNvPr id="17" name="Text 15"/>
          <p:cNvSpPr/>
          <p:nvPr/>
        </p:nvSpPr>
        <p:spPr>
          <a:xfrm>
            <a:off x="1735074" y="2450592"/>
            <a:ext cx="530352" cy="530352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87" dirty="0"/>
          </a:p>
        </p:txBody>
      </p:sp>
      <p:sp>
        <p:nvSpPr>
          <p:cNvPr id="18" name="Text 16"/>
          <p:cNvSpPr txBox="1"/>
          <p:nvPr/>
        </p:nvSpPr>
        <p:spPr>
          <a:xfrm>
            <a:off x="1168146" y="2624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7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87" dirty="0"/>
          </a:p>
        </p:txBody>
      </p:sp>
      <p:sp>
        <p:nvSpPr>
          <p:cNvPr id="19" name="Shape 17"/>
          <p:cNvSpPr/>
          <p:nvPr/>
        </p:nvSpPr>
        <p:spPr>
          <a:xfrm>
            <a:off x="2700315" y="2620305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32838" y="1746504"/>
            <a:ext cx="530352" cy="530352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587" dirty="0"/>
          </a:p>
        </p:txBody>
      </p:sp>
      <p:sp>
        <p:nvSpPr>
          <p:cNvPr id="21" name="Text 19"/>
          <p:cNvSpPr txBox="1"/>
          <p:nvPr/>
        </p:nvSpPr>
        <p:spPr>
          <a:xfrm>
            <a:off x="1565910" y="19202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7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87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40740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 = NIL; 40 is P’s right child, P is G’s left child: a TRIANGLE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22776" y="269748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53128" y="14173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left at P = 30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 flipV="1">
            <a:off x="5308092" y="3419856"/>
            <a:ext cx="397764" cy="704088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05856" y="3419856"/>
            <a:ext cx="397764" cy="704088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5705856" y="2715768"/>
            <a:ext cx="397764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03620" y="2715768"/>
            <a:ext cx="397764" cy="704088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6103620" y="2011680"/>
            <a:ext cx="397764" cy="70408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01384" y="2011680"/>
            <a:ext cx="397764" cy="704088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12629" y="4028481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08157" y="4028481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3154680"/>
            <a:ext cx="530352" cy="530352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87" dirty="0"/>
          </a:p>
        </p:txBody>
      </p:sp>
      <p:sp>
        <p:nvSpPr>
          <p:cNvPr id="34" name="Text 32"/>
          <p:cNvSpPr txBox="1"/>
          <p:nvPr/>
        </p:nvSpPr>
        <p:spPr>
          <a:xfrm>
            <a:off x="4873752" y="33284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7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87" dirty="0"/>
          </a:p>
        </p:txBody>
      </p:sp>
      <p:sp>
        <p:nvSpPr>
          <p:cNvPr id="35" name="Shape 33"/>
          <p:cNvSpPr/>
          <p:nvPr/>
        </p:nvSpPr>
        <p:spPr>
          <a:xfrm>
            <a:off x="6405921" y="3324393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38444" y="2450592"/>
            <a:ext cx="530352" cy="530352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87" dirty="0"/>
          </a:p>
        </p:txBody>
      </p:sp>
      <p:sp>
        <p:nvSpPr>
          <p:cNvPr id="37" name="Text 35"/>
          <p:cNvSpPr txBox="1"/>
          <p:nvPr/>
        </p:nvSpPr>
        <p:spPr>
          <a:xfrm>
            <a:off x="5271516" y="2624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7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87" dirty="0"/>
          </a:p>
        </p:txBody>
      </p:sp>
      <p:sp>
        <p:nvSpPr>
          <p:cNvPr id="38" name="Shape 36"/>
          <p:cNvSpPr/>
          <p:nvPr/>
        </p:nvSpPr>
        <p:spPr>
          <a:xfrm>
            <a:off x="6803685" y="2620305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1746504"/>
            <a:ext cx="530352" cy="530352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587" dirty="0"/>
          </a:p>
        </p:txBody>
      </p:sp>
      <p:sp>
        <p:nvSpPr>
          <p:cNvPr id="40" name="Text 38"/>
          <p:cNvSpPr txBox="1"/>
          <p:nvPr/>
        </p:nvSpPr>
        <p:spPr>
          <a:xfrm>
            <a:off x="5669280" y="19202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7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87" dirty="0"/>
          </a:p>
        </p:txBody>
      </p:sp>
      <p:sp>
        <p:nvSpPr>
          <p:cNvPr id="41" name="Text 39"/>
          <p:cNvSpPr txBox="1"/>
          <p:nvPr/>
        </p:nvSpPr>
        <p:spPr>
          <a:xfrm>
            <a:off x="4453128" y="440740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triangle becomes a straight line (LL)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27264" y="269748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57616" y="14173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rotate right at G, swap colours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 flipV="1">
            <a:off x="8814816" y="3067812"/>
            <a:ext cx="397764" cy="928116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12580" y="3067812"/>
            <a:ext cx="397764" cy="928116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9212580" y="2139696"/>
            <a:ext cx="795528" cy="92811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0405872" y="3067812"/>
            <a:ext cx="397764" cy="928116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03636" y="3067812"/>
            <a:ext cx="397764" cy="928116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008108" y="2139696"/>
            <a:ext cx="795528" cy="92811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19353" y="3900465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14881" y="3900465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47404" y="2802636"/>
            <a:ext cx="530352" cy="530352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87" dirty="0"/>
          </a:p>
        </p:txBody>
      </p:sp>
      <p:sp>
        <p:nvSpPr>
          <p:cNvPr id="53" name="Text 51"/>
          <p:cNvSpPr txBox="1"/>
          <p:nvPr/>
        </p:nvSpPr>
        <p:spPr>
          <a:xfrm>
            <a:off x="8380476" y="29763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7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87" dirty="0"/>
          </a:p>
        </p:txBody>
      </p:sp>
      <p:sp>
        <p:nvSpPr>
          <p:cNvPr id="54" name="Shape 52"/>
          <p:cNvSpPr/>
          <p:nvPr/>
        </p:nvSpPr>
        <p:spPr>
          <a:xfrm>
            <a:off x="10310409" y="3900465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105937" y="3900465"/>
            <a:ext cx="190927" cy="190927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538460" y="2802636"/>
            <a:ext cx="530352" cy="530352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587" dirty="0"/>
          </a:p>
        </p:txBody>
      </p:sp>
      <p:sp>
        <p:nvSpPr>
          <p:cNvPr id="57" name="Text 55"/>
          <p:cNvSpPr txBox="1"/>
          <p:nvPr/>
        </p:nvSpPr>
        <p:spPr>
          <a:xfrm>
            <a:off x="9971532" y="29763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7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87" dirty="0"/>
          </a:p>
        </p:txBody>
      </p:sp>
      <p:sp>
        <p:nvSpPr>
          <p:cNvPr id="58" name="Text 56"/>
          <p:cNvSpPr/>
          <p:nvPr/>
        </p:nvSpPr>
        <p:spPr>
          <a:xfrm>
            <a:off x="9742932" y="1874520"/>
            <a:ext cx="530352" cy="530352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87" dirty="0"/>
          </a:p>
        </p:txBody>
      </p:sp>
      <p:sp>
        <p:nvSpPr>
          <p:cNvPr id="59" name="Text 57"/>
          <p:cNvSpPr txBox="1"/>
          <p:nvPr/>
        </p:nvSpPr>
        <p:spPr>
          <a:xfrm>
            <a:off x="9176004" y="20482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87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87" dirty="0"/>
          </a:p>
        </p:txBody>
      </p:sp>
      <p:sp>
        <p:nvSpPr>
          <p:cNvPr id="60" name="Text 58"/>
          <p:cNvSpPr txBox="1"/>
          <p:nvPr/>
        </p:nvSpPr>
        <p:spPr>
          <a:xfrm>
            <a:off x="8357616" y="440740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→ black, 50 → red ✔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5029200"/>
            <a:ext cx="11109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(LR or RL):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 rotate the parent so that X and P swap roles and the picture becomes a straight line.</a:t>
            </a:r>
            <a:endParaRPr lang="en-US" sz="1500" dirty="0"/>
          </a:p>
          <a:p>
            <a:pPr marL="171450" indent="-17145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finish with Case 2 on the new line. Two rotations in total, exactly like an AVL double rotation.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RED-BLACK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Red-Black example: insert 1, 2, 3, 4, 5, 6, 7 (1 of 2)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81528" y="2308860"/>
            <a:ext cx="420624" cy="420624"/>
          </a:xfrm>
          <a:prstGeom prst="ellipse">
            <a:avLst/>
          </a:prstGeom>
          <a:solidFill>
            <a:srgbClr val="22292F"/>
          </a:solidFill>
          <a:ln w="444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9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3101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→ recolour black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57666" y="215112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2822" y="2676906"/>
            <a:ext cx="420624" cy="420624"/>
          </a:xfrm>
          <a:prstGeom prst="ellipse">
            <a:avLst/>
          </a:prstGeom>
          <a:solidFill>
            <a:srgbClr val="D62839"/>
          </a:solidFill>
          <a:ln w="444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9" dirty="0"/>
          </a:p>
        </p:txBody>
      </p:sp>
      <p:sp>
        <p:nvSpPr>
          <p:cNvPr id="13" name="Text 11"/>
          <p:cNvSpPr/>
          <p:nvPr/>
        </p:nvSpPr>
        <p:spPr>
          <a:xfrm>
            <a:off x="8547354" y="1940814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9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3101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is black → nothing to fix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931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V="1">
            <a:off x="2976372" y="466572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466572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66060" y="5191506"/>
            <a:ext cx="420624" cy="420624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9" dirty="0"/>
          </a:p>
        </p:txBody>
      </p:sp>
      <p:sp>
        <p:nvSpPr>
          <p:cNvPr id="20" name="Text 18"/>
          <p:cNvSpPr/>
          <p:nvPr/>
        </p:nvSpPr>
        <p:spPr>
          <a:xfrm>
            <a:off x="3396996" y="5191506"/>
            <a:ext cx="420624" cy="420624"/>
          </a:xfrm>
          <a:prstGeom prst="ellipse">
            <a:avLst/>
          </a:prstGeom>
          <a:solidFill>
            <a:srgbClr val="D62839"/>
          </a:solidFill>
          <a:ln w="444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9" dirty="0"/>
          </a:p>
        </p:txBody>
      </p:sp>
      <p:sp>
        <p:nvSpPr>
          <p:cNvPr id="21" name="Text 19"/>
          <p:cNvSpPr/>
          <p:nvPr/>
        </p:nvSpPr>
        <p:spPr>
          <a:xfrm>
            <a:off x="3081528" y="4455414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9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8247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 (RR): rotate left at G, swap colours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38862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3931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 flipV="1">
            <a:off x="8442198" y="4471416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3134" y="5033772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57666" y="4471416"/>
            <a:ext cx="315468" cy="5623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31886" y="4823460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9" dirty="0"/>
          </a:p>
        </p:txBody>
      </p:sp>
      <p:sp>
        <p:nvSpPr>
          <p:cNvPr id="29" name="Text 27"/>
          <p:cNvSpPr/>
          <p:nvPr/>
        </p:nvSpPr>
        <p:spPr>
          <a:xfrm>
            <a:off x="9178290" y="5385816"/>
            <a:ext cx="420624" cy="420624"/>
          </a:xfrm>
          <a:prstGeom prst="ellipse">
            <a:avLst/>
          </a:prstGeom>
          <a:solidFill>
            <a:srgbClr val="D62839"/>
          </a:solidFill>
          <a:ln w="444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9" dirty="0"/>
          </a:p>
        </p:txBody>
      </p:sp>
      <p:sp>
        <p:nvSpPr>
          <p:cNvPr id="30" name="Text 28"/>
          <p:cNvSpPr/>
          <p:nvPr/>
        </p:nvSpPr>
        <p:spPr>
          <a:xfrm>
            <a:off x="8862822" y="4823460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9" dirty="0"/>
          </a:p>
        </p:txBody>
      </p:sp>
      <p:sp>
        <p:nvSpPr>
          <p:cNvPr id="31" name="Text 29"/>
          <p:cNvSpPr/>
          <p:nvPr/>
        </p:nvSpPr>
        <p:spPr>
          <a:xfrm>
            <a:off x="8547354" y="4261104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9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582472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 red → recolour, move up; root → recolour black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RED-BLACK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Red-Black example: insert 1, 2, 3, 4, 5, 6, 7 (2 of 2)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733550" y="215341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076450" y="295351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19350" y="295351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76450" y="215341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4950" y="2724912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68" dirty="0"/>
          </a:p>
        </p:txBody>
      </p:sp>
      <p:sp>
        <p:nvSpPr>
          <p:cNvPr id="11" name="Text 9"/>
          <p:cNvSpPr/>
          <p:nvPr/>
        </p:nvSpPr>
        <p:spPr>
          <a:xfrm>
            <a:off x="1847850" y="3525012"/>
            <a:ext cx="457200" cy="45720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68" dirty="0"/>
          </a:p>
        </p:txBody>
      </p:sp>
      <p:sp>
        <p:nvSpPr>
          <p:cNvPr id="12" name="Text 10"/>
          <p:cNvSpPr/>
          <p:nvPr/>
        </p:nvSpPr>
        <p:spPr>
          <a:xfrm>
            <a:off x="2533650" y="3525012"/>
            <a:ext cx="457200" cy="457200"/>
          </a:xfrm>
          <a:prstGeom prst="ellipse">
            <a:avLst/>
          </a:prstGeom>
          <a:solidFill>
            <a:srgbClr val="D62839"/>
          </a:solidFill>
          <a:ln w="444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68" dirty="0"/>
          </a:p>
        </p:txBody>
      </p:sp>
      <p:sp>
        <p:nvSpPr>
          <p:cNvPr id="13" name="Text 11"/>
          <p:cNvSpPr/>
          <p:nvPr/>
        </p:nvSpPr>
        <p:spPr>
          <a:xfrm>
            <a:off x="2190750" y="2724912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68" dirty="0"/>
          </a:p>
        </p:txBody>
      </p:sp>
      <p:sp>
        <p:nvSpPr>
          <p:cNvPr id="14" name="Text 12"/>
          <p:cNvSpPr/>
          <p:nvPr/>
        </p:nvSpPr>
        <p:spPr>
          <a:xfrm>
            <a:off x="1847850" y="1924812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68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24528"/>
            <a:ext cx="339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 (RR): rotate left at G, swap colours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92880" y="2560320"/>
            <a:ext cx="36576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04360" y="1371600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5417820" y="1929384"/>
            <a:ext cx="342900" cy="6827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5760720" y="2612136"/>
            <a:ext cx="342900" cy="6827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294888"/>
            <a:ext cx="342900" cy="6827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3620" y="2612136"/>
            <a:ext cx="342900" cy="6827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0" y="1929384"/>
            <a:ext cx="342900" cy="6827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9220" y="2383536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68" dirty="0"/>
          </a:p>
        </p:txBody>
      </p:sp>
      <p:sp>
        <p:nvSpPr>
          <p:cNvPr id="24" name="Text 22"/>
          <p:cNvSpPr/>
          <p:nvPr/>
        </p:nvSpPr>
        <p:spPr>
          <a:xfrm>
            <a:off x="5532120" y="3066288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68" dirty="0"/>
          </a:p>
        </p:txBody>
      </p:sp>
      <p:sp>
        <p:nvSpPr>
          <p:cNvPr id="25" name="Text 23"/>
          <p:cNvSpPr/>
          <p:nvPr/>
        </p:nvSpPr>
        <p:spPr>
          <a:xfrm>
            <a:off x="6560820" y="3749040"/>
            <a:ext cx="457200" cy="457200"/>
          </a:xfrm>
          <a:prstGeom prst="ellipse">
            <a:avLst/>
          </a:prstGeom>
          <a:solidFill>
            <a:srgbClr val="D62839"/>
          </a:solidFill>
          <a:ln w="444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68" dirty="0"/>
          </a:p>
        </p:txBody>
      </p:sp>
      <p:sp>
        <p:nvSpPr>
          <p:cNvPr id="26" name="Text 24"/>
          <p:cNvSpPr/>
          <p:nvPr/>
        </p:nvSpPr>
        <p:spPr>
          <a:xfrm>
            <a:off x="6217920" y="3066288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68" dirty="0"/>
          </a:p>
        </p:txBody>
      </p:sp>
      <p:sp>
        <p:nvSpPr>
          <p:cNvPr id="27" name="Text 25"/>
          <p:cNvSpPr/>
          <p:nvPr/>
        </p:nvSpPr>
        <p:spPr>
          <a:xfrm>
            <a:off x="5875020" y="2383536"/>
            <a:ext cx="457200" cy="45720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68" dirty="0"/>
          </a:p>
        </p:txBody>
      </p:sp>
      <p:sp>
        <p:nvSpPr>
          <p:cNvPr id="28" name="Text 26"/>
          <p:cNvSpPr/>
          <p:nvPr/>
        </p:nvSpPr>
        <p:spPr>
          <a:xfrm>
            <a:off x="5532120" y="1700784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68" dirty="0"/>
          </a:p>
        </p:txBody>
      </p:sp>
      <p:sp>
        <p:nvSpPr>
          <p:cNvPr id="29" name="Text 27"/>
          <p:cNvSpPr txBox="1"/>
          <p:nvPr/>
        </p:nvSpPr>
        <p:spPr>
          <a:xfrm>
            <a:off x="4404360" y="4224528"/>
            <a:ext cx="339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 red → recolour, move up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848600" y="2560320"/>
            <a:ext cx="36576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60080" y="1371600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7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 flipV="1">
            <a:off x="9273540" y="1929384"/>
            <a:ext cx="342900" cy="6827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9616440" y="2612136"/>
            <a:ext cx="342900" cy="6827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9959340" y="3294888"/>
            <a:ext cx="342900" cy="6827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02240" y="3294888"/>
            <a:ext cx="342900" cy="6827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59340" y="2612136"/>
            <a:ext cx="342900" cy="6827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16440" y="1929384"/>
            <a:ext cx="342900" cy="6827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44940" y="2383536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68" dirty="0"/>
          </a:p>
        </p:txBody>
      </p:sp>
      <p:sp>
        <p:nvSpPr>
          <p:cNvPr id="39" name="Text 37"/>
          <p:cNvSpPr/>
          <p:nvPr/>
        </p:nvSpPr>
        <p:spPr>
          <a:xfrm>
            <a:off x="9387840" y="3066288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68" dirty="0"/>
          </a:p>
        </p:txBody>
      </p:sp>
      <p:sp>
        <p:nvSpPr>
          <p:cNvPr id="40" name="Text 38"/>
          <p:cNvSpPr/>
          <p:nvPr/>
        </p:nvSpPr>
        <p:spPr>
          <a:xfrm>
            <a:off x="9730740" y="3749040"/>
            <a:ext cx="457200" cy="45720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68" dirty="0"/>
          </a:p>
        </p:txBody>
      </p:sp>
      <p:sp>
        <p:nvSpPr>
          <p:cNvPr id="41" name="Text 39"/>
          <p:cNvSpPr/>
          <p:nvPr/>
        </p:nvSpPr>
        <p:spPr>
          <a:xfrm>
            <a:off x="10416540" y="3749040"/>
            <a:ext cx="457200" cy="457200"/>
          </a:xfrm>
          <a:prstGeom prst="ellipse">
            <a:avLst/>
          </a:prstGeom>
          <a:solidFill>
            <a:srgbClr val="D62839"/>
          </a:solidFill>
          <a:ln w="44450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68" dirty="0"/>
          </a:p>
        </p:txBody>
      </p:sp>
      <p:sp>
        <p:nvSpPr>
          <p:cNvPr id="42" name="Text 40"/>
          <p:cNvSpPr/>
          <p:nvPr/>
        </p:nvSpPr>
        <p:spPr>
          <a:xfrm>
            <a:off x="10073640" y="3066288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68" dirty="0"/>
          </a:p>
        </p:txBody>
      </p:sp>
      <p:sp>
        <p:nvSpPr>
          <p:cNvPr id="43" name="Text 41"/>
          <p:cNvSpPr/>
          <p:nvPr/>
        </p:nvSpPr>
        <p:spPr>
          <a:xfrm>
            <a:off x="9730740" y="2383536"/>
            <a:ext cx="457200" cy="45720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68" dirty="0"/>
          </a:p>
        </p:txBody>
      </p:sp>
      <p:sp>
        <p:nvSpPr>
          <p:cNvPr id="44" name="Text 42"/>
          <p:cNvSpPr/>
          <p:nvPr/>
        </p:nvSpPr>
        <p:spPr>
          <a:xfrm>
            <a:off x="9387840" y="1700784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68" dirty="0"/>
          </a:p>
        </p:txBody>
      </p:sp>
      <p:sp>
        <p:nvSpPr>
          <p:cNvPr id="45" name="Text 43"/>
          <p:cNvSpPr txBox="1"/>
          <p:nvPr/>
        </p:nvSpPr>
        <p:spPr>
          <a:xfrm>
            <a:off x="8260080" y="4224528"/>
            <a:ext cx="339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 (RR): rotate left at G, swap colours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4846320"/>
            <a:ext cx="7315200" cy="1371600"/>
          </a:xfrm>
          <a:prstGeom prst="roundRect">
            <a:avLst>
              <a:gd name="adj" fmla="val 5333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31520" y="495604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731520" y="5212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sorted input gives a plain BST of height 6 (a chain). The Red-Black tree has height 3, and every root-to-NIL path has exactly 2 black nodes.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138160" y="484632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321040" y="4937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work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8321040" y="5257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rotations (inserts 3, 5, 7) and 2 recolour-and-move-up fixes (inserts 4, 6) for 7 inserts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RED-BLACK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Red-Black deletion: fixing a “double black”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109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BST-delete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usual (a node with two children is replaced by its successor).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node that physically leaves is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 its replacement is red, which is recoloured black) →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was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every path through that spot has lost one black. Give the replacement an “extra black”: it is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black (DB)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DB using its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 W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its parent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W’s children (the nephews). Cases below are for DB as a LEFT child; mirror them for a right child.</a:t>
            </a:r>
            <a:endParaRPr lang="en-US" sz="14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111099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280160"/>
                <a:gridCol w="2194560"/>
                <a:gridCol w="516636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Sibling 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Nephews (W’s children)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black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→ black, P → red, rotate P towards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becomes case 2, 3 or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black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→ red; push the extra black up to P (P red → black: done; P black → P is the new DB)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repeat higher 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red, far black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colours of W and its red child, rotate W away from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becomes case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 child 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takes P’s colour; P and far child → black; rotate P towards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12648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nephew = W’s child on the same side as DB;  far nephew = W’s child on the other side.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RED-BLACK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Deletion cases 1 and 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063240" cy="2468880"/>
          </a:xfrm>
          <a:prstGeom prst="roundRect">
            <a:avLst>
              <a:gd name="adj" fmla="val 2963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1: sibling W is red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84832"/>
            <a:ext cx="2743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(a, b = W’s children: a near X, b far from X.) W red means P, a and b are black. Recolour W black and P red, then rotate P towards the double-black node X. X now has a BLACK sibling (the old a): continue with case 2, 3 or 4.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3716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0" y="13716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572000" y="1828800"/>
            <a:ext cx="82296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94960" y="1828800"/>
            <a:ext cx="82296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5760720" y="2514600"/>
            <a:ext cx="45720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514600"/>
            <a:ext cx="45720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16276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4" dirty="0"/>
          </a:p>
        </p:txBody>
      </p:sp>
      <p:sp>
        <p:nvSpPr>
          <p:cNvPr id="15" name="Shape 13"/>
          <p:cNvSpPr/>
          <p:nvPr/>
        </p:nvSpPr>
        <p:spPr>
          <a:xfrm>
            <a:off x="4306458" y="2249058"/>
            <a:ext cx="531084" cy="531084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29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23134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4" dirty="0"/>
          </a:p>
        </p:txBody>
      </p:sp>
      <p:sp>
        <p:nvSpPr>
          <p:cNvPr id="17" name="Text 15"/>
          <p:cNvSpPr/>
          <p:nvPr/>
        </p:nvSpPr>
        <p:spPr>
          <a:xfrm>
            <a:off x="6016752" y="2313432"/>
            <a:ext cx="402336" cy="402336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4" dirty="0"/>
          </a:p>
        </p:txBody>
      </p:sp>
      <p:sp>
        <p:nvSpPr>
          <p:cNvPr id="18" name="Text 16"/>
          <p:cNvSpPr/>
          <p:nvPr/>
        </p:nvSpPr>
        <p:spPr>
          <a:xfrm>
            <a:off x="5559552" y="29992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4" dirty="0"/>
          </a:p>
        </p:txBody>
      </p:sp>
      <p:sp>
        <p:nvSpPr>
          <p:cNvPr id="19" name="Text 17"/>
          <p:cNvSpPr/>
          <p:nvPr/>
        </p:nvSpPr>
        <p:spPr>
          <a:xfrm>
            <a:off x="6473952" y="29992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4" dirty="0"/>
          </a:p>
        </p:txBody>
      </p:sp>
      <p:sp>
        <p:nvSpPr>
          <p:cNvPr id="20" name="Shape 18"/>
          <p:cNvSpPr/>
          <p:nvPr/>
        </p:nvSpPr>
        <p:spPr>
          <a:xfrm flipV="1">
            <a:off x="9189720" y="1828800"/>
            <a:ext cx="73152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21240" y="1828800"/>
            <a:ext cx="73152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8732520" y="2514600"/>
            <a:ext cx="45720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2514600"/>
            <a:ext cx="45720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20072" y="16276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4" dirty="0"/>
          </a:p>
        </p:txBody>
      </p:sp>
      <p:sp>
        <p:nvSpPr>
          <p:cNvPr id="25" name="Text 23"/>
          <p:cNvSpPr/>
          <p:nvPr/>
        </p:nvSpPr>
        <p:spPr>
          <a:xfrm>
            <a:off x="8988552" y="2313432"/>
            <a:ext cx="402336" cy="402336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4" dirty="0"/>
          </a:p>
        </p:txBody>
      </p:sp>
      <p:sp>
        <p:nvSpPr>
          <p:cNvPr id="26" name="Text 24"/>
          <p:cNvSpPr/>
          <p:nvPr/>
        </p:nvSpPr>
        <p:spPr>
          <a:xfrm>
            <a:off x="10451592" y="23134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4" dirty="0"/>
          </a:p>
        </p:txBody>
      </p:sp>
      <p:sp>
        <p:nvSpPr>
          <p:cNvPr id="27" name="Shape 25"/>
          <p:cNvSpPr/>
          <p:nvPr/>
        </p:nvSpPr>
        <p:spPr>
          <a:xfrm>
            <a:off x="8466978" y="2934858"/>
            <a:ext cx="531084" cy="531084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29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31352" y="29992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4" dirty="0"/>
          </a:p>
        </p:txBody>
      </p:sp>
      <p:sp>
        <p:nvSpPr>
          <p:cNvPr id="29" name="Text 27"/>
          <p:cNvSpPr/>
          <p:nvPr/>
        </p:nvSpPr>
        <p:spPr>
          <a:xfrm>
            <a:off x="9445752" y="29992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4" dirty="0"/>
          </a:p>
        </p:txBody>
      </p:sp>
      <p:sp>
        <p:nvSpPr>
          <p:cNvPr id="30" name="Shape 28"/>
          <p:cNvSpPr/>
          <p:nvPr/>
        </p:nvSpPr>
        <p:spPr>
          <a:xfrm>
            <a:off x="7406640" y="2468880"/>
            <a:ext cx="594360" cy="329184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49040" y="35844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092440" y="35844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886200"/>
            <a:ext cx="3063240" cy="2468880"/>
          </a:xfrm>
          <a:prstGeom prst="roundRect">
            <a:avLst>
              <a:gd name="adj" fmla="val 2963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3977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2: W black, both nephews black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4599432"/>
            <a:ext cx="2743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one black from X and one from W: X becomes normal, W turns red. The extra black moves up to P. If P was red it turns black: done. If P was black it is the new double-black node: repeat higher up.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749040" y="38862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92440" y="38862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4572000" y="4343400"/>
            <a:ext cx="82296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94960" y="4343400"/>
            <a:ext cx="82296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5760720" y="5029200"/>
            <a:ext cx="45720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5029200"/>
            <a:ext cx="45720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93792" y="4142232"/>
            <a:ext cx="402336" cy="402336"/>
          </a:xfrm>
          <a:prstGeom prst="ellipse">
            <a:avLst/>
          </a:prstGeom>
          <a:solidFill>
            <a:srgbClr val="C3CEC8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4" dirty="0"/>
          </a:p>
        </p:txBody>
      </p:sp>
      <p:sp>
        <p:nvSpPr>
          <p:cNvPr id="43" name="Shape 41"/>
          <p:cNvSpPr/>
          <p:nvPr/>
        </p:nvSpPr>
        <p:spPr>
          <a:xfrm>
            <a:off x="4306458" y="4763658"/>
            <a:ext cx="531084" cy="531084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292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70832" y="48280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4" dirty="0"/>
          </a:p>
        </p:txBody>
      </p:sp>
      <p:sp>
        <p:nvSpPr>
          <p:cNvPr id="45" name="Text 43"/>
          <p:cNvSpPr/>
          <p:nvPr/>
        </p:nvSpPr>
        <p:spPr>
          <a:xfrm>
            <a:off x="6016752" y="48280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4" dirty="0"/>
          </a:p>
        </p:txBody>
      </p:sp>
      <p:sp>
        <p:nvSpPr>
          <p:cNvPr id="46" name="Text 44"/>
          <p:cNvSpPr/>
          <p:nvPr/>
        </p:nvSpPr>
        <p:spPr>
          <a:xfrm>
            <a:off x="5559552" y="55138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4" dirty="0"/>
          </a:p>
        </p:txBody>
      </p:sp>
      <p:sp>
        <p:nvSpPr>
          <p:cNvPr id="47" name="Text 45"/>
          <p:cNvSpPr/>
          <p:nvPr/>
        </p:nvSpPr>
        <p:spPr>
          <a:xfrm>
            <a:off x="6473952" y="55138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4" dirty="0"/>
          </a:p>
        </p:txBody>
      </p:sp>
      <p:sp>
        <p:nvSpPr>
          <p:cNvPr id="48" name="Shape 46"/>
          <p:cNvSpPr/>
          <p:nvPr/>
        </p:nvSpPr>
        <p:spPr>
          <a:xfrm flipV="1">
            <a:off x="8915400" y="4343400"/>
            <a:ext cx="82296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38360" y="4343400"/>
            <a:ext cx="82296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10104120" y="5029200"/>
            <a:ext cx="45720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561320" y="5029200"/>
            <a:ext cx="45720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472818" y="4077858"/>
            <a:ext cx="531084" cy="531084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292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37192" y="4142232"/>
            <a:ext cx="402336" cy="402336"/>
          </a:xfrm>
          <a:prstGeom prst="ellipse">
            <a:avLst/>
          </a:prstGeom>
          <a:solidFill>
            <a:srgbClr val="C3CEC8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4" dirty="0"/>
          </a:p>
        </p:txBody>
      </p:sp>
      <p:sp>
        <p:nvSpPr>
          <p:cNvPr id="54" name="Text 52"/>
          <p:cNvSpPr txBox="1"/>
          <p:nvPr/>
        </p:nvSpPr>
        <p:spPr>
          <a:xfrm>
            <a:off x="9939528" y="396118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black</a:t>
            </a:r>
            <a:endParaRPr lang="en-US" sz="904" dirty="0"/>
          </a:p>
        </p:txBody>
      </p:sp>
      <p:sp>
        <p:nvSpPr>
          <p:cNvPr id="55" name="Text 53"/>
          <p:cNvSpPr/>
          <p:nvPr/>
        </p:nvSpPr>
        <p:spPr>
          <a:xfrm>
            <a:off x="8714232" y="48280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4" dirty="0"/>
          </a:p>
        </p:txBody>
      </p:sp>
      <p:sp>
        <p:nvSpPr>
          <p:cNvPr id="56" name="Text 54"/>
          <p:cNvSpPr/>
          <p:nvPr/>
        </p:nvSpPr>
        <p:spPr>
          <a:xfrm>
            <a:off x="10360152" y="4828032"/>
            <a:ext cx="402336" cy="402336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4" dirty="0"/>
          </a:p>
        </p:txBody>
      </p:sp>
      <p:sp>
        <p:nvSpPr>
          <p:cNvPr id="57" name="Text 55"/>
          <p:cNvSpPr/>
          <p:nvPr/>
        </p:nvSpPr>
        <p:spPr>
          <a:xfrm>
            <a:off x="9902952" y="55138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4" dirty="0"/>
          </a:p>
        </p:txBody>
      </p:sp>
      <p:sp>
        <p:nvSpPr>
          <p:cNvPr id="58" name="Text 56"/>
          <p:cNvSpPr/>
          <p:nvPr/>
        </p:nvSpPr>
        <p:spPr>
          <a:xfrm>
            <a:off x="10817352" y="55138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4" dirty="0"/>
          </a:p>
        </p:txBody>
      </p:sp>
      <p:sp>
        <p:nvSpPr>
          <p:cNvPr id="59" name="Shape 57"/>
          <p:cNvSpPr/>
          <p:nvPr/>
        </p:nvSpPr>
        <p:spPr>
          <a:xfrm>
            <a:off x="7406640" y="4983480"/>
            <a:ext cx="594360" cy="329184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749040" y="6099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8092440" y="6099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RED-BLACK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Deletion cases 3 and 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063240" cy="2468880"/>
          </a:xfrm>
          <a:prstGeom prst="roundRect">
            <a:avLst>
              <a:gd name="adj" fmla="val 2963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3: W black, near nephew red, far nephew black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84832"/>
            <a:ext cx="2743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colours of W and its red child a, then rotate W right (away from X). Nothing is fixed yet, but the far nephew is now red: that is case 4.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3716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0" y="13716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572000" y="1828800"/>
            <a:ext cx="82296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94960" y="1828800"/>
            <a:ext cx="82296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5760720" y="2514600"/>
            <a:ext cx="45720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514600"/>
            <a:ext cx="45720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1627632"/>
            <a:ext cx="402336" cy="402336"/>
          </a:xfrm>
          <a:prstGeom prst="ellipse">
            <a:avLst/>
          </a:prstGeom>
          <a:solidFill>
            <a:srgbClr val="C3CEC8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4" dirty="0"/>
          </a:p>
        </p:txBody>
      </p:sp>
      <p:sp>
        <p:nvSpPr>
          <p:cNvPr id="15" name="Shape 13"/>
          <p:cNvSpPr/>
          <p:nvPr/>
        </p:nvSpPr>
        <p:spPr>
          <a:xfrm>
            <a:off x="4306458" y="2249058"/>
            <a:ext cx="531084" cy="531084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29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23134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4" dirty="0"/>
          </a:p>
        </p:txBody>
      </p:sp>
      <p:sp>
        <p:nvSpPr>
          <p:cNvPr id="17" name="Text 15"/>
          <p:cNvSpPr/>
          <p:nvPr/>
        </p:nvSpPr>
        <p:spPr>
          <a:xfrm>
            <a:off x="6016752" y="23134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4" dirty="0"/>
          </a:p>
        </p:txBody>
      </p:sp>
      <p:sp>
        <p:nvSpPr>
          <p:cNvPr id="18" name="Text 16"/>
          <p:cNvSpPr/>
          <p:nvPr/>
        </p:nvSpPr>
        <p:spPr>
          <a:xfrm>
            <a:off x="5559552" y="2999232"/>
            <a:ext cx="402336" cy="402336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4" dirty="0"/>
          </a:p>
        </p:txBody>
      </p:sp>
      <p:sp>
        <p:nvSpPr>
          <p:cNvPr id="19" name="Text 17"/>
          <p:cNvSpPr/>
          <p:nvPr/>
        </p:nvSpPr>
        <p:spPr>
          <a:xfrm>
            <a:off x="6473952" y="29992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4" dirty="0"/>
          </a:p>
        </p:txBody>
      </p:sp>
      <p:sp>
        <p:nvSpPr>
          <p:cNvPr id="20" name="Shape 18"/>
          <p:cNvSpPr/>
          <p:nvPr/>
        </p:nvSpPr>
        <p:spPr>
          <a:xfrm flipV="1">
            <a:off x="8915400" y="1828800"/>
            <a:ext cx="822960" cy="59436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38360" y="1828800"/>
            <a:ext cx="640080" cy="59436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78440" y="2423160"/>
            <a:ext cx="457200" cy="59436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35640" y="3017520"/>
            <a:ext cx="457200" cy="59436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37192" y="1627632"/>
            <a:ext cx="402336" cy="402336"/>
          </a:xfrm>
          <a:prstGeom prst="ellipse">
            <a:avLst/>
          </a:prstGeom>
          <a:solidFill>
            <a:srgbClr val="C3CEC8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4" dirty="0"/>
          </a:p>
        </p:txBody>
      </p:sp>
      <p:sp>
        <p:nvSpPr>
          <p:cNvPr id="25" name="Shape 23"/>
          <p:cNvSpPr/>
          <p:nvPr/>
        </p:nvSpPr>
        <p:spPr>
          <a:xfrm>
            <a:off x="8649858" y="2157618"/>
            <a:ext cx="531084" cy="531084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29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14232" y="222199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4" dirty="0"/>
          </a:p>
        </p:txBody>
      </p:sp>
      <p:sp>
        <p:nvSpPr>
          <p:cNvPr id="27" name="Text 25"/>
          <p:cNvSpPr/>
          <p:nvPr/>
        </p:nvSpPr>
        <p:spPr>
          <a:xfrm>
            <a:off x="10177272" y="222199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4" dirty="0"/>
          </a:p>
        </p:txBody>
      </p:sp>
      <p:sp>
        <p:nvSpPr>
          <p:cNvPr id="28" name="Text 26"/>
          <p:cNvSpPr/>
          <p:nvPr/>
        </p:nvSpPr>
        <p:spPr>
          <a:xfrm>
            <a:off x="10634472" y="2816352"/>
            <a:ext cx="402336" cy="402336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4" dirty="0"/>
          </a:p>
        </p:txBody>
      </p:sp>
      <p:sp>
        <p:nvSpPr>
          <p:cNvPr id="29" name="Text 27"/>
          <p:cNvSpPr/>
          <p:nvPr/>
        </p:nvSpPr>
        <p:spPr>
          <a:xfrm>
            <a:off x="11091672" y="341071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4" dirty="0"/>
          </a:p>
        </p:txBody>
      </p:sp>
      <p:sp>
        <p:nvSpPr>
          <p:cNvPr id="30" name="Shape 28"/>
          <p:cNvSpPr/>
          <p:nvPr/>
        </p:nvSpPr>
        <p:spPr>
          <a:xfrm>
            <a:off x="7406640" y="2468880"/>
            <a:ext cx="594360" cy="329184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49040" y="35844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092440" y="35844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886200"/>
            <a:ext cx="3063240" cy="2468880"/>
          </a:xfrm>
          <a:prstGeom prst="roundRect">
            <a:avLst>
              <a:gd name="adj" fmla="val 2963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3977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4: W black, far nephew red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4599432"/>
            <a:ext cx="2743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takes P’s colour; P and the far nephew b turn black; rotate P left (towards X). The extra black is absorbed: the double black disappears and the tree is valid. Finished!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749040" y="38862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92440" y="38862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4572000" y="4343400"/>
            <a:ext cx="82296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94960" y="4343400"/>
            <a:ext cx="82296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5760720" y="5029200"/>
            <a:ext cx="45720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5029200"/>
            <a:ext cx="45720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93792" y="4142232"/>
            <a:ext cx="402336" cy="402336"/>
          </a:xfrm>
          <a:prstGeom prst="ellipse">
            <a:avLst/>
          </a:prstGeom>
          <a:solidFill>
            <a:srgbClr val="C3CEC8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4" dirty="0"/>
          </a:p>
        </p:txBody>
      </p:sp>
      <p:sp>
        <p:nvSpPr>
          <p:cNvPr id="43" name="Shape 41"/>
          <p:cNvSpPr/>
          <p:nvPr/>
        </p:nvSpPr>
        <p:spPr>
          <a:xfrm>
            <a:off x="4306458" y="4763658"/>
            <a:ext cx="531084" cy="531084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292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70832" y="48280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4" dirty="0"/>
          </a:p>
        </p:txBody>
      </p:sp>
      <p:sp>
        <p:nvSpPr>
          <p:cNvPr id="45" name="Text 43"/>
          <p:cNvSpPr/>
          <p:nvPr/>
        </p:nvSpPr>
        <p:spPr>
          <a:xfrm>
            <a:off x="6016752" y="48280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4" dirty="0"/>
          </a:p>
        </p:txBody>
      </p:sp>
      <p:sp>
        <p:nvSpPr>
          <p:cNvPr id="46" name="Text 44"/>
          <p:cNvSpPr/>
          <p:nvPr/>
        </p:nvSpPr>
        <p:spPr>
          <a:xfrm>
            <a:off x="5559552" y="5513832"/>
            <a:ext cx="402336" cy="402336"/>
          </a:xfrm>
          <a:prstGeom prst="ellipse">
            <a:avLst/>
          </a:prstGeom>
          <a:solidFill>
            <a:srgbClr val="C3CEC8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4" dirty="0"/>
          </a:p>
        </p:txBody>
      </p:sp>
      <p:sp>
        <p:nvSpPr>
          <p:cNvPr id="47" name="Text 45"/>
          <p:cNvSpPr/>
          <p:nvPr/>
        </p:nvSpPr>
        <p:spPr>
          <a:xfrm>
            <a:off x="6473952" y="5513832"/>
            <a:ext cx="402336" cy="402336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4" dirty="0"/>
          </a:p>
        </p:txBody>
      </p:sp>
      <p:sp>
        <p:nvSpPr>
          <p:cNvPr id="48" name="Shape 46"/>
          <p:cNvSpPr/>
          <p:nvPr/>
        </p:nvSpPr>
        <p:spPr>
          <a:xfrm flipV="1">
            <a:off x="9189720" y="4343400"/>
            <a:ext cx="73152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921240" y="4343400"/>
            <a:ext cx="73152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8732520" y="5029200"/>
            <a:ext cx="45720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89720" y="5029200"/>
            <a:ext cx="45720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20072" y="4142232"/>
            <a:ext cx="402336" cy="402336"/>
          </a:xfrm>
          <a:prstGeom prst="ellipse">
            <a:avLst/>
          </a:prstGeom>
          <a:solidFill>
            <a:srgbClr val="C3CEC8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4" dirty="0"/>
          </a:p>
        </p:txBody>
      </p:sp>
      <p:sp>
        <p:nvSpPr>
          <p:cNvPr id="53" name="Text 51"/>
          <p:cNvSpPr/>
          <p:nvPr/>
        </p:nvSpPr>
        <p:spPr>
          <a:xfrm>
            <a:off x="8988552" y="48280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4" dirty="0"/>
          </a:p>
        </p:txBody>
      </p:sp>
      <p:sp>
        <p:nvSpPr>
          <p:cNvPr id="54" name="Text 52"/>
          <p:cNvSpPr/>
          <p:nvPr/>
        </p:nvSpPr>
        <p:spPr>
          <a:xfrm>
            <a:off x="10451592" y="48280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4" dirty="0"/>
          </a:p>
        </p:txBody>
      </p:sp>
      <p:sp>
        <p:nvSpPr>
          <p:cNvPr id="55" name="Text 53"/>
          <p:cNvSpPr/>
          <p:nvPr/>
        </p:nvSpPr>
        <p:spPr>
          <a:xfrm>
            <a:off x="8531352" y="5513832"/>
            <a:ext cx="402336" cy="402336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4" dirty="0"/>
          </a:p>
        </p:txBody>
      </p:sp>
      <p:sp>
        <p:nvSpPr>
          <p:cNvPr id="56" name="Text 54"/>
          <p:cNvSpPr/>
          <p:nvPr/>
        </p:nvSpPr>
        <p:spPr>
          <a:xfrm>
            <a:off x="9445752" y="5513832"/>
            <a:ext cx="402336" cy="402336"/>
          </a:xfrm>
          <a:prstGeom prst="ellipse">
            <a:avLst/>
          </a:prstGeom>
          <a:solidFill>
            <a:srgbClr val="C3CEC8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4" dirty="0"/>
          </a:p>
        </p:txBody>
      </p:sp>
      <p:sp>
        <p:nvSpPr>
          <p:cNvPr id="57" name="Shape 55"/>
          <p:cNvSpPr/>
          <p:nvPr/>
        </p:nvSpPr>
        <p:spPr>
          <a:xfrm>
            <a:off x="7406640" y="4983480"/>
            <a:ext cx="594360" cy="329184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749040" y="6099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8092440" y="60990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RED-BLACK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Deletion example 1: delete 30 (lecture slides 191-196)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876993" y="3200400"/>
            <a:ext cx="328353" cy="64008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5345" y="3200400"/>
            <a:ext cx="328353" cy="64008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205345" y="2560320"/>
            <a:ext cx="656705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190404" y="3200400"/>
            <a:ext cx="328353" cy="64008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8756" y="3200400"/>
            <a:ext cx="328353" cy="64008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62051" y="2560320"/>
            <a:ext cx="656705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862051" y="1920240"/>
            <a:ext cx="820882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3175462" y="2560320"/>
            <a:ext cx="328353" cy="64008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03815" y="2560320"/>
            <a:ext cx="328353" cy="64008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82933" y="1920240"/>
            <a:ext cx="820882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4697" y="375818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51402" y="375818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6745" y="2971800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68" dirty="0"/>
          </a:p>
        </p:txBody>
      </p:sp>
      <p:sp>
        <p:nvSpPr>
          <p:cNvPr id="19" name="Shape 17"/>
          <p:cNvSpPr/>
          <p:nvPr/>
        </p:nvSpPr>
        <p:spPr>
          <a:xfrm>
            <a:off x="2108108" y="375818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64813" y="375818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90156" y="2971800"/>
            <a:ext cx="457200" cy="457200"/>
          </a:xfrm>
          <a:prstGeom prst="ellipse">
            <a:avLst/>
          </a:prstGeom>
          <a:solidFill>
            <a:srgbClr val="22292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68" dirty="0"/>
          </a:p>
        </p:txBody>
      </p:sp>
      <p:sp>
        <p:nvSpPr>
          <p:cNvPr id="22" name="Text 20"/>
          <p:cNvSpPr/>
          <p:nvPr/>
        </p:nvSpPr>
        <p:spPr>
          <a:xfrm>
            <a:off x="1633451" y="2331720"/>
            <a:ext cx="457200" cy="45720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68" dirty="0"/>
          </a:p>
        </p:txBody>
      </p:sp>
      <p:sp>
        <p:nvSpPr>
          <p:cNvPr id="23" name="Shape 21"/>
          <p:cNvSpPr/>
          <p:nvPr/>
        </p:nvSpPr>
        <p:spPr>
          <a:xfrm>
            <a:off x="3093166" y="311810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49871" y="311810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5215" y="2331720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368" dirty="0"/>
          </a:p>
        </p:txBody>
      </p:sp>
      <p:sp>
        <p:nvSpPr>
          <p:cNvPr id="26" name="Text 24"/>
          <p:cNvSpPr/>
          <p:nvPr/>
        </p:nvSpPr>
        <p:spPr>
          <a:xfrm>
            <a:off x="2454333" y="1691640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68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1371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30 (a black leaf)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flipV="1">
            <a:off x="5303520" y="2011680"/>
            <a:ext cx="731520" cy="7315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2011680"/>
            <a:ext cx="731520" cy="7315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4846320" y="2743200"/>
            <a:ext cx="457200" cy="7315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0" y="2743200"/>
            <a:ext cx="457200" cy="7315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1783080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68" dirty="0"/>
          </a:p>
        </p:txBody>
      </p:sp>
      <p:sp>
        <p:nvSpPr>
          <p:cNvPr id="33" name="Text 31"/>
          <p:cNvSpPr/>
          <p:nvPr/>
        </p:nvSpPr>
        <p:spPr>
          <a:xfrm>
            <a:off x="5074920" y="2514600"/>
            <a:ext cx="457200" cy="45720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68" dirty="0"/>
          </a:p>
        </p:txBody>
      </p:sp>
      <p:sp>
        <p:nvSpPr>
          <p:cNvPr id="34" name="Text 32"/>
          <p:cNvSpPr/>
          <p:nvPr/>
        </p:nvSpPr>
        <p:spPr>
          <a:xfrm>
            <a:off x="6537960" y="2514600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368" dirty="0"/>
          </a:p>
        </p:txBody>
      </p:sp>
      <p:sp>
        <p:nvSpPr>
          <p:cNvPr id="35" name="Text 33"/>
          <p:cNvSpPr/>
          <p:nvPr/>
        </p:nvSpPr>
        <p:spPr>
          <a:xfrm>
            <a:off x="4617720" y="3246120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68" dirty="0"/>
          </a:p>
        </p:txBody>
      </p:sp>
      <p:sp>
        <p:nvSpPr>
          <p:cNvPr id="36" name="Shape 34"/>
          <p:cNvSpPr/>
          <p:nvPr/>
        </p:nvSpPr>
        <p:spPr>
          <a:xfrm>
            <a:off x="5458968" y="3172968"/>
            <a:ext cx="603504" cy="603504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292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78424" y="339242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46720" y="1371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fix (case 2, mirrored)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 flipV="1">
            <a:off x="8652510" y="3200400"/>
            <a:ext cx="342900" cy="64008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95410" y="3200400"/>
            <a:ext cx="342900" cy="64008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8995410" y="2560320"/>
            <a:ext cx="34290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38310" y="2560320"/>
            <a:ext cx="342900" cy="64008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9338310" y="1920240"/>
            <a:ext cx="68580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10367010" y="2560320"/>
            <a:ext cx="342900" cy="64008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709910" y="2560320"/>
            <a:ext cx="342900" cy="64008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24110" y="1920240"/>
            <a:ext cx="68580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70214" y="375818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56014" y="375818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66810" y="2971800"/>
            <a:ext cx="457200" cy="45720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68" dirty="0"/>
          </a:p>
        </p:txBody>
      </p:sp>
      <p:sp>
        <p:nvSpPr>
          <p:cNvPr id="50" name="Shape 48"/>
          <p:cNvSpPr/>
          <p:nvPr/>
        </p:nvSpPr>
        <p:spPr>
          <a:xfrm>
            <a:off x="9598914" y="311810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09710" y="2331720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68" dirty="0"/>
          </a:p>
        </p:txBody>
      </p:sp>
      <p:sp>
        <p:nvSpPr>
          <p:cNvPr id="52" name="Shape 50"/>
          <p:cNvSpPr/>
          <p:nvPr/>
        </p:nvSpPr>
        <p:spPr>
          <a:xfrm>
            <a:off x="10284714" y="311810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970514" y="311810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481310" y="2331720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368" dirty="0"/>
          </a:p>
        </p:txBody>
      </p:sp>
      <p:sp>
        <p:nvSpPr>
          <p:cNvPr id="55" name="Text 53"/>
          <p:cNvSpPr/>
          <p:nvPr/>
        </p:nvSpPr>
        <p:spPr>
          <a:xfrm>
            <a:off x="9795510" y="1691640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68" dirty="0"/>
          </a:p>
        </p:txBody>
      </p:sp>
      <p:sp>
        <p:nvSpPr>
          <p:cNvPr id="56" name="Shape 54"/>
          <p:cNvSpPr/>
          <p:nvPr/>
        </p:nvSpPr>
        <p:spPr>
          <a:xfrm>
            <a:off x="3977640" y="2651760"/>
            <a:ext cx="365760" cy="274320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80960" y="2651760"/>
            <a:ext cx="365760" cy="274320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48640" y="4343400"/>
            <a:ext cx="11109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735" indent="-165735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black leaf 30 leaves a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 double-black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child on the right of 20.</a:t>
            </a:r>
            <a:endParaRPr lang="en-US" sz="1450" dirty="0"/>
          </a:p>
          <a:p>
            <a:pPr marL="165735" indent="-165735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X’s sibling is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black, with two NIL (black) children →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(mirrored)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 → red, extra black moves up to P.</a:t>
            </a:r>
            <a:endParaRPr lang="en-US" sz="1450" dirty="0"/>
          </a:p>
          <a:p>
            <a:pPr marL="165735" indent="-165735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is red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red + extra black = black.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Done.</a:t>
            </a:r>
            <a:endParaRPr lang="en-US" sz="1450" dirty="0"/>
          </a:p>
          <a:p>
            <a:pPr marL="165735" indent="-165735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rule 5: every path from 40 to a NIL has 2 black nodes ✔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RED-BLACK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Deletion example 2: case 3 leading into case 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447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(valid tree)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4447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40 → DB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4447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swap colours, rotate right at 80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052560" y="137160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98280" y="14447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4: rotate left at 50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flipV="1">
            <a:off x="928116" y="2874264"/>
            <a:ext cx="315468" cy="65227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43584" y="2874264"/>
            <a:ext cx="315468" cy="65227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243584" y="2221992"/>
            <a:ext cx="630936" cy="6522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874520" y="3526536"/>
            <a:ext cx="315468" cy="65227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89988" y="3526536"/>
            <a:ext cx="315468" cy="65227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2189988" y="2874264"/>
            <a:ext cx="315468" cy="6522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05456" y="2874264"/>
            <a:ext cx="315468" cy="65227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74520" y="2221992"/>
            <a:ext cx="630936" cy="6522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2404" y="3450824"/>
            <a:ext cx="151425" cy="15142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3340" y="3450824"/>
            <a:ext cx="151425" cy="15142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" y="2663952"/>
            <a:ext cx="420624" cy="420624"/>
          </a:xfrm>
          <a:prstGeom prst="ellipse">
            <a:avLst/>
          </a:prstGeom>
          <a:solidFill>
            <a:srgbClr val="22292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59" dirty="0"/>
          </a:p>
        </p:txBody>
      </p:sp>
      <p:sp>
        <p:nvSpPr>
          <p:cNvPr id="24" name="Shape 22"/>
          <p:cNvSpPr/>
          <p:nvPr/>
        </p:nvSpPr>
        <p:spPr>
          <a:xfrm>
            <a:off x="1798808" y="4103096"/>
            <a:ext cx="151425" cy="15142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29744" y="4103096"/>
            <a:ext cx="151425" cy="15142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9676" y="3316224"/>
            <a:ext cx="420624" cy="420624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59" dirty="0"/>
          </a:p>
        </p:txBody>
      </p:sp>
      <p:sp>
        <p:nvSpPr>
          <p:cNvPr id="27" name="Shape 25"/>
          <p:cNvSpPr/>
          <p:nvPr/>
        </p:nvSpPr>
        <p:spPr>
          <a:xfrm>
            <a:off x="2745212" y="3450824"/>
            <a:ext cx="151425" cy="15142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95144" y="2663952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259" dirty="0"/>
          </a:p>
        </p:txBody>
      </p:sp>
      <p:sp>
        <p:nvSpPr>
          <p:cNvPr id="29" name="Text 27"/>
          <p:cNvSpPr/>
          <p:nvPr/>
        </p:nvSpPr>
        <p:spPr>
          <a:xfrm>
            <a:off x="1664208" y="2011680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30" name="Shape 28"/>
          <p:cNvSpPr/>
          <p:nvPr/>
        </p:nvSpPr>
        <p:spPr>
          <a:xfrm flipV="1">
            <a:off x="4069080" y="2423160"/>
            <a:ext cx="731520" cy="7315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423160"/>
            <a:ext cx="731520" cy="7315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5074920" y="3154680"/>
            <a:ext cx="457200" cy="7315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32120" y="3154680"/>
            <a:ext cx="457200" cy="7315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0288" y="2212848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35" name="Shape 33"/>
          <p:cNvSpPr/>
          <p:nvPr/>
        </p:nvSpPr>
        <p:spPr>
          <a:xfrm>
            <a:off x="3791468" y="2877068"/>
            <a:ext cx="555224" cy="555224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29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93368" y="3078968"/>
            <a:ext cx="151425" cy="15142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21808" y="2944368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259" dirty="0"/>
          </a:p>
        </p:txBody>
      </p:sp>
      <p:sp>
        <p:nvSpPr>
          <p:cNvPr id="38" name="Text 36"/>
          <p:cNvSpPr/>
          <p:nvPr/>
        </p:nvSpPr>
        <p:spPr>
          <a:xfrm>
            <a:off x="4864608" y="3675888"/>
            <a:ext cx="420624" cy="420624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59" dirty="0"/>
          </a:p>
        </p:txBody>
      </p:sp>
      <p:sp>
        <p:nvSpPr>
          <p:cNvPr id="39" name="Shape 37"/>
          <p:cNvSpPr/>
          <p:nvPr/>
        </p:nvSpPr>
        <p:spPr>
          <a:xfrm>
            <a:off x="5913608" y="3810488"/>
            <a:ext cx="151425" cy="15142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6903720" y="2423160"/>
            <a:ext cx="731520" cy="7315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35240" y="2423160"/>
            <a:ext cx="731520" cy="7315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66760" y="3154680"/>
            <a:ext cx="457200" cy="7315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24928" y="2212848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44" name="Shape 42"/>
          <p:cNvSpPr/>
          <p:nvPr/>
        </p:nvSpPr>
        <p:spPr>
          <a:xfrm>
            <a:off x="6626108" y="2877068"/>
            <a:ext cx="555224" cy="555224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292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28008" y="3078968"/>
            <a:ext cx="151425" cy="15142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56448" y="2944368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59" dirty="0"/>
          </a:p>
        </p:txBody>
      </p:sp>
      <p:sp>
        <p:nvSpPr>
          <p:cNvPr id="47" name="Text 45"/>
          <p:cNvSpPr/>
          <p:nvPr/>
        </p:nvSpPr>
        <p:spPr>
          <a:xfrm>
            <a:off x="8613648" y="3675888"/>
            <a:ext cx="420624" cy="420624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259" dirty="0"/>
          </a:p>
        </p:txBody>
      </p:sp>
      <p:sp>
        <p:nvSpPr>
          <p:cNvPr id="48" name="Shape 46"/>
          <p:cNvSpPr/>
          <p:nvPr/>
        </p:nvSpPr>
        <p:spPr>
          <a:xfrm flipV="1">
            <a:off x="9432036" y="2958084"/>
            <a:ext cx="315468" cy="73609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47504" y="2958084"/>
            <a:ext cx="315468" cy="73609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9747504" y="2221992"/>
            <a:ext cx="630936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10693908" y="2958084"/>
            <a:ext cx="315468" cy="73609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009376" y="2958084"/>
            <a:ext cx="315468" cy="73609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378440" y="2221992"/>
            <a:ext cx="630936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356324" y="3618464"/>
            <a:ext cx="151425" cy="15142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987260" y="3618464"/>
            <a:ext cx="151425" cy="15142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537192" y="2747772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57" name="Shape 55"/>
          <p:cNvSpPr/>
          <p:nvPr/>
        </p:nvSpPr>
        <p:spPr>
          <a:xfrm>
            <a:off x="10618196" y="3618464"/>
            <a:ext cx="151425" cy="15142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249132" y="3618464"/>
            <a:ext cx="151425" cy="15142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799064" y="2747772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259" dirty="0"/>
          </a:p>
        </p:txBody>
      </p:sp>
      <p:sp>
        <p:nvSpPr>
          <p:cNvPr id="60" name="Text 58"/>
          <p:cNvSpPr/>
          <p:nvPr/>
        </p:nvSpPr>
        <p:spPr>
          <a:xfrm>
            <a:off x="10168128" y="2011680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59" dirty="0"/>
          </a:p>
        </p:txBody>
      </p:sp>
      <p:sp>
        <p:nvSpPr>
          <p:cNvPr id="61" name="Shape 59"/>
          <p:cNvSpPr/>
          <p:nvPr/>
        </p:nvSpPr>
        <p:spPr>
          <a:xfrm>
            <a:off x="3200400" y="2743200"/>
            <a:ext cx="292608" cy="237744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35040" y="2743200"/>
            <a:ext cx="292608" cy="237744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69680" y="2743200"/>
            <a:ext cx="292608" cy="237744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48640" y="4800600"/>
            <a:ext cx="11109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the NIL where 40 was. Sibling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80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black; near nephew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is red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far nephew is NIL (black) →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colours of 80 and 70, rotate right at 80. Now W = 70 (black) with a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far child 80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takes P’s colour (black), P = 50 and 80 turn black, rotate left at 50.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70(50, 80), all black, valid.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RED-BLACK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Red-Black trees: summary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most 2 (+ recolouring)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most 3 (+ recolouring)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0332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3794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bound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114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≤ 2 · log₂(n + 1)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8006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colour bit per node. Rebalancing is looser than AVL, so updates do less work while lookups are a bit slower.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26480" y="146304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 Strengths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19202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O(log n) for all operations</a:t>
            </a:r>
            <a:endParaRPr lang="en-US" sz="1400" dirty="0"/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rotations: cheap updates</a:t>
            </a:r>
            <a:endParaRPr lang="en-US" sz="1400" dirty="0"/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for maps, sets and priority queues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26480" y="393192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 find them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43891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Java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TreeMap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400" b="1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TreeSet</a:t>
            </a:r>
            <a:endParaRPr lang="en-US" sz="1400" dirty="0"/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process scheduler (CFS) and virtual-memory maps</a:t>
            </a:r>
            <a:endParaRPr lang="en-US" sz="1400" dirty="0"/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File-system structures, routing-table lookups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3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Splay trees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idea: rotate every accessed node to the root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Zig, Zig-Zig, Zig-Zag: three moves cover every case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search, delete — and why the cost is O(log n) amortized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 flipV="1">
            <a:off x="8497229" y="4652289"/>
            <a:ext cx="367990" cy="588784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865220" y="4063504"/>
            <a:ext cx="367990" cy="588784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233210" y="3474720"/>
            <a:ext cx="367990" cy="588784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9601200" y="2885936"/>
            <a:ext cx="367990" cy="588784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969190" y="2297151"/>
            <a:ext cx="367990" cy="588784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337180" y="1708367"/>
            <a:ext cx="367990" cy="588784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902" y="4995746"/>
            <a:ext cx="490654" cy="49065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68" dirty="0"/>
          </a:p>
        </p:txBody>
      </p:sp>
      <p:sp>
        <p:nvSpPr>
          <p:cNvPr id="12" name="Text 10"/>
          <p:cNvSpPr/>
          <p:nvPr/>
        </p:nvSpPr>
        <p:spPr>
          <a:xfrm>
            <a:off x="8619893" y="4406962"/>
            <a:ext cx="490654" cy="49065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68" dirty="0"/>
          </a:p>
        </p:txBody>
      </p:sp>
      <p:sp>
        <p:nvSpPr>
          <p:cNvPr id="13" name="Text 11"/>
          <p:cNvSpPr/>
          <p:nvPr/>
        </p:nvSpPr>
        <p:spPr>
          <a:xfrm>
            <a:off x="8987883" y="3818178"/>
            <a:ext cx="490654" cy="49065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68" dirty="0"/>
          </a:p>
        </p:txBody>
      </p:sp>
      <p:sp>
        <p:nvSpPr>
          <p:cNvPr id="14" name="Text 12"/>
          <p:cNvSpPr/>
          <p:nvPr/>
        </p:nvSpPr>
        <p:spPr>
          <a:xfrm>
            <a:off x="9355873" y="3229393"/>
            <a:ext cx="490654" cy="49065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68" dirty="0"/>
          </a:p>
        </p:txBody>
      </p:sp>
      <p:sp>
        <p:nvSpPr>
          <p:cNvPr id="15" name="Text 13"/>
          <p:cNvSpPr/>
          <p:nvPr/>
        </p:nvSpPr>
        <p:spPr>
          <a:xfrm>
            <a:off x="9723863" y="2640609"/>
            <a:ext cx="490654" cy="49065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68" dirty="0"/>
          </a:p>
        </p:txBody>
      </p:sp>
      <p:sp>
        <p:nvSpPr>
          <p:cNvPr id="16" name="Text 14"/>
          <p:cNvSpPr/>
          <p:nvPr/>
        </p:nvSpPr>
        <p:spPr>
          <a:xfrm>
            <a:off x="10091854" y="2051824"/>
            <a:ext cx="490654" cy="49065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68" dirty="0"/>
          </a:p>
        </p:txBody>
      </p:sp>
      <p:sp>
        <p:nvSpPr>
          <p:cNvPr id="17" name="Text 15"/>
          <p:cNvSpPr/>
          <p:nvPr/>
        </p:nvSpPr>
        <p:spPr>
          <a:xfrm>
            <a:off x="10459844" y="1463040"/>
            <a:ext cx="490654" cy="49065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6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5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SPLAY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Splay trees: the accessed node goes to the root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417320"/>
            <a:ext cx="2510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search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12864" y="3515868"/>
            <a:ext cx="377190" cy="7589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6912864" y="2756916"/>
            <a:ext cx="377190" cy="7589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7290054" y="1997964"/>
            <a:ext cx="377190" cy="7589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38594" y="4023360"/>
            <a:ext cx="502920" cy="50292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5" dirty="0"/>
          </a:p>
        </p:txBody>
      </p:sp>
      <p:sp>
        <p:nvSpPr>
          <p:cNvPr id="10" name="Text 8"/>
          <p:cNvSpPr/>
          <p:nvPr/>
        </p:nvSpPr>
        <p:spPr>
          <a:xfrm>
            <a:off x="6661404" y="3264408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5" dirty="0"/>
          </a:p>
        </p:txBody>
      </p:sp>
      <p:sp>
        <p:nvSpPr>
          <p:cNvPr id="11" name="Text 9"/>
          <p:cNvSpPr/>
          <p:nvPr/>
        </p:nvSpPr>
        <p:spPr>
          <a:xfrm>
            <a:off x="7038594" y="2505456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5" dirty="0"/>
          </a:p>
        </p:txBody>
      </p:sp>
      <p:sp>
        <p:nvSpPr>
          <p:cNvPr id="12" name="Text 10"/>
          <p:cNvSpPr/>
          <p:nvPr/>
        </p:nvSpPr>
        <p:spPr>
          <a:xfrm>
            <a:off x="7415784" y="1746504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5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4544568"/>
            <a:ext cx="25100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is deep: 3 comparisons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18220" y="269748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8572" y="1417320"/>
            <a:ext cx="25100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splay(3)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10026396" y="2256282"/>
            <a:ext cx="377190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0403586" y="3136392"/>
            <a:ext cx="377190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03586" y="2256282"/>
            <a:ext cx="377190" cy="88011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74936" y="2884932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5" dirty="0"/>
          </a:p>
        </p:txBody>
      </p:sp>
      <p:sp>
        <p:nvSpPr>
          <p:cNvPr id="20" name="Text 18"/>
          <p:cNvSpPr/>
          <p:nvPr/>
        </p:nvSpPr>
        <p:spPr>
          <a:xfrm>
            <a:off x="10152126" y="3765042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5" dirty="0"/>
          </a:p>
        </p:txBody>
      </p:sp>
      <p:sp>
        <p:nvSpPr>
          <p:cNvPr id="21" name="Text 19"/>
          <p:cNvSpPr/>
          <p:nvPr/>
        </p:nvSpPr>
        <p:spPr>
          <a:xfrm>
            <a:off x="10529316" y="2884932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5" dirty="0"/>
          </a:p>
        </p:txBody>
      </p:sp>
      <p:sp>
        <p:nvSpPr>
          <p:cNvPr id="22" name="Text 20"/>
          <p:cNvSpPr/>
          <p:nvPr/>
        </p:nvSpPr>
        <p:spPr>
          <a:xfrm>
            <a:off x="10152126" y="2004822"/>
            <a:ext cx="502920" cy="50292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5" dirty="0"/>
          </a:p>
        </p:txBody>
      </p:sp>
      <p:sp>
        <p:nvSpPr>
          <p:cNvPr id="23" name="Text 21"/>
          <p:cNvSpPr txBox="1"/>
          <p:nvPr/>
        </p:nvSpPr>
        <p:spPr>
          <a:xfrm>
            <a:off x="9148572" y="4544568"/>
            <a:ext cx="25100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rotations brought 3 to the root; the path got shorter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1463040"/>
            <a:ext cx="5212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4310" indent="-194310">
              <a:spcAft>
                <a:spcPts val="1300"/>
              </a:spcAft>
              <a:buSzPct val="100000"/>
              <a:buChar char="•"/>
            </a:pPr>
            <a:r>
              <a:rPr lang="en-US" sz="17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Self-adjusting BST:</a:t>
            </a: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every search, insert or delete, the touched node is rotated up until it is the </a:t>
            </a:r>
            <a:r>
              <a:rPr lang="en-US" sz="17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marL="194310" indent="-194310">
              <a:spcAft>
                <a:spcPts val="1300"/>
              </a:spcAft>
              <a:buSzPct val="100000"/>
              <a:buChar char="•"/>
            </a:pPr>
            <a:r>
              <a:rPr lang="en-US" sz="17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data:</a:t>
            </a: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heights, colours or balance factors to store.</a:t>
            </a:r>
            <a:endParaRPr lang="en-US" sz="1700" dirty="0"/>
          </a:p>
          <a:p>
            <a:pPr marL="194310" indent="-194310">
              <a:spcAft>
                <a:spcPts val="1300"/>
              </a:spcAft>
              <a:buSzPct val="100000"/>
              <a:buChar char="•"/>
            </a:pPr>
            <a:r>
              <a:rPr lang="en-US" sz="17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 of reference:</a:t>
            </a: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recently used keys stay near the top, so repeating an access is cheap.</a:t>
            </a:r>
            <a:endParaRPr lang="en-US" sz="1700" dirty="0"/>
          </a:p>
          <a:p>
            <a:pPr marL="194310" indent="-194310">
              <a:spcAft>
                <a:spcPts val="1300"/>
              </a:spcAft>
              <a:buSzPct val="100000"/>
              <a:buChar char="•"/>
            </a:pPr>
            <a:r>
              <a:rPr lang="en-US" sz="17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Amortized O(log n):</a:t>
            </a: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operation can be slow, but any sequence of m operations costs O(m log n) in total.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11109960" cy="1097280"/>
          </a:xfrm>
          <a:prstGeom prst="roundRect">
            <a:avLst>
              <a:gd name="adj" fmla="val 6667"/>
            </a:avLst>
          </a:prstGeom>
          <a:solidFill>
            <a:srgbClr val="FFF3D1"/>
          </a:solidFill>
          <a:ln w="9525">
            <a:solidFill>
              <a:srgbClr val="FFF3D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32180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57784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Splaying rotates by PAIRS (parent and grandparent), not one edge at a time. That is what makes the whole path shorter.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SPLAY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cases cover every splay step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Zig  (Zag)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x’s parent p is the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V="1">
            <a:off x="1051560" y="2880360"/>
            <a:ext cx="548640" cy="7772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08176" y="268833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49" dirty="0"/>
          </a:p>
        </p:txBody>
      </p:sp>
      <p:sp>
        <p:nvSpPr>
          <p:cNvPr id="10" name="Text 8"/>
          <p:cNvSpPr/>
          <p:nvPr/>
        </p:nvSpPr>
        <p:spPr>
          <a:xfrm>
            <a:off x="859536" y="3465576"/>
            <a:ext cx="384048" cy="384048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49" dirty="0"/>
          </a:p>
        </p:txBody>
      </p:sp>
      <p:sp>
        <p:nvSpPr>
          <p:cNvPr id="11" name="Shape 9"/>
          <p:cNvSpPr/>
          <p:nvPr/>
        </p:nvSpPr>
        <p:spPr>
          <a:xfrm>
            <a:off x="2331720" y="3154680"/>
            <a:ext cx="411480" cy="274320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2880360"/>
            <a:ext cx="548640" cy="7772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82696" y="2688336"/>
            <a:ext cx="384048" cy="384048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49" dirty="0"/>
          </a:p>
        </p:txBody>
      </p:sp>
      <p:sp>
        <p:nvSpPr>
          <p:cNvPr id="14" name="Text 12"/>
          <p:cNvSpPr/>
          <p:nvPr/>
        </p:nvSpPr>
        <p:spPr>
          <a:xfrm>
            <a:off x="3831336" y="346557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49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5720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rotation: rotate x over p.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532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only as the last step, when x’s depth is odd.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141732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34840" y="1508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Zig-Zig  (Zag-Zag)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1920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and p are BOTH left children (or both right)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V="1">
            <a:off x="5257800" y="2880360"/>
            <a:ext cx="45720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4800600" y="3566160"/>
            <a:ext cx="45720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22976" y="268833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49" dirty="0"/>
          </a:p>
        </p:txBody>
      </p:sp>
      <p:sp>
        <p:nvSpPr>
          <p:cNvPr id="23" name="Text 21"/>
          <p:cNvSpPr/>
          <p:nvPr/>
        </p:nvSpPr>
        <p:spPr>
          <a:xfrm>
            <a:off x="5065776" y="337413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49" dirty="0"/>
          </a:p>
        </p:txBody>
      </p:sp>
      <p:sp>
        <p:nvSpPr>
          <p:cNvPr id="24" name="Text 22"/>
          <p:cNvSpPr/>
          <p:nvPr/>
        </p:nvSpPr>
        <p:spPr>
          <a:xfrm>
            <a:off x="4608576" y="4059936"/>
            <a:ext cx="384048" cy="384048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49" dirty="0"/>
          </a:p>
        </p:txBody>
      </p:sp>
      <p:sp>
        <p:nvSpPr>
          <p:cNvPr id="25" name="Shape 23"/>
          <p:cNvSpPr/>
          <p:nvPr/>
        </p:nvSpPr>
        <p:spPr>
          <a:xfrm>
            <a:off x="6080760" y="3154680"/>
            <a:ext cx="411480" cy="274320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2880360"/>
            <a:ext cx="45720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3566160"/>
            <a:ext cx="45720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74536" y="2688336"/>
            <a:ext cx="384048" cy="384048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49" dirty="0"/>
          </a:p>
        </p:txBody>
      </p:sp>
      <p:sp>
        <p:nvSpPr>
          <p:cNvPr id="29" name="Text 27"/>
          <p:cNvSpPr/>
          <p:nvPr/>
        </p:nvSpPr>
        <p:spPr>
          <a:xfrm>
            <a:off x="7031736" y="337413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49" dirty="0"/>
          </a:p>
        </p:txBody>
      </p:sp>
      <p:sp>
        <p:nvSpPr>
          <p:cNvPr id="30" name="Text 28"/>
          <p:cNvSpPr/>
          <p:nvPr/>
        </p:nvSpPr>
        <p:spPr>
          <a:xfrm>
            <a:off x="7488936" y="405993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49" dirty="0"/>
          </a:p>
        </p:txBody>
      </p:sp>
      <p:sp>
        <p:nvSpPr>
          <p:cNvPr id="31" name="Text 29"/>
          <p:cNvSpPr txBox="1"/>
          <p:nvPr/>
        </p:nvSpPr>
        <p:spPr>
          <a:xfrm>
            <a:off x="4480560" y="45720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p over g FIRST, then x over p.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480560" y="5532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p and g form a straight line.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046720" y="141732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83880" y="1508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Zig-Zag  (Zag-Zig)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19202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and p are on OPPOSITE sides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641080" y="2880360"/>
            <a:ext cx="82296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9006840" y="3566160"/>
            <a:ext cx="45720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49056" y="268833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49" dirty="0"/>
          </a:p>
        </p:txBody>
      </p:sp>
      <p:sp>
        <p:nvSpPr>
          <p:cNvPr id="39" name="Text 37"/>
          <p:cNvSpPr/>
          <p:nvPr/>
        </p:nvSpPr>
        <p:spPr>
          <a:xfrm>
            <a:off x="9272016" y="337413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49" dirty="0"/>
          </a:p>
        </p:txBody>
      </p:sp>
      <p:sp>
        <p:nvSpPr>
          <p:cNvPr id="40" name="Text 38"/>
          <p:cNvSpPr/>
          <p:nvPr/>
        </p:nvSpPr>
        <p:spPr>
          <a:xfrm>
            <a:off x="8814816" y="4059936"/>
            <a:ext cx="384048" cy="384048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49" dirty="0"/>
          </a:p>
        </p:txBody>
      </p:sp>
      <p:sp>
        <p:nvSpPr>
          <p:cNvPr id="41" name="Shape 39"/>
          <p:cNvSpPr/>
          <p:nvPr/>
        </p:nvSpPr>
        <p:spPr>
          <a:xfrm>
            <a:off x="9829800" y="3154680"/>
            <a:ext cx="411480" cy="274320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10515600" y="2880360"/>
            <a:ext cx="50292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018520" y="2880360"/>
            <a:ext cx="502920" cy="6858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826496" y="2688336"/>
            <a:ext cx="384048" cy="384048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49" dirty="0"/>
          </a:p>
        </p:txBody>
      </p:sp>
      <p:sp>
        <p:nvSpPr>
          <p:cNvPr id="45" name="Text 43"/>
          <p:cNvSpPr/>
          <p:nvPr/>
        </p:nvSpPr>
        <p:spPr>
          <a:xfrm>
            <a:off x="10323576" y="337413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49" dirty="0"/>
          </a:p>
        </p:txBody>
      </p:sp>
      <p:sp>
        <p:nvSpPr>
          <p:cNvPr id="46" name="Text 44"/>
          <p:cNvSpPr/>
          <p:nvPr/>
        </p:nvSpPr>
        <p:spPr>
          <a:xfrm>
            <a:off x="11329416" y="337413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49" dirty="0"/>
          </a:p>
        </p:txBody>
      </p:sp>
      <p:sp>
        <p:nvSpPr>
          <p:cNvPr id="47" name="Text 45"/>
          <p:cNvSpPr txBox="1"/>
          <p:nvPr/>
        </p:nvSpPr>
        <p:spPr>
          <a:xfrm>
            <a:off x="8229600" y="45720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x over p, then x over g.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5532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p and g form a bend.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SPLAY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Zig and Zag: x is a child of the root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27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Zig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3 is the LEFT child of the root: rotate right.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417320"/>
            <a:ext cx="3607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V="1">
            <a:off x="5150358" y="2519172"/>
            <a:ext cx="329184" cy="5532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79542" y="2519172"/>
            <a:ext cx="329184" cy="5532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5479542" y="1965960"/>
            <a:ext cx="329184" cy="5532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8726" y="1965960"/>
            <a:ext cx="329184" cy="5532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0902" y="2852928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13" dirty="0"/>
          </a:p>
        </p:txBody>
      </p:sp>
      <p:sp>
        <p:nvSpPr>
          <p:cNvPr id="14" name="Text 12"/>
          <p:cNvSpPr/>
          <p:nvPr/>
        </p:nvSpPr>
        <p:spPr>
          <a:xfrm>
            <a:off x="5589270" y="2852928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13" dirty="0"/>
          </a:p>
        </p:txBody>
      </p:sp>
      <p:sp>
        <p:nvSpPr>
          <p:cNvPr id="15" name="Text 13"/>
          <p:cNvSpPr/>
          <p:nvPr/>
        </p:nvSpPr>
        <p:spPr>
          <a:xfrm>
            <a:off x="5260086" y="2299716"/>
            <a:ext cx="438912" cy="438912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13" dirty="0"/>
          </a:p>
        </p:txBody>
      </p:sp>
      <p:sp>
        <p:nvSpPr>
          <p:cNvPr id="16" name="Text 14"/>
          <p:cNvSpPr txBox="1"/>
          <p:nvPr/>
        </p:nvSpPr>
        <p:spPr>
          <a:xfrm>
            <a:off x="4693158" y="24277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13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5918454" y="2299716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13" dirty="0"/>
          </a:p>
        </p:txBody>
      </p:sp>
      <p:sp>
        <p:nvSpPr>
          <p:cNvPr id="18" name="Text 16"/>
          <p:cNvSpPr/>
          <p:nvPr/>
        </p:nvSpPr>
        <p:spPr>
          <a:xfrm>
            <a:off x="5589270" y="1746504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13" dirty="0"/>
          </a:p>
        </p:txBody>
      </p:sp>
      <p:sp>
        <p:nvSpPr>
          <p:cNvPr id="19" name="Text 17"/>
          <p:cNvSpPr txBox="1"/>
          <p:nvPr/>
        </p:nvSpPr>
        <p:spPr>
          <a:xfrm>
            <a:off x="5022342" y="1874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13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13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3310128"/>
            <a:ext cx="36073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mark x and its parent 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20940" y="233172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51292" y="1417320"/>
            <a:ext cx="3607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flipV="1">
            <a:off x="9361170" y="1965960"/>
            <a:ext cx="329184" cy="5532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9690354" y="2519172"/>
            <a:ext cx="329184" cy="5532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19538" y="2519172"/>
            <a:ext cx="329184" cy="5532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90354" y="1965960"/>
            <a:ext cx="329184" cy="5532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1714" y="2299716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13" dirty="0"/>
          </a:p>
        </p:txBody>
      </p:sp>
      <p:sp>
        <p:nvSpPr>
          <p:cNvPr id="28" name="Text 26"/>
          <p:cNvSpPr/>
          <p:nvPr/>
        </p:nvSpPr>
        <p:spPr>
          <a:xfrm>
            <a:off x="9470898" y="2852928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13" dirty="0"/>
          </a:p>
        </p:txBody>
      </p:sp>
      <p:sp>
        <p:nvSpPr>
          <p:cNvPr id="29" name="Text 27"/>
          <p:cNvSpPr/>
          <p:nvPr/>
        </p:nvSpPr>
        <p:spPr>
          <a:xfrm>
            <a:off x="10129266" y="2852928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13" dirty="0"/>
          </a:p>
        </p:txBody>
      </p:sp>
      <p:sp>
        <p:nvSpPr>
          <p:cNvPr id="30" name="Text 28"/>
          <p:cNvSpPr/>
          <p:nvPr/>
        </p:nvSpPr>
        <p:spPr>
          <a:xfrm>
            <a:off x="9800082" y="2299716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13" dirty="0"/>
          </a:p>
        </p:txBody>
      </p:sp>
      <p:sp>
        <p:nvSpPr>
          <p:cNvPr id="31" name="Text 29"/>
          <p:cNvSpPr txBox="1"/>
          <p:nvPr/>
        </p:nvSpPr>
        <p:spPr>
          <a:xfrm>
            <a:off x="9233154" y="24277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13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13" dirty="0"/>
          </a:p>
        </p:txBody>
      </p:sp>
      <p:sp>
        <p:nvSpPr>
          <p:cNvPr id="32" name="Text 30"/>
          <p:cNvSpPr/>
          <p:nvPr/>
        </p:nvSpPr>
        <p:spPr>
          <a:xfrm>
            <a:off x="9470898" y="1746504"/>
            <a:ext cx="438912" cy="438912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13" dirty="0"/>
          </a:p>
        </p:txBody>
      </p:sp>
      <p:sp>
        <p:nvSpPr>
          <p:cNvPr id="33" name="Text 31"/>
          <p:cNvSpPr txBox="1"/>
          <p:nvPr/>
        </p:nvSpPr>
        <p:spPr>
          <a:xfrm>
            <a:off x="8903970" y="1874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13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13" dirty="0"/>
          </a:p>
        </p:txBody>
      </p:sp>
      <p:sp>
        <p:nvSpPr>
          <p:cNvPr id="34" name="Text 32"/>
          <p:cNvSpPr txBox="1"/>
          <p:nvPr/>
        </p:nvSpPr>
        <p:spPr>
          <a:xfrm>
            <a:off x="8051292" y="3310128"/>
            <a:ext cx="36073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is the root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388620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3995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Zag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45262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5 is the RIGHT child of the root: rotate left.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3840480" y="3886200"/>
            <a:ext cx="3607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 flipV="1">
            <a:off x="5150358" y="4434840"/>
            <a:ext cx="329184" cy="5532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5479542" y="4988052"/>
            <a:ext cx="329184" cy="5532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08726" y="4988052"/>
            <a:ext cx="329184" cy="5532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79542" y="4434840"/>
            <a:ext cx="329184" cy="5532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0902" y="4768596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13" dirty="0"/>
          </a:p>
        </p:txBody>
      </p:sp>
      <p:sp>
        <p:nvSpPr>
          <p:cNvPr id="44" name="Text 42"/>
          <p:cNvSpPr/>
          <p:nvPr/>
        </p:nvSpPr>
        <p:spPr>
          <a:xfrm>
            <a:off x="5260086" y="5321808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13" dirty="0"/>
          </a:p>
        </p:txBody>
      </p:sp>
      <p:sp>
        <p:nvSpPr>
          <p:cNvPr id="45" name="Text 43"/>
          <p:cNvSpPr/>
          <p:nvPr/>
        </p:nvSpPr>
        <p:spPr>
          <a:xfrm>
            <a:off x="5918454" y="5321808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13" dirty="0"/>
          </a:p>
        </p:txBody>
      </p:sp>
      <p:sp>
        <p:nvSpPr>
          <p:cNvPr id="46" name="Text 44"/>
          <p:cNvSpPr/>
          <p:nvPr/>
        </p:nvSpPr>
        <p:spPr>
          <a:xfrm>
            <a:off x="5589270" y="4768596"/>
            <a:ext cx="438912" cy="438912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13" dirty="0"/>
          </a:p>
        </p:txBody>
      </p:sp>
      <p:sp>
        <p:nvSpPr>
          <p:cNvPr id="47" name="Text 45"/>
          <p:cNvSpPr txBox="1"/>
          <p:nvPr/>
        </p:nvSpPr>
        <p:spPr>
          <a:xfrm>
            <a:off x="5022342" y="48966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13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13" dirty="0"/>
          </a:p>
        </p:txBody>
      </p:sp>
      <p:sp>
        <p:nvSpPr>
          <p:cNvPr id="48" name="Text 46"/>
          <p:cNvSpPr/>
          <p:nvPr/>
        </p:nvSpPr>
        <p:spPr>
          <a:xfrm>
            <a:off x="5260086" y="4215384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13" dirty="0"/>
          </a:p>
        </p:txBody>
      </p:sp>
      <p:sp>
        <p:nvSpPr>
          <p:cNvPr id="49" name="Text 47"/>
          <p:cNvSpPr txBox="1"/>
          <p:nvPr/>
        </p:nvSpPr>
        <p:spPr>
          <a:xfrm>
            <a:off x="4693158" y="43434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13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13" dirty="0"/>
          </a:p>
        </p:txBody>
      </p:sp>
      <p:sp>
        <p:nvSpPr>
          <p:cNvPr id="50" name="Text 48"/>
          <p:cNvSpPr txBox="1"/>
          <p:nvPr/>
        </p:nvSpPr>
        <p:spPr>
          <a:xfrm>
            <a:off x="3840480" y="5779008"/>
            <a:ext cx="36073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mark x and its parent p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520940" y="480060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051292" y="3886200"/>
            <a:ext cx="3607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 flipV="1">
            <a:off x="9361170" y="4988052"/>
            <a:ext cx="329184" cy="5532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690354" y="4988052"/>
            <a:ext cx="329184" cy="5532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9690354" y="4434840"/>
            <a:ext cx="329184" cy="5532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019538" y="4434840"/>
            <a:ext cx="329184" cy="5532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1714" y="5321808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13" dirty="0"/>
          </a:p>
        </p:txBody>
      </p:sp>
      <p:sp>
        <p:nvSpPr>
          <p:cNvPr id="58" name="Text 56"/>
          <p:cNvSpPr/>
          <p:nvPr/>
        </p:nvSpPr>
        <p:spPr>
          <a:xfrm>
            <a:off x="9800082" y="5321808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13" dirty="0"/>
          </a:p>
        </p:txBody>
      </p:sp>
      <p:sp>
        <p:nvSpPr>
          <p:cNvPr id="59" name="Text 57"/>
          <p:cNvSpPr/>
          <p:nvPr/>
        </p:nvSpPr>
        <p:spPr>
          <a:xfrm>
            <a:off x="9470898" y="4768596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13" dirty="0"/>
          </a:p>
        </p:txBody>
      </p:sp>
      <p:sp>
        <p:nvSpPr>
          <p:cNvPr id="60" name="Text 58"/>
          <p:cNvSpPr txBox="1"/>
          <p:nvPr/>
        </p:nvSpPr>
        <p:spPr>
          <a:xfrm>
            <a:off x="8903970" y="48966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13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13" dirty="0"/>
          </a:p>
        </p:txBody>
      </p:sp>
      <p:sp>
        <p:nvSpPr>
          <p:cNvPr id="61" name="Text 59"/>
          <p:cNvSpPr/>
          <p:nvPr/>
        </p:nvSpPr>
        <p:spPr>
          <a:xfrm>
            <a:off x="10129266" y="4768596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13" dirty="0"/>
          </a:p>
        </p:txBody>
      </p:sp>
      <p:sp>
        <p:nvSpPr>
          <p:cNvPr id="62" name="Text 60"/>
          <p:cNvSpPr/>
          <p:nvPr/>
        </p:nvSpPr>
        <p:spPr>
          <a:xfrm>
            <a:off x="9800082" y="4215384"/>
            <a:ext cx="438912" cy="438912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3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13" dirty="0"/>
          </a:p>
        </p:txBody>
      </p:sp>
      <p:sp>
        <p:nvSpPr>
          <p:cNvPr id="63" name="Text 61"/>
          <p:cNvSpPr txBox="1"/>
          <p:nvPr/>
        </p:nvSpPr>
        <p:spPr>
          <a:xfrm>
            <a:off x="9233154" y="43434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13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13" dirty="0"/>
          </a:p>
        </p:txBody>
      </p:sp>
      <p:sp>
        <p:nvSpPr>
          <p:cNvPr id="64" name="Text 62"/>
          <p:cNvSpPr txBox="1"/>
          <p:nvPr/>
        </p:nvSpPr>
        <p:spPr>
          <a:xfrm>
            <a:off x="8051292" y="5779008"/>
            <a:ext cx="36073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is the root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SPLAY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Zig-Zig: rotate the PARENT first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splay(2): x, p, g in a 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684782" y="281635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27682" y="281635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027682" y="201625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0582" y="201625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6182" y="3387852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68" dirty="0"/>
          </a:p>
        </p:txBody>
      </p:sp>
      <p:sp>
        <p:nvSpPr>
          <p:cNvPr id="11" name="Text 9"/>
          <p:cNvSpPr txBox="1"/>
          <p:nvPr/>
        </p:nvSpPr>
        <p:spPr>
          <a:xfrm>
            <a:off x="889254" y="35250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68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68" dirty="0"/>
          </a:p>
        </p:txBody>
      </p:sp>
      <p:sp>
        <p:nvSpPr>
          <p:cNvPr id="12" name="Text 10"/>
          <p:cNvSpPr/>
          <p:nvPr/>
        </p:nvSpPr>
        <p:spPr>
          <a:xfrm>
            <a:off x="2141982" y="338785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68" dirty="0"/>
          </a:p>
        </p:txBody>
      </p:sp>
      <p:sp>
        <p:nvSpPr>
          <p:cNvPr id="13" name="Text 11"/>
          <p:cNvSpPr/>
          <p:nvPr/>
        </p:nvSpPr>
        <p:spPr>
          <a:xfrm>
            <a:off x="1799082" y="258775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68" dirty="0"/>
          </a:p>
        </p:txBody>
      </p:sp>
      <p:sp>
        <p:nvSpPr>
          <p:cNvPr id="14" name="Text 12"/>
          <p:cNvSpPr txBox="1"/>
          <p:nvPr/>
        </p:nvSpPr>
        <p:spPr>
          <a:xfrm>
            <a:off x="1232154" y="27249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68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68" dirty="0"/>
          </a:p>
        </p:txBody>
      </p:sp>
      <p:sp>
        <p:nvSpPr>
          <p:cNvPr id="15" name="Text 13"/>
          <p:cNvSpPr/>
          <p:nvPr/>
        </p:nvSpPr>
        <p:spPr>
          <a:xfrm>
            <a:off x="2484882" y="258775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68" dirty="0"/>
          </a:p>
        </p:txBody>
      </p:sp>
      <p:sp>
        <p:nvSpPr>
          <p:cNvPr id="16" name="Text 14"/>
          <p:cNvSpPr/>
          <p:nvPr/>
        </p:nvSpPr>
        <p:spPr>
          <a:xfrm>
            <a:off x="2141982" y="178765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68" dirty="0"/>
          </a:p>
        </p:txBody>
      </p:sp>
      <p:sp>
        <p:nvSpPr>
          <p:cNvPr id="17" name="Text 15"/>
          <p:cNvSpPr txBox="1"/>
          <p:nvPr/>
        </p:nvSpPr>
        <p:spPr>
          <a:xfrm>
            <a:off x="1575054" y="19248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68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68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95020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2, p = 3, g = 5: all left children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22776" y="256032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53128" y="137160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rotate p over 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flipV="1">
            <a:off x="5589270" y="201625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5932170" y="281635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5070" y="281635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32170" y="201625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60670" y="2587752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68" dirty="0"/>
          </a:p>
        </p:txBody>
      </p:sp>
      <p:sp>
        <p:nvSpPr>
          <p:cNvPr id="26" name="Text 24"/>
          <p:cNvSpPr txBox="1"/>
          <p:nvPr/>
        </p:nvSpPr>
        <p:spPr>
          <a:xfrm>
            <a:off x="4793742" y="27249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68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68" dirty="0"/>
          </a:p>
        </p:txBody>
      </p:sp>
      <p:sp>
        <p:nvSpPr>
          <p:cNvPr id="27" name="Text 25"/>
          <p:cNvSpPr/>
          <p:nvPr/>
        </p:nvSpPr>
        <p:spPr>
          <a:xfrm>
            <a:off x="5703570" y="338785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68" dirty="0"/>
          </a:p>
        </p:txBody>
      </p:sp>
      <p:sp>
        <p:nvSpPr>
          <p:cNvPr id="28" name="Text 26"/>
          <p:cNvSpPr/>
          <p:nvPr/>
        </p:nvSpPr>
        <p:spPr>
          <a:xfrm>
            <a:off x="6389370" y="338785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68" dirty="0"/>
          </a:p>
        </p:txBody>
      </p:sp>
      <p:sp>
        <p:nvSpPr>
          <p:cNvPr id="29" name="Text 27"/>
          <p:cNvSpPr/>
          <p:nvPr/>
        </p:nvSpPr>
        <p:spPr>
          <a:xfrm>
            <a:off x="6046470" y="258775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68" dirty="0"/>
          </a:p>
        </p:txBody>
      </p:sp>
      <p:sp>
        <p:nvSpPr>
          <p:cNvPr id="30" name="Text 28"/>
          <p:cNvSpPr txBox="1"/>
          <p:nvPr/>
        </p:nvSpPr>
        <p:spPr>
          <a:xfrm>
            <a:off x="5479542" y="27249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68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68" dirty="0"/>
          </a:p>
        </p:txBody>
      </p:sp>
      <p:sp>
        <p:nvSpPr>
          <p:cNvPr id="31" name="Text 29"/>
          <p:cNvSpPr/>
          <p:nvPr/>
        </p:nvSpPr>
        <p:spPr>
          <a:xfrm>
            <a:off x="5703570" y="178765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68" dirty="0"/>
          </a:p>
        </p:txBody>
      </p:sp>
      <p:sp>
        <p:nvSpPr>
          <p:cNvPr id="32" name="Text 30"/>
          <p:cNvSpPr txBox="1"/>
          <p:nvPr/>
        </p:nvSpPr>
        <p:spPr>
          <a:xfrm>
            <a:off x="5136642" y="19248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68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68" dirty="0"/>
          </a:p>
        </p:txBody>
      </p:sp>
      <p:sp>
        <p:nvSpPr>
          <p:cNvPr id="33" name="Text 31"/>
          <p:cNvSpPr txBox="1"/>
          <p:nvPr/>
        </p:nvSpPr>
        <p:spPr>
          <a:xfrm>
            <a:off x="4453128" y="395020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moves above 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827264" y="256032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57616" y="137160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rotate x over 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 flipV="1">
            <a:off x="9836658" y="3112008"/>
            <a:ext cx="342900" cy="5913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79558" y="3112008"/>
            <a:ext cx="342900" cy="5913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36658" y="2520696"/>
            <a:ext cx="342900" cy="5913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93758" y="1929384"/>
            <a:ext cx="342900" cy="5913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8058" y="34747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68" dirty="0"/>
          </a:p>
        </p:txBody>
      </p:sp>
      <p:sp>
        <p:nvSpPr>
          <p:cNvPr id="41" name="Text 39"/>
          <p:cNvSpPr/>
          <p:nvPr/>
        </p:nvSpPr>
        <p:spPr>
          <a:xfrm>
            <a:off x="10293858" y="347472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68" dirty="0"/>
          </a:p>
        </p:txBody>
      </p:sp>
      <p:sp>
        <p:nvSpPr>
          <p:cNvPr id="42" name="Text 40"/>
          <p:cNvSpPr/>
          <p:nvPr/>
        </p:nvSpPr>
        <p:spPr>
          <a:xfrm>
            <a:off x="9950958" y="2883408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68" dirty="0"/>
          </a:p>
        </p:txBody>
      </p:sp>
      <p:sp>
        <p:nvSpPr>
          <p:cNvPr id="43" name="Text 41"/>
          <p:cNvSpPr txBox="1"/>
          <p:nvPr/>
        </p:nvSpPr>
        <p:spPr>
          <a:xfrm>
            <a:off x="9384030" y="30205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68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68" dirty="0"/>
          </a:p>
        </p:txBody>
      </p:sp>
      <p:sp>
        <p:nvSpPr>
          <p:cNvPr id="44" name="Text 42"/>
          <p:cNvSpPr/>
          <p:nvPr/>
        </p:nvSpPr>
        <p:spPr>
          <a:xfrm>
            <a:off x="9608058" y="2292096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68" dirty="0"/>
          </a:p>
        </p:txBody>
      </p:sp>
      <p:sp>
        <p:nvSpPr>
          <p:cNvPr id="45" name="Text 43"/>
          <p:cNvSpPr txBox="1"/>
          <p:nvPr/>
        </p:nvSpPr>
        <p:spPr>
          <a:xfrm>
            <a:off x="9041130" y="242925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68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68" dirty="0"/>
          </a:p>
        </p:txBody>
      </p:sp>
      <p:sp>
        <p:nvSpPr>
          <p:cNvPr id="46" name="Text 44"/>
          <p:cNvSpPr/>
          <p:nvPr/>
        </p:nvSpPr>
        <p:spPr>
          <a:xfrm>
            <a:off x="9265158" y="1700784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68" dirty="0"/>
          </a:p>
        </p:txBody>
      </p:sp>
      <p:sp>
        <p:nvSpPr>
          <p:cNvPr id="47" name="Text 45"/>
          <p:cNvSpPr txBox="1"/>
          <p:nvPr/>
        </p:nvSpPr>
        <p:spPr>
          <a:xfrm>
            <a:off x="8698230" y="183794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68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68" dirty="0"/>
          </a:p>
        </p:txBody>
      </p:sp>
      <p:sp>
        <p:nvSpPr>
          <p:cNvPr id="48" name="Text 46"/>
          <p:cNvSpPr txBox="1"/>
          <p:nvPr/>
        </p:nvSpPr>
        <p:spPr>
          <a:xfrm>
            <a:off x="8357616" y="395020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is now the root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45720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Zag-Zag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mirror image: x, p, g all right children → rotate left twice, parent first.</a:t>
            </a:r>
            <a:endParaRPr lang="en-US" sz="1450" dirty="0"/>
          </a:p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matters. Rotating only x twice (simple “move-to-root”) does not shorten the path.</a:t>
            </a:r>
            <a:endParaRPr lang="en-US" sz="1450" dirty="0"/>
          </a:p>
        </p:txBody>
      </p:sp>
      <p:sp>
        <p:nvSpPr>
          <p:cNvPr id="50" name="Shape 48"/>
          <p:cNvSpPr/>
          <p:nvPr/>
        </p:nvSpPr>
        <p:spPr>
          <a:xfrm>
            <a:off x="6858000" y="4526280"/>
            <a:ext cx="4800600" cy="1783080"/>
          </a:xfrm>
          <a:prstGeom prst="roundRect">
            <a:avLst>
              <a:gd name="adj" fmla="val 4103"/>
            </a:avLst>
          </a:prstGeom>
          <a:solidFill>
            <a:srgbClr val="E6F0FA"/>
          </a:solidFill>
          <a:ln w="9525">
            <a:solidFill>
              <a:srgbClr val="E6F0F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040880" y="4636008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4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7040880" y="4892040"/>
            <a:ext cx="4434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left chain of 7 keys and access the deepest one. Simple move-to-root gives another chain (height 6). Splaying with zig-zigs gives height 4 — the path is roughly halved.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SPLAY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Zig-Zag: rotate x twice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splay(4): a bend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684782" y="210769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027682" y="290779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0582" y="290779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27682" y="210769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6182" y="267919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68" dirty="0"/>
          </a:p>
        </p:txBody>
      </p:sp>
      <p:sp>
        <p:nvSpPr>
          <p:cNvPr id="11" name="Text 9"/>
          <p:cNvSpPr/>
          <p:nvPr/>
        </p:nvSpPr>
        <p:spPr>
          <a:xfrm>
            <a:off x="1799082" y="3479292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68" dirty="0"/>
          </a:p>
        </p:txBody>
      </p:sp>
      <p:sp>
        <p:nvSpPr>
          <p:cNvPr id="12" name="Text 10"/>
          <p:cNvSpPr txBox="1"/>
          <p:nvPr/>
        </p:nvSpPr>
        <p:spPr>
          <a:xfrm>
            <a:off x="1232154" y="36164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68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68" dirty="0"/>
          </a:p>
        </p:txBody>
      </p:sp>
      <p:sp>
        <p:nvSpPr>
          <p:cNvPr id="13" name="Text 11"/>
          <p:cNvSpPr/>
          <p:nvPr/>
        </p:nvSpPr>
        <p:spPr>
          <a:xfrm>
            <a:off x="2484882" y="347929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68" dirty="0"/>
          </a:p>
        </p:txBody>
      </p:sp>
      <p:sp>
        <p:nvSpPr>
          <p:cNvPr id="14" name="Text 12"/>
          <p:cNvSpPr/>
          <p:nvPr/>
        </p:nvSpPr>
        <p:spPr>
          <a:xfrm>
            <a:off x="2141982" y="267919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68" dirty="0"/>
          </a:p>
        </p:txBody>
      </p:sp>
      <p:sp>
        <p:nvSpPr>
          <p:cNvPr id="15" name="Text 13"/>
          <p:cNvSpPr txBox="1"/>
          <p:nvPr/>
        </p:nvSpPr>
        <p:spPr>
          <a:xfrm>
            <a:off x="1575054" y="28163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68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68" dirty="0"/>
          </a:p>
        </p:txBody>
      </p:sp>
      <p:sp>
        <p:nvSpPr>
          <p:cNvPr id="16" name="Text 14"/>
          <p:cNvSpPr/>
          <p:nvPr/>
        </p:nvSpPr>
        <p:spPr>
          <a:xfrm>
            <a:off x="1799082" y="187909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68" dirty="0"/>
          </a:p>
        </p:txBody>
      </p:sp>
      <p:sp>
        <p:nvSpPr>
          <p:cNvPr id="17" name="Text 15"/>
          <p:cNvSpPr txBox="1"/>
          <p:nvPr/>
        </p:nvSpPr>
        <p:spPr>
          <a:xfrm>
            <a:off x="1232154" y="20162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68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68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13308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4 is the LEFT child of p = 5, and p is the RIGHT child of g = 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22776" y="256032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53128" y="137160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rotate x over p (right)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flipV="1">
            <a:off x="5417820" y="1929384"/>
            <a:ext cx="342900" cy="6522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3233928"/>
            <a:ext cx="342900" cy="6522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03620" y="2581656"/>
            <a:ext cx="342900" cy="6522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0" y="1929384"/>
            <a:ext cx="342900" cy="6522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89220" y="2353056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68" dirty="0"/>
          </a:p>
        </p:txBody>
      </p:sp>
      <p:sp>
        <p:nvSpPr>
          <p:cNvPr id="26" name="Text 24"/>
          <p:cNvSpPr/>
          <p:nvPr/>
        </p:nvSpPr>
        <p:spPr>
          <a:xfrm>
            <a:off x="6560820" y="365760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68" dirty="0"/>
          </a:p>
        </p:txBody>
      </p:sp>
      <p:sp>
        <p:nvSpPr>
          <p:cNvPr id="27" name="Text 25"/>
          <p:cNvSpPr/>
          <p:nvPr/>
        </p:nvSpPr>
        <p:spPr>
          <a:xfrm>
            <a:off x="6217920" y="3005328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68" dirty="0"/>
          </a:p>
        </p:txBody>
      </p:sp>
      <p:sp>
        <p:nvSpPr>
          <p:cNvPr id="28" name="Text 26"/>
          <p:cNvSpPr txBox="1"/>
          <p:nvPr/>
        </p:nvSpPr>
        <p:spPr>
          <a:xfrm>
            <a:off x="5650992" y="31424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68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68" dirty="0"/>
          </a:p>
        </p:txBody>
      </p:sp>
      <p:sp>
        <p:nvSpPr>
          <p:cNvPr id="29" name="Text 27"/>
          <p:cNvSpPr/>
          <p:nvPr/>
        </p:nvSpPr>
        <p:spPr>
          <a:xfrm>
            <a:off x="5875020" y="2353056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68" dirty="0"/>
          </a:p>
        </p:txBody>
      </p:sp>
      <p:sp>
        <p:nvSpPr>
          <p:cNvPr id="30" name="Text 28"/>
          <p:cNvSpPr txBox="1"/>
          <p:nvPr/>
        </p:nvSpPr>
        <p:spPr>
          <a:xfrm>
            <a:off x="5308092" y="24902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68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68" dirty="0"/>
          </a:p>
        </p:txBody>
      </p:sp>
      <p:sp>
        <p:nvSpPr>
          <p:cNvPr id="31" name="Text 29"/>
          <p:cNvSpPr/>
          <p:nvPr/>
        </p:nvSpPr>
        <p:spPr>
          <a:xfrm>
            <a:off x="5532120" y="1700784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68" dirty="0"/>
          </a:p>
        </p:txBody>
      </p:sp>
      <p:sp>
        <p:nvSpPr>
          <p:cNvPr id="32" name="Text 30"/>
          <p:cNvSpPr txBox="1"/>
          <p:nvPr/>
        </p:nvSpPr>
        <p:spPr>
          <a:xfrm>
            <a:off x="4965192" y="183794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68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68" dirty="0"/>
          </a:p>
        </p:txBody>
      </p:sp>
      <p:sp>
        <p:nvSpPr>
          <p:cNvPr id="33" name="Text 31"/>
          <p:cNvSpPr txBox="1"/>
          <p:nvPr/>
        </p:nvSpPr>
        <p:spPr>
          <a:xfrm>
            <a:off x="4453128" y="413308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bend becomes a line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827264" y="256032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57616" y="137160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rotate x over g (left)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 flipV="1">
            <a:off x="9322308" y="290779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9665208" y="210769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351008" y="290779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08108" y="2107692"/>
            <a:ext cx="342900" cy="8001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93708" y="347929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68" dirty="0"/>
          </a:p>
        </p:txBody>
      </p:sp>
      <p:sp>
        <p:nvSpPr>
          <p:cNvPr id="41" name="Text 39"/>
          <p:cNvSpPr/>
          <p:nvPr/>
        </p:nvSpPr>
        <p:spPr>
          <a:xfrm>
            <a:off x="9436608" y="267919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68" dirty="0"/>
          </a:p>
        </p:txBody>
      </p:sp>
      <p:sp>
        <p:nvSpPr>
          <p:cNvPr id="42" name="Text 40"/>
          <p:cNvSpPr txBox="1"/>
          <p:nvPr/>
        </p:nvSpPr>
        <p:spPr>
          <a:xfrm>
            <a:off x="8869680" y="28163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68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68" dirty="0"/>
          </a:p>
        </p:txBody>
      </p:sp>
      <p:sp>
        <p:nvSpPr>
          <p:cNvPr id="43" name="Text 41"/>
          <p:cNvSpPr/>
          <p:nvPr/>
        </p:nvSpPr>
        <p:spPr>
          <a:xfrm>
            <a:off x="10465308" y="347929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68" dirty="0"/>
          </a:p>
        </p:txBody>
      </p:sp>
      <p:sp>
        <p:nvSpPr>
          <p:cNvPr id="44" name="Text 42"/>
          <p:cNvSpPr/>
          <p:nvPr/>
        </p:nvSpPr>
        <p:spPr>
          <a:xfrm>
            <a:off x="10122408" y="2679192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68" dirty="0"/>
          </a:p>
        </p:txBody>
      </p:sp>
      <p:sp>
        <p:nvSpPr>
          <p:cNvPr id="45" name="Text 43"/>
          <p:cNvSpPr txBox="1"/>
          <p:nvPr/>
        </p:nvSpPr>
        <p:spPr>
          <a:xfrm>
            <a:off x="9555480" y="28163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68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68" dirty="0"/>
          </a:p>
        </p:txBody>
      </p:sp>
      <p:sp>
        <p:nvSpPr>
          <p:cNvPr id="46" name="Text 44"/>
          <p:cNvSpPr/>
          <p:nvPr/>
        </p:nvSpPr>
        <p:spPr>
          <a:xfrm>
            <a:off x="9779508" y="1879092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68" dirty="0"/>
          </a:p>
        </p:txBody>
      </p:sp>
      <p:sp>
        <p:nvSpPr>
          <p:cNvPr id="47" name="Text 45"/>
          <p:cNvSpPr txBox="1"/>
          <p:nvPr/>
        </p:nvSpPr>
        <p:spPr>
          <a:xfrm>
            <a:off x="9212580" y="20162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68" b="1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68" dirty="0"/>
          </a:p>
        </p:txBody>
      </p:sp>
      <p:sp>
        <p:nvSpPr>
          <p:cNvPr id="48" name="Text 46"/>
          <p:cNvSpPr txBox="1"/>
          <p:nvPr/>
        </p:nvSpPr>
        <p:spPr>
          <a:xfrm>
            <a:off x="8357616" y="413308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is the root; 3 and 5 are its children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4846320"/>
            <a:ext cx="11109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Zag-Zig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mirror image (x is the RIGHT child of a LEFT child): rotate left, then right.</a:t>
            </a:r>
            <a:endParaRPr lang="en-US" sz="1500" dirty="0"/>
          </a:p>
          <a:p>
            <a:pPr marL="171450" indent="-17145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double rotation as an AVL LR/RL case, except x always ends at the very top.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SPLAY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operation is a splay plus a little extra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Search(x)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BST search.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splay that node to the root.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found: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splay the LAST node visited on the search path.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Insert(x)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9659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BST insertion as a leaf.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splay the new node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root.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FF3D1"/>
          </a:solidFill>
          <a:ln w="9525">
            <a:solidFill>
              <a:srgbClr val="FFF3D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Delete(x)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43484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Splay x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root and remove it: two trees L and R remain.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 is empty, R is the answer.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splay the maximum of L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(it has no right child) and hang </a:t>
            </a: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its right child.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2200" y="388620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/ Split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443484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Join(A, B)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(all A &lt; all B): splay the max of A, attach B on its right.</a:t>
            </a:r>
            <a:endParaRPr lang="en-US" sz="1500" dirty="0"/>
          </a:p>
          <a:p>
            <a:pPr marL="171450" indent="-17145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Split(k):</a:t>
            </a: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splay k (or its neighbour), cut the link to its right subtree.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SPLAY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Splay example: insert 50, 30, 40, 20, 60 (1 of 2)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goes in first and simply becomes the root. Amber = the newly inserted node.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828800" cy="2286000"/>
          </a:xfrm>
          <a:prstGeom prst="roundRect">
            <a:avLst>
              <a:gd name="adj" fmla="val 4000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30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860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645920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insert 30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V="1">
            <a:off x="4558284" y="258546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7972" y="3111246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12" name="Text 10"/>
          <p:cNvSpPr/>
          <p:nvPr/>
        </p:nvSpPr>
        <p:spPr>
          <a:xfrm>
            <a:off x="4663440" y="237515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13" name="Shape 11"/>
          <p:cNvSpPr/>
          <p:nvPr/>
        </p:nvSpPr>
        <p:spPr>
          <a:xfrm>
            <a:off x="6917436" y="2560320"/>
            <a:ext cx="384048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47204" y="1645920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zig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45168" y="258546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50324" y="311124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17" name="Text 15"/>
          <p:cNvSpPr/>
          <p:nvPr/>
        </p:nvSpPr>
        <p:spPr>
          <a:xfrm>
            <a:off x="9134856" y="2375154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1828800" cy="2286000"/>
          </a:xfrm>
          <a:prstGeom prst="roundRect">
            <a:avLst>
              <a:gd name="adj" fmla="val 4000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40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7091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zig-zag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4069080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insert 40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V="1">
            <a:off x="4558284" y="5376672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58284" y="4640580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7972" y="5902452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59" dirty="0"/>
          </a:p>
        </p:txBody>
      </p:sp>
      <p:sp>
        <p:nvSpPr>
          <p:cNvPr id="25" name="Text 23"/>
          <p:cNvSpPr/>
          <p:nvPr/>
        </p:nvSpPr>
        <p:spPr>
          <a:xfrm>
            <a:off x="4663440" y="51663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26" name="Text 24"/>
          <p:cNvSpPr/>
          <p:nvPr/>
        </p:nvSpPr>
        <p:spPr>
          <a:xfrm>
            <a:off x="4347972" y="443026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27" name="Shape 25"/>
          <p:cNvSpPr/>
          <p:nvPr/>
        </p:nvSpPr>
        <p:spPr>
          <a:xfrm>
            <a:off x="6917436" y="4983480"/>
            <a:ext cx="384048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47204" y="4069080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zig-zag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 flipV="1">
            <a:off x="9187434" y="500862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2902" y="500862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77122" y="553440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32" name="Text 30"/>
          <p:cNvSpPr/>
          <p:nvPr/>
        </p:nvSpPr>
        <p:spPr>
          <a:xfrm>
            <a:off x="9608058" y="553440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33" name="Text 31"/>
          <p:cNvSpPr/>
          <p:nvPr/>
        </p:nvSpPr>
        <p:spPr>
          <a:xfrm>
            <a:off x="9292590" y="4798314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59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SPLAY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Splay example: insert 50, 30, 40, 20, 60 (2 of 2)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828800" cy="2286000"/>
          </a:xfrm>
          <a:prstGeom prst="roundRect">
            <a:avLst>
              <a:gd name="adj" fmla="val 4000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20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zig-zig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371600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insert 20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V="1">
            <a:off x="4242816" y="2679192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558284" y="1943100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73752" y="1943100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32504" y="3204972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13" name="Text 11"/>
          <p:cNvSpPr/>
          <p:nvPr/>
        </p:nvSpPr>
        <p:spPr>
          <a:xfrm>
            <a:off x="4347972" y="246888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14" name="Text 12"/>
          <p:cNvSpPr/>
          <p:nvPr/>
        </p:nvSpPr>
        <p:spPr>
          <a:xfrm>
            <a:off x="4978908" y="246888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15" name="Text 13"/>
          <p:cNvSpPr/>
          <p:nvPr/>
        </p:nvSpPr>
        <p:spPr>
          <a:xfrm>
            <a:off x="4663440" y="173278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59" dirty="0"/>
          </a:p>
        </p:txBody>
      </p:sp>
      <p:sp>
        <p:nvSpPr>
          <p:cNvPr id="16" name="Shape 14"/>
          <p:cNvSpPr/>
          <p:nvPr/>
        </p:nvSpPr>
        <p:spPr>
          <a:xfrm>
            <a:off x="6917436" y="2286000"/>
            <a:ext cx="384048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47204" y="1371600"/>
            <a:ext cx="4311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zig-zig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660636" y="2935224"/>
            <a:ext cx="315468" cy="5120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45168" y="2423160"/>
            <a:ext cx="315468" cy="5120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29700" y="1911096"/>
            <a:ext cx="315468" cy="5120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5792" y="323697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22" name="Text 20"/>
          <p:cNvSpPr/>
          <p:nvPr/>
        </p:nvSpPr>
        <p:spPr>
          <a:xfrm>
            <a:off x="9450324" y="272491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59" dirty="0"/>
          </a:p>
        </p:txBody>
      </p:sp>
      <p:sp>
        <p:nvSpPr>
          <p:cNvPr id="23" name="Text 21"/>
          <p:cNvSpPr/>
          <p:nvPr/>
        </p:nvSpPr>
        <p:spPr>
          <a:xfrm>
            <a:off x="9134856" y="22128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24" name="Text 22"/>
          <p:cNvSpPr/>
          <p:nvPr/>
        </p:nvSpPr>
        <p:spPr>
          <a:xfrm>
            <a:off x="8819388" y="1700784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1828800" cy="2286000"/>
          </a:xfrm>
          <a:prstGeom prst="roundRect">
            <a:avLst>
              <a:gd name="adj" fmla="val 4000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60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5262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zag-zag, then zag-zag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560320" y="388620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insert 60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71241" y="5598650"/>
            <a:ext cx="253037" cy="40485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18204" y="5193792"/>
            <a:ext cx="253037" cy="40485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65167" y="4788934"/>
            <a:ext cx="253037" cy="40485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12131" y="4384075"/>
            <a:ext cx="253037" cy="40485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55586" y="5834818"/>
            <a:ext cx="337382" cy="337382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9" dirty="0"/>
          </a:p>
        </p:txBody>
      </p:sp>
      <p:sp>
        <p:nvSpPr>
          <p:cNvPr id="34" name="Text 32"/>
          <p:cNvSpPr/>
          <p:nvPr/>
        </p:nvSpPr>
        <p:spPr>
          <a:xfrm>
            <a:off x="4002550" y="5429959"/>
            <a:ext cx="337382" cy="33738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9" dirty="0"/>
          </a:p>
        </p:txBody>
      </p:sp>
      <p:sp>
        <p:nvSpPr>
          <p:cNvPr id="35" name="Text 33"/>
          <p:cNvSpPr/>
          <p:nvPr/>
        </p:nvSpPr>
        <p:spPr>
          <a:xfrm>
            <a:off x="3749513" y="5025101"/>
            <a:ext cx="337382" cy="33738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9" dirty="0"/>
          </a:p>
        </p:txBody>
      </p:sp>
      <p:sp>
        <p:nvSpPr>
          <p:cNvPr id="36" name="Text 34"/>
          <p:cNvSpPr/>
          <p:nvPr/>
        </p:nvSpPr>
        <p:spPr>
          <a:xfrm>
            <a:off x="3496476" y="4620242"/>
            <a:ext cx="337382" cy="33738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9" dirty="0"/>
          </a:p>
        </p:txBody>
      </p:sp>
      <p:sp>
        <p:nvSpPr>
          <p:cNvPr id="37" name="Text 35"/>
          <p:cNvSpPr/>
          <p:nvPr/>
        </p:nvSpPr>
        <p:spPr>
          <a:xfrm>
            <a:off x="3243440" y="4215384"/>
            <a:ext cx="337382" cy="33738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9" dirty="0"/>
          </a:p>
        </p:txBody>
      </p:sp>
      <p:sp>
        <p:nvSpPr>
          <p:cNvPr id="38" name="Shape 36"/>
          <p:cNvSpPr/>
          <p:nvPr/>
        </p:nvSpPr>
        <p:spPr>
          <a:xfrm>
            <a:off x="5321808" y="4800600"/>
            <a:ext cx="384048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751576" y="388620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zag-zag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 flipV="1">
            <a:off x="6856423" y="5598650"/>
            <a:ext cx="253037" cy="40485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7109460" y="5193792"/>
            <a:ext cx="253037" cy="40485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09460" y="4788934"/>
            <a:ext cx="253037" cy="40485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56423" y="4384075"/>
            <a:ext cx="253037" cy="40485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87732" y="5834818"/>
            <a:ext cx="337382" cy="33738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9" dirty="0"/>
          </a:p>
        </p:txBody>
      </p:sp>
      <p:sp>
        <p:nvSpPr>
          <p:cNvPr id="45" name="Text 43"/>
          <p:cNvSpPr/>
          <p:nvPr/>
        </p:nvSpPr>
        <p:spPr>
          <a:xfrm>
            <a:off x="6940769" y="5429959"/>
            <a:ext cx="337382" cy="33738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9" dirty="0"/>
          </a:p>
        </p:txBody>
      </p:sp>
      <p:sp>
        <p:nvSpPr>
          <p:cNvPr id="46" name="Text 44"/>
          <p:cNvSpPr/>
          <p:nvPr/>
        </p:nvSpPr>
        <p:spPr>
          <a:xfrm>
            <a:off x="7193806" y="5025101"/>
            <a:ext cx="337382" cy="337382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9" dirty="0"/>
          </a:p>
        </p:txBody>
      </p:sp>
      <p:sp>
        <p:nvSpPr>
          <p:cNvPr id="47" name="Text 45"/>
          <p:cNvSpPr/>
          <p:nvPr/>
        </p:nvSpPr>
        <p:spPr>
          <a:xfrm>
            <a:off x="6940769" y="4620242"/>
            <a:ext cx="337382" cy="33738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9" dirty="0"/>
          </a:p>
        </p:txBody>
      </p:sp>
      <p:sp>
        <p:nvSpPr>
          <p:cNvPr id="48" name="Text 46"/>
          <p:cNvSpPr/>
          <p:nvPr/>
        </p:nvSpPr>
        <p:spPr>
          <a:xfrm>
            <a:off x="6687732" y="4215384"/>
            <a:ext cx="337382" cy="33738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9" dirty="0"/>
          </a:p>
        </p:txBody>
      </p:sp>
      <p:sp>
        <p:nvSpPr>
          <p:cNvPr id="49" name="Shape 47"/>
          <p:cNvSpPr/>
          <p:nvPr/>
        </p:nvSpPr>
        <p:spPr>
          <a:xfrm>
            <a:off x="8513064" y="4800600"/>
            <a:ext cx="384048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942832" y="3886200"/>
            <a:ext cx="2715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zag-zag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 flipV="1">
            <a:off x="9985248" y="4937760"/>
            <a:ext cx="315468" cy="5120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10300716" y="5449824"/>
            <a:ext cx="315468" cy="5120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300716" y="4937760"/>
            <a:ext cx="315468" cy="5120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10300716" y="4425696"/>
            <a:ext cx="315468" cy="5120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74936" y="523951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56" name="Text 54"/>
          <p:cNvSpPr/>
          <p:nvPr/>
        </p:nvSpPr>
        <p:spPr>
          <a:xfrm>
            <a:off x="10090404" y="575157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59" dirty="0"/>
          </a:p>
        </p:txBody>
      </p:sp>
      <p:sp>
        <p:nvSpPr>
          <p:cNvPr id="57" name="Text 55"/>
          <p:cNvSpPr/>
          <p:nvPr/>
        </p:nvSpPr>
        <p:spPr>
          <a:xfrm>
            <a:off x="10405872" y="523951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58" name="Text 56"/>
          <p:cNvSpPr/>
          <p:nvPr/>
        </p:nvSpPr>
        <p:spPr>
          <a:xfrm>
            <a:off x="10090404" y="47274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59" name="Text 57"/>
          <p:cNvSpPr/>
          <p:nvPr/>
        </p:nvSpPr>
        <p:spPr>
          <a:xfrm>
            <a:off x="10405872" y="4215384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59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SPLAY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Splay example: a chain, then a costly access that heals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inserting 10, 20, 30, 40, 50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527521" y="3536521"/>
            <a:ext cx="335806" cy="537289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863326" y="2999232"/>
            <a:ext cx="335806" cy="537289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199132" y="2461943"/>
            <a:ext cx="335806" cy="537289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534938" y="1924654"/>
            <a:ext cx="335806" cy="537289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3651" y="3849939"/>
            <a:ext cx="447741" cy="447741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1639456" y="3312650"/>
            <a:ext cx="447741" cy="44774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40" dirty="0"/>
          </a:p>
        </p:txBody>
      </p:sp>
      <p:sp>
        <p:nvSpPr>
          <p:cNvPr id="12" name="Text 10"/>
          <p:cNvSpPr/>
          <p:nvPr/>
        </p:nvSpPr>
        <p:spPr>
          <a:xfrm>
            <a:off x="1975262" y="2775362"/>
            <a:ext cx="447741" cy="44774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2311067" y="2238073"/>
            <a:ext cx="447741" cy="44774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2646873" y="1700784"/>
            <a:ext cx="447741" cy="44774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4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1596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insert splays the new key to the root, leaving a left chain of height 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22776" y="265176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53128" y="137160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10: 1st zig-zig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03620" y="3536521"/>
            <a:ext cx="335806" cy="537289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7814" y="2999232"/>
            <a:ext cx="335806" cy="537289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5767814" y="2461943"/>
            <a:ext cx="335806" cy="537289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103620" y="1924654"/>
            <a:ext cx="335806" cy="537289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5555" y="3849939"/>
            <a:ext cx="447741" cy="44774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5879750" y="3312650"/>
            <a:ext cx="447741" cy="44774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5543944" y="2775362"/>
            <a:ext cx="447741" cy="447741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40" dirty="0"/>
          </a:p>
        </p:txBody>
      </p:sp>
      <p:sp>
        <p:nvSpPr>
          <p:cNvPr id="25" name="Text 23"/>
          <p:cNvSpPr/>
          <p:nvPr/>
        </p:nvSpPr>
        <p:spPr>
          <a:xfrm>
            <a:off x="5879750" y="2238073"/>
            <a:ext cx="447741" cy="44774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40" dirty="0"/>
          </a:p>
        </p:txBody>
      </p:sp>
      <p:sp>
        <p:nvSpPr>
          <p:cNvPr id="26" name="Text 24"/>
          <p:cNvSpPr/>
          <p:nvPr/>
        </p:nvSpPr>
        <p:spPr>
          <a:xfrm>
            <a:off x="6215555" y="1700784"/>
            <a:ext cx="447741" cy="44774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40" dirty="0"/>
          </a:p>
        </p:txBody>
      </p:sp>
      <p:sp>
        <p:nvSpPr>
          <p:cNvPr id="27" name="Text 25"/>
          <p:cNvSpPr txBox="1"/>
          <p:nvPr/>
        </p:nvSpPr>
        <p:spPr>
          <a:xfrm>
            <a:off x="4453128" y="431596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jumps two levels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827264" y="265176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57616" y="137160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zig-zig: done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665208" y="3355848"/>
            <a:ext cx="342900" cy="71323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9665208" y="2642616"/>
            <a:ext cx="342900" cy="71323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08108" y="2642616"/>
            <a:ext cx="342900" cy="71323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65208" y="1929384"/>
            <a:ext cx="342900" cy="71323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79508" y="384048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68" dirty="0"/>
          </a:p>
        </p:txBody>
      </p:sp>
      <p:sp>
        <p:nvSpPr>
          <p:cNvPr id="35" name="Text 33"/>
          <p:cNvSpPr/>
          <p:nvPr/>
        </p:nvSpPr>
        <p:spPr>
          <a:xfrm>
            <a:off x="9436608" y="3127248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68" dirty="0"/>
          </a:p>
        </p:txBody>
      </p:sp>
      <p:sp>
        <p:nvSpPr>
          <p:cNvPr id="36" name="Text 34"/>
          <p:cNvSpPr/>
          <p:nvPr/>
        </p:nvSpPr>
        <p:spPr>
          <a:xfrm>
            <a:off x="10122408" y="3127248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68" dirty="0"/>
          </a:p>
        </p:txBody>
      </p:sp>
      <p:sp>
        <p:nvSpPr>
          <p:cNvPr id="37" name="Text 35"/>
          <p:cNvSpPr/>
          <p:nvPr/>
        </p:nvSpPr>
        <p:spPr>
          <a:xfrm>
            <a:off x="9779508" y="2414016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68" dirty="0"/>
          </a:p>
        </p:txBody>
      </p:sp>
      <p:sp>
        <p:nvSpPr>
          <p:cNvPr id="38" name="Text 36"/>
          <p:cNvSpPr/>
          <p:nvPr/>
        </p:nvSpPr>
        <p:spPr>
          <a:xfrm>
            <a:off x="9436608" y="1700784"/>
            <a:ext cx="457200" cy="45720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68" dirty="0"/>
          </a:p>
        </p:txBody>
      </p:sp>
      <p:sp>
        <p:nvSpPr>
          <p:cNvPr id="39" name="Text 37"/>
          <p:cNvSpPr txBox="1"/>
          <p:nvPr/>
        </p:nvSpPr>
        <p:spPr>
          <a:xfrm>
            <a:off x="8357616" y="431596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rotations in total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4937760"/>
            <a:ext cx="11109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in sorted order looks disastrous (a chain), yet each of those inserts cost only one rotation.</a:t>
            </a:r>
            <a:endParaRPr lang="en-US" sz="1400" dirty="0"/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expensive access, splay(10), reshapes the whole path: 40 is now near the top, and the longest path is 3 edges instead of 4.</a:t>
            </a:r>
            <a:endParaRPr lang="en-US" sz="1400" dirty="0"/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“amortized” idea: expensive steps leave the tree in a better state, paying for themselves.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SPLAY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Splay example: search, found and not found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103120" cy="2423160"/>
          </a:xfrm>
          <a:prstGeom prst="roundRect">
            <a:avLst>
              <a:gd name="adj" fmla="val 3478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81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3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→ splay it.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zag-zig, then zig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371600"/>
            <a:ext cx="4110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22888" y="2732665"/>
            <a:ext cx="266866" cy="426985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622888" y="2305679"/>
            <a:ext cx="266866" cy="426985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4889754" y="1878694"/>
            <a:ext cx="266866" cy="426985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1844" y="2981739"/>
            <a:ext cx="355821" cy="355821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65" dirty="0"/>
          </a:p>
        </p:txBody>
      </p:sp>
      <p:sp>
        <p:nvSpPr>
          <p:cNvPr id="13" name="Text 11"/>
          <p:cNvSpPr/>
          <p:nvPr/>
        </p:nvSpPr>
        <p:spPr>
          <a:xfrm>
            <a:off x="4444978" y="2554754"/>
            <a:ext cx="355821" cy="35582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65" dirty="0"/>
          </a:p>
        </p:txBody>
      </p:sp>
      <p:sp>
        <p:nvSpPr>
          <p:cNvPr id="14" name="Text 12"/>
          <p:cNvSpPr/>
          <p:nvPr/>
        </p:nvSpPr>
        <p:spPr>
          <a:xfrm>
            <a:off x="4711844" y="2127769"/>
            <a:ext cx="355821" cy="35582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65" dirty="0"/>
          </a:p>
        </p:txBody>
      </p:sp>
      <p:sp>
        <p:nvSpPr>
          <p:cNvPr id="15" name="Text 13"/>
          <p:cNvSpPr/>
          <p:nvPr/>
        </p:nvSpPr>
        <p:spPr>
          <a:xfrm>
            <a:off x="4978709" y="1700784"/>
            <a:ext cx="355821" cy="35582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65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3355848"/>
            <a:ext cx="41102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10 → 5 → 2 → 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18020" y="228600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48372" y="1371600"/>
            <a:ext cx="4110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V="1">
            <a:off x="9288018" y="1911096"/>
            <a:ext cx="315468" cy="60807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9603486" y="2519172"/>
            <a:ext cx="315468" cy="60807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3486" y="1911096"/>
            <a:ext cx="315468" cy="60807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7706" y="23088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9" dirty="0"/>
          </a:p>
        </p:txBody>
      </p:sp>
      <p:sp>
        <p:nvSpPr>
          <p:cNvPr id="23" name="Text 21"/>
          <p:cNvSpPr/>
          <p:nvPr/>
        </p:nvSpPr>
        <p:spPr>
          <a:xfrm>
            <a:off x="9393174" y="291693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9" dirty="0"/>
          </a:p>
        </p:txBody>
      </p:sp>
      <p:sp>
        <p:nvSpPr>
          <p:cNvPr id="24" name="Text 22"/>
          <p:cNvSpPr/>
          <p:nvPr/>
        </p:nvSpPr>
        <p:spPr>
          <a:xfrm>
            <a:off x="9708642" y="230886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9" dirty="0"/>
          </a:p>
        </p:txBody>
      </p:sp>
      <p:sp>
        <p:nvSpPr>
          <p:cNvPr id="25" name="Text 23"/>
          <p:cNvSpPr/>
          <p:nvPr/>
        </p:nvSpPr>
        <p:spPr>
          <a:xfrm>
            <a:off x="9393174" y="1700784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9" dirty="0"/>
          </a:p>
        </p:txBody>
      </p:sp>
      <p:sp>
        <p:nvSpPr>
          <p:cNvPr id="26" name="Text 24"/>
          <p:cNvSpPr txBox="1"/>
          <p:nvPr/>
        </p:nvSpPr>
        <p:spPr>
          <a:xfrm>
            <a:off x="7548372" y="3355848"/>
            <a:ext cx="41102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is the root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931920"/>
            <a:ext cx="2103120" cy="2423160"/>
          </a:xfrm>
          <a:prstGeom prst="roundRect">
            <a:avLst>
              <a:gd name="adj" fmla="val 3478"/>
            </a:avLst>
          </a:prstGeom>
          <a:solidFill>
            <a:srgbClr val="FFF3D1"/>
          </a:solidFill>
          <a:ln w="9525">
            <a:solidFill>
              <a:srgbClr val="FFF3D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4041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45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526280"/>
            <a:ext cx="1920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 → splay the last node visited (50).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zag-zag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834640" y="3931920"/>
            <a:ext cx="4110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 flipV="1">
            <a:off x="4313682" y="5079492"/>
            <a:ext cx="288036" cy="6263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4601718" y="4453128"/>
            <a:ext cx="288036" cy="6263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77790" y="5079492"/>
            <a:ext cx="288036" cy="6263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89754" y="4453128"/>
            <a:ext cx="288036" cy="62636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21658" y="551383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49" dirty="0"/>
          </a:p>
        </p:txBody>
      </p:sp>
      <p:sp>
        <p:nvSpPr>
          <p:cNvPr id="36" name="Text 34"/>
          <p:cNvSpPr/>
          <p:nvPr/>
        </p:nvSpPr>
        <p:spPr>
          <a:xfrm>
            <a:off x="4409694" y="488746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49" dirty="0"/>
          </a:p>
        </p:txBody>
      </p:sp>
      <p:sp>
        <p:nvSpPr>
          <p:cNvPr id="37" name="Text 35"/>
          <p:cNvSpPr/>
          <p:nvPr/>
        </p:nvSpPr>
        <p:spPr>
          <a:xfrm>
            <a:off x="5273802" y="5513832"/>
            <a:ext cx="384048" cy="384048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49" dirty="0"/>
          </a:p>
        </p:txBody>
      </p:sp>
      <p:sp>
        <p:nvSpPr>
          <p:cNvPr id="38" name="Text 36"/>
          <p:cNvSpPr/>
          <p:nvPr/>
        </p:nvSpPr>
        <p:spPr>
          <a:xfrm>
            <a:off x="4985766" y="488746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49" dirty="0"/>
          </a:p>
        </p:txBody>
      </p:sp>
      <p:sp>
        <p:nvSpPr>
          <p:cNvPr id="39" name="Text 37"/>
          <p:cNvSpPr/>
          <p:nvPr/>
        </p:nvSpPr>
        <p:spPr>
          <a:xfrm>
            <a:off x="4697730" y="426110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49" dirty="0"/>
          </a:p>
        </p:txBody>
      </p:sp>
      <p:sp>
        <p:nvSpPr>
          <p:cNvPr id="40" name="Text 38"/>
          <p:cNvSpPr txBox="1"/>
          <p:nvPr/>
        </p:nvSpPr>
        <p:spPr>
          <a:xfrm>
            <a:off x="2834640" y="5916168"/>
            <a:ext cx="41102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&gt; 30 → 40 → 50; 45 &lt; 50 → empty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018020" y="484632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48372" y="3931920"/>
            <a:ext cx="4110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 flipV="1">
            <a:off x="9180182" y="5418135"/>
            <a:ext cx="211652" cy="33864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9391834" y="5079492"/>
            <a:ext cx="211652" cy="33864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9603486" y="4740849"/>
            <a:ext cx="211652" cy="33864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9815138" y="4402205"/>
            <a:ext cx="211652" cy="33864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39080" y="5615677"/>
            <a:ext cx="282203" cy="28220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44" dirty="0"/>
          </a:p>
        </p:txBody>
      </p:sp>
      <p:sp>
        <p:nvSpPr>
          <p:cNvPr id="48" name="Text 46"/>
          <p:cNvSpPr/>
          <p:nvPr/>
        </p:nvSpPr>
        <p:spPr>
          <a:xfrm>
            <a:off x="9250733" y="5277034"/>
            <a:ext cx="282203" cy="28220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44" dirty="0"/>
          </a:p>
        </p:txBody>
      </p:sp>
      <p:sp>
        <p:nvSpPr>
          <p:cNvPr id="49" name="Text 47"/>
          <p:cNvSpPr/>
          <p:nvPr/>
        </p:nvSpPr>
        <p:spPr>
          <a:xfrm>
            <a:off x="9462385" y="4938391"/>
            <a:ext cx="282203" cy="28220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44" dirty="0"/>
          </a:p>
        </p:txBody>
      </p:sp>
      <p:sp>
        <p:nvSpPr>
          <p:cNvPr id="50" name="Text 48"/>
          <p:cNvSpPr/>
          <p:nvPr/>
        </p:nvSpPr>
        <p:spPr>
          <a:xfrm>
            <a:off x="9674037" y="4599747"/>
            <a:ext cx="282203" cy="28220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44" dirty="0"/>
          </a:p>
        </p:txBody>
      </p:sp>
      <p:sp>
        <p:nvSpPr>
          <p:cNvPr id="51" name="Text 49"/>
          <p:cNvSpPr/>
          <p:nvPr/>
        </p:nvSpPr>
        <p:spPr>
          <a:xfrm>
            <a:off x="9885689" y="4261104"/>
            <a:ext cx="282203" cy="282203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44" dirty="0"/>
          </a:p>
        </p:txBody>
      </p:sp>
      <p:sp>
        <p:nvSpPr>
          <p:cNvPr id="52" name="Text 50"/>
          <p:cNvSpPr txBox="1"/>
          <p:nvPr/>
        </p:nvSpPr>
        <p:spPr>
          <a:xfrm>
            <a:off x="7548372" y="5916168"/>
            <a:ext cx="41102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failed search still restructures the tree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SPLAY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Splay example: insert 81 into a bigger tree (lecture slide 213)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insert 81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527810" y="3945636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7810" y="3273552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527810" y="2601468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15846" y="2601468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815846" y="1929384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91918" y="3945636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391918" y="3273552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79954" y="3273552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91918" y="2601468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882" y="1929384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35786" y="442569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49" dirty="0"/>
          </a:p>
        </p:txBody>
      </p:sp>
      <p:sp>
        <p:nvSpPr>
          <p:cNvPr id="17" name="Text 15"/>
          <p:cNvSpPr/>
          <p:nvPr/>
        </p:nvSpPr>
        <p:spPr>
          <a:xfrm>
            <a:off x="1623822" y="375361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49" dirty="0"/>
          </a:p>
        </p:txBody>
      </p:sp>
      <p:sp>
        <p:nvSpPr>
          <p:cNvPr id="18" name="Text 16"/>
          <p:cNvSpPr/>
          <p:nvPr/>
        </p:nvSpPr>
        <p:spPr>
          <a:xfrm>
            <a:off x="1335786" y="308152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49" dirty="0"/>
          </a:p>
        </p:txBody>
      </p:sp>
      <p:sp>
        <p:nvSpPr>
          <p:cNvPr id="19" name="Text 17"/>
          <p:cNvSpPr/>
          <p:nvPr/>
        </p:nvSpPr>
        <p:spPr>
          <a:xfrm>
            <a:off x="1911858" y="308152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49" dirty="0"/>
          </a:p>
        </p:txBody>
      </p:sp>
      <p:sp>
        <p:nvSpPr>
          <p:cNvPr id="20" name="Text 18"/>
          <p:cNvSpPr/>
          <p:nvPr/>
        </p:nvSpPr>
        <p:spPr>
          <a:xfrm>
            <a:off x="1623822" y="240944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49" dirty="0"/>
          </a:p>
        </p:txBody>
      </p:sp>
      <p:sp>
        <p:nvSpPr>
          <p:cNvPr id="21" name="Text 19"/>
          <p:cNvSpPr/>
          <p:nvPr/>
        </p:nvSpPr>
        <p:spPr>
          <a:xfrm>
            <a:off x="2487930" y="4425696"/>
            <a:ext cx="384048" cy="384048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149" dirty="0"/>
          </a:p>
        </p:txBody>
      </p:sp>
      <p:sp>
        <p:nvSpPr>
          <p:cNvPr id="22" name="Text 20"/>
          <p:cNvSpPr/>
          <p:nvPr/>
        </p:nvSpPr>
        <p:spPr>
          <a:xfrm>
            <a:off x="2199894" y="375361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49" dirty="0"/>
          </a:p>
        </p:txBody>
      </p:sp>
      <p:sp>
        <p:nvSpPr>
          <p:cNvPr id="23" name="Text 21"/>
          <p:cNvSpPr/>
          <p:nvPr/>
        </p:nvSpPr>
        <p:spPr>
          <a:xfrm>
            <a:off x="2775966" y="375361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149" dirty="0"/>
          </a:p>
        </p:txBody>
      </p:sp>
      <p:sp>
        <p:nvSpPr>
          <p:cNvPr id="24" name="Text 22"/>
          <p:cNvSpPr/>
          <p:nvPr/>
        </p:nvSpPr>
        <p:spPr>
          <a:xfrm>
            <a:off x="2487930" y="308152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149" dirty="0"/>
          </a:p>
        </p:txBody>
      </p:sp>
      <p:sp>
        <p:nvSpPr>
          <p:cNvPr id="25" name="Text 23"/>
          <p:cNvSpPr/>
          <p:nvPr/>
        </p:nvSpPr>
        <p:spPr>
          <a:xfrm>
            <a:off x="2199894" y="240944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49" dirty="0"/>
          </a:p>
        </p:txBody>
      </p:sp>
      <p:sp>
        <p:nvSpPr>
          <p:cNvPr id="26" name="Text 24"/>
          <p:cNvSpPr/>
          <p:nvPr/>
        </p:nvSpPr>
        <p:spPr>
          <a:xfrm>
            <a:off x="1911858" y="173736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49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864608"/>
            <a:ext cx="339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&gt; 54 → 63 → 90; 81 &lt; 90 → 72; 81 &gt; 72: right child of 72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992880" y="2834640"/>
            <a:ext cx="36576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04360" y="1371600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zag-zig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 flipV="1">
            <a:off x="5239512" y="3945636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39512" y="3273552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5239512" y="2601468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27548" y="2601468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5527548" y="1929384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6103620" y="3273552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9692" y="3945636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91656" y="3273552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03620" y="2601468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15584" y="1929384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47488" y="442569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49" dirty="0"/>
          </a:p>
        </p:txBody>
      </p:sp>
      <p:sp>
        <p:nvSpPr>
          <p:cNvPr id="41" name="Text 39"/>
          <p:cNvSpPr/>
          <p:nvPr/>
        </p:nvSpPr>
        <p:spPr>
          <a:xfrm>
            <a:off x="5335524" y="375361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49" dirty="0"/>
          </a:p>
        </p:txBody>
      </p:sp>
      <p:sp>
        <p:nvSpPr>
          <p:cNvPr id="42" name="Text 40"/>
          <p:cNvSpPr/>
          <p:nvPr/>
        </p:nvSpPr>
        <p:spPr>
          <a:xfrm>
            <a:off x="5047488" y="308152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49" dirty="0"/>
          </a:p>
        </p:txBody>
      </p:sp>
      <p:sp>
        <p:nvSpPr>
          <p:cNvPr id="43" name="Text 41"/>
          <p:cNvSpPr/>
          <p:nvPr/>
        </p:nvSpPr>
        <p:spPr>
          <a:xfrm>
            <a:off x="5623560" y="308152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49" dirty="0"/>
          </a:p>
        </p:txBody>
      </p:sp>
      <p:sp>
        <p:nvSpPr>
          <p:cNvPr id="44" name="Text 42"/>
          <p:cNvSpPr/>
          <p:nvPr/>
        </p:nvSpPr>
        <p:spPr>
          <a:xfrm>
            <a:off x="5335524" y="240944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49" dirty="0"/>
          </a:p>
        </p:txBody>
      </p:sp>
      <p:sp>
        <p:nvSpPr>
          <p:cNvPr id="45" name="Text 43"/>
          <p:cNvSpPr/>
          <p:nvPr/>
        </p:nvSpPr>
        <p:spPr>
          <a:xfrm>
            <a:off x="5911596" y="375361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49" dirty="0"/>
          </a:p>
        </p:txBody>
      </p:sp>
      <p:sp>
        <p:nvSpPr>
          <p:cNvPr id="46" name="Text 44"/>
          <p:cNvSpPr/>
          <p:nvPr/>
        </p:nvSpPr>
        <p:spPr>
          <a:xfrm>
            <a:off x="6775704" y="442569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149" dirty="0"/>
          </a:p>
        </p:txBody>
      </p:sp>
      <p:sp>
        <p:nvSpPr>
          <p:cNvPr id="47" name="Text 45"/>
          <p:cNvSpPr/>
          <p:nvPr/>
        </p:nvSpPr>
        <p:spPr>
          <a:xfrm>
            <a:off x="6487668" y="375361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149" dirty="0"/>
          </a:p>
        </p:txBody>
      </p:sp>
      <p:sp>
        <p:nvSpPr>
          <p:cNvPr id="48" name="Text 46"/>
          <p:cNvSpPr/>
          <p:nvPr/>
        </p:nvSpPr>
        <p:spPr>
          <a:xfrm>
            <a:off x="6199632" y="3081528"/>
            <a:ext cx="384048" cy="384048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149" dirty="0"/>
          </a:p>
        </p:txBody>
      </p:sp>
      <p:sp>
        <p:nvSpPr>
          <p:cNvPr id="49" name="Text 47"/>
          <p:cNvSpPr/>
          <p:nvPr/>
        </p:nvSpPr>
        <p:spPr>
          <a:xfrm>
            <a:off x="5911596" y="240944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49" dirty="0"/>
          </a:p>
        </p:txBody>
      </p:sp>
      <p:sp>
        <p:nvSpPr>
          <p:cNvPr id="50" name="Text 48"/>
          <p:cNvSpPr/>
          <p:nvPr/>
        </p:nvSpPr>
        <p:spPr>
          <a:xfrm>
            <a:off x="5623560" y="173736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49" dirty="0"/>
          </a:p>
        </p:txBody>
      </p:sp>
      <p:sp>
        <p:nvSpPr>
          <p:cNvPr id="51" name="Text 49"/>
          <p:cNvSpPr txBox="1"/>
          <p:nvPr/>
        </p:nvSpPr>
        <p:spPr>
          <a:xfrm>
            <a:off x="4404360" y="4864608"/>
            <a:ext cx="339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(right of 72, which is left of 90) replaces 90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848600" y="2834640"/>
            <a:ext cx="36576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260080" y="1371600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zag-zag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 flipV="1">
            <a:off x="9096236" y="4194197"/>
            <a:ext cx="287701" cy="46032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096236" y="3733874"/>
            <a:ext cx="287701" cy="46032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9096236" y="3273552"/>
            <a:ext cx="287701" cy="46032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383937" y="3273552"/>
            <a:ext cx="287701" cy="46032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9383937" y="2813230"/>
            <a:ext cx="287701" cy="46032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9671639" y="2352907"/>
            <a:ext cx="287701" cy="46032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959340" y="2352907"/>
            <a:ext cx="287701" cy="46032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9959340" y="1892585"/>
            <a:ext cx="287701" cy="46032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534743" y="2352907"/>
            <a:ext cx="287701" cy="46032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247041" y="1892585"/>
            <a:ext cx="287701" cy="46032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904435" y="4462718"/>
            <a:ext cx="383602" cy="3836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48" dirty="0"/>
          </a:p>
        </p:txBody>
      </p:sp>
      <p:sp>
        <p:nvSpPr>
          <p:cNvPr id="65" name="Text 63"/>
          <p:cNvSpPr/>
          <p:nvPr/>
        </p:nvSpPr>
        <p:spPr>
          <a:xfrm>
            <a:off x="9192136" y="4002396"/>
            <a:ext cx="383602" cy="3836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48" dirty="0"/>
          </a:p>
        </p:txBody>
      </p:sp>
      <p:sp>
        <p:nvSpPr>
          <p:cNvPr id="66" name="Text 64"/>
          <p:cNvSpPr/>
          <p:nvPr/>
        </p:nvSpPr>
        <p:spPr>
          <a:xfrm>
            <a:off x="8904435" y="3542073"/>
            <a:ext cx="383602" cy="3836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48" dirty="0"/>
          </a:p>
        </p:txBody>
      </p:sp>
      <p:sp>
        <p:nvSpPr>
          <p:cNvPr id="67" name="Text 65"/>
          <p:cNvSpPr/>
          <p:nvPr/>
        </p:nvSpPr>
        <p:spPr>
          <a:xfrm>
            <a:off x="9479838" y="3542073"/>
            <a:ext cx="383602" cy="3836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48" dirty="0"/>
          </a:p>
        </p:txBody>
      </p:sp>
      <p:sp>
        <p:nvSpPr>
          <p:cNvPr id="68" name="Text 66"/>
          <p:cNvSpPr/>
          <p:nvPr/>
        </p:nvSpPr>
        <p:spPr>
          <a:xfrm>
            <a:off x="9192136" y="3081751"/>
            <a:ext cx="383602" cy="3836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48" dirty="0"/>
          </a:p>
        </p:txBody>
      </p:sp>
      <p:sp>
        <p:nvSpPr>
          <p:cNvPr id="69" name="Text 67"/>
          <p:cNvSpPr/>
          <p:nvPr/>
        </p:nvSpPr>
        <p:spPr>
          <a:xfrm>
            <a:off x="9479838" y="2621429"/>
            <a:ext cx="383602" cy="3836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48" dirty="0"/>
          </a:p>
        </p:txBody>
      </p:sp>
      <p:sp>
        <p:nvSpPr>
          <p:cNvPr id="70" name="Text 68"/>
          <p:cNvSpPr/>
          <p:nvPr/>
        </p:nvSpPr>
        <p:spPr>
          <a:xfrm>
            <a:off x="10055240" y="2621429"/>
            <a:ext cx="383602" cy="3836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48" dirty="0"/>
          </a:p>
        </p:txBody>
      </p:sp>
      <p:sp>
        <p:nvSpPr>
          <p:cNvPr id="71" name="Text 69"/>
          <p:cNvSpPr/>
          <p:nvPr/>
        </p:nvSpPr>
        <p:spPr>
          <a:xfrm>
            <a:off x="9767539" y="2161106"/>
            <a:ext cx="383602" cy="3836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48" dirty="0"/>
          </a:p>
        </p:txBody>
      </p:sp>
      <p:sp>
        <p:nvSpPr>
          <p:cNvPr id="72" name="Text 70"/>
          <p:cNvSpPr/>
          <p:nvPr/>
        </p:nvSpPr>
        <p:spPr>
          <a:xfrm>
            <a:off x="10630643" y="2621429"/>
            <a:ext cx="383602" cy="3836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148" dirty="0"/>
          </a:p>
        </p:txBody>
      </p:sp>
      <p:sp>
        <p:nvSpPr>
          <p:cNvPr id="73" name="Text 71"/>
          <p:cNvSpPr/>
          <p:nvPr/>
        </p:nvSpPr>
        <p:spPr>
          <a:xfrm>
            <a:off x="10342942" y="2161106"/>
            <a:ext cx="383602" cy="3836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148" dirty="0"/>
          </a:p>
        </p:txBody>
      </p:sp>
      <p:sp>
        <p:nvSpPr>
          <p:cNvPr id="74" name="Text 72"/>
          <p:cNvSpPr/>
          <p:nvPr/>
        </p:nvSpPr>
        <p:spPr>
          <a:xfrm>
            <a:off x="10055240" y="1700784"/>
            <a:ext cx="383602" cy="383602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8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148" dirty="0"/>
          </a:p>
        </p:txBody>
      </p:sp>
      <p:sp>
        <p:nvSpPr>
          <p:cNvPr id="75" name="Text 73"/>
          <p:cNvSpPr txBox="1"/>
          <p:nvPr/>
        </p:nvSpPr>
        <p:spPr>
          <a:xfrm>
            <a:off x="8260080" y="4864608"/>
            <a:ext cx="339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and 63 are both right children: 81 climbs above 63 and 54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548640" y="544068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on the access path (54, 63, 90, 72) end up near the top; the untouched left side (39, 9, 27, 18, 45) hangs together as one subtree.</a:t>
            </a:r>
            <a:endParaRPr lang="en-US" sz="1400" dirty="0"/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double steps were needed because 81 had depth 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SPLAY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Splay example: delete 20 (lecture slides 214-215)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44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splay(20)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776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is already the root, so splay(20) does nothing.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44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remove the root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9776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root: two separate trees L and 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444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splay max(L) = 15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9776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Splay the largest key of L (15) to the root of L. It has no right child now.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1371600"/>
            <a:ext cx="2697480" cy="3429000"/>
          </a:xfrm>
          <a:prstGeom prst="roundRect">
            <a:avLst>
              <a:gd name="adj" fmla="val 2712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98280" y="1444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attach R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39776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 the right child of 15.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flipV="1">
            <a:off x="1243584" y="2775204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59052" y="2775204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559052" y="2039112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89988" y="2775204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74520" y="2039112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" y="330098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9" dirty="0"/>
          </a:p>
        </p:txBody>
      </p:sp>
      <p:sp>
        <p:nvSpPr>
          <p:cNvPr id="23" name="Text 21"/>
          <p:cNvSpPr/>
          <p:nvPr/>
        </p:nvSpPr>
        <p:spPr>
          <a:xfrm>
            <a:off x="1664208" y="330098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59" dirty="0"/>
          </a:p>
        </p:txBody>
      </p:sp>
      <p:sp>
        <p:nvSpPr>
          <p:cNvPr id="24" name="Text 22"/>
          <p:cNvSpPr/>
          <p:nvPr/>
        </p:nvSpPr>
        <p:spPr>
          <a:xfrm>
            <a:off x="1348740" y="256489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9" dirty="0"/>
          </a:p>
        </p:txBody>
      </p:sp>
      <p:sp>
        <p:nvSpPr>
          <p:cNvPr id="25" name="Text 23"/>
          <p:cNvSpPr/>
          <p:nvPr/>
        </p:nvSpPr>
        <p:spPr>
          <a:xfrm>
            <a:off x="2295144" y="330098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59" dirty="0"/>
          </a:p>
        </p:txBody>
      </p:sp>
      <p:sp>
        <p:nvSpPr>
          <p:cNvPr id="26" name="Text 24"/>
          <p:cNvSpPr/>
          <p:nvPr/>
        </p:nvSpPr>
        <p:spPr>
          <a:xfrm>
            <a:off x="1979676" y="256489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27" name="Text 25"/>
          <p:cNvSpPr/>
          <p:nvPr/>
        </p:nvSpPr>
        <p:spPr>
          <a:xfrm>
            <a:off x="1664208" y="1828800"/>
            <a:ext cx="420624" cy="420624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1828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212080" y="1828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 flipV="1">
            <a:off x="3840480" y="2286000"/>
            <a:ext cx="27432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2286000"/>
            <a:ext cx="27432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274320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4" dirty="0"/>
          </a:p>
        </p:txBody>
      </p:sp>
      <p:sp>
        <p:nvSpPr>
          <p:cNvPr id="33" name="Text 31"/>
          <p:cNvSpPr/>
          <p:nvPr/>
        </p:nvSpPr>
        <p:spPr>
          <a:xfrm>
            <a:off x="4206240" y="274320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94" dirty="0"/>
          </a:p>
        </p:txBody>
      </p:sp>
      <p:sp>
        <p:nvSpPr>
          <p:cNvPr id="34" name="Text 32"/>
          <p:cNvSpPr/>
          <p:nvPr/>
        </p:nvSpPr>
        <p:spPr>
          <a:xfrm>
            <a:off x="3931920" y="210312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94" dirty="0"/>
          </a:p>
        </p:txBody>
      </p:sp>
      <p:sp>
        <p:nvSpPr>
          <p:cNvPr id="35" name="Shape 33"/>
          <p:cNvSpPr/>
          <p:nvPr/>
        </p:nvSpPr>
        <p:spPr>
          <a:xfrm>
            <a:off x="5257800" y="2286000"/>
            <a:ext cx="27432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9240" y="274320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94" dirty="0"/>
          </a:p>
        </p:txBody>
      </p:sp>
      <p:sp>
        <p:nvSpPr>
          <p:cNvPr id="37" name="Text 35"/>
          <p:cNvSpPr/>
          <p:nvPr/>
        </p:nvSpPr>
        <p:spPr>
          <a:xfrm>
            <a:off x="5074920" y="210312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94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1828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046720" y="1828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 flipV="1">
            <a:off x="6675120" y="2926080"/>
            <a:ext cx="27432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6949440" y="2286000"/>
            <a:ext cx="27432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33832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4" dirty="0"/>
          </a:p>
        </p:txBody>
      </p:sp>
      <p:sp>
        <p:nvSpPr>
          <p:cNvPr id="43" name="Text 41"/>
          <p:cNvSpPr/>
          <p:nvPr/>
        </p:nvSpPr>
        <p:spPr>
          <a:xfrm>
            <a:off x="6766560" y="274320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94" dirty="0"/>
          </a:p>
        </p:txBody>
      </p:sp>
      <p:sp>
        <p:nvSpPr>
          <p:cNvPr id="44" name="Text 42"/>
          <p:cNvSpPr/>
          <p:nvPr/>
        </p:nvSpPr>
        <p:spPr>
          <a:xfrm>
            <a:off x="7040880" y="2103120"/>
            <a:ext cx="365760" cy="36576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94" dirty="0"/>
          </a:p>
        </p:txBody>
      </p:sp>
      <p:sp>
        <p:nvSpPr>
          <p:cNvPr id="45" name="Shape 43"/>
          <p:cNvSpPr/>
          <p:nvPr/>
        </p:nvSpPr>
        <p:spPr>
          <a:xfrm>
            <a:off x="8092440" y="2286000"/>
            <a:ext cx="27432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83880" y="274320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94" dirty="0"/>
          </a:p>
        </p:txBody>
      </p:sp>
      <p:sp>
        <p:nvSpPr>
          <p:cNvPr id="47" name="Text 45"/>
          <p:cNvSpPr/>
          <p:nvPr/>
        </p:nvSpPr>
        <p:spPr>
          <a:xfrm>
            <a:off x="7909560" y="210312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94" dirty="0"/>
          </a:p>
        </p:txBody>
      </p:sp>
      <p:sp>
        <p:nvSpPr>
          <p:cNvPr id="48" name="Shape 46"/>
          <p:cNvSpPr/>
          <p:nvPr/>
        </p:nvSpPr>
        <p:spPr>
          <a:xfrm flipV="1">
            <a:off x="9747504" y="2775204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10062972" y="2039112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693908" y="2775204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78440" y="2039112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537192" y="330098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9" dirty="0"/>
          </a:p>
        </p:txBody>
      </p:sp>
      <p:sp>
        <p:nvSpPr>
          <p:cNvPr id="53" name="Text 51"/>
          <p:cNvSpPr/>
          <p:nvPr/>
        </p:nvSpPr>
        <p:spPr>
          <a:xfrm>
            <a:off x="9852660" y="256489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9" dirty="0"/>
          </a:p>
        </p:txBody>
      </p:sp>
      <p:sp>
        <p:nvSpPr>
          <p:cNvPr id="54" name="Text 52"/>
          <p:cNvSpPr/>
          <p:nvPr/>
        </p:nvSpPr>
        <p:spPr>
          <a:xfrm>
            <a:off x="10799064" y="330098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59" dirty="0"/>
          </a:p>
        </p:txBody>
      </p:sp>
      <p:sp>
        <p:nvSpPr>
          <p:cNvPr id="55" name="Text 53"/>
          <p:cNvSpPr/>
          <p:nvPr/>
        </p:nvSpPr>
        <p:spPr>
          <a:xfrm>
            <a:off x="10483596" y="256489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56" name="Text 54"/>
          <p:cNvSpPr/>
          <p:nvPr/>
        </p:nvSpPr>
        <p:spPr>
          <a:xfrm>
            <a:off x="10168128" y="1828800"/>
            <a:ext cx="420624" cy="42062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59" dirty="0"/>
          </a:p>
        </p:txBody>
      </p:sp>
      <p:sp>
        <p:nvSpPr>
          <p:cNvPr id="57" name="Shape 55"/>
          <p:cNvSpPr/>
          <p:nvPr/>
        </p:nvSpPr>
        <p:spPr>
          <a:xfrm>
            <a:off x="3200400" y="2743200"/>
            <a:ext cx="292608" cy="237744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035040" y="2743200"/>
            <a:ext cx="292608" cy="237744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869680" y="2743200"/>
            <a:ext cx="292608" cy="237744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48640" y="5074920"/>
            <a:ext cx="11109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735" indent="-165735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is the largest key smaller than 20, so making it the new root keeps the BST rule: everything in R is larger than 15.</a:t>
            </a:r>
            <a:endParaRPr lang="en-US" sz="1450" dirty="0"/>
          </a:p>
          <a:p>
            <a:pPr marL="165735" indent="-165735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15(10(5), 30(-, 40)).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SPLAY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it O(log n)? Amortized cost, with real numbers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 per key.  size(x) = keys in x’s subtree,  rank(x) = log₂ size(x),  Φ(T) = Σ rank(x)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3736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splay(10):  Φ = 6.907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 flipV="1">
            <a:off x="1307434" y="3579088"/>
            <a:ext cx="276685" cy="44269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584119" y="3136392"/>
            <a:ext cx="276685" cy="44269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860804" y="2693696"/>
            <a:ext cx="276685" cy="44269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137489" y="2251001"/>
            <a:ext cx="276685" cy="44269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2978" y="3837327"/>
            <a:ext cx="368913" cy="36891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4" dirty="0"/>
          </a:p>
        </p:txBody>
      </p:sp>
      <p:sp>
        <p:nvSpPr>
          <p:cNvPr id="12" name="Text 10"/>
          <p:cNvSpPr txBox="1"/>
          <p:nvPr/>
        </p:nvSpPr>
        <p:spPr>
          <a:xfrm>
            <a:off x="658400" y="3745887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s=1</a:t>
            </a:r>
            <a:endParaRPr lang="en-US" sz="904" dirty="0"/>
          </a:p>
        </p:txBody>
      </p:sp>
      <p:sp>
        <p:nvSpPr>
          <p:cNvPr id="13" name="Text 11"/>
          <p:cNvSpPr/>
          <p:nvPr/>
        </p:nvSpPr>
        <p:spPr>
          <a:xfrm>
            <a:off x="1399663" y="3394631"/>
            <a:ext cx="368913" cy="36891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4" dirty="0"/>
          </a:p>
        </p:txBody>
      </p:sp>
      <p:sp>
        <p:nvSpPr>
          <p:cNvPr id="14" name="Text 12"/>
          <p:cNvSpPr txBox="1"/>
          <p:nvPr/>
        </p:nvSpPr>
        <p:spPr>
          <a:xfrm>
            <a:off x="935084" y="3303191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s=2</a:t>
            </a:r>
            <a:endParaRPr lang="en-US" sz="904" dirty="0"/>
          </a:p>
        </p:txBody>
      </p:sp>
      <p:sp>
        <p:nvSpPr>
          <p:cNvPr id="15" name="Text 13"/>
          <p:cNvSpPr/>
          <p:nvPr/>
        </p:nvSpPr>
        <p:spPr>
          <a:xfrm>
            <a:off x="1676347" y="2951935"/>
            <a:ext cx="368913" cy="36891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4" dirty="0"/>
          </a:p>
        </p:txBody>
      </p:sp>
      <p:sp>
        <p:nvSpPr>
          <p:cNvPr id="16" name="Text 14"/>
          <p:cNvSpPr txBox="1"/>
          <p:nvPr/>
        </p:nvSpPr>
        <p:spPr>
          <a:xfrm>
            <a:off x="1211769" y="2860495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s=3</a:t>
            </a:r>
            <a:endParaRPr lang="en-US" sz="904" dirty="0"/>
          </a:p>
        </p:txBody>
      </p:sp>
      <p:sp>
        <p:nvSpPr>
          <p:cNvPr id="17" name="Text 15"/>
          <p:cNvSpPr/>
          <p:nvPr/>
        </p:nvSpPr>
        <p:spPr>
          <a:xfrm>
            <a:off x="1953032" y="2509240"/>
            <a:ext cx="368913" cy="36891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4" dirty="0"/>
          </a:p>
        </p:txBody>
      </p:sp>
      <p:sp>
        <p:nvSpPr>
          <p:cNvPr id="18" name="Text 16"/>
          <p:cNvSpPr txBox="1"/>
          <p:nvPr/>
        </p:nvSpPr>
        <p:spPr>
          <a:xfrm>
            <a:off x="1488454" y="2417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s=4</a:t>
            </a:r>
            <a:endParaRPr lang="en-US" sz="904" dirty="0"/>
          </a:p>
        </p:txBody>
      </p:sp>
      <p:sp>
        <p:nvSpPr>
          <p:cNvPr id="19" name="Text 17"/>
          <p:cNvSpPr/>
          <p:nvPr/>
        </p:nvSpPr>
        <p:spPr>
          <a:xfrm>
            <a:off x="2229717" y="2066544"/>
            <a:ext cx="368913" cy="36891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4" dirty="0"/>
          </a:p>
        </p:txBody>
      </p:sp>
      <p:sp>
        <p:nvSpPr>
          <p:cNvPr id="20" name="Text 18"/>
          <p:cNvSpPr txBox="1"/>
          <p:nvPr/>
        </p:nvSpPr>
        <p:spPr>
          <a:xfrm>
            <a:off x="2606008" y="1975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4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s=5</a:t>
            </a:r>
            <a:endParaRPr lang="en-US" sz="904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24528"/>
            <a:ext cx="2624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ranks: 2.32 + 2 + 1.58 + 1 + 0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283464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76472" y="173736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Φ = 5.322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3429000"/>
            <a:ext cx="288036" cy="58521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4800600" y="2843784"/>
            <a:ext cx="288036" cy="58521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88636" y="2843784"/>
            <a:ext cx="288036" cy="58521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2258568"/>
            <a:ext cx="288036" cy="58521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6612" y="382219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49" dirty="0"/>
          </a:p>
        </p:txBody>
      </p:sp>
      <p:sp>
        <p:nvSpPr>
          <p:cNvPr id="29" name="Text 27"/>
          <p:cNvSpPr txBox="1"/>
          <p:nvPr/>
        </p:nvSpPr>
        <p:spPr>
          <a:xfrm>
            <a:off x="5288341" y="3730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s=1</a:t>
            </a:r>
            <a:endParaRPr lang="en-US" sz="949" dirty="0"/>
          </a:p>
        </p:txBody>
      </p:sp>
      <p:sp>
        <p:nvSpPr>
          <p:cNvPr id="30" name="Text 28"/>
          <p:cNvSpPr/>
          <p:nvPr/>
        </p:nvSpPr>
        <p:spPr>
          <a:xfrm>
            <a:off x="4608576" y="323697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49" dirty="0"/>
          </a:p>
        </p:txBody>
      </p:sp>
      <p:sp>
        <p:nvSpPr>
          <p:cNvPr id="31" name="Text 29"/>
          <p:cNvSpPr txBox="1"/>
          <p:nvPr/>
        </p:nvSpPr>
        <p:spPr>
          <a:xfrm>
            <a:off x="4143695" y="31455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s=2</a:t>
            </a:r>
            <a:endParaRPr lang="en-US" sz="949" dirty="0"/>
          </a:p>
        </p:txBody>
      </p:sp>
      <p:sp>
        <p:nvSpPr>
          <p:cNvPr id="32" name="Text 30"/>
          <p:cNvSpPr/>
          <p:nvPr/>
        </p:nvSpPr>
        <p:spPr>
          <a:xfrm>
            <a:off x="5184648" y="323697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49" dirty="0"/>
          </a:p>
        </p:txBody>
      </p:sp>
      <p:sp>
        <p:nvSpPr>
          <p:cNvPr id="33" name="Text 31"/>
          <p:cNvSpPr txBox="1"/>
          <p:nvPr/>
        </p:nvSpPr>
        <p:spPr>
          <a:xfrm>
            <a:off x="5576377" y="31455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s=1</a:t>
            </a:r>
            <a:endParaRPr lang="en-US" sz="949" dirty="0"/>
          </a:p>
        </p:txBody>
      </p:sp>
      <p:sp>
        <p:nvSpPr>
          <p:cNvPr id="34" name="Text 32"/>
          <p:cNvSpPr/>
          <p:nvPr/>
        </p:nvSpPr>
        <p:spPr>
          <a:xfrm>
            <a:off x="4896612" y="265176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49" dirty="0"/>
          </a:p>
        </p:txBody>
      </p:sp>
      <p:sp>
        <p:nvSpPr>
          <p:cNvPr id="35" name="Text 33"/>
          <p:cNvSpPr txBox="1"/>
          <p:nvPr/>
        </p:nvSpPr>
        <p:spPr>
          <a:xfrm>
            <a:off x="5288341" y="2560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s=4</a:t>
            </a:r>
            <a:endParaRPr lang="en-US" sz="949" dirty="0"/>
          </a:p>
        </p:txBody>
      </p:sp>
      <p:sp>
        <p:nvSpPr>
          <p:cNvPr id="36" name="Text 34"/>
          <p:cNvSpPr/>
          <p:nvPr/>
        </p:nvSpPr>
        <p:spPr>
          <a:xfrm>
            <a:off x="4608576" y="206654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49" dirty="0"/>
          </a:p>
        </p:txBody>
      </p:sp>
      <p:sp>
        <p:nvSpPr>
          <p:cNvPr id="37" name="Text 35"/>
          <p:cNvSpPr txBox="1"/>
          <p:nvPr/>
        </p:nvSpPr>
        <p:spPr>
          <a:xfrm>
            <a:off x="5000305" y="19751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s=5</a:t>
            </a:r>
            <a:endParaRPr lang="en-US" sz="949" dirty="0"/>
          </a:p>
        </p:txBody>
      </p:sp>
      <p:sp>
        <p:nvSpPr>
          <p:cNvPr id="38" name="Text 36"/>
          <p:cNvSpPr txBox="1"/>
          <p:nvPr/>
        </p:nvSpPr>
        <p:spPr>
          <a:xfrm>
            <a:off x="3776472" y="4224528"/>
            <a:ext cx="2624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ranks: 2.32 + 2 + 1 + 0 + 0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75120" y="1737360"/>
            <a:ext cx="1600200" cy="1645920"/>
          </a:xfrm>
          <a:prstGeom prst="roundRect">
            <a:avLst>
              <a:gd name="adj" fmla="val 4571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75120" y="1874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41" name="Text 39"/>
          <p:cNvSpPr txBox="1"/>
          <p:nvPr/>
        </p:nvSpPr>
        <p:spPr>
          <a:xfrm>
            <a:off x="6720840" y="2606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cost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(rotations)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366760" y="1737360"/>
            <a:ext cx="1600200" cy="1645920"/>
          </a:xfrm>
          <a:prstGeom prst="roundRect">
            <a:avLst>
              <a:gd name="adj" fmla="val 4571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66760" y="1874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-1.585</a:t>
            </a:r>
            <a:endParaRPr lang="en-US" sz="3000" dirty="0"/>
          </a:p>
        </p:txBody>
      </p:sp>
      <p:sp>
        <p:nvSpPr>
          <p:cNvPr id="44" name="Text 42"/>
          <p:cNvSpPr txBox="1"/>
          <p:nvPr/>
        </p:nvSpPr>
        <p:spPr>
          <a:xfrm>
            <a:off x="8412480" y="2606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Φ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058400" y="1737360"/>
            <a:ext cx="1600200" cy="1645920"/>
          </a:xfrm>
          <a:prstGeom prst="roundRect">
            <a:avLst>
              <a:gd name="adj" fmla="val 4571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058400" y="1874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2.415</a:t>
            </a:r>
            <a:endParaRPr lang="en-US" sz="3000" dirty="0"/>
          </a:p>
        </p:txBody>
      </p:sp>
      <p:sp>
        <p:nvSpPr>
          <p:cNvPr id="47" name="Text 45"/>
          <p:cNvSpPr txBox="1"/>
          <p:nvPr/>
        </p:nvSpPr>
        <p:spPr>
          <a:xfrm>
            <a:off x="10104120" y="2606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amortized cost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67512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amortized = actual + (Φ after − Φ before)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6675120" y="38862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lemma (Handbook 12.3): splay(x) has amortized cost ≤ 3·(rank(root) − rank(x)) + 1.  Here 3·(2.32 − 0) + 1 = 7.97 ≥ 2.415 ✔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48640" y="489204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31520" y="500176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GUARANTEE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5257800"/>
            <a:ext cx="1074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12.1: m operations on a splay tree with at most n keys take O((m + n) log n) time. A single operation may cost O(n), but the average over any sequence is O(log n).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SPLAY TREES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splay trees are good (and bad) at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36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Amortized guarantees (Handbook 12.4)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735" indent="-165735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optimality: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a long sequence, total time is within a constant factor of the BEST fixed BST for the access frequencies — without knowing them.</a:t>
            </a:r>
            <a:endParaRPr lang="en-US" sz="1450" dirty="0"/>
          </a:p>
          <a:p>
            <a:pPr marL="165735" indent="-165735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Working-set property: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key accessed recently is cheap to access again.</a:t>
            </a:r>
            <a:endParaRPr lang="en-US" sz="1450" dirty="0"/>
          </a:p>
          <a:p>
            <a:pPr marL="165735" indent="-165735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finger: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keys near a “finger” position are cheap to reach.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DE8EA"/>
          </a:solidFill>
          <a:ln w="9525">
            <a:solidFill>
              <a:srgbClr val="FDE8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A0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Drawbacks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87452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operation can take O(n) — unsuitable for real-time systems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 restructures the tree (more writes, worse for concurrent access)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384048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uses (lecture slide 223)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29768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and memory managers: hot items sit near the root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collection, text processing, compression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Link-cut trees inside network-flow algorithms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43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&amp; review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vs Red-Black vs Splay side by side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cheat sheet of every rule and formula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 flipV="1">
            <a:off x="836676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8778240" y="2514600"/>
            <a:ext cx="82296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01268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0" y="347472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0" y="2514600"/>
            <a:ext cx="82296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1540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03920" y="320040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73836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61320" y="41605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49840" y="320040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0" y="224028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5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COMPARE &amp;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AVL vs Red-Black vs Splay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109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926080"/>
                <a:gridCol w="301752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AVL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Red-Black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Splay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information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 / balance factor per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colour bit per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 bound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1.44 · log₂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 · log₂(n + 1)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n − 1 (amortized O(log n))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n), fastest of the three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amortized O(log n); restructures on every 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n); at most 1 rotation (single or double)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n); at most 2 rotations + recolouring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amortized O(log n); many rotations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n); up to O(log n) rotations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n); at most 3 rotations + recolouring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amortized 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single operation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lookups dominate; predictable timing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maps and sets with mixed updates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few keys are accessed again and again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(lecture slide 225)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Multiset, Multimap, Map, Set 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transactions; C++ map/set, Java TreeMap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implementation, garbage collection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E6F0FA"/>
          </a:solidFill>
          <a:ln w="9525">
            <a:solidFill>
              <a:srgbClr val="E6F0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59612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4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852160"/>
            <a:ext cx="1074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guarantees and fast lookups → AVL.  Cheap updates with guarantees → Red-Black.  Heavily skewed access pattern and average time is enough → Splay.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COMPARE &amp;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One-page cheat sheet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 basics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32918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depth 0, leaf height 0, empty tree −1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nodes →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− 1 edges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l holds ≤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2^l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nodes; height h holds ≤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2^(h+1) − 1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height for n nodes: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⌊log₂ n⌋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n₀ = n₂ + 1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(leaves = two-child nodes + 1)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BSTs on n keys: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C(2n,n)/(n+1)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1, 2, 5, 14, 42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(1-based): parent ⌊i/2⌋, children 2i, 2i+1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=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In = L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· Post = LR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Level = queue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463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BST &amp; AVL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1920240"/>
            <a:ext cx="32918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BST: left subtree &lt; node &lt; right subtree; in-order is sorted; O(h)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0 / 1 child, or copy in-order successor (or predecessor)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 = height(left) − height(right)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AVL needs |BF| ≤ 1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LOWEST node with |BF| = 2:  LL → right · RR → left · LR → left, right · RL → right, left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AVL nodes: N(h) = N(h−1) + N(h−2) + 1 → 1, 2, 4, 7, 12, 20, 33, 54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≤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 log₂ n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insert ≤ 1 rotation, delete ≤ O(log n)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1463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Red-Black &amp; Splay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1920240"/>
            <a:ext cx="32918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RB: root black · NIL black ·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red-red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black count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every path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RED; uncle red →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recolour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uncle black → line: rotate G + swap colours; triangle: rotate P first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black node →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black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cases 1–4 by sibling colour and nephews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≤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log₂(n + 1)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Splay: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zig-zig (parent first)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zig-zag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search miss splays the last node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splay x, remove, splay max(L), attach R</a:t>
            </a:r>
            <a:endParaRPr lang="en-US" sz="1350" dirty="0"/>
          </a:p>
          <a:p>
            <a:pPr marL="154305" indent="-154305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Amortized = actual + ΔΦ, Φ = Σ log₂ size →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O((m + n) log n)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43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488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bank: 30 questions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· Basic (Q1–Q12): terms, counting, traversals, BST operations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Intermediate (Q13–Q21): build and repair AVL, red-black and splay trees</a:t>
            </a:r>
            <a:endParaRPr lang="en-US" sz="1700" dirty="0"/>
          </a:p>
          <a:p>
            <a:pPr marL="194310" indent="-19431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Advanced (Q22–Q30): proofs, bounds and design decisions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 flipV="1">
            <a:off x="8366760" y="299466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8778240" y="395478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395478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299466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8778240" y="2034540"/>
            <a:ext cx="82296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424160" y="395478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0" y="2994660"/>
            <a:ext cx="41148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0" y="2034540"/>
            <a:ext cx="822960" cy="960120"/>
          </a:xfrm>
          <a:prstGeom prst="line">
            <a:avLst/>
          </a:prstGeom>
          <a:noFill/>
          <a:ln w="25400">
            <a:solidFill>
              <a:srgbClr val="7FB9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68046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03920" y="464058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0" y="464058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15400" y="368046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0" y="272034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49840" y="464058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61320" y="368046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49840" y="272034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26880" y="1760220"/>
            <a:ext cx="548640" cy="5486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5A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the practice bank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361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· Basic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– Q12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74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vocabulary and the counting rules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Traversals, BST build / search / delete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indexing, Catalan count, LCRS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AVL balance factors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FF3D1"/>
          </a:solidFill>
          <a:ln w="9525">
            <a:solidFill>
              <a:srgbClr val="FFF3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15361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· Intermediate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1920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– Q21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3774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fix LL / RR / LR / RL cases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delete in AVL trees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Red-black insertion and deletion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Splay inserts, searches and deletes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DE8EA"/>
          </a:solidFill>
          <a:ln w="9525">
            <a:solidFill>
              <a:srgbClr val="FDE8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15361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 · Advanced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9202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 – Q30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3774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statistics and proofs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and red-black height bounds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Amortized analysis with numbers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tree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92040"/>
            <a:ext cx="11109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has its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first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the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Try on paper before you look.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names its source: lecture slides (Dr. Biswas) or the Handbook of Data Structures and Applications (Mehta &amp; Sahni). The Handbook has no exercise sets, so the questions are built from its chapters and the lecture examples.</a:t>
            </a:r>
            <a:endParaRPr lang="en-US" sz="1400" dirty="0"/>
          </a:p>
          <a:p>
            <a:pPr marL="160020" indent="-16002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was checked by running the algorithms, not by hand.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· Questions Q1–Q3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766560" cy="4937760"/>
          </a:xfrm>
          <a:prstGeom prst="roundRect">
            <a:avLst>
              <a:gd name="adj" fmla="val 1481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49047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89–92 · Handbook §3.1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01952"/>
            <a:ext cx="329184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tree on the right, find: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the root and all leaves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the parent of J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all ancestors of K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the degree of C and the degree of the tree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the level of K and the height of B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Convention: the root is at level 0; a leaf has height 0.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flipV="1">
            <a:off x="4290060" y="3326587"/>
            <a:ext cx="266700" cy="65288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6760" y="3326587"/>
            <a:ext cx="266700" cy="65288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4556760" y="2673706"/>
            <a:ext cx="400050" cy="65288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56860" y="3326587"/>
            <a:ext cx="0" cy="65288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56810" y="2673706"/>
            <a:ext cx="400050" cy="65288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4956810" y="2020824"/>
            <a:ext cx="733425" cy="65288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5890260" y="2673706"/>
            <a:ext cx="533400" cy="65288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23660" y="2673706"/>
            <a:ext cx="0" cy="65288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3660" y="2673706"/>
            <a:ext cx="533400" cy="65288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90235" y="2020824"/>
            <a:ext cx="733425" cy="65288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98036" y="3787445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49" dirty="0"/>
          </a:p>
        </p:txBody>
      </p:sp>
      <p:sp>
        <p:nvSpPr>
          <p:cNvPr id="20" name="Text 18"/>
          <p:cNvSpPr/>
          <p:nvPr/>
        </p:nvSpPr>
        <p:spPr>
          <a:xfrm>
            <a:off x="4631436" y="3787445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149" dirty="0"/>
          </a:p>
        </p:txBody>
      </p:sp>
      <p:sp>
        <p:nvSpPr>
          <p:cNvPr id="21" name="Text 19"/>
          <p:cNvSpPr/>
          <p:nvPr/>
        </p:nvSpPr>
        <p:spPr>
          <a:xfrm>
            <a:off x="4364736" y="3134563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49" dirty="0"/>
          </a:p>
        </p:txBody>
      </p:sp>
      <p:sp>
        <p:nvSpPr>
          <p:cNvPr id="22" name="Text 20"/>
          <p:cNvSpPr/>
          <p:nvPr/>
        </p:nvSpPr>
        <p:spPr>
          <a:xfrm>
            <a:off x="5164836" y="3787445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149" dirty="0"/>
          </a:p>
        </p:txBody>
      </p:sp>
      <p:sp>
        <p:nvSpPr>
          <p:cNvPr id="23" name="Text 21"/>
          <p:cNvSpPr/>
          <p:nvPr/>
        </p:nvSpPr>
        <p:spPr>
          <a:xfrm>
            <a:off x="5164836" y="3134563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49" dirty="0"/>
          </a:p>
        </p:txBody>
      </p:sp>
      <p:sp>
        <p:nvSpPr>
          <p:cNvPr id="24" name="Text 22"/>
          <p:cNvSpPr/>
          <p:nvPr/>
        </p:nvSpPr>
        <p:spPr>
          <a:xfrm>
            <a:off x="4764786" y="248168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49" dirty="0"/>
          </a:p>
        </p:txBody>
      </p:sp>
      <p:sp>
        <p:nvSpPr>
          <p:cNvPr id="25" name="Text 23"/>
          <p:cNvSpPr/>
          <p:nvPr/>
        </p:nvSpPr>
        <p:spPr>
          <a:xfrm>
            <a:off x="5698236" y="3134563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49" dirty="0"/>
          </a:p>
        </p:txBody>
      </p:sp>
      <p:sp>
        <p:nvSpPr>
          <p:cNvPr id="26" name="Text 24"/>
          <p:cNvSpPr/>
          <p:nvPr/>
        </p:nvSpPr>
        <p:spPr>
          <a:xfrm>
            <a:off x="6231636" y="3134563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49" dirty="0"/>
          </a:p>
        </p:txBody>
      </p:sp>
      <p:sp>
        <p:nvSpPr>
          <p:cNvPr id="27" name="Text 25"/>
          <p:cNvSpPr/>
          <p:nvPr/>
        </p:nvSpPr>
        <p:spPr>
          <a:xfrm>
            <a:off x="6765036" y="3134563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49" dirty="0"/>
          </a:p>
        </p:txBody>
      </p:sp>
      <p:sp>
        <p:nvSpPr>
          <p:cNvPr id="28" name="Text 26"/>
          <p:cNvSpPr/>
          <p:nvPr/>
        </p:nvSpPr>
        <p:spPr>
          <a:xfrm>
            <a:off x="6231636" y="248168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49" dirty="0"/>
          </a:p>
        </p:txBody>
      </p:sp>
      <p:sp>
        <p:nvSpPr>
          <p:cNvPr id="29" name="Text 27"/>
          <p:cNvSpPr/>
          <p:nvPr/>
        </p:nvSpPr>
        <p:spPr>
          <a:xfrm>
            <a:off x="5498211" y="182880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49" dirty="0"/>
          </a:p>
        </p:txBody>
      </p:sp>
      <p:sp>
        <p:nvSpPr>
          <p:cNvPr id="30" name="Shape 28"/>
          <p:cNvSpPr/>
          <p:nvPr/>
        </p:nvSpPr>
        <p:spPr>
          <a:xfrm>
            <a:off x="7498080" y="1371600"/>
            <a:ext cx="4160520" cy="2377440"/>
          </a:xfrm>
          <a:prstGeom prst="roundRect">
            <a:avLst>
              <a:gd name="adj" fmla="val 307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14904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Lemmas 3.5–3.7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680960" y="1901952"/>
            <a:ext cx="37947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What is the maximum number of nodes on level 5 of a binary tree?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What is the maximum number of nodes in a binary tree of height 5?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What is the minimum height of a binary tree with 20 nodes?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498080" y="3931920"/>
            <a:ext cx="4160520" cy="2377440"/>
          </a:xfrm>
          <a:prstGeom prst="roundRect">
            <a:avLst>
              <a:gd name="adj" fmla="val 307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405079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394192" y="40507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Lemma 3.3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680960" y="4462272"/>
            <a:ext cx="37947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non-empty binary tree has 5 nodes with two children and 3 nodes with exactly one child. How many leaves does it have? How many nodes and how many edges in total?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· Questions Q4–Q7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4904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116–120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01952"/>
            <a:ext cx="51206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the keys 8, 3, 10, 1, 6, 14, 4, 7, 13, in this order, into an empty BST. Draw the tree and state its height.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068312" y="14904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§3.4 · lecture slides 123–126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1901952"/>
            <a:ext cx="51206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BST from Q4 write the pre-order, in-order, post-order and level-order traversals. What do you notice about the in-order list?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7040880" cy="2606040"/>
          </a:xfrm>
          <a:prstGeom prst="roundRect">
            <a:avLst>
              <a:gd name="adj" fmla="val 280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6791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444752" y="386791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 134 · Handbook Fig. 3.9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279392"/>
            <a:ext cx="210312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trees X and Y is a binary search tree? Justify your answer.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4206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3477006" y="5422392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65042" y="5422392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3765042" y="4750308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53078" y="4750308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84982" y="590245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49" dirty="0"/>
          </a:p>
        </p:txBody>
      </p:sp>
      <p:sp>
        <p:nvSpPr>
          <p:cNvPr id="23" name="Text 21"/>
          <p:cNvSpPr/>
          <p:nvPr/>
        </p:nvSpPr>
        <p:spPr>
          <a:xfrm>
            <a:off x="3861054" y="590245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49" dirty="0"/>
          </a:p>
        </p:txBody>
      </p:sp>
      <p:sp>
        <p:nvSpPr>
          <p:cNvPr id="24" name="Text 22"/>
          <p:cNvSpPr/>
          <p:nvPr/>
        </p:nvSpPr>
        <p:spPr>
          <a:xfrm>
            <a:off x="3573018" y="523036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49" dirty="0"/>
          </a:p>
        </p:txBody>
      </p:sp>
      <p:sp>
        <p:nvSpPr>
          <p:cNvPr id="25" name="Text 23"/>
          <p:cNvSpPr/>
          <p:nvPr/>
        </p:nvSpPr>
        <p:spPr>
          <a:xfrm>
            <a:off x="4149090" y="523036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49" dirty="0"/>
          </a:p>
        </p:txBody>
      </p:sp>
      <p:sp>
        <p:nvSpPr>
          <p:cNvPr id="26" name="Text 24"/>
          <p:cNvSpPr/>
          <p:nvPr/>
        </p:nvSpPr>
        <p:spPr>
          <a:xfrm>
            <a:off x="3861054" y="455828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49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4206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flipV="1">
            <a:off x="5504688" y="5422392"/>
            <a:ext cx="260604" cy="60807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5292" y="5422392"/>
            <a:ext cx="260604" cy="60807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765292" y="4814316"/>
            <a:ext cx="521208" cy="60807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6547104" y="5422392"/>
            <a:ext cx="260604" cy="60807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07708" y="5422392"/>
            <a:ext cx="260604" cy="60807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86500" y="4814316"/>
            <a:ext cx="521208" cy="60807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30952" y="5856732"/>
            <a:ext cx="347472" cy="34747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5852160" y="5856732"/>
            <a:ext cx="347472" cy="34747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5591556" y="5248656"/>
            <a:ext cx="347472" cy="34747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6373368" y="5856732"/>
            <a:ext cx="347472" cy="34747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6894576" y="5856732"/>
            <a:ext cx="347472" cy="34747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6633972" y="5248656"/>
            <a:ext cx="347472" cy="34747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40" dirty="0"/>
          </a:p>
        </p:txBody>
      </p:sp>
      <p:sp>
        <p:nvSpPr>
          <p:cNvPr id="40" name="Text 38"/>
          <p:cNvSpPr/>
          <p:nvPr/>
        </p:nvSpPr>
        <p:spPr>
          <a:xfrm>
            <a:off x="6112764" y="4640580"/>
            <a:ext cx="347472" cy="34747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7726680" y="3749040"/>
            <a:ext cx="3931920" cy="2606040"/>
          </a:xfrm>
          <a:prstGeom prst="roundRect">
            <a:avLst>
              <a:gd name="adj" fmla="val 280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0" y="386791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622792" y="38679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138–141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909560" y="4279392"/>
            <a:ext cx="356616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BST from Q4 list every key compared when searching for (a) 7 and (b) 12. Does each search succeed?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· Questions Q8–Q12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490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144–147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01952"/>
            <a:ext cx="329184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BST of Q4 delete 3, then 14, then 8. Use the in-order successor for two-child nodes. Draw the tree after each deletion.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749040" cy="2331720"/>
          </a:xfrm>
          <a:prstGeom prst="roundRect">
            <a:avLst>
              <a:gd name="adj" fmla="val 313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93792" y="1490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§3.3.2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901952"/>
            <a:ext cx="338328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binary tree with 11 nodes is stored in array A[1..11]. (a) Parent of A[9]? (b) Children of A[5]? (c) Children of A[6]? (d) Which indices are leaves?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34272" y="14904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 136 · Lemma 3.8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1901952"/>
            <a:ext cx="315468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structurally different BSTs can be built from 4 distinct keys? Show the formula.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5935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444752" y="39593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96–99 · Handbook §3.2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370832"/>
            <a:ext cx="237744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left-child right-sibling binary tree of the general tree shown.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 flipV="1">
            <a:off x="3328416" y="5067605"/>
            <a:ext cx="230429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58845" y="5067605"/>
            <a:ext cx="230429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3558845" y="4507992"/>
            <a:ext cx="806501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4250131" y="4507992"/>
            <a:ext cx="115214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4710989" y="5067605"/>
            <a:ext cx="460858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71846" y="5067605"/>
            <a:ext cx="0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71846" y="5067605"/>
            <a:ext cx="460858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65346" y="4507992"/>
            <a:ext cx="806501" cy="559613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63824" y="546262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85" dirty="0"/>
          </a:p>
        </p:txBody>
      </p:sp>
      <p:sp>
        <p:nvSpPr>
          <p:cNvPr id="30" name="Text 28"/>
          <p:cNvSpPr/>
          <p:nvPr/>
        </p:nvSpPr>
        <p:spPr>
          <a:xfrm>
            <a:off x="3624682" y="546262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85" dirty="0"/>
          </a:p>
        </p:txBody>
      </p:sp>
      <p:sp>
        <p:nvSpPr>
          <p:cNvPr id="31" name="Text 29"/>
          <p:cNvSpPr/>
          <p:nvPr/>
        </p:nvSpPr>
        <p:spPr>
          <a:xfrm>
            <a:off x="3394253" y="4903013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85" dirty="0"/>
          </a:p>
        </p:txBody>
      </p:sp>
      <p:sp>
        <p:nvSpPr>
          <p:cNvPr id="32" name="Text 30"/>
          <p:cNvSpPr/>
          <p:nvPr/>
        </p:nvSpPr>
        <p:spPr>
          <a:xfrm>
            <a:off x="4085539" y="4903013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85" dirty="0"/>
          </a:p>
        </p:txBody>
      </p:sp>
      <p:sp>
        <p:nvSpPr>
          <p:cNvPr id="33" name="Text 31"/>
          <p:cNvSpPr/>
          <p:nvPr/>
        </p:nvSpPr>
        <p:spPr>
          <a:xfrm>
            <a:off x="4546397" y="546262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85" dirty="0"/>
          </a:p>
        </p:txBody>
      </p:sp>
      <p:sp>
        <p:nvSpPr>
          <p:cNvPr id="34" name="Text 32"/>
          <p:cNvSpPr/>
          <p:nvPr/>
        </p:nvSpPr>
        <p:spPr>
          <a:xfrm>
            <a:off x="5007254" y="546262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85" dirty="0"/>
          </a:p>
        </p:txBody>
      </p:sp>
      <p:sp>
        <p:nvSpPr>
          <p:cNvPr id="35" name="Text 33"/>
          <p:cNvSpPr/>
          <p:nvPr/>
        </p:nvSpPr>
        <p:spPr>
          <a:xfrm>
            <a:off x="5468112" y="546262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85" dirty="0"/>
          </a:p>
        </p:txBody>
      </p:sp>
      <p:sp>
        <p:nvSpPr>
          <p:cNvPr id="36" name="Text 34"/>
          <p:cNvSpPr/>
          <p:nvPr/>
        </p:nvSpPr>
        <p:spPr>
          <a:xfrm>
            <a:off x="5007254" y="4903013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85" dirty="0"/>
          </a:p>
        </p:txBody>
      </p:sp>
      <p:sp>
        <p:nvSpPr>
          <p:cNvPr id="37" name="Text 35"/>
          <p:cNvSpPr/>
          <p:nvPr/>
        </p:nvSpPr>
        <p:spPr>
          <a:xfrm>
            <a:off x="4200754" y="434340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85" dirty="0"/>
          </a:p>
        </p:txBody>
      </p:sp>
      <p:sp>
        <p:nvSpPr>
          <p:cNvPr id="38" name="Shape 36"/>
          <p:cNvSpPr/>
          <p:nvPr/>
        </p:nvSpPr>
        <p:spPr>
          <a:xfrm>
            <a:off x="6172200" y="384048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95935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068312" y="39593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149, 159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355080" y="4370832"/>
            <a:ext cx="274320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balance factor of every node. Is this an AVL tree? If not, name the rotation case and draw the tree after fixing it.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 flipV="1">
            <a:off x="9838944" y="4977384"/>
            <a:ext cx="246888" cy="56083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085832" y="4977384"/>
            <a:ext cx="246888" cy="56083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10085832" y="4416552"/>
            <a:ext cx="246888" cy="56083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10579608" y="5538216"/>
            <a:ext cx="246888" cy="56083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79608" y="4977384"/>
            <a:ext cx="246888" cy="56083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332720" y="4416552"/>
            <a:ext cx="246888" cy="56083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74352" y="537362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85" dirty="0"/>
          </a:p>
        </p:txBody>
      </p:sp>
      <p:sp>
        <p:nvSpPr>
          <p:cNvPr id="49" name="Text 47"/>
          <p:cNvSpPr/>
          <p:nvPr/>
        </p:nvSpPr>
        <p:spPr>
          <a:xfrm>
            <a:off x="10168128" y="537362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85" dirty="0"/>
          </a:p>
        </p:txBody>
      </p:sp>
      <p:sp>
        <p:nvSpPr>
          <p:cNvPr id="50" name="Text 48"/>
          <p:cNvSpPr/>
          <p:nvPr/>
        </p:nvSpPr>
        <p:spPr>
          <a:xfrm>
            <a:off x="9921240" y="481279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85" dirty="0"/>
          </a:p>
        </p:txBody>
      </p:sp>
      <p:sp>
        <p:nvSpPr>
          <p:cNvPr id="51" name="Text 49"/>
          <p:cNvSpPr/>
          <p:nvPr/>
        </p:nvSpPr>
        <p:spPr>
          <a:xfrm>
            <a:off x="10415016" y="593445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85" dirty="0"/>
          </a:p>
        </p:txBody>
      </p:sp>
      <p:sp>
        <p:nvSpPr>
          <p:cNvPr id="52" name="Text 50"/>
          <p:cNvSpPr/>
          <p:nvPr/>
        </p:nvSpPr>
        <p:spPr>
          <a:xfrm>
            <a:off x="10661904" y="537362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85" dirty="0"/>
          </a:p>
        </p:txBody>
      </p:sp>
      <p:sp>
        <p:nvSpPr>
          <p:cNvPr id="53" name="Text 51"/>
          <p:cNvSpPr/>
          <p:nvPr/>
        </p:nvSpPr>
        <p:spPr>
          <a:xfrm>
            <a:off x="10415016" y="481279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85" dirty="0"/>
          </a:p>
        </p:txBody>
      </p:sp>
      <p:sp>
        <p:nvSpPr>
          <p:cNvPr id="54" name="Text 52"/>
          <p:cNvSpPr/>
          <p:nvPr/>
        </p:nvSpPr>
        <p:spPr>
          <a:xfrm>
            <a:off x="10168128" y="425196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8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1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· Solutions Q1–Q3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4937760"/>
          </a:xfrm>
          <a:prstGeom prst="roundRect">
            <a:avLst>
              <a:gd name="adj" fmla="val 2000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01952"/>
            <a:ext cx="329184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Root </a:t>
            </a:r>
            <a:r>
              <a:rPr lang="en-US" sz="16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leaves </a:t>
            </a:r>
            <a:r>
              <a:rPr lang="en-US" sz="16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F, G, H, I, J, K</a:t>
            </a: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Parent of J is </a:t>
            </a:r>
            <a:r>
              <a:rPr lang="en-US" sz="16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Ancestors of K: </a:t>
            </a:r>
            <a:r>
              <a:rPr lang="en-US" sz="16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E, B, A</a:t>
            </a: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deg(C) = </a:t>
            </a:r>
            <a:r>
              <a:rPr lang="en-US" sz="16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degree of the tree is the largest node degree: </a:t>
            </a:r>
            <a:r>
              <a:rPr lang="en-US" sz="16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K is at level </a:t>
            </a:r>
            <a:r>
              <a:rPr lang="en-US" sz="16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→ B → E → K, three edges). Height of B = </a:t>
            </a:r>
            <a:r>
              <a:rPr lang="en-US" sz="16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 → D → I).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657600" cy="4937760"/>
          </a:xfrm>
          <a:prstGeom prst="roundRect">
            <a:avLst>
              <a:gd name="adj" fmla="val 2000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1901952"/>
            <a:ext cx="329184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2⁵ = </a:t>
            </a:r>
            <a:r>
              <a:rPr lang="en-US" sz="16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2⁶ − 1 = </a:t>
            </a:r>
            <a:r>
              <a:rPr lang="en-US" sz="16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Height 3 holds at most 2⁴ − 1 = 15 nodes, too few. Height 4 holds up to 31 ≥ 20. So the minimum height is </a:t>
            </a:r>
            <a:r>
              <a:rPr lang="en-US" sz="16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(= ⌊log₂ 20⌋).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1901952"/>
            <a:ext cx="324612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Leaves: n₀ = n₂ + 1 = </a:t>
            </a:r>
            <a:r>
              <a:rPr lang="en-US" sz="16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 n = 6 + 3 + 5 = </a:t>
            </a:r>
            <a:r>
              <a:rPr lang="en-US" sz="16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Edges: n − 1 = </a:t>
            </a:r>
            <a:r>
              <a:rPr lang="en-US" sz="16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n₁ + 2n₂ = 3 + 10 = 13 ✔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1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· Solutions Q4–Q5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 flipV="1">
            <a:off x="2132381" y="2610612"/>
            <a:ext cx="371246" cy="92811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503627" y="3538728"/>
            <a:ext cx="371246" cy="92811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74874" y="3538728"/>
            <a:ext cx="371246" cy="92811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03627" y="2610612"/>
            <a:ext cx="371246" cy="92811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503627" y="1682496"/>
            <a:ext cx="742493" cy="92811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3988613" y="3538728"/>
            <a:ext cx="371246" cy="92811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88613" y="2610612"/>
            <a:ext cx="371246" cy="92811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682496"/>
            <a:ext cx="742493" cy="92811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67205" y="3273552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87" dirty="0"/>
          </a:p>
        </p:txBody>
      </p:sp>
      <p:sp>
        <p:nvSpPr>
          <p:cNvPr id="14" name="Text 12"/>
          <p:cNvSpPr/>
          <p:nvPr/>
        </p:nvSpPr>
        <p:spPr>
          <a:xfrm>
            <a:off x="2238451" y="4201668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87" dirty="0"/>
          </a:p>
        </p:txBody>
      </p:sp>
      <p:sp>
        <p:nvSpPr>
          <p:cNvPr id="15" name="Text 13"/>
          <p:cNvSpPr/>
          <p:nvPr/>
        </p:nvSpPr>
        <p:spPr>
          <a:xfrm>
            <a:off x="2980944" y="4201668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87" dirty="0"/>
          </a:p>
        </p:txBody>
      </p:sp>
      <p:sp>
        <p:nvSpPr>
          <p:cNvPr id="16" name="Text 14"/>
          <p:cNvSpPr/>
          <p:nvPr/>
        </p:nvSpPr>
        <p:spPr>
          <a:xfrm>
            <a:off x="2609698" y="3273552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87" dirty="0"/>
          </a:p>
        </p:txBody>
      </p:sp>
      <p:sp>
        <p:nvSpPr>
          <p:cNvPr id="17" name="Text 15"/>
          <p:cNvSpPr/>
          <p:nvPr/>
        </p:nvSpPr>
        <p:spPr>
          <a:xfrm>
            <a:off x="2238451" y="2345436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87" dirty="0"/>
          </a:p>
        </p:txBody>
      </p:sp>
      <p:sp>
        <p:nvSpPr>
          <p:cNvPr id="18" name="Text 16"/>
          <p:cNvSpPr/>
          <p:nvPr/>
        </p:nvSpPr>
        <p:spPr>
          <a:xfrm>
            <a:off x="3723437" y="4201668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87" dirty="0"/>
          </a:p>
        </p:txBody>
      </p:sp>
      <p:sp>
        <p:nvSpPr>
          <p:cNvPr id="19" name="Text 17"/>
          <p:cNvSpPr/>
          <p:nvPr/>
        </p:nvSpPr>
        <p:spPr>
          <a:xfrm>
            <a:off x="4094683" y="3273552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87" dirty="0"/>
          </a:p>
        </p:txBody>
      </p:sp>
      <p:sp>
        <p:nvSpPr>
          <p:cNvPr id="20" name="Text 18"/>
          <p:cNvSpPr/>
          <p:nvPr/>
        </p:nvSpPr>
        <p:spPr>
          <a:xfrm>
            <a:off x="3723437" y="2345436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87" dirty="0"/>
          </a:p>
        </p:txBody>
      </p:sp>
      <p:sp>
        <p:nvSpPr>
          <p:cNvPr id="21" name="Text 19"/>
          <p:cNvSpPr/>
          <p:nvPr/>
        </p:nvSpPr>
        <p:spPr>
          <a:xfrm>
            <a:off x="2980944" y="1417320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7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87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34924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3. Each key goes left if smaller, right if larger: 3 &lt; 8 ← left; 10 &gt; 8 → right; 6 &gt; 3 → right of 3; 14 &gt; 10; 4 and 7 under 6; 13 &lt; 14 → left of 14.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1371600"/>
            <a:ext cx="5440680" cy="4937760"/>
          </a:xfrm>
          <a:prstGeom prst="roundRect">
            <a:avLst>
              <a:gd name="adj" fmla="val 1481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1901952"/>
            <a:ext cx="507492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22128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8  3  1  6  4  7  10  14  13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30815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1  3  4  6  7  8  10  13  14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3657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Post-order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39502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1  4  7  6  3  13  14  10  8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4526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48188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43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8  3  10  1  6  14  4  7  13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54406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in-order list is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 3 4 6 7 8 10 13 14): this is the BST property in action, and a quick validity test.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1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· Solutions Q6–Q7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not a BST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492758" y="2816352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08226" y="2816352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808226" y="2080260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23694" y="2080260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2446" y="334213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9" dirty="0"/>
          </a:p>
        </p:txBody>
      </p:sp>
      <p:sp>
        <p:nvSpPr>
          <p:cNvPr id="11" name="Text 9"/>
          <p:cNvSpPr/>
          <p:nvPr/>
        </p:nvSpPr>
        <p:spPr>
          <a:xfrm>
            <a:off x="1913382" y="3342132"/>
            <a:ext cx="420624" cy="420624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9" dirty="0"/>
          </a:p>
        </p:txBody>
      </p:sp>
      <p:sp>
        <p:nvSpPr>
          <p:cNvPr id="12" name="Text 10"/>
          <p:cNvSpPr/>
          <p:nvPr/>
        </p:nvSpPr>
        <p:spPr>
          <a:xfrm>
            <a:off x="1597914" y="260604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9" dirty="0"/>
          </a:p>
        </p:txBody>
      </p:sp>
      <p:sp>
        <p:nvSpPr>
          <p:cNvPr id="13" name="Text 11"/>
          <p:cNvSpPr/>
          <p:nvPr/>
        </p:nvSpPr>
        <p:spPr>
          <a:xfrm>
            <a:off x="2228850" y="260604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14" name="Text 12"/>
          <p:cNvSpPr/>
          <p:nvPr/>
        </p:nvSpPr>
        <p:spPr>
          <a:xfrm>
            <a:off x="1913382" y="1869948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5020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is in the left subtree of 20, but 25 &gt; 20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Y: a BST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V="1">
            <a:off x="4160520" y="2816352"/>
            <a:ext cx="27432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2816352"/>
            <a:ext cx="27432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4434840" y="2176272"/>
            <a:ext cx="54864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5257800" y="2816352"/>
            <a:ext cx="27432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32120" y="2816352"/>
            <a:ext cx="27432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2176272"/>
            <a:ext cx="548640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3273552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4" dirty="0"/>
          </a:p>
        </p:txBody>
      </p:sp>
      <p:sp>
        <p:nvSpPr>
          <p:cNvPr id="24" name="Text 22"/>
          <p:cNvSpPr/>
          <p:nvPr/>
        </p:nvSpPr>
        <p:spPr>
          <a:xfrm>
            <a:off x="4526280" y="3273552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94" dirty="0"/>
          </a:p>
        </p:txBody>
      </p:sp>
      <p:sp>
        <p:nvSpPr>
          <p:cNvPr id="25" name="Text 23"/>
          <p:cNvSpPr/>
          <p:nvPr/>
        </p:nvSpPr>
        <p:spPr>
          <a:xfrm>
            <a:off x="4251960" y="2633472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94" dirty="0"/>
          </a:p>
        </p:txBody>
      </p:sp>
      <p:sp>
        <p:nvSpPr>
          <p:cNvPr id="26" name="Text 24"/>
          <p:cNvSpPr/>
          <p:nvPr/>
        </p:nvSpPr>
        <p:spPr>
          <a:xfrm>
            <a:off x="5074920" y="3273552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94" dirty="0"/>
          </a:p>
        </p:txBody>
      </p:sp>
      <p:sp>
        <p:nvSpPr>
          <p:cNvPr id="27" name="Text 25"/>
          <p:cNvSpPr/>
          <p:nvPr/>
        </p:nvSpPr>
        <p:spPr>
          <a:xfrm>
            <a:off x="5623560" y="3273552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94" dirty="0"/>
          </a:p>
        </p:txBody>
      </p:sp>
      <p:sp>
        <p:nvSpPr>
          <p:cNvPr id="28" name="Text 26"/>
          <p:cNvSpPr/>
          <p:nvPr/>
        </p:nvSpPr>
        <p:spPr>
          <a:xfrm>
            <a:off x="5349240" y="2633472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94" dirty="0"/>
          </a:p>
        </p:txBody>
      </p:sp>
      <p:sp>
        <p:nvSpPr>
          <p:cNvPr id="29" name="Text 27"/>
          <p:cNvSpPr/>
          <p:nvPr/>
        </p:nvSpPr>
        <p:spPr>
          <a:xfrm>
            <a:off x="4800600" y="1993392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94" dirty="0"/>
          </a:p>
        </p:txBody>
      </p:sp>
      <p:sp>
        <p:nvSpPr>
          <p:cNvPr id="30" name="Text 28"/>
          <p:cNvSpPr txBox="1"/>
          <p:nvPr/>
        </p:nvSpPr>
        <p:spPr>
          <a:xfrm>
            <a:off x="3474720" y="395020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5 10 15 20 25 30 35: sorted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52628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X looks fine locally (25 &gt; 10 as the right child of 10), but the rule must hold against EVERY ancestor. In-order of X: 5 10 25 20 30 is not sorted.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search 7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 flipV="1">
            <a:off x="7237476" y="2528316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7484364" y="3104388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31252" y="3104388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84364" y="2528316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7484364" y="1952244"/>
            <a:ext cx="493776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8471916" y="3104388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71916" y="2528316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78140" y="1952244"/>
            <a:ext cx="493776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72884" y="293979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85" dirty="0"/>
          </a:p>
        </p:txBody>
      </p:sp>
      <p:sp>
        <p:nvSpPr>
          <p:cNvPr id="42" name="Text 40"/>
          <p:cNvSpPr/>
          <p:nvPr/>
        </p:nvSpPr>
        <p:spPr>
          <a:xfrm>
            <a:off x="7319772" y="351586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5" dirty="0"/>
          </a:p>
        </p:txBody>
      </p:sp>
      <p:sp>
        <p:nvSpPr>
          <p:cNvPr id="43" name="Text 41"/>
          <p:cNvSpPr/>
          <p:nvPr/>
        </p:nvSpPr>
        <p:spPr>
          <a:xfrm>
            <a:off x="7813548" y="3515868"/>
            <a:ext cx="329184" cy="32918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85" dirty="0"/>
          </a:p>
        </p:txBody>
      </p:sp>
      <p:sp>
        <p:nvSpPr>
          <p:cNvPr id="44" name="Text 42"/>
          <p:cNvSpPr/>
          <p:nvPr/>
        </p:nvSpPr>
        <p:spPr>
          <a:xfrm>
            <a:off x="7566660" y="2939796"/>
            <a:ext cx="329184" cy="32918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85" dirty="0"/>
          </a:p>
        </p:txBody>
      </p:sp>
      <p:sp>
        <p:nvSpPr>
          <p:cNvPr id="45" name="Text 43"/>
          <p:cNvSpPr/>
          <p:nvPr/>
        </p:nvSpPr>
        <p:spPr>
          <a:xfrm>
            <a:off x="7319772" y="2363724"/>
            <a:ext cx="329184" cy="32918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85" dirty="0"/>
          </a:p>
        </p:txBody>
      </p:sp>
      <p:sp>
        <p:nvSpPr>
          <p:cNvPr id="46" name="Text 44"/>
          <p:cNvSpPr/>
          <p:nvPr/>
        </p:nvSpPr>
        <p:spPr>
          <a:xfrm>
            <a:off x="8307324" y="351586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85" dirty="0"/>
          </a:p>
        </p:txBody>
      </p:sp>
      <p:sp>
        <p:nvSpPr>
          <p:cNvPr id="47" name="Text 45"/>
          <p:cNvSpPr/>
          <p:nvPr/>
        </p:nvSpPr>
        <p:spPr>
          <a:xfrm>
            <a:off x="8554212" y="293979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85" dirty="0"/>
          </a:p>
        </p:txBody>
      </p:sp>
      <p:sp>
        <p:nvSpPr>
          <p:cNvPr id="48" name="Text 46"/>
          <p:cNvSpPr/>
          <p:nvPr/>
        </p:nvSpPr>
        <p:spPr>
          <a:xfrm>
            <a:off x="8307324" y="236372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85" dirty="0"/>
          </a:p>
        </p:txBody>
      </p:sp>
      <p:sp>
        <p:nvSpPr>
          <p:cNvPr id="49" name="Text 47"/>
          <p:cNvSpPr/>
          <p:nvPr/>
        </p:nvSpPr>
        <p:spPr>
          <a:xfrm>
            <a:off x="7813548" y="1787652"/>
            <a:ext cx="329184" cy="32918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85" dirty="0"/>
          </a:p>
        </p:txBody>
      </p:sp>
      <p:sp>
        <p:nvSpPr>
          <p:cNvPr id="50" name="Text 48"/>
          <p:cNvSpPr txBox="1"/>
          <p:nvPr/>
        </p:nvSpPr>
        <p:spPr>
          <a:xfrm>
            <a:off x="6766560" y="395020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→ 3 → 6 → 7: found (4 keys)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923544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search 12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 flipV="1">
            <a:off x="9706356" y="2528316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9953244" y="3104388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200132" y="3104388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953244" y="2528316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9953244" y="1952244"/>
            <a:ext cx="493776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10940796" y="3104388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940796" y="2528316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447020" y="1952244"/>
            <a:ext cx="493776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541764" y="293979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85" dirty="0"/>
          </a:p>
        </p:txBody>
      </p:sp>
      <p:sp>
        <p:nvSpPr>
          <p:cNvPr id="61" name="Text 59"/>
          <p:cNvSpPr/>
          <p:nvPr/>
        </p:nvSpPr>
        <p:spPr>
          <a:xfrm>
            <a:off x="9788652" y="351586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5" dirty="0"/>
          </a:p>
        </p:txBody>
      </p:sp>
      <p:sp>
        <p:nvSpPr>
          <p:cNvPr id="62" name="Text 60"/>
          <p:cNvSpPr/>
          <p:nvPr/>
        </p:nvSpPr>
        <p:spPr>
          <a:xfrm>
            <a:off x="10282428" y="351586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85" dirty="0"/>
          </a:p>
        </p:txBody>
      </p:sp>
      <p:sp>
        <p:nvSpPr>
          <p:cNvPr id="63" name="Text 61"/>
          <p:cNvSpPr/>
          <p:nvPr/>
        </p:nvSpPr>
        <p:spPr>
          <a:xfrm>
            <a:off x="10035540" y="293979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85" dirty="0"/>
          </a:p>
        </p:txBody>
      </p:sp>
      <p:sp>
        <p:nvSpPr>
          <p:cNvPr id="64" name="Text 62"/>
          <p:cNvSpPr/>
          <p:nvPr/>
        </p:nvSpPr>
        <p:spPr>
          <a:xfrm>
            <a:off x="9788652" y="236372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85" dirty="0"/>
          </a:p>
        </p:txBody>
      </p:sp>
      <p:sp>
        <p:nvSpPr>
          <p:cNvPr id="65" name="Text 63"/>
          <p:cNvSpPr/>
          <p:nvPr/>
        </p:nvSpPr>
        <p:spPr>
          <a:xfrm>
            <a:off x="10776204" y="3515868"/>
            <a:ext cx="329184" cy="32918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85" dirty="0"/>
          </a:p>
        </p:txBody>
      </p:sp>
      <p:sp>
        <p:nvSpPr>
          <p:cNvPr id="66" name="Text 64"/>
          <p:cNvSpPr/>
          <p:nvPr/>
        </p:nvSpPr>
        <p:spPr>
          <a:xfrm>
            <a:off x="11023092" y="2939796"/>
            <a:ext cx="329184" cy="32918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85" dirty="0"/>
          </a:p>
        </p:txBody>
      </p:sp>
      <p:sp>
        <p:nvSpPr>
          <p:cNvPr id="67" name="Text 65"/>
          <p:cNvSpPr/>
          <p:nvPr/>
        </p:nvSpPr>
        <p:spPr>
          <a:xfrm>
            <a:off x="10776204" y="2363724"/>
            <a:ext cx="329184" cy="32918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85" dirty="0"/>
          </a:p>
        </p:txBody>
      </p:sp>
      <p:sp>
        <p:nvSpPr>
          <p:cNvPr id="68" name="Text 66"/>
          <p:cNvSpPr/>
          <p:nvPr/>
        </p:nvSpPr>
        <p:spPr>
          <a:xfrm>
            <a:off x="10282428" y="1787652"/>
            <a:ext cx="329184" cy="32918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85" dirty="0"/>
          </a:p>
        </p:txBody>
      </p:sp>
      <p:sp>
        <p:nvSpPr>
          <p:cNvPr id="69" name="Text 67"/>
          <p:cNvSpPr txBox="1"/>
          <p:nvPr/>
        </p:nvSpPr>
        <p:spPr>
          <a:xfrm>
            <a:off x="9235440" y="395020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→ 10 → 14 → 13 → empty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6766560" y="45262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12 &gt; 8 → right; 12 &gt; 10 → right; 12 &lt; 14 → left (13); 12 &lt; 13 → left is empty.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comparing 4 keys.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548640" y="576072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E6F0FA"/>
          </a:solidFill>
          <a:ln w="9525">
            <a:solidFill>
              <a:srgbClr val="E6F0F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31520" y="587044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4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731520" y="6126480"/>
            <a:ext cx="10744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cost = keys on the path ≤ height + 1 = 4 here.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1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· Solution Q8: deleting 3, 14, 8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24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908685" y="2891790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96721" y="3563874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84757" y="3563874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6721" y="2891790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96721" y="2219706"/>
            <a:ext cx="576072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348865" y="3563874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48865" y="2891790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72793" y="2219706"/>
            <a:ext cx="576072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6661" y="337185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9" dirty="0"/>
          </a:p>
        </p:txBody>
      </p:sp>
      <p:sp>
        <p:nvSpPr>
          <p:cNvPr id="15" name="Text 13"/>
          <p:cNvSpPr/>
          <p:nvPr/>
        </p:nvSpPr>
        <p:spPr>
          <a:xfrm>
            <a:off x="1004697" y="404393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49" dirty="0"/>
          </a:p>
        </p:txBody>
      </p:sp>
      <p:sp>
        <p:nvSpPr>
          <p:cNvPr id="16" name="Text 14"/>
          <p:cNvSpPr/>
          <p:nvPr/>
        </p:nvSpPr>
        <p:spPr>
          <a:xfrm>
            <a:off x="1580769" y="404393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49" dirty="0"/>
          </a:p>
        </p:txBody>
      </p:sp>
      <p:sp>
        <p:nvSpPr>
          <p:cNvPr id="17" name="Text 15"/>
          <p:cNvSpPr/>
          <p:nvPr/>
        </p:nvSpPr>
        <p:spPr>
          <a:xfrm>
            <a:off x="1292733" y="337185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49" dirty="0"/>
          </a:p>
        </p:txBody>
      </p:sp>
      <p:sp>
        <p:nvSpPr>
          <p:cNvPr id="18" name="Text 16"/>
          <p:cNvSpPr/>
          <p:nvPr/>
        </p:nvSpPr>
        <p:spPr>
          <a:xfrm>
            <a:off x="1004697" y="269976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49" dirty="0"/>
          </a:p>
        </p:txBody>
      </p:sp>
      <p:sp>
        <p:nvSpPr>
          <p:cNvPr id="19" name="Text 17"/>
          <p:cNvSpPr/>
          <p:nvPr/>
        </p:nvSpPr>
        <p:spPr>
          <a:xfrm>
            <a:off x="2156841" y="404393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49" dirty="0"/>
          </a:p>
        </p:txBody>
      </p:sp>
      <p:sp>
        <p:nvSpPr>
          <p:cNvPr id="20" name="Text 18"/>
          <p:cNvSpPr/>
          <p:nvPr/>
        </p:nvSpPr>
        <p:spPr>
          <a:xfrm>
            <a:off x="2444877" y="337185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49" dirty="0"/>
          </a:p>
        </p:txBody>
      </p:sp>
      <p:sp>
        <p:nvSpPr>
          <p:cNvPr id="21" name="Text 19"/>
          <p:cNvSpPr/>
          <p:nvPr/>
        </p:nvSpPr>
        <p:spPr>
          <a:xfrm>
            <a:off x="2156841" y="269976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49" dirty="0"/>
          </a:p>
        </p:txBody>
      </p:sp>
      <p:sp>
        <p:nvSpPr>
          <p:cNvPr id="22" name="Text 20"/>
          <p:cNvSpPr/>
          <p:nvPr/>
        </p:nvSpPr>
        <p:spPr>
          <a:xfrm>
            <a:off x="1580769" y="202768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49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73168"/>
            <a:ext cx="24483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3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042666" y="2834640"/>
            <a:ext cx="347472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35858" y="1371600"/>
            <a:ext cx="24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 flipV="1">
            <a:off x="3795903" y="2891790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71975" y="3563874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83939" y="2891790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4083939" y="2219706"/>
            <a:ext cx="576072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236083" y="3563874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36083" y="2891790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0011" y="2219706"/>
            <a:ext cx="576072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03879" y="337185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9" dirty="0"/>
          </a:p>
        </p:txBody>
      </p:sp>
      <p:sp>
        <p:nvSpPr>
          <p:cNvPr id="34" name="Text 32"/>
          <p:cNvSpPr/>
          <p:nvPr/>
        </p:nvSpPr>
        <p:spPr>
          <a:xfrm>
            <a:off x="4467987" y="404393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49" dirty="0"/>
          </a:p>
        </p:txBody>
      </p:sp>
      <p:sp>
        <p:nvSpPr>
          <p:cNvPr id="35" name="Text 33"/>
          <p:cNvSpPr/>
          <p:nvPr/>
        </p:nvSpPr>
        <p:spPr>
          <a:xfrm>
            <a:off x="4179951" y="337185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49" dirty="0"/>
          </a:p>
        </p:txBody>
      </p:sp>
      <p:sp>
        <p:nvSpPr>
          <p:cNvPr id="36" name="Text 34"/>
          <p:cNvSpPr/>
          <p:nvPr/>
        </p:nvSpPr>
        <p:spPr>
          <a:xfrm>
            <a:off x="3891915" y="2699766"/>
            <a:ext cx="384048" cy="384048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49" dirty="0"/>
          </a:p>
        </p:txBody>
      </p:sp>
      <p:sp>
        <p:nvSpPr>
          <p:cNvPr id="37" name="Text 35"/>
          <p:cNvSpPr/>
          <p:nvPr/>
        </p:nvSpPr>
        <p:spPr>
          <a:xfrm>
            <a:off x="5044059" y="404393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49" dirty="0"/>
          </a:p>
        </p:txBody>
      </p:sp>
      <p:sp>
        <p:nvSpPr>
          <p:cNvPr id="38" name="Text 36"/>
          <p:cNvSpPr/>
          <p:nvPr/>
        </p:nvSpPr>
        <p:spPr>
          <a:xfrm>
            <a:off x="5332095" y="337185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49" dirty="0"/>
          </a:p>
        </p:txBody>
      </p:sp>
      <p:sp>
        <p:nvSpPr>
          <p:cNvPr id="39" name="Text 37"/>
          <p:cNvSpPr/>
          <p:nvPr/>
        </p:nvSpPr>
        <p:spPr>
          <a:xfrm>
            <a:off x="5044059" y="269976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49" dirty="0"/>
          </a:p>
        </p:txBody>
      </p:sp>
      <p:sp>
        <p:nvSpPr>
          <p:cNvPr id="40" name="Text 38"/>
          <p:cNvSpPr/>
          <p:nvPr/>
        </p:nvSpPr>
        <p:spPr>
          <a:xfrm>
            <a:off x="4467987" y="202768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49" dirty="0"/>
          </a:p>
        </p:txBody>
      </p:sp>
      <p:sp>
        <p:nvSpPr>
          <p:cNvPr id="41" name="Text 39"/>
          <p:cNvSpPr txBox="1"/>
          <p:nvPr/>
        </p:nvSpPr>
        <p:spPr>
          <a:xfrm>
            <a:off x="3435858" y="4773168"/>
            <a:ext cx="24483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children → replace by successor 4 (leftmost of right subtree); old 4 (a leaf) removed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929884" y="2834640"/>
            <a:ext cx="347472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23076" y="1371600"/>
            <a:ext cx="24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14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 flipV="1">
            <a:off x="6971157" y="2891790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47229" y="3563874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59193" y="2891790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7259193" y="2219706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35265" y="2891790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47229" y="2219706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79133" y="337185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9" dirty="0"/>
          </a:p>
        </p:txBody>
      </p:sp>
      <p:sp>
        <p:nvSpPr>
          <p:cNvPr id="51" name="Text 49"/>
          <p:cNvSpPr/>
          <p:nvPr/>
        </p:nvSpPr>
        <p:spPr>
          <a:xfrm>
            <a:off x="7643241" y="404393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49" dirty="0"/>
          </a:p>
        </p:txBody>
      </p:sp>
      <p:sp>
        <p:nvSpPr>
          <p:cNvPr id="52" name="Text 50"/>
          <p:cNvSpPr/>
          <p:nvPr/>
        </p:nvSpPr>
        <p:spPr>
          <a:xfrm>
            <a:off x="7355205" y="337185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49" dirty="0"/>
          </a:p>
        </p:txBody>
      </p:sp>
      <p:sp>
        <p:nvSpPr>
          <p:cNvPr id="53" name="Text 51"/>
          <p:cNvSpPr/>
          <p:nvPr/>
        </p:nvSpPr>
        <p:spPr>
          <a:xfrm>
            <a:off x="7067169" y="269976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49" dirty="0"/>
          </a:p>
        </p:txBody>
      </p:sp>
      <p:sp>
        <p:nvSpPr>
          <p:cNvPr id="54" name="Text 52"/>
          <p:cNvSpPr/>
          <p:nvPr/>
        </p:nvSpPr>
        <p:spPr>
          <a:xfrm>
            <a:off x="7931277" y="3371850"/>
            <a:ext cx="384048" cy="384048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49" dirty="0"/>
          </a:p>
        </p:txBody>
      </p:sp>
      <p:sp>
        <p:nvSpPr>
          <p:cNvPr id="55" name="Text 53"/>
          <p:cNvSpPr/>
          <p:nvPr/>
        </p:nvSpPr>
        <p:spPr>
          <a:xfrm>
            <a:off x="7643241" y="269976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49" dirty="0"/>
          </a:p>
        </p:txBody>
      </p:sp>
      <p:sp>
        <p:nvSpPr>
          <p:cNvPr id="56" name="Text 54"/>
          <p:cNvSpPr/>
          <p:nvPr/>
        </p:nvSpPr>
        <p:spPr>
          <a:xfrm>
            <a:off x="7355205" y="202768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49" dirty="0"/>
          </a:p>
        </p:txBody>
      </p:sp>
      <p:sp>
        <p:nvSpPr>
          <p:cNvPr id="57" name="Text 55"/>
          <p:cNvSpPr txBox="1"/>
          <p:nvPr/>
        </p:nvSpPr>
        <p:spPr>
          <a:xfrm>
            <a:off x="6323076" y="4773168"/>
            <a:ext cx="24483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child (13) → 13 moves up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8817102" y="2834640"/>
            <a:ext cx="347472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210294" y="1371600"/>
            <a:ext cx="2448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8 (root)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 flipV="1">
            <a:off x="10002393" y="2891790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578465" y="3563874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290429" y="2891790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10290429" y="2219706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578465" y="2219706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810369" y="337185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9" dirty="0"/>
          </a:p>
        </p:txBody>
      </p:sp>
      <p:sp>
        <p:nvSpPr>
          <p:cNvPr id="66" name="Text 64"/>
          <p:cNvSpPr/>
          <p:nvPr/>
        </p:nvSpPr>
        <p:spPr>
          <a:xfrm>
            <a:off x="10674477" y="404393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49" dirty="0"/>
          </a:p>
        </p:txBody>
      </p:sp>
      <p:sp>
        <p:nvSpPr>
          <p:cNvPr id="67" name="Text 65"/>
          <p:cNvSpPr/>
          <p:nvPr/>
        </p:nvSpPr>
        <p:spPr>
          <a:xfrm>
            <a:off x="10386441" y="337185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49" dirty="0"/>
          </a:p>
        </p:txBody>
      </p:sp>
      <p:sp>
        <p:nvSpPr>
          <p:cNvPr id="68" name="Text 66"/>
          <p:cNvSpPr/>
          <p:nvPr/>
        </p:nvSpPr>
        <p:spPr>
          <a:xfrm>
            <a:off x="10098405" y="269976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49" dirty="0"/>
          </a:p>
        </p:txBody>
      </p:sp>
      <p:sp>
        <p:nvSpPr>
          <p:cNvPr id="69" name="Text 67"/>
          <p:cNvSpPr/>
          <p:nvPr/>
        </p:nvSpPr>
        <p:spPr>
          <a:xfrm>
            <a:off x="10674477" y="269976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49" dirty="0"/>
          </a:p>
        </p:txBody>
      </p:sp>
      <p:sp>
        <p:nvSpPr>
          <p:cNvPr id="70" name="Text 68"/>
          <p:cNvSpPr/>
          <p:nvPr/>
        </p:nvSpPr>
        <p:spPr>
          <a:xfrm>
            <a:off x="10386441" y="2027682"/>
            <a:ext cx="384048" cy="384048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49" dirty="0"/>
          </a:p>
        </p:txBody>
      </p:sp>
      <p:sp>
        <p:nvSpPr>
          <p:cNvPr id="71" name="Text 69"/>
          <p:cNvSpPr txBox="1"/>
          <p:nvPr/>
        </p:nvSpPr>
        <p:spPr>
          <a:xfrm>
            <a:off x="9210294" y="4773168"/>
            <a:ext cx="24483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children → successor 10 becomes the root; 13 takes 10’s place</a:t>
            </a:r>
            <a:endParaRPr lang="en-US" sz="1150" dirty="0"/>
          </a:p>
        </p:txBody>
      </p:sp>
      <p:sp>
        <p:nvSpPr>
          <p:cNvPr id="72" name="Text 70"/>
          <p:cNvSpPr txBox="1"/>
          <p:nvPr/>
        </p:nvSpPr>
        <p:spPr>
          <a:xfrm>
            <a:off x="548640" y="5394960"/>
            <a:ext cx="11109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tree: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10(4(1, 6(–, 7)), 13)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height 3.</a:t>
            </a:r>
            <a:endParaRPr lang="en-US" sz="1400" dirty="0"/>
          </a:p>
          <a:p>
            <a:pPr marL="160020" indent="-16002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predecessor rule instead, the answer would be 7(1(–, 6(4, –)), 10(–, 13)): also a valid BST.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1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· Solutions Q9–Q10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7132320" cy="4937760"/>
          </a:xfrm>
          <a:prstGeom prst="roundRect">
            <a:avLst>
              <a:gd name="adj" fmla="val 1481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621792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53312" y="2103120"/>
            <a:ext cx="621792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75104" y="2103120"/>
            <a:ext cx="621792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96896" y="2103120"/>
            <a:ext cx="621792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18688" y="2103120"/>
            <a:ext cx="621792" cy="502920"/>
          </a:xfrm>
          <a:prstGeom prst="rect">
            <a:avLst/>
          </a:prstGeom>
          <a:solidFill>
            <a:srgbClr val="FFD166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40480" y="2103120"/>
            <a:ext cx="621792" cy="502920"/>
          </a:xfrm>
          <a:prstGeom prst="rect">
            <a:avLst/>
          </a:prstGeom>
          <a:solidFill>
            <a:srgbClr val="FFD166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62272" y="2103120"/>
            <a:ext cx="621792" cy="502920"/>
          </a:xfrm>
          <a:prstGeom prst="rect">
            <a:avLst/>
          </a:prstGeom>
          <a:solidFill>
            <a:srgbClr val="9BD9B4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84064" y="2103120"/>
            <a:ext cx="621792" cy="502920"/>
          </a:xfrm>
          <a:prstGeom prst="rect">
            <a:avLst/>
          </a:prstGeom>
          <a:solidFill>
            <a:srgbClr val="9BD9B4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05856" y="2103120"/>
            <a:ext cx="621792" cy="502920"/>
          </a:xfrm>
          <a:prstGeom prst="rect">
            <a:avLst/>
          </a:prstGeom>
          <a:solidFill>
            <a:srgbClr val="FFD166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27648" y="2103120"/>
            <a:ext cx="621792" cy="502920"/>
          </a:xfrm>
          <a:prstGeom prst="rect">
            <a:avLst/>
          </a:prstGeom>
          <a:solidFill>
            <a:srgbClr val="9BD9B4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49440" y="2103120"/>
            <a:ext cx="621792" cy="502920"/>
          </a:xfrm>
          <a:prstGeom prst="rect">
            <a:avLst/>
          </a:prstGeom>
          <a:solidFill>
            <a:srgbClr val="9BD9B4"/>
          </a:solidFill>
          <a:ln w="1587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6517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i (green = leaves 6–11, amber = the cells asked about)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154680"/>
            <a:ext cx="6766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parent of A[9] = ⌊9/2⌋ =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A[4]</a:t>
            </a:r>
            <a:endParaRPr lang="en-US" sz="1450" dirty="0"/>
          </a:p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children of A[5]: 2·5 = 10 and 11 →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A[10], A[11]</a:t>
            </a:r>
            <a:endParaRPr lang="en-US" sz="1450" dirty="0"/>
          </a:p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children of A[6]: 12 and 13 exceed n = 11 →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(A[6] is a leaf)</a:t>
            </a:r>
            <a:endParaRPr lang="en-US" sz="1450" dirty="0"/>
          </a:p>
          <a:p>
            <a:pPr marL="165735" indent="-165735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node i has a child only if 2i ≤ 11, i.e. i ≤ 5. So the leaves are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6, 7, 8, 9, 10, 11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863840" y="1371600"/>
            <a:ext cx="3794760" cy="4937760"/>
          </a:xfrm>
          <a:prstGeom prst="roundRect">
            <a:avLst>
              <a:gd name="adj" fmla="val 1928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1901952"/>
            <a:ext cx="342900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C(2n, n) / (n + 1)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n = 4:</a:t>
            </a:r>
            <a:endParaRPr lang="en-US" sz="14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C(8, 4) = 70, and 70 / 5 =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Catalan numbers for n = 1, 2, 3, 4, 5:</a:t>
            </a:r>
            <a:endParaRPr lang="en-US" sz="14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1, 2, 5, </a:t>
            </a:r>
            <a:r>
              <a:rPr lang="en-US" sz="14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42.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1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· Solutions Q11–Q12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01952"/>
            <a:ext cx="512064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14207" y="2979606"/>
            <a:ext cx="288817" cy="49511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714207" y="2484492"/>
            <a:ext cx="288817" cy="49511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0657" y="4464948"/>
            <a:ext cx="288817" cy="49511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3969834"/>
            <a:ext cx="288817" cy="49511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291840" y="3474720"/>
            <a:ext cx="288817" cy="49511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2979606"/>
            <a:ext cx="288817" cy="49511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03023" y="2484492"/>
            <a:ext cx="288817" cy="49511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3003023" y="1989378"/>
            <a:ext cx="288817" cy="495114"/>
          </a:xfrm>
          <a:prstGeom prst="line">
            <a:avLst/>
          </a:prstGeom>
          <a:noFill/>
          <a:ln w="22225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96726" y="3268422"/>
            <a:ext cx="412595" cy="412595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35" dirty="0"/>
          </a:p>
        </p:txBody>
      </p:sp>
      <p:sp>
        <p:nvSpPr>
          <p:cNvPr id="17" name="Text 15"/>
          <p:cNvSpPr/>
          <p:nvPr/>
        </p:nvSpPr>
        <p:spPr>
          <a:xfrm>
            <a:off x="2507909" y="2773308"/>
            <a:ext cx="412595" cy="412595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35" dirty="0"/>
          </a:p>
        </p:txBody>
      </p:sp>
      <p:sp>
        <p:nvSpPr>
          <p:cNvPr id="18" name="Text 16"/>
          <p:cNvSpPr/>
          <p:nvPr/>
        </p:nvSpPr>
        <p:spPr>
          <a:xfrm>
            <a:off x="3663176" y="4753765"/>
            <a:ext cx="412595" cy="412595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235" dirty="0"/>
          </a:p>
        </p:txBody>
      </p:sp>
      <p:sp>
        <p:nvSpPr>
          <p:cNvPr id="19" name="Text 17"/>
          <p:cNvSpPr/>
          <p:nvPr/>
        </p:nvSpPr>
        <p:spPr>
          <a:xfrm>
            <a:off x="3374359" y="4258651"/>
            <a:ext cx="412595" cy="412595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35" dirty="0"/>
          </a:p>
        </p:txBody>
      </p:sp>
      <p:sp>
        <p:nvSpPr>
          <p:cNvPr id="20" name="Text 18"/>
          <p:cNvSpPr/>
          <p:nvPr/>
        </p:nvSpPr>
        <p:spPr>
          <a:xfrm>
            <a:off x="3085542" y="3763537"/>
            <a:ext cx="412595" cy="412595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35" dirty="0"/>
          </a:p>
        </p:txBody>
      </p:sp>
      <p:sp>
        <p:nvSpPr>
          <p:cNvPr id="21" name="Text 19"/>
          <p:cNvSpPr/>
          <p:nvPr/>
        </p:nvSpPr>
        <p:spPr>
          <a:xfrm>
            <a:off x="3374359" y="3268422"/>
            <a:ext cx="412595" cy="412595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35" dirty="0"/>
          </a:p>
        </p:txBody>
      </p:sp>
      <p:sp>
        <p:nvSpPr>
          <p:cNvPr id="22" name="Text 20"/>
          <p:cNvSpPr/>
          <p:nvPr/>
        </p:nvSpPr>
        <p:spPr>
          <a:xfrm>
            <a:off x="3085542" y="2773308"/>
            <a:ext cx="412595" cy="412595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35" dirty="0"/>
          </a:p>
        </p:txBody>
      </p:sp>
      <p:sp>
        <p:nvSpPr>
          <p:cNvPr id="23" name="Text 21"/>
          <p:cNvSpPr/>
          <p:nvPr/>
        </p:nvSpPr>
        <p:spPr>
          <a:xfrm>
            <a:off x="2796726" y="2278194"/>
            <a:ext cx="412595" cy="412595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35" dirty="0"/>
          </a:p>
        </p:txBody>
      </p:sp>
      <p:sp>
        <p:nvSpPr>
          <p:cNvPr id="24" name="Text 22"/>
          <p:cNvSpPr/>
          <p:nvPr/>
        </p:nvSpPr>
        <p:spPr>
          <a:xfrm>
            <a:off x="3085542" y="1783080"/>
            <a:ext cx="412595" cy="412595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35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4406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left pointer = first child, right pointer = next sibling. R→A (child); A→D (child), A→B (sibling); D→E (sibling); B→C (sibling); C→F (child); F→G→H (siblings).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137160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1901952"/>
            <a:ext cx="512064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182880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 of every node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 flipV="1">
            <a:off x="6992874" y="2865120"/>
            <a:ext cx="246888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39762" y="2865120"/>
            <a:ext cx="246888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7239762" y="2322576"/>
            <a:ext cx="246888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7733538" y="3407664"/>
            <a:ext cx="246888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33538" y="2865120"/>
            <a:ext cx="246888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86650" y="2322576"/>
            <a:ext cx="246888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28282" y="324307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85" dirty="0"/>
          </a:p>
        </p:txBody>
      </p:sp>
      <p:sp>
        <p:nvSpPr>
          <p:cNvPr id="37" name="Text 35"/>
          <p:cNvSpPr txBox="1"/>
          <p:nvPr/>
        </p:nvSpPr>
        <p:spPr>
          <a:xfrm>
            <a:off x="6364498" y="31516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22058" y="324307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85" dirty="0"/>
          </a:p>
        </p:txBody>
      </p:sp>
      <p:sp>
        <p:nvSpPr>
          <p:cNvPr id="39" name="Text 37"/>
          <p:cNvSpPr txBox="1"/>
          <p:nvPr/>
        </p:nvSpPr>
        <p:spPr>
          <a:xfrm>
            <a:off x="7657826" y="31516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75170" y="270052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85" dirty="0"/>
          </a:p>
        </p:txBody>
      </p:sp>
      <p:sp>
        <p:nvSpPr>
          <p:cNvPr id="41" name="Text 39"/>
          <p:cNvSpPr txBox="1"/>
          <p:nvPr/>
        </p:nvSpPr>
        <p:spPr>
          <a:xfrm>
            <a:off x="6611386" y="260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568946" y="378561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85" dirty="0"/>
          </a:p>
        </p:txBody>
      </p:sp>
      <p:sp>
        <p:nvSpPr>
          <p:cNvPr id="43" name="Text 41"/>
          <p:cNvSpPr txBox="1"/>
          <p:nvPr/>
        </p:nvSpPr>
        <p:spPr>
          <a:xfrm>
            <a:off x="7105162" y="36941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815834" y="324307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85" dirty="0"/>
          </a:p>
        </p:txBody>
      </p:sp>
      <p:sp>
        <p:nvSpPr>
          <p:cNvPr id="45" name="Text 43"/>
          <p:cNvSpPr txBox="1"/>
          <p:nvPr/>
        </p:nvSpPr>
        <p:spPr>
          <a:xfrm>
            <a:off x="8151602" y="31516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68946" y="2700528"/>
            <a:ext cx="329184" cy="329184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85" dirty="0"/>
          </a:p>
        </p:txBody>
      </p:sp>
      <p:sp>
        <p:nvSpPr>
          <p:cNvPr id="47" name="Text 45"/>
          <p:cNvSpPr txBox="1"/>
          <p:nvPr/>
        </p:nvSpPr>
        <p:spPr>
          <a:xfrm>
            <a:off x="7904714" y="260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22058" y="215798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85" dirty="0"/>
          </a:p>
        </p:txBody>
      </p:sp>
      <p:sp>
        <p:nvSpPr>
          <p:cNvPr id="49" name="Text 47"/>
          <p:cNvSpPr txBox="1"/>
          <p:nvPr/>
        </p:nvSpPr>
        <p:spPr>
          <a:xfrm>
            <a:off x="7657826" y="2066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6263640" y="4133088"/>
            <a:ext cx="2446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BF(25) = −2, lowest violation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755380" y="2834640"/>
            <a:ext cx="32004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121140" y="182880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RL fix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 flipV="1">
            <a:off x="9603486" y="3136392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850374" y="3136392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9850374" y="2560320"/>
            <a:ext cx="493776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10591038" y="3136392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837926" y="3136392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44150" y="2560320"/>
            <a:ext cx="493776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38894" y="354787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85" dirty="0"/>
          </a:p>
        </p:txBody>
      </p:sp>
      <p:sp>
        <p:nvSpPr>
          <p:cNvPr id="60" name="Text 58"/>
          <p:cNvSpPr txBox="1"/>
          <p:nvPr/>
        </p:nvSpPr>
        <p:spPr>
          <a:xfrm>
            <a:off x="8975110" y="34564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9932670" y="354787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85" dirty="0"/>
          </a:p>
        </p:txBody>
      </p:sp>
      <p:sp>
        <p:nvSpPr>
          <p:cNvPr id="62" name="Text 60"/>
          <p:cNvSpPr txBox="1"/>
          <p:nvPr/>
        </p:nvSpPr>
        <p:spPr>
          <a:xfrm>
            <a:off x="10268438" y="34564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685782" y="297180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85" dirty="0"/>
          </a:p>
        </p:txBody>
      </p:sp>
      <p:sp>
        <p:nvSpPr>
          <p:cNvPr id="64" name="Text 62"/>
          <p:cNvSpPr txBox="1"/>
          <p:nvPr/>
        </p:nvSpPr>
        <p:spPr>
          <a:xfrm>
            <a:off x="9221998" y="2880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426446" y="354787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85" dirty="0"/>
          </a:p>
        </p:txBody>
      </p:sp>
      <p:sp>
        <p:nvSpPr>
          <p:cNvPr id="66" name="Text 64"/>
          <p:cNvSpPr txBox="1"/>
          <p:nvPr/>
        </p:nvSpPr>
        <p:spPr>
          <a:xfrm>
            <a:off x="9962662" y="34564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920222" y="354787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85" dirty="0"/>
          </a:p>
        </p:txBody>
      </p:sp>
      <p:sp>
        <p:nvSpPr>
          <p:cNvPr id="68" name="Text 66"/>
          <p:cNvSpPr txBox="1"/>
          <p:nvPr/>
        </p:nvSpPr>
        <p:spPr>
          <a:xfrm>
            <a:off x="11255990" y="34564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0673334" y="297180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85" dirty="0"/>
          </a:p>
        </p:txBody>
      </p:sp>
      <p:sp>
        <p:nvSpPr>
          <p:cNvPr id="70" name="Text 68"/>
          <p:cNvSpPr txBox="1"/>
          <p:nvPr/>
        </p:nvSpPr>
        <p:spPr>
          <a:xfrm>
            <a:off x="11009102" y="2880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179558" y="239572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85" dirty="0"/>
          </a:p>
        </p:txBody>
      </p:sp>
      <p:sp>
        <p:nvSpPr>
          <p:cNvPr id="72" name="Text 70"/>
          <p:cNvSpPr txBox="1"/>
          <p:nvPr/>
        </p:nvSpPr>
        <p:spPr>
          <a:xfrm>
            <a:off x="10515326" y="23042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73" name="Text 71"/>
          <p:cNvSpPr txBox="1"/>
          <p:nvPr/>
        </p:nvSpPr>
        <p:spPr>
          <a:xfrm>
            <a:off x="9121140" y="4133088"/>
            <a:ext cx="2446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at 30, then left at 25</a:t>
            </a:r>
            <a:endParaRPr lang="en-US" sz="1150" dirty="0"/>
          </a:p>
        </p:txBody>
      </p:sp>
      <p:sp>
        <p:nvSpPr>
          <p:cNvPr id="74" name="Text 72"/>
          <p:cNvSpPr txBox="1"/>
          <p:nvPr/>
        </p:nvSpPr>
        <p:spPr>
          <a:xfrm>
            <a:off x="6355080" y="46634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BFs: 15: −1, 10: 0, 5: 0, 12: 0, 25: </a:t>
            </a: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30: +1, 28: 0. Not AVL. Node 25 is right-heavy and its heavy child 30 leans LEFT → </a:t>
            </a: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case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rotate 30 right, then 25 left. 28 becomes the subtree root.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· Questions Q13–Q14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109960" cy="2743200"/>
          </a:xfrm>
          <a:prstGeom prst="roundRect">
            <a:avLst>
              <a:gd name="adj" fmla="val 266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490472"/>
            <a:ext cx="10104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160–168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01952"/>
            <a:ext cx="274320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imbalance case (LL, RR, LR or RL) in each tree and draw the AVL tree after rebalancing.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783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V="1">
            <a:off x="4581144" y="3090672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4869180" y="2418588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357073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49" dirty="0"/>
          </a:p>
        </p:txBody>
      </p:sp>
      <p:sp>
        <p:nvSpPr>
          <p:cNvPr id="13" name="Text 11"/>
          <p:cNvSpPr txBox="1"/>
          <p:nvPr/>
        </p:nvSpPr>
        <p:spPr>
          <a:xfrm>
            <a:off x="3924239" y="34792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49" dirty="0"/>
          </a:p>
        </p:txBody>
      </p:sp>
      <p:sp>
        <p:nvSpPr>
          <p:cNvPr id="14" name="Text 12"/>
          <p:cNvSpPr/>
          <p:nvPr/>
        </p:nvSpPr>
        <p:spPr>
          <a:xfrm>
            <a:off x="4677156" y="289864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49" dirty="0"/>
          </a:p>
        </p:txBody>
      </p:sp>
      <p:sp>
        <p:nvSpPr>
          <p:cNvPr id="15" name="Text 13"/>
          <p:cNvSpPr txBox="1"/>
          <p:nvPr/>
        </p:nvSpPr>
        <p:spPr>
          <a:xfrm>
            <a:off x="4212275" y="2807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49" dirty="0"/>
          </a:p>
        </p:txBody>
      </p:sp>
      <p:sp>
        <p:nvSpPr>
          <p:cNvPr id="16" name="Text 14"/>
          <p:cNvSpPr/>
          <p:nvPr/>
        </p:nvSpPr>
        <p:spPr>
          <a:xfrm>
            <a:off x="4965192" y="2226564"/>
            <a:ext cx="384048" cy="384048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49" dirty="0"/>
          </a:p>
        </p:txBody>
      </p:sp>
      <p:sp>
        <p:nvSpPr>
          <p:cNvPr id="17" name="Text 15"/>
          <p:cNvSpPr txBox="1"/>
          <p:nvPr/>
        </p:nvSpPr>
        <p:spPr>
          <a:xfrm>
            <a:off x="5356921" y="21351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949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783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V="1">
            <a:off x="7468362" y="3090672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68362" y="2418588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6338" y="357073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49" dirty="0"/>
          </a:p>
        </p:txBody>
      </p:sp>
      <p:sp>
        <p:nvSpPr>
          <p:cNvPr id="22" name="Text 20"/>
          <p:cNvSpPr txBox="1"/>
          <p:nvPr/>
        </p:nvSpPr>
        <p:spPr>
          <a:xfrm>
            <a:off x="6811457" y="34792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49" dirty="0"/>
          </a:p>
        </p:txBody>
      </p:sp>
      <p:sp>
        <p:nvSpPr>
          <p:cNvPr id="23" name="Text 21"/>
          <p:cNvSpPr/>
          <p:nvPr/>
        </p:nvSpPr>
        <p:spPr>
          <a:xfrm>
            <a:off x="7564374" y="289864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49" dirty="0"/>
          </a:p>
        </p:txBody>
      </p:sp>
      <p:sp>
        <p:nvSpPr>
          <p:cNvPr id="24" name="Text 22"/>
          <p:cNvSpPr txBox="1"/>
          <p:nvPr/>
        </p:nvSpPr>
        <p:spPr>
          <a:xfrm>
            <a:off x="7956103" y="2807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49" dirty="0"/>
          </a:p>
        </p:txBody>
      </p:sp>
      <p:sp>
        <p:nvSpPr>
          <p:cNvPr id="25" name="Text 23"/>
          <p:cNvSpPr/>
          <p:nvPr/>
        </p:nvSpPr>
        <p:spPr>
          <a:xfrm>
            <a:off x="7276338" y="2226564"/>
            <a:ext cx="384048" cy="384048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49" dirty="0"/>
          </a:p>
        </p:txBody>
      </p:sp>
      <p:sp>
        <p:nvSpPr>
          <p:cNvPr id="26" name="Text 24"/>
          <p:cNvSpPr txBox="1"/>
          <p:nvPr/>
        </p:nvSpPr>
        <p:spPr>
          <a:xfrm>
            <a:off x="7668067" y="21351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949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1783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(iii)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211562" y="3090672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0211562" y="2418588"/>
            <a:ext cx="288036" cy="6720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07574" y="357073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49" dirty="0"/>
          </a:p>
        </p:txBody>
      </p:sp>
      <p:sp>
        <p:nvSpPr>
          <p:cNvPr id="31" name="Text 29"/>
          <p:cNvSpPr txBox="1"/>
          <p:nvPr/>
        </p:nvSpPr>
        <p:spPr>
          <a:xfrm>
            <a:off x="10699303" y="34792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49" dirty="0"/>
          </a:p>
        </p:txBody>
      </p:sp>
      <p:sp>
        <p:nvSpPr>
          <p:cNvPr id="32" name="Text 30"/>
          <p:cNvSpPr/>
          <p:nvPr/>
        </p:nvSpPr>
        <p:spPr>
          <a:xfrm>
            <a:off x="10019538" y="289864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49" dirty="0"/>
          </a:p>
        </p:txBody>
      </p:sp>
      <p:sp>
        <p:nvSpPr>
          <p:cNvPr id="33" name="Text 31"/>
          <p:cNvSpPr txBox="1"/>
          <p:nvPr/>
        </p:nvSpPr>
        <p:spPr>
          <a:xfrm>
            <a:off x="9554657" y="28072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949" dirty="0"/>
          </a:p>
        </p:txBody>
      </p:sp>
      <p:sp>
        <p:nvSpPr>
          <p:cNvPr id="34" name="Text 32"/>
          <p:cNvSpPr/>
          <p:nvPr/>
        </p:nvSpPr>
        <p:spPr>
          <a:xfrm>
            <a:off x="10307574" y="2226564"/>
            <a:ext cx="384048" cy="384048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49" dirty="0"/>
          </a:p>
        </p:txBody>
      </p:sp>
      <p:sp>
        <p:nvSpPr>
          <p:cNvPr id="35" name="Text 33"/>
          <p:cNvSpPr txBox="1"/>
          <p:nvPr/>
        </p:nvSpPr>
        <p:spPr>
          <a:xfrm>
            <a:off x="10699303" y="21351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949" dirty="0"/>
          </a:p>
        </p:txBody>
      </p:sp>
      <p:sp>
        <p:nvSpPr>
          <p:cNvPr id="36" name="Shape 34"/>
          <p:cNvSpPr/>
          <p:nvPr/>
        </p:nvSpPr>
        <p:spPr>
          <a:xfrm>
            <a:off x="548640" y="4251960"/>
            <a:ext cx="11109960" cy="2057400"/>
          </a:xfrm>
          <a:prstGeom prst="roundRect">
            <a:avLst>
              <a:gd name="adj" fmla="val 3556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37083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444752" y="4370832"/>
            <a:ext cx="10104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170–172 (same method)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4782312"/>
            <a:ext cx="1074420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14, 17, 11, 7, 53, 4, 13, 12 (in this order) into an empty AVL tree. After every insertion say whether a rotation is needed, and which one. Draw the final tree and give its height.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BF = height(left) − height(right); repair the LOWEST node with |BF| = 2.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· Questions Q15–Q16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766560" cy="4937760"/>
          </a:xfrm>
          <a:prstGeom prst="roundRect">
            <a:avLst>
              <a:gd name="adj" fmla="val 1481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49047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 174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01952"/>
            <a:ext cx="292608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AVL tree shown, delete 52, then 36, then 61. Use the in-order successor for two-child nodes. After each deletion give the balance factors that changed, name any rotation, and draw the tree.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 flipV="1">
            <a:off x="4133088" y="351129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8556" y="351129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4448556" y="2775204"/>
            <a:ext cx="630936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5394960" y="351129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0428" y="351129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9492" y="2775204"/>
            <a:ext cx="630936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5079492" y="2039112"/>
            <a:ext cx="788670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6341364" y="2775204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68162" y="2039112"/>
            <a:ext cx="788670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22776" y="403707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59" dirty="0"/>
          </a:p>
        </p:txBody>
      </p:sp>
      <p:sp>
        <p:nvSpPr>
          <p:cNvPr id="19" name="Text 17"/>
          <p:cNvSpPr txBox="1"/>
          <p:nvPr/>
        </p:nvSpPr>
        <p:spPr>
          <a:xfrm>
            <a:off x="3457164" y="39456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20" name="Text 18"/>
          <p:cNvSpPr/>
          <p:nvPr/>
        </p:nvSpPr>
        <p:spPr>
          <a:xfrm>
            <a:off x="4553712" y="403707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59" dirty="0"/>
          </a:p>
        </p:txBody>
      </p:sp>
      <p:sp>
        <p:nvSpPr>
          <p:cNvPr id="21" name="Text 19"/>
          <p:cNvSpPr txBox="1"/>
          <p:nvPr/>
        </p:nvSpPr>
        <p:spPr>
          <a:xfrm>
            <a:off x="4982748" y="39456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22" name="Text 20"/>
          <p:cNvSpPr/>
          <p:nvPr/>
        </p:nvSpPr>
        <p:spPr>
          <a:xfrm>
            <a:off x="4238244" y="330098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59" dirty="0"/>
          </a:p>
        </p:txBody>
      </p:sp>
      <p:sp>
        <p:nvSpPr>
          <p:cNvPr id="23" name="Text 21"/>
          <p:cNvSpPr txBox="1"/>
          <p:nvPr/>
        </p:nvSpPr>
        <p:spPr>
          <a:xfrm>
            <a:off x="3772632" y="3209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24" name="Text 22"/>
          <p:cNvSpPr/>
          <p:nvPr/>
        </p:nvSpPr>
        <p:spPr>
          <a:xfrm>
            <a:off x="5184648" y="403707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259" dirty="0"/>
          </a:p>
        </p:txBody>
      </p:sp>
      <p:sp>
        <p:nvSpPr>
          <p:cNvPr id="25" name="Text 23"/>
          <p:cNvSpPr txBox="1"/>
          <p:nvPr/>
        </p:nvSpPr>
        <p:spPr>
          <a:xfrm>
            <a:off x="4719036" y="39456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26" name="Text 24"/>
          <p:cNvSpPr/>
          <p:nvPr/>
        </p:nvSpPr>
        <p:spPr>
          <a:xfrm>
            <a:off x="5815584" y="403707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259" dirty="0"/>
          </a:p>
        </p:txBody>
      </p:sp>
      <p:sp>
        <p:nvSpPr>
          <p:cNvPr id="27" name="Text 25"/>
          <p:cNvSpPr txBox="1"/>
          <p:nvPr/>
        </p:nvSpPr>
        <p:spPr>
          <a:xfrm>
            <a:off x="6244620" y="39456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28" name="Text 26"/>
          <p:cNvSpPr/>
          <p:nvPr/>
        </p:nvSpPr>
        <p:spPr>
          <a:xfrm>
            <a:off x="5500116" y="330098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259" dirty="0"/>
          </a:p>
        </p:txBody>
      </p:sp>
      <p:sp>
        <p:nvSpPr>
          <p:cNvPr id="29" name="Text 27"/>
          <p:cNvSpPr txBox="1"/>
          <p:nvPr/>
        </p:nvSpPr>
        <p:spPr>
          <a:xfrm>
            <a:off x="5929152" y="3209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30" name="Text 28"/>
          <p:cNvSpPr/>
          <p:nvPr/>
        </p:nvSpPr>
        <p:spPr>
          <a:xfrm>
            <a:off x="4869180" y="256489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59" dirty="0"/>
          </a:p>
        </p:txBody>
      </p:sp>
      <p:sp>
        <p:nvSpPr>
          <p:cNvPr id="31" name="Text 29"/>
          <p:cNvSpPr txBox="1"/>
          <p:nvPr/>
        </p:nvSpPr>
        <p:spPr>
          <a:xfrm>
            <a:off x="4403568" y="24734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32" name="Text 30"/>
          <p:cNvSpPr/>
          <p:nvPr/>
        </p:nvSpPr>
        <p:spPr>
          <a:xfrm>
            <a:off x="6131052" y="330098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259" dirty="0"/>
          </a:p>
        </p:txBody>
      </p:sp>
      <p:sp>
        <p:nvSpPr>
          <p:cNvPr id="33" name="Text 31"/>
          <p:cNvSpPr txBox="1"/>
          <p:nvPr/>
        </p:nvSpPr>
        <p:spPr>
          <a:xfrm>
            <a:off x="5665440" y="32095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34" name="Text 32"/>
          <p:cNvSpPr/>
          <p:nvPr/>
        </p:nvSpPr>
        <p:spPr>
          <a:xfrm>
            <a:off x="6446520" y="2564892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259" dirty="0"/>
          </a:p>
        </p:txBody>
      </p:sp>
      <p:sp>
        <p:nvSpPr>
          <p:cNvPr id="35" name="Text 33"/>
          <p:cNvSpPr txBox="1"/>
          <p:nvPr/>
        </p:nvSpPr>
        <p:spPr>
          <a:xfrm>
            <a:off x="6875556" y="24734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59" dirty="0"/>
          </a:p>
        </p:txBody>
      </p:sp>
      <p:sp>
        <p:nvSpPr>
          <p:cNvPr id="36" name="Text 34"/>
          <p:cNvSpPr/>
          <p:nvPr/>
        </p:nvSpPr>
        <p:spPr>
          <a:xfrm>
            <a:off x="5657850" y="1828800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259" dirty="0"/>
          </a:p>
        </p:txBody>
      </p:sp>
      <p:sp>
        <p:nvSpPr>
          <p:cNvPr id="37" name="Text 35"/>
          <p:cNvSpPr txBox="1"/>
          <p:nvPr/>
        </p:nvSpPr>
        <p:spPr>
          <a:xfrm>
            <a:off x="6086886" y="1737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59" dirty="0"/>
          </a:p>
        </p:txBody>
      </p:sp>
      <p:sp>
        <p:nvSpPr>
          <p:cNvPr id="38" name="Shape 36"/>
          <p:cNvSpPr/>
          <p:nvPr/>
        </p:nvSpPr>
        <p:spPr>
          <a:xfrm>
            <a:off x="7498080" y="1371600"/>
            <a:ext cx="4160520" cy="4937760"/>
          </a:xfrm>
          <a:prstGeom prst="roundRect">
            <a:avLst>
              <a:gd name="adj" fmla="val 1758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394192" y="14904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180–181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7680960" y="1901952"/>
            <a:ext cx="379476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tree decide whether it is a valid red-black tree. If not, name the rule (1–5) it breaks. Black squares are NIL leaves.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589520" y="27889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 flipV="1">
            <a:off x="8545167" y="4005867"/>
            <a:ext cx="229594" cy="36735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74761" y="4005867"/>
            <a:ext cx="229594" cy="36735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8774761" y="3638517"/>
            <a:ext cx="459188" cy="36735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9463543" y="4005867"/>
            <a:ext cx="229594" cy="36735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93137" y="4005867"/>
            <a:ext cx="229594" cy="36735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33949" y="3638517"/>
            <a:ext cx="459188" cy="36735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9233949" y="3271167"/>
            <a:ext cx="573985" cy="36735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10152325" y="3638517"/>
            <a:ext cx="229594" cy="36735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81919" y="3638517"/>
            <a:ext cx="229594" cy="36735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807934" y="3271167"/>
            <a:ext cx="573985" cy="36735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90065" y="4318115"/>
            <a:ext cx="110205" cy="11020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949253" y="4318115"/>
            <a:ext cx="110205" cy="11020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21699" y="3852805"/>
            <a:ext cx="306125" cy="306125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16" dirty="0"/>
          </a:p>
        </p:txBody>
      </p:sp>
      <p:sp>
        <p:nvSpPr>
          <p:cNvPr id="56" name="Shape 54"/>
          <p:cNvSpPr/>
          <p:nvPr/>
        </p:nvSpPr>
        <p:spPr>
          <a:xfrm>
            <a:off x="9408441" y="4318115"/>
            <a:ext cx="110205" cy="11020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867628" y="4318115"/>
            <a:ext cx="110205" cy="11020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40074" y="3852805"/>
            <a:ext cx="306125" cy="306125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16" dirty="0"/>
          </a:p>
        </p:txBody>
      </p:sp>
      <p:sp>
        <p:nvSpPr>
          <p:cNvPr id="59" name="Text 57"/>
          <p:cNvSpPr/>
          <p:nvPr/>
        </p:nvSpPr>
        <p:spPr>
          <a:xfrm>
            <a:off x="9080887" y="3485454"/>
            <a:ext cx="306125" cy="306125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16" dirty="0"/>
          </a:p>
        </p:txBody>
      </p:sp>
      <p:sp>
        <p:nvSpPr>
          <p:cNvPr id="60" name="Shape 58"/>
          <p:cNvSpPr/>
          <p:nvPr/>
        </p:nvSpPr>
        <p:spPr>
          <a:xfrm>
            <a:off x="10097222" y="3950765"/>
            <a:ext cx="110205" cy="11020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556410" y="3950765"/>
            <a:ext cx="110205" cy="11020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228856" y="3485454"/>
            <a:ext cx="306125" cy="306125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16" dirty="0"/>
          </a:p>
        </p:txBody>
      </p:sp>
      <p:sp>
        <p:nvSpPr>
          <p:cNvPr id="63" name="Text 61"/>
          <p:cNvSpPr/>
          <p:nvPr/>
        </p:nvSpPr>
        <p:spPr>
          <a:xfrm>
            <a:off x="9654871" y="3118104"/>
            <a:ext cx="306125" cy="306125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16" dirty="0"/>
          </a:p>
        </p:txBody>
      </p:sp>
      <p:sp>
        <p:nvSpPr>
          <p:cNvPr id="64" name="Text 62"/>
          <p:cNvSpPr txBox="1"/>
          <p:nvPr/>
        </p:nvSpPr>
        <p:spPr>
          <a:xfrm>
            <a:off x="7589520" y="4572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 flipV="1">
            <a:off x="8774761" y="5788947"/>
            <a:ext cx="229594" cy="36735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004355" y="5788947"/>
            <a:ext cx="229594" cy="36735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9004355" y="5421597"/>
            <a:ext cx="229594" cy="36735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233949" y="5421597"/>
            <a:ext cx="229594" cy="36735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9233949" y="5054247"/>
            <a:ext cx="459188" cy="36735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9922731" y="5421597"/>
            <a:ext cx="229594" cy="36735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152325" y="5421597"/>
            <a:ext cx="229594" cy="36735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93137" y="5054247"/>
            <a:ext cx="459188" cy="36735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19659" y="6101195"/>
            <a:ext cx="110205" cy="11020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178847" y="6101195"/>
            <a:ext cx="110205" cy="11020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851293" y="5635885"/>
            <a:ext cx="306125" cy="306125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16" dirty="0"/>
          </a:p>
        </p:txBody>
      </p:sp>
      <p:sp>
        <p:nvSpPr>
          <p:cNvPr id="76" name="Shape 74"/>
          <p:cNvSpPr/>
          <p:nvPr/>
        </p:nvSpPr>
        <p:spPr>
          <a:xfrm>
            <a:off x="9408441" y="5733845"/>
            <a:ext cx="110205" cy="11020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080887" y="5268534"/>
            <a:ext cx="306125" cy="306125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16" dirty="0"/>
          </a:p>
        </p:txBody>
      </p:sp>
      <p:sp>
        <p:nvSpPr>
          <p:cNvPr id="78" name="Shape 76"/>
          <p:cNvSpPr/>
          <p:nvPr/>
        </p:nvSpPr>
        <p:spPr>
          <a:xfrm>
            <a:off x="9867628" y="5733845"/>
            <a:ext cx="110205" cy="11020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326816" y="5733845"/>
            <a:ext cx="110205" cy="11020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999262" y="5268534"/>
            <a:ext cx="306125" cy="306125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16" dirty="0"/>
          </a:p>
        </p:txBody>
      </p:sp>
      <p:sp>
        <p:nvSpPr>
          <p:cNvPr id="81" name="Text 79"/>
          <p:cNvSpPr/>
          <p:nvPr/>
        </p:nvSpPr>
        <p:spPr>
          <a:xfrm>
            <a:off x="9540074" y="4901184"/>
            <a:ext cx="306125" cy="306125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1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· Questions Q17–Q18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490472"/>
            <a:ext cx="10104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181–186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01952"/>
            <a:ext cx="10744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41, 38, 31, 12, 19, 8 (in this order) into an empty red-black tree. For every insertion state the case used (root / parent black / recolour / rotation) and draw the final tree with its colours.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new node RED · root BLACK · uncle red → recolour · uncle black → rotate (line: one rotation and swap colours; triangle: rotate the parent first).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109960" cy="3017520"/>
          </a:xfrm>
          <a:prstGeom prst="roundRect">
            <a:avLst>
              <a:gd name="adj" fmla="val 2424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41071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44752" y="3410712"/>
            <a:ext cx="10104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187–200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822192"/>
            <a:ext cx="493776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red-black tree shown, delete key 1 (a black leaf). Name every double-black case you apply, in order, and draw the resulting tree.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 flipV="1">
            <a:off x="8046720" y="3931920"/>
            <a:ext cx="342900" cy="7010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8389620" y="4632960"/>
            <a:ext cx="342900" cy="7010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732520" y="5334000"/>
            <a:ext cx="342900" cy="7010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75420" y="5334000"/>
            <a:ext cx="342900" cy="7010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32520" y="4632960"/>
            <a:ext cx="342900" cy="7010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9620" y="3931920"/>
            <a:ext cx="342900" cy="70104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4404360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68" dirty="0"/>
          </a:p>
        </p:txBody>
      </p:sp>
      <p:sp>
        <p:nvSpPr>
          <p:cNvPr id="20" name="Text 18"/>
          <p:cNvSpPr/>
          <p:nvPr/>
        </p:nvSpPr>
        <p:spPr>
          <a:xfrm>
            <a:off x="8161020" y="5105400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68" dirty="0"/>
          </a:p>
        </p:txBody>
      </p:sp>
      <p:sp>
        <p:nvSpPr>
          <p:cNvPr id="21" name="Text 19"/>
          <p:cNvSpPr/>
          <p:nvPr/>
        </p:nvSpPr>
        <p:spPr>
          <a:xfrm>
            <a:off x="8503920" y="5806440"/>
            <a:ext cx="457200" cy="45720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68" dirty="0"/>
          </a:p>
        </p:txBody>
      </p:sp>
      <p:sp>
        <p:nvSpPr>
          <p:cNvPr id="22" name="Text 20"/>
          <p:cNvSpPr/>
          <p:nvPr/>
        </p:nvSpPr>
        <p:spPr>
          <a:xfrm>
            <a:off x="9189720" y="5806440"/>
            <a:ext cx="457200" cy="45720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68" dirty="0"/>
          </a:p>
        </p:txBody>
      </p:sp>
      <p:sp>
        <p:nvSpPr>
          <p:cNvPr id="23" name="Text 21"/>
          <p:cNvSpPr/>
          <p:nvPr/>
        </p:nvSpPr>
        <p:spPr>
          <a:xfrm>
            <a:off x="8846820" y="5105400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68" dirty="0"/>
          </a:p>
        </p:txBody>
      </p:sp>
      <p:sp>
        <p:nvSpPr>
          <p:cNvPr id="24" name="Text 22"/>
          <p:cNvSpPr/>
          <p:nvPr/>
        </p:nvSpPr>
        <p:spPr>
          <a:xfrm>
            <a:off x="8503920" y="4404360"/>
            <a:ext cx="457200" cy="45720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68" dirty="0"/>
          </a:p>
        </p:txBody>
      </p:sp>
      <p:sp>
        <p:nvSpPr>
          <p:cNvPr id="25" name="Text 23"/>
          <p:cNvSpPr/>
          <p:nvPr/>
        </p:nvSpPr>
        <p:spPr>
          <a:xfrm>
            <a:off x="8161020" y="3703320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6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· Questions Q19–Q21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3337560"/>
          </a:xfrm>
          <a:prstGeom prst="roundRect">
            <a:avLst>
              <a:gd name="adj" fmla="val 2192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490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 218 · Handbook §12.2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01952"/>
            <a:ext cx="329184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1, 2, 3, 4, 5, 6 (in this order) into an empty splay tree. Draw the final tree and count the rotations.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3657600" cy="3337560"/>
          </a:xfrm>
          <a:prstGeom prst="roundRect">
            <a:avLst>
              <a:gd name="adj" fmla="val 2192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93792" y="1490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219–221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901952"/>
            <a:ext cx="329184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search for 1 in that tree. List each splay step (zig, zig-zig, zig-zag or a mirror image) and draw the tree after the search.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611880" cy="3337560"/>
          </a:xfrm>
          <a:prstGeom prst="roundRect">
            <a:avLst>
              <a:gd name="adj" fmla="val 2192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942832" y="14904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214–215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1901952"/>
            <a:ext cx="324612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40 from the splay tree below. Show: splay, remove the root, splay the maximum of the left tree, attach the right tree.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 flipV="1">
            <a:off x="9409176" y="3531413"/>
            <a:ext cx="233172" cy="404165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9642348" y="3127248"/>
            <a:ext cx="233172" cy="404165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8692" y="3531413"/>
            <a:ext cx="233172" cy="404165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0" y="3127248"/>
            <a:ext cx="233172" cy="404165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3728" y="3780130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9486900" y="3375965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10186416" y="3780130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9953244" y="3375965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9720072" y="2971800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548640" y="4937760"/>
            <a:ext cx="11109960" cy="1325880"/>
          </a:xfrm>
          <a:prstGeom prst="roundRect">
            <a:avLst>
              <a:gd name="adj" fmla="val 5517"/>
            </a:avLst>
          </a:prstGeom>
          <a:solidFill>
            <a:srgbClr val="E6F0FA"/>
          </a:solidFill>
          <a:ln w="9525">
            <a:solidFill>
              <a:srgbClr val="E6F0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504748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4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SPLAY RULES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03520"/>
            <a:ext cx="10744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Reminder. Zig-zig: rotate the PARENT first, then x. Zig-zag: rotate x twice. A search that misses splays the LAST node visited. Delete = splay x, remove it, splay max(L), attach 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2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· Solution Q13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4475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(i) LL: single right rotation at 40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V="1">
            <a:off x="2066544" y="3182112"/>
            <a:ext cx="288036" cy="6035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354580" y="2578608"/>
            <a:ext cx="288036" cy="6035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359359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49" dirty="0"/>
          </a:p>
        </p:txBody>
      </p:sp>
      <p:sp>
        <p:nvSpPr>
          <p:cNvPr id="11" name="Text 9"/>
          <p:cNvSpPr txBox="1"/>
          <p:nvPr/>
        </p:nvSpPr>
        <p:spPr>
          <a:xfrm>
            <a:off x="1409639" y="35021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49" dirty="0"/>
          </a:p>
        </p:txBody>
      </p:sp>
      <p:sp>
        <p:nvSpPr>
          <p:cNvPr id="12" name="Text 10"/>
          <p:cNvSpPr/>
          <p:nvPr/>
        </p:nvSpPr>
        <p:spPr>
          <a:xfrm>
            <a:off x="2162556" y="299008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49" dirty="0"/>
          </a:p>
        </p:txBody>
      </p:sp>
      <p:sp>
        <p:nvSpPr>
          <p:cNvPr id="13" name="Text 11"/>
          <p:cNvSpPr txBox="1"/>
          <p:nvPr/>
        </p:nvSpPr>
        <p:spPr>
          <a:xfrm>
            <a:off x="1697675" y="2898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49" dirty="0"/>
          </a:p>
        </p:txBody>
      </p:sp>
      <p:sp>
        <p:nvSpPr>
          <p:cNvPr id="14" name="Text 12"/>
          <p:cNvSpPr/>
          <p:nvPr/>
        </p:nvSpPr>
        <p:spPr>
          <a:xfrm>
            <a:off x="2450592" y="2386584"/>
            <a:ext cx="384048" cy="384048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49" dirty="0"/>
          </a:p>
        </p:txBody>
      </p:sp>
      <p:sp>
        <p:nvSpPr>
          <p:cNvPr id="15" name="Text 13"/>
          <p:cNvSpPr txBox="1"/>
          <p:nvPr/>
        </p:nvSpPr>
        <p:spPr>
          <a:xfrm>
            <a:off x="2842321" y="22951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949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1148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V="1">
            <a:off x="2039112" y="496290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54580" y="496290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548868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9" dirty="0"/>
          </a:p>
        </p:txBody>
      </p:sp>
      <p:sp>
        <p:nvSpPr>
          <p:cNvPr id="20" name="Text 18"/>
          <p:cNvSpPr txBox="1"/>
          <p:nvPr/>
        </p:nvSpPr>
        <p:spPr>
          <a:xfrm>
            <a:off x="1363188" y="539724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21" name="Text 19"/>
          <p:cNvSpPr/>
          <p:nvPr/>
        </p:nvSpPr>
        <p:spPr>
          <a:xfrm>
            <a:off x="2459736" y="548868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59" dirty="0"/>
          </a:p>
        </p:txBody>
      </p:sp>
      <p:sp>
        <p:nvSpPr>
          <p:cNvPr id="22" name="Text 20"/>
          <p:cNvSpPr txBox="1"/>
          <p:nvPr/>
        </p:nvSpPr>
        <p:spPr>
          <a:xfrm>
            <a:off x="2888772" y="539724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23" name="Text 21"/>
          <p:cNvSpPr/>
          <p:nvPr/>
        </p:nvSpPr>
        <p:spPr>
          <a:xfrm>
            <a:off x="2144268" y="475259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59" dirty="0"/>
          </a:p>
        </p:txBody>
      </p:sp>
      <p:sp>
        <p:nvSpPr>
          <p:cNvPr id="24" name="Text 22"/>
          <p:cNvSpPr txBox="1"/>
          <p:nvPr/>
        </p:nvSpPr>
        <p:spPr>
          <a:xfrm>
            <a:off x="2573304" y="466115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25" name="Shape 23"/>
          <p:cNvSpPr/>
          <p:nvPr/>
        </p:nvSpPr>
        <p:spPr>
          <a:xfrm>
            <a:off x="4297680" y="137160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34840" y="144475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(ii) RL: right rotation at 10, then left rotation at 5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2057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flipV="1">
            <a:off x="5959602" y="3182112"/>
            <a:ext cx="288036" cy="6035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59602" y="2578608"/>
            <a:ext cx="288036" cy="6035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7578" y="359359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49" dirty="0"/>
          </a:p>
        </p:txBody>
      </p:sp>
      <p:sp>
        <p:nvSpPr>
          <p:cNvPr id="31" name="Text 29"/>
          <p:cNvSpPr txBox="1"/>
          <p:nvPr/>
        </p:nvSpPr>
        <p:spPr>
          <a:xfrm>
            <a:off x="5302697" y="35021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49" dirty="0"/>
          </a:p>
        </p:txBody>
      </p:sp>
      <p:sp>
        <p:nvSpPr>
          <p:cNvPr id="32" name="Text 30"/>
          <p:cNvSpPr/>
          <p:nvPr/>
        </p:nvSpPr>
        <p:spPr>
          <a:xfrm>
            <a:off x="6055614" y="299008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49" dirty="0"/>
          </a:p>
        </p:txBody>
      </p:sp>
      <p:sp>
        <p:nvSpPr>
          <p:cNvPr id="33" name="Text 31"/>
          <p:cNvSpPr txBox="1"/>
          <p:nvPr/>
        </p:nvSpPr>
        <p:spPr>
          <a:xfrm>
            <a:off x="6447343" y="2898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49" dirty="0"/>
          </a:p>
        </p:txBody>
      </p:sp>
      <p:sp>
        <p:nvSpPr>
          <p:cNvPr id="34" name="Text 32"/>
          <p:cNvSpPr/>
          <p:nvPr/>
        </p:nvSpPr>
        <p:spPr>
          <a:xfrm>
            <a:off x="5767578" y="2386584"/>
            <a:ext cx="384048" cy="384048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49" dirty="0"/>
          </a:p>
        </p:txBody>
      </p:sp>
      <p:sp>
        <p:nvSpPr>
          <p:cNvPr id="35" name="Text 33"/>
          <p:cNvSpPr txBox="1"/>
          <p:nvPr/>
        </p:nvSpPr>
        <p:spPr>
          <a:xfrm>
            <a:off x="6159307" y="22951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949" dirty="0"/>
          </a:p>
        </p:txBody>
      </p:sp>
      <p:sp>
        <p:nvSpPr>
          <p:cNvPr id="36" name="Text 34"/>
          <p:cNvSpPr txBox="1"/>
          <p:nvPr/>
        </p:nvSpPr>
        <p:spPr>
          <a:xfrm>
            <a:off x="4389120" y="41148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 flipV="1">
            <a:off x="5788152" y="496290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03620" y="496290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548868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9" dirty="0"/>
          </a:p>
        </p:txBody>
      </p:sp>
      <p:sp>
        <p:nvSpPr>
          <p:cNvPr id="40" name="Text 38"/>
          <p:cNvSpPr txBox="1"/>
          <p:nvPr/>
        </p:nvSpPr>
        <p:spPr>
          <a:xfrm>
            <a:off x="5112228" y="539724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41" name="Text 39"/>
          <p:cNvSpPr/>
          <p:nvPr/>
        </p:nvSpPr>
        <p:spPr>
          <a:xfrm>
            <a:off x="6208776" y="548868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9" dirty="0"/>
          </a:p>
        </p:txBody>
      </p:sp>
      <p:sp>
        <p:nvSpPr>
          <p:cNvPr id="42" name="Text 40"/>
          <p:cNvSpPr txBox="1"/>
          <p:nvPr/>
        </p:nvSpPr>
        <p:spPr>
          <a:xfrm>
            <a:off x="6637812" y="539724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43" name="Text 41"/>
          <p:cNvSpPr/>
          <p:nvPr/>
        </p:nvSpPr>
        <p:spPr>
          <a:xfrm>
            <a:off x="5893308" y="475259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9" dirty="0"/>
          </a:p>
        </p:txBody>
      </p:sp>
      <p:sp>
        <p:nvSpPr>
          <p:cNvPr id="44" name="Text 42"/>
          <p:cNvSpPr txBox="1"/>
          <p:nvPr/>
        </p:nvSpPr>
        <p:spPr>
          <a:xfrm>
            <a:off x="6322344" y="466115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45" name="Shape 43"/>
          <p:cNvSpPr/>
          <p:nvPr/>
        </p:nvSpPr>
        <p:spPr>
          <a:xfrm>
            <a:off x="8046720" y="1371600"/>
            <a:ext cx="3611880" cy="4937760"/>
          </a:xfrm>
          <a:prstGeom prst="roundRect">
            <a:avLst>
              <a:gd name="adj" fmla="val 2025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83880" y="144475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(iii) LR: left rotation at 40, then right rotation at 50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8138160" y="20574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9708642" y="3182112"/>
            <a:ext cx="288036" cy="6035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9708642" y="2578608"/>
            <a:ext cx="288036" cy="60350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804654" y="359359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49" dirty="0"/>
          </a:p>
        </p:txBody>
      </p:sp>
      <p:sp>
        <p:nvSpPr>
          <p:cNvPr id="51" name="Text 49"/>
          <p:cNvSpPr txBox="1"/>
          <p:nvPr/>
        </p:nvSpPr>
        <p:spPr>
          <a:xfrm>
            <a:off x="10196383" y="35021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49" dirty="0"/>
          </a:p>
        </p:txBody>
      </p:sp>
      <p:sp>
        <p:nvSpPr>
          <p:cNvPr id="52" name="Text 50"/>
          <p:cNvSpPr/>
          <p:nvPr/>
        </p:nvSpPr>
        <p:spPr>
          <a:xfrm>
            <a:off x="9516618" y="299008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49" dirty="0"/>
          </a:p>
        </p:txBody>
      </p:sp>
      <p:sp>
        <p:nvSpPr>
          <p:cNvPr id="53" name="Text 51"/>
          <p:cNvSpPr txBox="1"/>
          <p:nvPr/>
        </p:nvSpPr>
        <p:spPr>
          <a:xfrm>
            <a:off x="9051737" y="2898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949" dirty="0"/>
          </a:p>
        </p:txBody>
      </p:sp>
      <p:sp>
        <p:nvSpPr>
          <p:cNvPr id="54" name="Text 52"/>
          <p:cNvSpPr/>
          <p:nvPr/>
        </p:nvSpPr>
        <p:spPr>
          <a:xfrm>
            <a:off x="9804654" y="2386584"/>
            <a:ext cx="384048" cy="384048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49" dirty="0"/>
          </a:p>
        </p:txBody>
      </p:sp>
      <p:sp>
        <p:nvSpPr>
          <p:cNvPr id="55" name="Text 53"/>
          <p:cNvSpPr txBox="1"/>
          <p:nvPr/>
        </p:nvSpPr>
        <p:spPr>
          <a:xfrm>
            <a:off x="10196383" y="22951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9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949" dirty="0"/>
          </a:p>
        </p:txBody>
      </p:sp>
      <p:sp>
        <p:nvSpPr>
          <p:cNvPr id="56" name="Text 54"/>
          <p:cNvSpPr txBox="1"/>
          <p:nvPr/>
        </p:nvSpPr>
        <p:spPr>
          <a:xfrm>
            <a:off x="8138160" y="41148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 flipV="1">
            <a:off x="9537192" y="496290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852660" y="496290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26880" y="548868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59" dirty="0"/>
          </a:p>
        </p:txBody>
      </p:sp>
      <p:sp>
        <p:nvSpPr>
          <p:cNvPr id="60" name="Text 58"/>
          <p:cNvSpPr txBox="1"/>
          <p:nvPr/>
        </p:nvSpPr>
        <p:spPr>
          <a:xfrm>
            <a:off x="8861268" y="539724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61" name="Text 59"/>
          <p:cNvSpPr/>
          <p:nvPr/>
        </p:nvSpPr>
        <p:spPr>
          <a:xfrm>
            <a:off x="9957816" y="5488686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59" dirty="0"/>
          </a:p>
        </p:txBody>
      </p:sp>
      <p:sp>
        <p:nvSpPr>
          <p:cNvPr id="62" name="Text 60"/>
          <p:cNvSpPr txBox="1"/>
          <p:nvPr/>
        </p:nvSpPr>
        <p:spPr>
          <a:xfrm>
            <a:off x="10386852" y="539724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63" name="Text 61"/>
          <p:cNvSpPr/>
          <p:nvPr/>
        </p:nvSpPr>
        <p:spPr>
          <a:xfrm>
            <a:off x="9642348" y="4752594"/>
            <a:ext cx="420624" cy="42062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59" dirty="0"/>
          </a:p>
        </p:txBody>
      </p:sp>
      <p:sp>
        <p:nvSpPr>
          <p:cNvPr id="64" name="Text 62"/>
          <p:cNvSpPr txBox="1"/>
          <p:nvPr/>
        </p:nvSpPr>
        <p:spPr>
          <a:xfrm>
            <a:off x="10071384" y="466115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9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9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2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· Solution Q14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154430" y="3058668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401318" y="2482596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648206" y="1906524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1982" y="2482596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95094" y="1906524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9838" y="3470148"/>
            <a:ext cx="329184" cy="32918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5" dirty="0"/>
          </a:p>
        </p:txBody>
      </p:sp>
      <p:sp>
        <p:nvSpPr>
          <p:cNvPr id="12" name="Text 10"/>
          <p:cNvSpPr txBox="1"/>
          <p:nvPr/>
        </p:nvSpPr>
        <p:spPr>
          <a:xfrm>
            <a:off x="526054" y="33787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36726" y="289407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85" dirty="0"/>
          </a:p>
        </p:txBody>
      </p:sp>
      <p:sp>
        <p:nvSpPr>
          <p:cNvPr id="14" name="Text 12"/>
          <p:cNvSpPr txBox="1"/>
          <p:nvPr/>
        </p:nvSpPr>
        <p:spPr>
          <a:xfrm>
            <a:off x="772942" y="28026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83614" y="2318004"/>
            <a:ext cx="329184" cy="329184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85" dirty="0"/>
          </a:p>
        </p:txBody>
      </p:sp>
      <p:sp>
        <p:nvSpPr>
          <p:cNvPr id="16" name="Text 14"/>
          <p:cNvSpPr txBox="1"/>
          <p:nvPr/>
        </p:nvSpPr>
        <p:spPr>
          <a:xfrm>
            <a:off x="1019830" y="22265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24278" y="289407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85" dirty="0"/>
          </a:p>
        </p:txBody>
      </p:sp>
      <p:sp>
        <p:nvSpPr>
          <p:cNvPr id="18" name="Text 16"/>
          <p:cNvSpPr txBox="1"/>
          <p:nvPr/>
        </p:nvSpPr>
        <p:spPr>
          <a:xfrm>
            <a:off x="2560046" y="28026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77390" y="231800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85" dirty="0"/>
          </a:p>
        </p:txBody>
      </p:sp>
      <p:sp>
        <p:nvSpPr>
          <p:cNvPr id="20" name="Text 18"/>
          <p:cNvSpPr txBox="1"/>
          <p:nvPr/>
        </p:nvSpPr>
        <p:spPr>
          <a:xfrm>
            <a:off x="2313158" y="22265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30502" y="174193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85" dirty="0"/>
          </a:p>
        </p:txBody>
      </p:sp>
      <p:sp>
        <p:nvSpPr>
          <p:cNvPr id="22" name="Text 20"/>
          <p:cNvSpPr txBox="1"/>
          <p:nvPr/>
        </p:nvSpPr>
        <p:spPr>
          <a:xfrm>
            <a:off x="2066270" y="16504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858768"/>
            <a:ext cx="2446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BF(11) = +2, child 7 leans left: LL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040380" y="2377440"/>
            <a:ext cx="32004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06140" y="137160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rotation at 11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 flipV="1">
            <a:off x="4135374" y="2770632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2262" y="2770632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4382262" y="2194560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76038" y="2770632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29150" y="2194560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70782" y="3182112"/>
            <a:ext cx="329184" cy="32918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5" dirty="0"/>
          </a:p>
        </p:txBody>
      </p:sp>
      <p:sp>
        <p:nvSpPr>
          <p:cNvPr id="32" name="Text 30"/>
          <p:cNvSpPr txBox="1"/>
          <p:nvPr/>
        </p:nvSpPr>
        <p:spPr>
          <a:xfrm>
            <a:off x="3506998" y="3090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64558" y="318211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85" dirty="0"/>
          </a:p>
        </p:txBody>
      </p:sp>
      <p:sp>
        <p:nvSpPr>
          <p:cNvPr id="34" name="Text 32"/>
          <p:cNvSpPr txBox="1"/>
          <p:nvPr/>
        </p:nvSpPr>
        <p:spPr>
          <a:xfrm>
            <a:off x="4800326" y="3090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17670" y="260604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85" dirty="0"/>
          </a:p>
        </p:txBody>
      </p:sp>
      <p:sp>
        <p:nvSpPr>
          <p:cNvPr id="36" name="Text 34"/>
          <p:cNvSpPr txBox="1"/>
          <p:nvPr/>
        </p:nvSpPr>
        <p:spPr>
          <a:xfrm>
            <a:off x="3753886" y="2514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58334" y="318211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85" dirty="0"/>
          </a:p>
        </p:txBody>
      </p:sp>
      <p:sp>
        <p:nvSpPr>
          <p:cNvPr id="38" name="Text 36"/>
          <p:cNvSpPr txBox="1"/>
          <p:nvPr/>
        </p:nvSpPr>
        <p:spPr>
          <a:xfrm>
            <a:off x="5294102" y="3090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11446" y="260604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85" dirty="0"/>
          </a:p>
        </p:txBody>
      </p:sp>
      <p:sp>
        <p:nvSpPr>
          <p:cNvPr id="40" name="Text 38"/>
          <p:cNvSpPr txBox="1"/>
          <p:nvPr/>
        </p:nvSpPr>
        <p:spPr>
          <a:xfrm>
            <a:off x="5047214" y="2514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64558" y="202996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85" dirty="0"/>
          </a:p>
        </p:txBody>
      </p:sp>
      <p:sp>
        <p:nvSpPr>
          <p:cNvPr id="42" name="Text 40"/>
          <p:cNvSpPr txBox="1"/>
          <p:nvPr/>
        </p:nvSpPr>
        <p:spPr>
          <a:xfrm>
            <a:off x="4800326" y="1938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3406140" y="3858768"/>
            <a:ext cx="2446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lifted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6355080" y="137160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12 (after 13)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 flipV="1">
            <a:off x="7084314" y="2318004"/>
            <a:ext cx="246888" cy="45262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7578090" y="3223260"/>
            <a:ext cx="246888" cy="45262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78090" y="2770632"/>
            <a:ext cx="246888" cy="45262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31202" y="2318004"/>
            <a:ext cx="246888" cy="45262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7331202" y="1865376"/>
            <a:ext cx="246888" cy="45262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24978" y="2318004"/>
            <a:ext cx="246888" cy="45262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78090" y="1865376"/>
            <a:ext cx="246888" cy="45262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19722" y="260604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5" dirty="0"/>
          </a:p>
        </p:txBody>
      </p:sp>
      <p:sp>
        <p:nvSpPr>
          <p:cNvPr id="53" name="Text 51"/>
          <p:cNvSpPr txBox="1"/>
          <p:nvPr/>
        </p:nvSpPr>
        <p:spPr>
          <a:xfrm>
            <a:off x="6455938" y="2514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413498" y="3511296"/>
            <a:ext cx="329184" cy="32918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85" dirty="0"/>
          </a:p>
        </p:txBody>
      </p:sp>
      <p:sp>
        <p:nvSpPr>
          <p:cNvPr id="55" name="Text 53"/>
          <p:cNvSpPr txBox="1"/>
          <p:nvPr/>
        </p:nvSpPr>
        <p:spPr>
          <a:xfrm>
            <a:off x="6949714" y="34198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660386" y="305866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85" dirty="0"/>
          </a:p>
        </p:txBody>
      </p:sp>
      <p:sp>
        <p:nvSpPr>
          <p:cNvPr id="57" name="Text 55"/>
          <p:cNvSpPr txBox="1"/>
          <p:nvPr/>
        </p:nvSpPr>
        <p:spPr>
          <a:xfrm>
            <a:off x="7996154" y="29672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413498" y="2606040"/>
            <a:ext cx="329184" cy="329184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85" dirty="0"/>
          </a:p>
        </p:txBody>
      </p:sp>
      <p:sp>
        <p:nvSpPr>
          <p:cNvPr id="59" name="Text 57"/>
          <p:cNvSpPr txBox="1"/>
          <p:nvPr/>
        </p:nvSpPr>
        <p:spPr>
          <a:xfrm>
            <a:off x="7749266" y="2514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166610" y="215341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85" dirty="0"/>
          </a:p>
        </p:txBody>
      </p:sp>
      <p:sp>
        <p:nvSpPr>
          <p:cNvPr id="61" name="Text 59"/>
          <p:cNvSpPr txBox="1"/>
          <p:nvPr/>
        </p:nvSpPr>
        <p:spPr>
          <a:xfrm>
            <a:off x="6702826" y="20619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907274" y="260604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85" dirty="0"/>
          </a:p>
        </p:txBody>
      </p:sp>
      <p:sp>
        <p:nvSpPr>
          <p:cNvPr id="63" name="Text 61"/>
          <p:cNvSpPr txBox="1"/>
          <p:nvPr/>
        </p:nvSpPr>
        <p:spPr>
          <a:xfrm>
            <a:off x="8243042" y="2514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660386" y="215341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85" dirty="0"/>
          </a:p>
        </p:txBody>
      </p:sp>
      <p:sp>
        <p:nvSpPr>
          <p:cNvPr id="65" name="Text 63"/>
          <p:cNvSpPr txBox="1"/>
          <p:nvPr/>
        </p:nvSpPr>
        <p:spPr>
          <a:xfrm>
            <a:off x="7996154" y="20619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413498" y="170078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85" dirty="0"/>
          </a:p>
        </p:txBody>
      </p:sp>
      <p:sp>
        <p:nvSpPr>
          <p:cNvPr id="67" name="Text 65"/>
          <p:cNvSpPr txBox="1"/>
          <p:nvPr/>
        </p:nvSpPr>
        <p:spPr>
          <a:xfrm>
            <a:off x="7749266" y="16093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6355080" y="3858768"/>
            <a:ext cx="2446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BF(11) = −2, child 13 leans left: RL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8846820" y="2377440"/>
            <a:ext cx="32004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212580" y="1371600"/>
            <a:ext cx="2446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at 13, left at 11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 flipV="1">
            <a:off x="9941814" y="2482596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10188702" y="3058668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435590" y="3058668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188702" y="2482596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10188702" y="1906524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682478" y="2482596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435590" y="1906524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777222" y="289407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5" dirty="0"/>
          </a:p>
        </p:txBody>
      </p:sp>
      <p:sp>
        <p:nvSpPr>
          <p:cNvPr id="79" name="Text 77"/>
          <p:cNvSpPr txBox="1"/>
          <p:nvPr/>
        </p:nvSpPr>
        <p:spPr>
          <a:xfrm>
            <a:off x="9313438" y="28026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0024110" y="347014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85" dirty="0"/>
          </a:p>
        </p:txBody>
      </p:sp>
      <p:sp>
        <p:nvSpPr>
          <p:cNvPr id="81" name="Text 79"/>
          <p:cNvSpPr txBox="1"/>
          <p:nvPr/>
        </p:nvSpPr>
        <p:spPr>
          <a:xfrm>
            <a:off x="9560326" y="33787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0517886" y="347014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85" dirty="0"/>
          </a:p>
        </p:txBody>
      </p:sp>
      <p:sp>
        <p:nvSpPr>
          <p:cNvPr id="83" name="Text 81"/>
          <p:cNvSpPr txBox="1"/>
          <p:nvPr/>
        </p:nvSpPr>
        <p:spPr>
          <a:xfrm>
            <a:off x="10853654" y="33787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10270998" y="2894076"/>
            <a:ext cx="329184" cy="32918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85" dirty="0"/>
          </a:p>
        </p:txBody>
      </p:sp>
      <p:sp>
        <p:nvSpPr>
          <p:cNvPr id="85" name="Text 83"/>
          <p:cNvSpPr txBox="1"/>
          <p:nvPr/>
        </p:nvSpPr>
        <p:spPr>
          <a:xfrm>
            <a:off x="10606766" y="28026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0024110" y="231800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85" dirty="0"/>
          </a:p>
        </p:txBody>
      </p:sp>
      <p:sp>
        <p:nvSpPr>
          <p:cNvPr id="87" name="Text 85"/>
          <p:cNvSpPr txBox="1"/>
          <p:nvPr/>
        </p:nvSpPr>
        <p:spPr>
          <a:xfrm>
            <a:off x="9560326" y="22265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10764774" y="289407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85" dirty="0"/>
          </a:p>
        </p:txBody>
      </p:sp>
      <p:sp>
        <p:nvSpPr>
          <p:cNvPr id="89" name="Text 87"/>
          <p:cNvSpPr txBox="1"/>
          <p:nvPr/>
        </p:nvSpPr>
        <p:spPr>
          <a:xfrm>
            <a:off x="11100542" y="28026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10517886" y="231800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85" dirty="0"/>
          </a:p>
        </p:txBody>
      </p:sp>
      <p:sp>
        <p:nvSpPr>
          <p:cNvPr id="91" name="Text 89"/>
          <p:cNvSpPr txBox="1"/>
          <p:nvPr/>
        </p:nvSpPr>
        <p:spPr>
          <a:xfrm>
            <a:off x="10853654" y="22265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10270998" y="174193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85" dirty="0"/>
          </a:p>
        </p:txBody>
      </p:sp>
      <p:sp>
        <p:nvSpPr>
          <p:cNvPr id="93" name="Text 91"/>
          <p:cNvSpPr txBox="1"/>
          <p:nvPr/>
        </p:nvSpPr>
        <p:spPr>
          <a:xfrm>
            <a:off x="10606766" y="16504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94" name="Text 92"/>
          <p:cNvSpPr txBox="1"/>
          <p:nvPr/>
        </p:nvSpPr>
        <p:spPr>
          <a:xfrm>
            <a:off x="9212580" y="3858768"/>
            <a:ext cx="24460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lifted ✔</a:t>
            </a:r>
            <a:endParaRPr lang="en-US" sz="1150" dirty="0"/>
          </a:p>
        </p:txBody>
      </p:sp>
      <p:graphicFrame>
        <p:nvGraphicFramePr>
          <p:cNvPr id="10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6949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</a:tbl>
          </a:graphicData>
        </a:graphic>
      </p:graphicFrame>
      <p:sp>
        <p:nvSpPr>
          <p:cNvPr id="96" name="Text 93"/>
          <p:cNvSpPr txBox="1"/>
          <p:nvPr/>
        </p:nvSpPr>
        <p:spPr>
          <a:xfrm>
            <a:off x="7863840" y="4434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AVL tree</a:t>
            </a:r>
            <a:endParaRPr lang="en-US" sz="1300" dirty="0"/>
          </a:p>
        </p:txBody>
      </p:sp>
      <p:sp>
        <p:nvSpPr>
          <p:cNvPr id="97" name="Shape 94"/>
          <p:cNvSpPr/>
          <p:nvPr/>
        </p:nvSpPr>
        <p:spPr>
          <a:xfrm flipV="1">
            <a:off x="9244584" y="5312664"/>
            <a:ext cx="246888" cy="4389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 flipV="1">
            <a:off x="9491472" y="5751576"/>
            <a:ext cx="246888" cy="4389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9738360" y="5751576"/>
            <a:ext cx="246888" cy="4389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9491472" y="5312664"/>
            <a:ext cx="246888" cy="4389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 flipV="1">
            <a:off x="9491472" y="4873752"/>
            <a:ext cx="246888" cy="4389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9985248" y="5312664"/>
            <a:ext cx="246888" cy="4389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9738360" y="4873752"/>
            <a:ext cx="246888" cy="43891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9079992" y="558698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5" dirty="0"/>
          </a:p>
        </p:txBody>
      </p:sp>
      <p:sp>
        <p:nvSpPr>
          <p:cNvPr id="105" name="Text 102"/>
          <p:cNvSpPr/>
          <p:nvPr/>
        </p:nvSpPr>
        <p:spPr>
          <a:xfrm>
            <a:off x="9326880" y="602589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85" dirty="0"/>
          </a:p>
        </p:txBody>
      </p:sp>
      <p:sp>
        <p:nvSpPr>
          <p:cNvPr id="106" name="Text 103"/>
          <p:cNvSpPr/>
          <p:nvPr/>
        </p:nvSpPr>
        <p:spPr>
          <a:xfrm>
            <a:off x="9820656" y="602589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85" dirty="0"/>
          </a:p>
        </p:txBody>
      </p:sp>
      <p:sp>
        <p:nvSpPr>
          <p:cNvPr id="107" name="Text 104"/>
          <p:cNvSpPr/>
          <p:nvPr/>
        </p:nvSpPr>
        <p:spPr>
          <a:xfrm>
            <a:off x="9573768" y="558698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85" dirty="0"/>
          </a:p>
        </p:txBody>
      </p:sp>
      <p:sp>
        <p:nvSpPr>
          <p:cNvPr id="108" name="Text 105"/>
          <p:cNvSpPr/>
          <p:nvPr/>
        </p:nvSpPr>
        <p:spPr>
          <a:xfrm>
            <a:off x="9326880" y="514807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85" dirty="0"/>
          </a:p>
        </p:txBody>
      </p:sp>
      <p:sp>
        <p:nvSpPr>
          <p:cNvPr id="109" name="Text 106"/>
          <p:cNvSpPr/>
          <p:nvPr/>
        </p:nvSpPr>
        <p:spPr>
          <a:xfrm>
            <a:off x="10067544" y="558698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85" dirty="0"/>
          </a:p>
        </p:txBody>
      </p:sp>
      <p:sp>
        <p:nvSpPr>
          <p:cNvPr id="110" name="Text 107"/>
          <p:cNvSpPr/>
          <p:nvPr/>
        </p:nvSpPr>
        <p:spPr>
          <a:xfrm>
            <a:off x="9820656" y="514807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85" dirty="0"/>
          </a:p>
        </p:txBody>
      </p:sp>
      <p:sp>
        <p:nvSpPr>
          <p:cNvPr id="111" name="Text 108"/>
          <p:cNvSpPr/>
          <p:nvPr/>
        </p:nvSpPr>
        <p:spPr>
          <a:xfrm>
            <a:off x="9573768" y="470916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85" dirty="0"/>
          </a:p>
        </p:txBody>
      </p:sp>
      <p:sp>
        <p:nvSpPr>
          <p:cNvPr id="112" name="Text 109"/>
          <p:cNvSpPr txBox="1"/>
          <p:nvPr/>
        </p:nvSpPr>
        <p:spPr>
          <a:xfrm>
            <a:off x="548640" y="56235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3; only two rotations were needed (one single, one double). In-order: 4 7 11 12 13 14 17 53.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2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· Solution Q15: three deletions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211580" y="3195828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58468" y="3195828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458468" y="2619756"/>
            <a:ext cx="493776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199132" y="3195828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46020" y="3195828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52244" y="2619756"/>
            <a:ext cx="493776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952244" y="2043684"/>
            <a:ext cx="617220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939796" y="2619756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9464" y="2043684"/>
            <a:ext cx="617220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6988" y="360730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85" dirty="0"/>
          </a:p>
        </p:txBody>
      </p:sp>
      <p:sp>
        <p:nvSpPr>
          <p:cNvPr id="16" name="Text 14"/>
          <p:cNvSpPr txBox="1"/>
          <p:nvPr/>
        </p:nvSpPr>
        <p:spPr>
          <a:xfrm>
            <a:off x="583204" y="35158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40764" y="360730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85" dirty="0"/>
          </a:p>
        </p:txBody>
      </p:sp>
      <p:sp>
        <p:nvSpPr>
          <p:cNvPr id="18" name="Text 16"/>
          <p:cNvSpPr txBox="1"/>
          <p:nvPr/>
        </p:nvSpPr>
        <p:spPr>
          <a:xfrm>
            <a:off x="1876532" y="35158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93876" y="303123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85" dirty="0"/>
          </a:p>
        </p:txBody>
      </p:sp>
      <p:sp>
        <p:nvSpPr>
          <p:cNvPr id="20" name="Text 18"/>
          <p:cNvSpPr txBox="1"/>
          <p:nvPr/>
        </p:nvSpPr>
        <p:spPr>
          <a:xfrm>
            <a:off x="830092" y="29397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34540" y="360730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85" dirty="0"/>
          </a:p>
        </p:txBody>
      </p:sp>
      <p:sp>
        <p:nvSpPr>
          <p:cNvPr id="22" name="Text 20"/>
          <p:cNvSpPr txBox="1"/>
          <p:nvPr/>
        </p:nvSpPr>
        <p:spPr>
          <a:xfrm>
            <a:off x="1570756" y="35158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28316" y="360730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85" dirty="0"/>
          </a:p>
        </p:txBody>
      </p:sp>
      <p:sp>
        <p:nvSpPr>
          <p:cNvPr id="24" name="Text 22"/>
          <p:cNvSpPr txBox="1"/>
          <p:nvPr/>
        </p:nvSpPr>
        <p:spPr>
          <a:xfrm>
            <a:off x="2864084" y="35158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1428" y="303123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85" dirty="0"/>
          </a:p>
        </p:txBody>
      </p:sp>
      <p:sp>
        <p:nvSpPr>
          <p:cNvPr id="26" name="Text 24"/>
          <p:cNvSpPr txBox="1"/>
          <p:nvPr/>
        </p:nvSpPr>
        <p:spPr>
          <a:xfrm>
            <a:off x="2617196" y="29397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87652" y="245516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85" dirty="0"/>
          </a:p>
        </p:txBody>
      </p:sp>
      <p:sp>
        <p:nvSpPr>
          <p:cNvPr id="28" name="Text 26"/>
          <p:cNvSpPr txBox="1"/>
          <p:nvPr/>
        </p:nvSpPr>
        <p:spPr>
          <a:xfrm>
            <a:off x="1323868" y="23637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75204" y="303123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85" dirty="0"/>
          </a:p>
        </p:txBody>
      </p:sp>
      <p:sp>
        <p:nvSpPr>
          <p:cNvPr id="30" name="Text 28"/>
          <p:cNvSpPr txBox="1"/>
          <p:nvPr/>
        </p:nvSpPr>
        <p:spPr>
          <a:xfrm>
            <a:off x="2311420" y="29397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22092" y="245516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85" dirty="0"/>
          </a:p>
        </p:txBody>
      </p:sp>
      <p:sp>
        <p:nvSpPr>
          <p:cNvPr id="32" name="Text 30"/>
          <p:cNvSpPr txBox="1"/>
          <p:nvPr/>
        </p:nvSpPr>
        <p:spPr>
          <a:xfrm>
            <a:off x="3357860" y="23637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04872" y="187909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85" dirty="0"/>
          </a:p>
        </p:txBody>
      </p:sp>
      <p:sp>
        <p:nvSpPr>
          <p:cNvPr id="34" name="Text 32"/>
          <p:cNvSpPr txBox="1"/>
          <p:nvPr/>
        </p:nvSpPr>
        <p:spPr>
          <a:xfrm>
            <a:off x="2740640" y="17876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922776" y="246888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453128" y="137160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52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 flipV="1">
            <a:off x="5116068" y="2950464"/>
            <a:ext cx="246888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62956" y="2950464"/>
            <a:ext cx="246888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5362956" y="2407920"/>
            <a:ext cx="493776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6103620" y="2950464"/>
            <a:ext cx="246888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56732" y="2407920"/>
            <a:ext cx="493776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5856732" y="1865376"/>
            <a:ext cx="617220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6844284" y="2407920"/>
            <a:ext cx="246888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73952" y="1865376"/>
            <a:ext cx="617220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51476" y="332841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85" dirty="0"/>
          </a:p>
        </p:txBody>
      </p:sp>
      <p:sp>
        <p:nvSpPr>
          <p:cNvPr id="46" name="Text 44"/>
          <p:cNvSpPr txBox="1"/>
          <p:nvPr/>
        </p:nvSpPr>
        <p:spPr>
          <a:xfrm>
            <a:off x="4487692" y="32369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45252" y="332841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85" dirty="0"/>
          </a:p>
        </p:txBody>
      </p:sp>
      <p:sp>
        <p:nvSpPr>
          <p:cNvPr id="48" name="Text 46"/>
          <p:cNvSpPr txBox="1"/>
          <p:nvPr/>
        </p:nvSpPr>
        <p:spPr>
          <a:xfrm>
            <a:off x="5781020" y="32369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98364" y="278587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85" dirty="0"/>
          </a:p>
        </p:txBody>
      </p:sp>
      <p:sp>
        <p:nvSpPr>
          <p:cNvPr id="50" name="Text 48"/>
          <p:cNvSpPr txBox="1"/>
          <p:nvPr/>
        </p:nvSpPr>
        <p:spPr>
          <a:xfrm>
            <a:off x="4734580" y="26944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39028" y="332841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85" dirty="0"/>
          </a:p>
        </p:txBody>
      </p:sp>
      <p:sp>
        <p:nvSpPr>
          <p:cNvPr id="52" name="Text 50"/>
          <p:cNvSpPr txBox="1"/>
          <p:nvPr/>
        </p:nvSpPr>
        <p:spPr>
          <a:xfrm>
            <a:off x="5475244" y="32369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85916" y="278587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85" dirty="0"/>
          </a:p>
        </p:txBody>
      </p:sp>
      <p:sp>
        <p:nvSpPr>
          <p:cNvPr id="54" name="Text 52"/>
          <p:cNvSpPr txBox="1"/>
          <p:nvPr/>
        </p:nvSpPr>
        <p:spPr>
          <a:xfrm>
            <a:off x="6521684" y="26944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692140" y="224332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85" dirty="0"/>
          </a:p>
        </p:txBody>
      </p:sp>
      <p:sp>
        <p:nvSpPr>
          <p:cNvPr id="56" name="Text 54"/>
          <p:cNvSpPr txBox="1"/>
          <p:nvPr/>
        </p:nvSpPr>
        <p:spPr>
          <a:xfrm>
            <a:off x="5228356" y="21518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679692" y="278587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85" dirty="0"/>
          </a:p>
        </p:txBody>
      </p:sp>
      <p:sp>
        <p:nvSpPr>
          <p:cNvPr id="58" name="Text 56"/>
          <p:cNvSpPr txBox="1"/>
          <p:nvPr/>
        </p:nvSpPr>
        <p:spPr>
          <a:xfrm>
            <a:off x="6215908" y="26944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926580" y="224332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85" dirty="0"/>
          </a:p>
        </p:txBody>
      </p:sp>
      <p:sp>
        <p:nvSpPr>
          <p:cNvPr id="60" name="Text 58"/>
          <p:cNvSpPr txBox="1"/>
          <p:nvPr/>
        </p:nvSpPr>
        <p:spPr>
          <a:xfrm>
            <a:off x="7262348" y="21518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309360" y="170078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85" dirty="0"/>
          </a:p>
        </p:txBody>
      </p:sp>
      <p:sp>
        <p:nvSpPr>
          <p:cNvPr id="62" name="Text 60"/>
          <p:cNvSpPr txBox="1"/>
          <p:nvPr/>
        </p:nvSpPr>
        <p:spPr>
          <a:xfrm>
            <a:off x="6645128" y="16093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4453128" y="367588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leaf; no BF reaches ±2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7827264" y="246888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8357616" y="137160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36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 flipV="1">
            <a:off x="9267444" y="2950464"/>
            <a:ext cx="246888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9514332" y="2407920"/>
            <a:ext cx="246888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9761220" y="2950464"/>
            <a:ext cx="246888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761220" y="2407920"/>
            <a:ext cx="246888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V="1">
            <a:off x="9761220" y="1865376"/>
            <a:ext cx="493776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10501884" y="2407920"/>
            <a:ext cx="246888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254996" y="1865376"/>
            <a:ext cx="493776" cy="54254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102852" y="332841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85" dirty="0"/>
          </a:p>
        </p:txBody>
      </p:sp>
      <p:sp>
        <p:nvSpPr>
          <p:cNvPr id="74" name="Text 72"/>
          <p:cNvSpPr txBox="1"/>
          <p:nvPr/>
        </p:nvSpPr>
        <p:spPr>
          <a:xfrm>
            <a:off x="8639068" y="32369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9349740" y="278587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85" dirty="0"/>
          </a:p>
        </p:txBody>
      </p:sp>
      <p:sp>
        <p:nvSpPr>
          <p:cNvPr id="76" name="Text 74"/>
          <p:cNvSpPr txBox="1"/>
          <p:nvPr/>
        </p:nvSpPr>
        <p:spPr>
          <a:xfrm>
            <a:off x="8885956" y="26944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9596628" y="332841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85" dirty="0"/>
          </a:p>
        </p:txBody>
      </p:sp>
      <p:sp>
        <p:nvSpPr>
          <p:cNvPr id="78" name="Text 76"/>
          <p:cNvSpPr txBox="1"/>
          <p:nvPr/>
        </p:nvSpPr>
        <p:spPr>
          <a:xfrm>
            <a:off x="9132844" y="32369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9843516" y="278587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85" dirty="0"/>
          </a:p>
        </p:txBody>
      </p:sp>
      <p:sp>
        <p:nvSpPr>
          <p:cNvPr id="80" name="Text 78"/>
          <p:cNvSpPr txBox="1"/>
          <p:nvPr/>
        </p:nvSpPr>
        <p:spPr>
          <a:xfrm>
            <a:off x="10179284" y="26944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9596628" y="224332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85" dirty="0"/>
          </a:p>
        </p:txBody>
      </p:sp>
      <p:sp>
        <p:nvSpPr>
          <p:cNvPr id="82" name="Text 80"/>
          <p:cNvSpPr txBox="1"/>
          <p:nvPr/>
        </p:nvSpPr>
        <p:spPr>
          <a:xfrm>
            <a:off x="9132844" y="21518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10337292" y="278587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85" dirty="0"/>
          </a:p>
        </p:txBody>
      </p:sp>
      <p:sp>
        <p:nvSpPr>
          <p:cNvPr id="84" name="Text 82"/>
          <p:cNvSpPr txBox="1"/>
          <p:nvPr/>
        </p:nvSpPr>
        <p:spPr>
          <a:xfrm>
            <a:off x="9873508" y="26944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0584180" y="224332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85" dirty="0"/>
          </a:p>
        </p:txBody>
      </p:sp>
      <p:sp>
        <p:nvSpPr>
          <p:cNvPr id="86" name="Text 84"/>
          <p:cNvSpPr txBox="1"/>
          <p:nvPr/>
        </p:nvSpPr>
        <p:spPr>
          <a:xfrm>
            <a:off x="10919948" y="21518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0090404" y="170078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85" dirty="0"/>
          </a:p>
        </p:txBody>
      </p:sp>
      <p:sp>
        <p:nvSpPr>
          <p:cNvPr id="88" name="Text 86"/>
          <p:cNvSpPr txBox="1"/>
          <p:nvPr/>
        </p:nvSpPr>
        <p:spPr>
          <a:xfrm>
            <a:off x="10426172" y="16093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89" name="Text 87"/>
          <p:cNvSpPr txBox="1"/>
          <p:nvPr/>
        </p:nvSpPr>
        <p:spPr>
          <a:xfrm>
            <a:off x="8357616" y="367588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children → successor 39; no rotation</a:t>
            </a:r>
            <a:endParaRPr lang="en-US" sz="1150" dirty="0"/>
          </a:p>
        </p:txBody>
      </p:sp>
      <p:sp>
        <p:nvSpPr>
          <p:cNvPr id="90" name="Text 88"/>
          <p:cNvSpPr txBox="1"/>
          <p:nvPr/>
        </p:nvSpPr>
        <p:spPr>
          <a:xfrm>
            <a:off x="548640" y="416052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61: BF(54) = +2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 flipV="1">
            <a:off x="1668780" y="5407152"/>
            <a:ext cx="233172" cy="3810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1901952" y="5026152"/>
            <a:ext cx="233172" cy="3810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2135124" y="5407152"/>
            <a:ext cx="233172" cy="3810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135124" y="5026152"/>
            <a:ext cx="233172" cy="3810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2135124" y="4645152"/>
            <a:ext cx="233172" cy="3810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368296" y="4645152"/>
            <a:ext cx="233172" cy="3810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513332" y="56327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30" dirty="0"/>
          </a:p>
        </p:txBody>
      </p:sp>
      <p:sp>
        <p:nvSpPr>
          <p:cNvPr id="98" name="Text 96"/>
          <p:cNvSpPr txBox="1"/>
          <p:nvPr/>
        </p:nvSpPr>
        <p:spPr>
          <a:xfrm>
            <a:off x="1049914" y="5541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1746504" y="52517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30" dirty="0"/>
          </a:p>
        </p:txBody>
      </p:sp>
      <p:sp>
        <p:nvSpPr>
          <p:cNvPr id="100" name="Text 98"/>
          <p:cNvSpPr txBox="1"/>
          <p:nvPr/>
        </p:nvSpPr>
        <p:spPr>
          <a:xfrm>
            <a:off x="1283086" y="5160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1979676" y="56327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30" dirty="0"/>
          </a:p>
        </p:txBody>
      </p:sp>
      <p:sp>
        <p:nvSpPr>
          <p:cNvPr id="102" name="Text 100"/>
          <p:cNvSpPr txBox="1"/>
          <p:nvPr/>
        </p:nvSpPr>
        <p:spPr>
          <a:xfrm>
            <a:off x="1516258" y="5541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2212848" y="52517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30" dirty="0"/>
          </a:p>
        </p:txBody>
      </p:sp>
      <p:sp>
        <p:nvSpPr>
          <p:cNvPr id="104" name="Text 102"/>
          <p:cNvSpPr txBox="1"/>
          <p:nvPr/>
        </p:nvSpPr>
        <p:spPr>
          <a:xfrm>
            <a:off x="2529962" y="5160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1979676" y="48707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30" dirty="0"/>
          </a:p>
        </p:txBody>
      </p:sp>
      <p:sp>
        <p:nvSpPr>
          <p:cNvPr id="106" name="Text 104"/>
          <p:cNvSpPr txBox="1"/>
          <p:nvPr/>
        </p:nvSpPr>
        <p:spPr>
          <a:xfrm>
            <a:off x="1516258" y="4779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2446020" y="48707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30" dirty="0"/>
          </a:p>
        </p:txBody>
      </p:sp>
      <p:sp>
        <p:nvSpPr>
          <p:cNvPr id="108" name="Text 106"/>
          <p:cNvSpPr txBox="1"/>
          <p:nvPr/>
        </p:nvSpPr>
        <p:spPr>
          <a:xfrm>
            <a:off x="2763134" y="4779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2212848" y="4489704"/>
            <a:ext cx="310896" cy="310896"/>
          </a:xfrm>
          <a:prstGeom prst="ellipse">
            <a:avLst/>
          </a:prstGeom>
          <a:solidFill>
            <a:srgbClr val="FFFFF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30" dirty="0"/>
          </a:p>
        </p:txBody>
      </p:sp>
      <p:sp>
        <p:nvSpPr>
          <p:cNvPr id="110" name="Text 108"/>
          <p:cNvSpPr txBox="1"/>
          <p:nvPr/>
        </p:nvSpPr>
        <p:spPr>
          <a:xfrm>
            <a:off x="2529962" y="4398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900" dirty="0"/>
          </a:p>
        </p:txBody>
      </p:sp>
      <p:sp>
        <p:nvSpPr>
          <p:cNvPr id="111" name="Text 109"/>
          <p:cNvSpPr txBox="1"/>
          <p:nvPr/>
        </p:nvSpPr>
        <p:spPr>
          <a:xfrm>
            <a:off x="548640" y="5961888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child 45 has BF 0 → treated as LL</a:t>
            </a:r>
            <a:endParaRPr lang="en-US" sz="1150" dirty="0"/>
          </a:p>
        </p:txBody>
      </p:sp>
      <p:sp>
        <p:nvSpPr>
          <p:cNvPr id="112" name="Shape 110"/>
          <p:cNvSpPr/>
          <p:nvPr/>
        </p:nvSpPr>
        <p:spPr>
          <a:xfrm>
            <a:off x="3794760" y="498348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4325112" y="416052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rotation at 54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 flipV="1">
            <a:off x="5445252" y="5026152"/>
            <a:ext cx="233172" cy="3810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5678424" y="4645152"/>
            <a:ext cx="233172" cy="3810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5678424" y="5407152"/>
            <a:ext cx="233172" cy="3810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V="1">
            <a:off x="5911596" y="5026152"/>
            <a:ext cx="233172" cy="3810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144768" y="5026152"/>
            <a:ext cx="233172" cy="3810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911596" y="4645152"/>
            <a:ext cx="233172" cy="38100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289804" y="52517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30" dirty="0"/>
          </a:p>
        </p:txBody>
      </p:sp>
      <p:sp>
        <p:nvSpPr>
          <p:cNvPr id="121" name="Text 119"/>
          <p:cNvSpPr txBox="1"/>
          <p:nvPr/>
        </p:nvSpPr>
        <p:spPr>
          <a:xfrm>
            <a:off x="4826386" y="5160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5522976" y="48707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30" dirty="0"/>
          </a:p>
        </p:txBody>
      </p:sp>
      <p:sp>
        <p:nvSpPr>
          <p:cNvPr id="123" name="Text 121"/>
          <p:cNvSpPr txBox="1"/>
          <p:nvPr/>
        </p:nvSpPr>
        <p:spPr>
          <a:xfrm>
            <a:off x="5059558" y="4779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5522976" y="56327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30" dirty="0"/>
          </a:p>
        </p:txBody>
      </p:sp>
      <p:sp>
        <p:nvSpPr>
          <p:cNvPr id="125" name="Text 123"/>
          <p:cNvSpPr txBox="1"/>
          <p:nvPr/>
        </p:nvSpPr>
        <p:spPr>
          <a:xfrm>
            <a:off x="5059558" y="5541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5756148" y="52517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30" dirty="0"/>
          </a:p>
        </p:txBody>
      </p:sp>
      <p:sp>
        <p:nvSpPr>
          <p:cNvPr id="127" name="Text 125"/>
          <p:cNvSpPr txBox="1"/>
          <p:nvPr/>
        </p:nvSpPr>
        <p:spPr>
          <a:xfrm>
            <a:off x="5292730" y="5160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6222492" y="52517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30" dirty="0"/>
          </a:p>
        </p:txBody>
      </p:sp>
      <p:sp>
        <p:nvSpPr>
          <p:cNvPr id="129" name="Text 127"/>
          <p:cNvSpPr txBox="1"/>
          <p:nvPr/>
        </p:nvSpPr>
        <p:spPr>
          <a:xfrm>
            <a:off x="6539606" y="5160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5989320" y="48707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30" dirty="0"/>
          </a:p>
        </p:txBody>
      </p:sp>
      <p:sp>
        <p:nvSpPr>
          <p:cNvPr id="131" name="Text 129"/>
          <p:cNvSpPr txBox="1"/>
          <p:nvPr/>
        </p:nvSpPr>
        <p:spPr>
          <a:xfrm>
            <a:off x="6306434" y="4779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900" dirty="0"/>
          </a:p>
        </p:txBody>
      </p:sp>
      <p:sp>
        <p:nvSpPr>
          <p:cNvPr id="132" name="Text 130"/>
          <p:cNvSpPr/>
          <p:nvPr/>
        </p:nvSpPr>
        <p:spPr>
          <a:xfrm>
            <a:off x="5756148" y="44897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30" dirty="0"/>
          </a:p>
        </p:txBody>
      </p:sp>
      <p:sp>
        <p:nvSpPr>
          <p:cNvPr id="133" name="Text 131"/>
          <p:cNvSpPr txBox="1"/>
          <p:nvPr/>
        </p:nvSpPr>
        <p:spPr>
          <a:xfrm>
            <a:off x="6073262" y="43982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900" dirty="0"/>
          </a:p>
        </p:txBody>
      </p:sp>
      <p:sp>
        <p:nvSpPr>
          <p:cNvPr id="134" name="Text 132"/>
          <p:cNvSpPr txBox="1"/>
          <p:nvPr/>
        </p:nvSpPr>
        <p:spPr>
          <a:xfrm>
            <a:off x="4325112" y="5961888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✔</a:t>
            </a:r>
            <a:endParaRPr lang="en-US" sz="1150" dirty="0"/>
          </a:p>
        </p:txBody>
      </p:sp>
      <p:sp>
        <p:nvSpPr>
          <p:cNvPr id="135" name="Text 133"/>
          <p:cNvSpPr txBox="1"/>
          <p:nvPr/>
        </p:nvSpPr>
        <p:spPr>
          <a:xfrm>
            <a:off x="7772400" y="4297680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third deletion the heavy child of 54 has BF 0 (equal heights). That case only happens on deletion: a single rotation (as in LL) is enough.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2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· Solution Q16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invalid: rule 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748790" y="3294888"/>
            <a:ext cx="342900" cy="68275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91690" y="3294888"/>
            <a:ext cx="342900" cy="68275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091690" y="2612136"/>
            <a:ext cx="685800" cy="6827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3120390" y="3294888"/>
            <a:ext cx="342900" cy="68275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3290" y="3294888"/>
            <a:ext cx="342900" cy="68275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7490" y="2612136"/>
            <a:ext cx="685800" cy="6827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777490" y="1929384"/>
            <a:ext cx="857250" cy="6827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4149090" y="2612136"/>
            <a:ext cx="342900" cy="68275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91990" y="2612136"/>
            <a:ext cx="342900" cy="68275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4740" y="1929384"/>
            <a:ext cx="857250" cy="6827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66494" y="389534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52294" y="389534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63090" y="3066288"/>
            <a:ext cx="457200" cy="457200"/>
          </a:xfrm>
          <a:prstGeom prst="ellipse">
            <a:avLst/>
          </a:prstGeom>
          <a:solidFill>
            <a:srgbClr val="D62839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68" dirty="0"/>
          </a:p>
        </p:txBody>
      </p:sp>
      <p:sp>
        <p:nvSpPr>
          <p:cNvPr id="19" name="Shape 17"/>
          <p:cNvSpPr/>
          <p:nvPr/>
        </p:nvSpPr>
        <p:spPr>
          <a:xfrm>
            <a:off x="3038094" y="389534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3894" y="389534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34690" y="3066288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68" dirty="0"/>
          </a:p>
        </p:txBody>
      </p:sp>
      <p:sp>
        <p:nvSpPr>
          <p:cNvPr id="22" name="Text 20"/>
          <p:cNvSpPr/>
          <p:nvPr/>
        </p:nvSpPr>
        <p:spPr>
          <a:xfrm>
            <a:off x="2548890" y="2383536"/>
            <a:ext cx="457200" cy="457200"/>
          </a:xfrm>
          <a:prstGeom prst="ellipse">
            <a:avLst/>
          </a:prstGeom>
          <a:solidFill>
            <a:srgbClr val="D62839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68" dirty="0"/>
          </a:p>
        </p:txBody>
      </p:sp>
      <p:sp>
        <p:nvSpPr>
          <p:cNvPr id="23" name="Shape 21"/>
          <p:cNvSpPr/>
          <p:nvPr/>
        </p:nvSpPr>
        <p:spPr>
          <a:xfrm>
            <a:off x="4066794" y="3212592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2594" y="3212592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63390" y="2383536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68" dirty="0"/>
          </a:p>
        </p:txBody>
      </p:sp>
      <p:sp>
        <p:nvSpPr>
          <p:cNvPr id="26" name="Text 24"/>
          <p:cNvSpPr/>
          <p:nvPr/>
        </p:nvSpPr>
        <p:spPr>
          <a:xfrm>
            <a:off x="3406140" y="1700784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68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22452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and 10 are both red: two reds in a row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invalid: rule 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 flipV="1">
            <a:off x="7715250" y="3294888"/>
            <a:ext cx="342900" cy="68275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58150" y="3294888"/>
            <a:ext cx="342900" cy="68275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8058150" y="2612136"/>
            <a:ext cx="342900" cy="6827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01050" y="2612136"/>
            <a:ext cx="342900" cy="68275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8401050" y="1929384"/>
            <a:ext cx="685800" cy="6827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9429750" y="2612136"/>
            <a:ext cx="342900" cy="68275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72650" y="2612136"/>
            <a:ext cx="342900" cy="682752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86850" y="1929384"/>
            <a:ext cx="685800" cy="68275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32954" y="389534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18754" y="389534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29550" y="3066288"/>
            <a:ext cx="457200" cy="457200"/>
          </a:xfrm>
          <a:prstGeom prst="ellipse">
            <a:avLst/>
          </a:prstGeom>
          <a:solidFill>
            <a:srgbClr val="22292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68" dirty="0"/>
          </a:p>
        </p:txBody>
      </p:sp>
      <p:sp>
        <p:nvSpPr>
          <p:cNvPr id="40" name="Shape 38"/>
          <p:cNvSpPr/>
          <p:nvPr/>
        </p:nvSpPr>
        <p:spPr>
          <a:xfrm>
            <a:off x="8661654" y="3212592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72450" y="2383536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68" dirty="0"/>
          </a:p>
        </p:txBody>
      </p:sp>
      <p:sp>
        <p:nvSpPr>
          <p:cNvPr id="42" name="Shape 40"/>
          <p:cNvSpPr/>
          <p:nvPr/>
        </p:nvSpPr>
        <p:spPr>
          <a:xfrm>
            <a:off x="9347454" y="3212592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033254" y="3212592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44050" y="2383536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68" dirty="0"/>
          </a:p>
        </p:txBody>
      </p:sp>
      <p:sp>
        <p:nvSpPr>
          <p:cNvPr id="45" name="Text 43"/>
          <p:cNvSpPr/>
          <p:nvPr/>
        </p:nvSpPr>
        <p:spPr>
          <a:xfrm>
            <a:off x="8858250" y="1700784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68" dirty="0"/>
          </a:p>
        </p:txBody>
      </p:sp>
      <p:sp>
        <p:nvSpPr>
          <p:cNvPr id="46" name="Text 44"/>
          <p:cNvSpPr txBox="1"/>
          <p:nvPr/>
        </p:nvSpPr>
        <p:spPr>
          <a:xfrm>
            <a:off x="6172200" y="422452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30–20–10–NIL has 3 blacks, path 30–40–NIL has 2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4846320"/>
            <a:ext cx="11109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0020" indent="-16002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All paths do have the same number of blacks, but the red parent–red child pair (20, 10) breaks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160020" indent="-16002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There are no red nodes, but the black counts differ: 30 → 20 → NIL (right of 20) has 2 blacks, 30 → 20 → 10 → NIL has 3 blacks. That breaks </a:t>
            </a:r>
            <a:r>
              <a:rPr lang="en-US" sz="14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</a:t>
            </a: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2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· Solution Q17: build 41, 38, 31, 12, 19, 8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graphicFrame>
        <p:nvGraphicFramePr>
          <p:cNvPr id="10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0408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2179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→ colour black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38 is black → nothing to 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uncle black, LL line → rotate right at G, swap colours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uncle red → recolour (P = 31, U = 41, G = 38);  then root → colour black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uncle black, LR triangle → rotate left at P;  then uncle black, LL line → rotate right at G, swap colours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uncle red → recolour (P = 12, U = 31, G = 19)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86384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tree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 flipV="1">
            <a:off x="8252460" y="3771900"/>
            <a:ext cx="297180" cy="61722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49640" y="3771900"/>
            <a:ext cx="297180" cy="61722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8549640" y="3154680"/>
            <a:ext cx="297180" cy="6172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846820" y="3154680"/>
            <a:ext cx="297180" cy="61722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8846820" y="2537460"/>
            <a:ext cx="594360" cy="6172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9738360" y="3154680"/>
            <a:ext cx="297180" cy="61722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35540" y="3154680"/>
            <a:ext cx="297180" cy="61722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441180" y="2537460"/>
            <a:ext cx="594360" cy="6172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9441180" y="1920240"/>
            <a:ext cx="742950" cy="6172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10629900" y="2537460"/>
            <a:ext cx="297180" cy="61722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927080" y="2537460"/>
            <a:ext cx="297180" cy="617220"/>
          </a:xfrm>
          <a:prstGeom prst="line">
            <a:avLst/>
          </a:prstGeom>
          <a:noFill/>
          <a:ln w="19050">
            <a:solidFill>
              <a:srgbClr val="9AA9A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184130" y="1920240"/>
            <a:ext cx="742950" cy="6172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70164" y="430682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64524" y="430682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21040" y="3543300"/>
            <a:ext cx="457200" cy="45720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68" dirty="0"/>
          </a:p>
        </p:txBody>
      </p:sp>
      <p:sp>
        <p:nvSpPr>
          <p:cNvPr id="22" name="Shape 19"/>
          <p:cNvSpPr/>
          <p:nvPr/>
        </p:nvSpPr>
        <p:spPr>
          <a:xfrm>
            <a:off x="9061704" y="368960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18220" y="2926080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68" dirty="0"/>
          </a:p>
        </p:txBody>
      </p:sp>
      <p:sp>
        <p:nvSpPr>
          <p:cNvPr id="24" name="Shape 21"/>
          <p:cNvSpPr/>
          <p:nvPr/>
        </p:nvSpPr>
        <p:spPr>
          <a:xfrm>
            <a:off x="9656064" y="368960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50424" y="368960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06940" y="2926080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368" dirty="0"/>
          </a:p>
        </p:txBody>
      </p:sp>
      <p:sp>
        <p:nvSpPr>
          <p:cNvPr id="27" name="Text 24"/>
          <p:cNvSpPr/>
          <p:nvPr/>
        </p:nvSpPr>
        <p:spPr>
          <a:xfrm>
            <a:off x="9212580" y="2308860"/>
            <a:ext cx="457200" cy="457200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68" dirty="0"/>
          </a:p>
        </p:txBody>
      </p:sp>
      <p:sp>
        <p:nvSpPr>
          <p:cNvPr id="28" name="Shape 25"/>
          <p:cNvSpPr/>
          <p:nvPr/>
        </p:nvSpPr>
        <p:spPr>
          <a:xfrm>
            <a:off x="10547604" y="307238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1141964" y="3072384"/>
            <a:ext cx="164592" cy="164592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698480" y="2308860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368" dirty="0"/>
          </a:p>
        </p:txBody>
      </p:sp>
      <p:sp>
        <p:nvSpPr>
          <p:cNvPr id="31" name="Text 28"/>
          <p:cNvSpPr/>
          <p:nvPr/>
        </p:nvSpPr>
        <p:spPr>
          <a:xfrm>
            <a:off x="9955530" y="1691640"/>
            <a:ext cx="457200" cy="457200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368" dirty="0"/>
          </a:p>
        </p:txBody>
      </p:sp>
      <p:sp>
        <p:nvSpPr>
          <p:cNvPr id="32" name="Shape 29"/>
          <p:cNvSpPr/>
          <p:nvPr/>
        </p:nvSpPr>
        <p:spPr>
          <a:xfrm>
            <a:off x="7863840" y="4709160"/>
            <a:ext cx="3794760" cy="1554480"/>
          </a:xfrm>
          <a:prstGeom prst="roundRect">
            <a:avLst>
              <a:gd name="adj" fmla="val 4706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46720" y="48188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✔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046720" y="507492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root 38 is black; no red node has a red child (19 and 8 have black neighbours); every path to a NIL leaf contains exactly 2 black nodes. Height 3.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2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· Solution Q18: delete 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44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delete black leaf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0" y="1444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(red sibling 4)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4447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(sibling 3, black nephews)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V="1">
            <a:off x="1723644" y="1993392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039112" y="2729484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354580" y="346557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70048" y="3465576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54580" y="2729484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39112" y="1993392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13332" y="2519172"/>
            <a:ext cx="420624" cy="420624"/>
          </a:xfrm>
          <a:prstGeom prst="ellipse">
            <a:avLst/>
          </a:prstGeom>
          <a:solidFill>
            <a:srgbClr val="22292F"/>
          </a:solidFill>
          <a:ln w="4127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9" dirty="0"/>
          </a:p>
        </p:txBody>
      </p:sp>
      <p:sp>
        <p:nvSpPr>
          <p:cNvPr id="18" name="Text 16"/>
          <p:cNvSpPr/>
          <p:nvPr/>
        </p:nvSpPr>
        <p:spPr>
          <a:xfrm>
            <a:off x="1828800" y="3255264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9" dirty="0"/>
          </a:p>
        </p:txBody>
      </p:sp>
      <p:sp>
        <p:nvSpPr>
          <p:cNvPr id="19" name="Text 17"/>
          <p:cNvSpPr/>
          <p:nvPr/>
        </p:nvSpPr>
        <p:spPr>
          <a:xfrm>
            <a:off x="2144268" y="3991356"/>
            <a:ext cx="420624" cy="420624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9" dirty="0"/>
          </a:p>
        </p:txBody>
      </p:sp>
      <p:sp>
        <p:nvSpPr>
          <p:cNvPr id="20" name="Text 18"/>
          <p:cNvSpPr/>
          <p:nvPr/>
        </p:nvSpPr>
        <p:spPr>
          <a:xfrm>
            <a:off x="2775204" y="3991356"/>
            <a:ext cx="420624" cy="420624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9" dirty="0"/>
          </a:p>
        </p:txBody>
      </p:sp>
      <p:sp>
        <p:nvSpPr>
          <p:cNvPr id="21" name="Text 19"/>
          <p:cNvSpPr/>
          <p:nvPr/>
        </p:nvSpPr>
        <p:spPr>
          <a:xfrm>
            <a:off x="2459736" y="3255264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9" dirty="0"/>
          </a:p>
        </p:txBody>
      </p:sp>
      <p:sp>
        <p:nvSpPr>
          <p:cNvPr id="22" name="Text 20"/>
          <p:cNvSpPr/>
          <p:nvPr/>
        </p:nvSpPr>
        <p:spPr>
          <a:xfrm>
            <a:off x="2144268" y="2519172"/>
            <a:ext cx="420624" cy="420624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9" dirty="0"/>
          </a:p>
        </p:txBody>
      </p:sp>
      <p:sp>
        <p:nvSpPr>
          <p:cNvPr id="23" name="Text 21"/>
          <p:cNvSpPr/>
          <p:nvPr/>
        </p:nvSpPr>
        <p:spPr>
          <a:xfrm>
            <a:off x="1828800" y="1783080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9" dirty="0"/>
          </a:p>
        </p:txBody>
      </p:sp>
      <p:sp>
        <p:nvSpPr>
          <p:cNvPr id="24" name="Shape 22"/>
          <p:cNvSpPr/>
          <p:nvPr/>
        </p:nvSpPr>
        <p:spPr>
          <a:xfrm flipV="1">
            <a:off x="5349240" y="2194560"/>
            <a:ext cx="731520" cy="7315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2194560"/>
            <a:ext cx="822960" cy="7315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892040" y="2926080"/>
            <a:ext cx="457200" cy="7315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49240" y="2926080"/>
            <a:ext cx="457200" cy="7315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6537960" y="2926080"/>
            <a:ext cx="365760" cy="7315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2926080"/>
            <a:ext cx="365760" cy="73152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0448" y="1984248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9" dirty="0"/>
          </a:p>
        </p:txBody>
      </p:sp>
      <p:sp>
        <p:nvSpPr>
          <p:cNvPr id="31" name="Text 29"/>
          <p:cNvSpPr/>
          <p:nvPr/>
        </p:nvSpPr>
        <p:spPr>
          <a:xfrm>
            <a:off x="5138928" y="2715768"/>
            <a:ext cx="420624" cy="420624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9" dirty="0"/>
          </a:p>
        </p:txBody>
      </p:sp>
      <p:sp>
        <p:nvSpPr>
          <p:cNvPr id="32" name="Text 30"/>
          <p:cNvSpPr/>
          <p:nvPr/>
        </p:nvSpPr>
        <p:spPr>
          <a:xfrm>
            <a:off x="6693408" y="2715768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9" dirty="0"/>
          </a:p>
        </p:txBody>
      </p:sp>
      <p:sp>
        <p:nvSpPr>
          <p:cNvPr id="33" name="Shape 31"/>
          <p:cNvSpPr/>
          <p:nvPr/>
        </p:nvSpPr>
        <p:spPr>
          <a:xfrm>
            <a:off x="4614428" y="3379988"/>
            <a:ext cx="555224" cy="555224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2292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16328" y="3581888"/>
            <a:ext cx="151425" cy="151425"/>
          </a:xfrm>
          <a:prstGeom prst="rect">
            <a:avLst/>
          </a:prstGeom>
          <a:solidFill>
            <a:srgbClr val="22292F"/>
          </a:solidFill>
          <a:ln w="6350">
            <a:solidFill>
              <a:srgbClr val="2229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96128" y="3447288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9" dirty="0"/>
          </a:p>
        </p:txBody>
      </p:sp>
      <p:sp>
        <p:nvSpPr>
          <p:cNvPr id="36" name="Text 34"/>
          <p:cNvSpPr/>
          <p:nvPr/>
        </p:nvSpPr>
        <p:spPr>
          <a:xfrm>
            <a:off x="6327648" y="3447288"/>
            <a:ext cx="420624" cy="420624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9" dirty="0"/>
          </a:p>
        </p:txBody>
      </p:sp>
      <p:sp>
        <p:nvSpPr>
          <p:cNvPr id="37" name="Text 35"/>
          <p:cNvSpPr/>
          <p:nvPr/>
        </p:nvSpPr>
        <p:spPr>
          <a:xfrm>
            <a:off x="7059168" y="3447288"/>
            <a:ext cx="420624" cy="420624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9" dirty="0"/>
          </a:p>
        </p:txBody>
      </p:sp>
      <p:sp>
        <p:nvSpPr>
          <p:cNvPr id="38" name="Shape 36"/>
          <p:cNvSpPr/>
          <p:nvPr/>
        </p:nvSpPr>
        <p:spPr>
          <a:xfrm>
            <a:off x="9063990" y="2729484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9063990" y="1993392"/>
            <a:ext cx="630936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10010394" y="2729484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25862" y="2729484"/>
            <a:ext cx="315468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94926" y="1993392"/>
            <a:ext cx="630936" cy="73609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69146" y="3255264"/>
            <a:ext cx="420624" cy="420624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9" dirty="0"/>
          </a:p>
        </p:txBody>
      </p:sp>
      <p:sp>
        <p:nvSpPr>
          <p:cNvPr id="44" name="Text 42"/>
          <p:cNvSpPr/>
          <p:nvPr/>
        </p:nvSpPr>
        <p:spPr>
          <a:xfrm>
            <a:off x="8853678" y="2519172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9" dirty="0"/>
          </a:p>
        </p:txBody>
      </p:sp>
      <p:sp>
        <p:nvSpPr>
          <p:cNvPr id="45" name="Text 43"/>
          <p:cNvSpPr/>
          <p:nvPr/>
        </p:nvSpPr>
        <p:spPr>
          <a:xfrm>
            <a:off x="9800082" y="3255264"/>
            <a:ext cx="420624" cy="420624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9" dirty="0"/>
          </a:p>
        </p:txBody>
      </p:sp>
      <p:sp>
        <p:nvSpPr>
          <p:cNvPr id="46" name="Text 44"/>
          <p:cNvSpPr/>
          <p:nvPr/>
        </p:nvSpPr>
        <p:spPr>
          <a:xfrm>
            <a:off x="10431018" y="3255264"/>
            <a:ext cx="420624" cy="420624"/>
          </a:xfrm>
          <a:prstGeom prst="ellipse">
            <a:avLst/>
          </a:prstGeom>
          <a:solidFill>
            <a:srgbClr val="D62839"/>
          </a:solidFill>
          <a:ln w="22225">
            <a:solidFill>
              <a:srgbClr val="D6283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9" dirty="0"/>
          </a:p>
        </p:txBody>
      </p:sp>
      <p:sp>
        <p:nvSpPr>
          <p:cNvPr id="47" name="Text 45"/>
          <p:cNvSpPr/>
          <p:nvPr/>
        </p:nvSpPr>
        <p:spPr>
          <a:xfrm>
            <a:off x="10115550" y="2519172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9" dirty="0"/>
          </a:p>
        </p:txBody>
      </p:sp>
      <p:sp>
        <p:nvSpPr>
          <p:cNvPr id="48" name="Text 46"/>
          <p:cNvSpPr/>
          <p:nvPr/>
        </p:nvSpPr>
        <p:spPr>
          <a:xfrm>
            <a:off x="9484614" y="1783080"/>
            <a:ext cx="420624" cy="420624"/>
          </a:xfrm>
          <a:prstGeom prst="ellipse">
            <a:avLst/>
          </a:prstGeom>
          <a:solidFill>
            <a:srgbClr val="22292F"/>
          </a:solidFill>
          <a:ln w="22225">
            <a:solidFill>
              <a:srgbClr val="2229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9" dirty="0"/>
          </a:p>
        </p:txBody>
      </p:sp>
      <p:sp>
        <p:nvSpPr>
          <p:cNvPr id="49" name="Shape 47"/>
          <p:cNvSpPr/>
          <p:nvPr/>
        </p:nvSpPr>
        <p:spPr>
          <a:xfrm>
            <a:off x="3931920" y="2834640"/>
            <a:ext cx="320040" cy="256032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2834640"/>
            <a:ext cx="320040" cy="256032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8640" y="4846320"/>
            <a:ext cx="11109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8590" indent="-14859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1 leaves a </a:t>
            </a: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double-black NIL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left of 2. Its sibling </a:t>
            </a: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is red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4 → black, 2 → red, rotate left at 2. Now the sibling of the double black is </a:t>
            </a: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(black).</a:t>
            </a:r>
            <a:endParaRPr lang="en-US" sz="1300" dirty="0"/>
          </a:p>
          <a:p>
            <a:pPr marL="148590" indent="-14859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has two NIL (black) children → </a:t>
            </a: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3 → red, and the extra black moves up to 2, which is </a:t>
            </a: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it simply turns black. Done.</a:t>
            </a:r>
            <a:endParaRPr lang="en-US" sz="1300" dirty="0"/>
          </a:p>
          <a:p>
            <a:pPr marL="148590" indent="-14859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4B(2B(–, 3R), 6B(5R, 7R)); every path from 4 has 2 black nodes ✔ (cases applied, from the simulator: 1, then 2).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2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· Solutions Q19–Q21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Q19: after 1 … 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699151" y="3320840"/>
            <a:ext cx="229253" cy="366805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928404" y="2954035"/>
            <a:ext cx="229253" cy="366805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157657" y="2587229"/>
            <a:ext cx="229253" cy="366805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386911" y="2220424"/>
            <a:ext cx="229253" cy="366805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616164" y="1853619"/>
            <a:ext cx="229253" cy="366805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46316" y="3534809"/>
            <a:ext cx="305671" cy="30567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15" dirty="0"/>
          </a:p>
        </p:txBody>
      </p:sp>
      <p:sp>
        <p:nvSpPr>
          <p:cNvPr id="12" name="Text 10"/>
          <p:cNvSpPr/>
          <p:nvPr/>
        </p:nvSpPr>
        <p:spPr>
          <a:xfrm>
            <a:off x="1775569" y="3168004"/>
            <a:ext cx="305671" cy="30567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15" dirty="0"/>
          </a:p>
        </p:txBody>
      </p:sp>
      <p:sp>
        <p:nvSpPr>
          <p:cNvPr id="13" name="Text 11"/>
          <p:cNvSpPr/>
          <p:nvPr/>
        </p:nvSpPr>
        <p:spPr>
          <a:xfrm>
            <a:off x="2004822" y="2801199"/>
            <a:ext cx="305671" cy="30567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15" dirty="0"/>
          </a:p>
        </p:txBody>
      </p:sp>
      <p:sp>
        <p:nvSpPr>
          <p:cNvPr id="14" name="Text 12"/>
          <p:cNvSpPr/>
          <p:nvPr/>
        </p:nvSpPr>
        <p:spPr>
          <a:xfrm>
            <a:off x="2234075" y="2434394"/>
            <a:ext cx="305671" cy="30567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15" dirty="0"/>
          </a:p>
        </p:txBody>
      </p:sp>
      <p:sp>
        <p:nvSpPr>
          <p:cNvPr id="15" name="Text 13"/>
          <p:cNvSpPr/>
          <p:nvPr/>
        </p:nvSpPr>
        <p:spPr>
          <a:xfrm>
            <a:off x="2463328" y="2067589"/>
            <a:ext cx="305671" cy="30567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15" dirty="0"/>
          </a:p>
        </p:txBody>
      </p:sp>
      <p:sp>
        <p:nvSpPr>
          <p:cNvPr id="16" name="Text 14"/>
          <p:cNvSpPr/>
          <p:nvPr/>
        </p:nvSpPr>
        <p:spPr>
          <a:xfrm>
            <a:off x="2692581" y="1700784"/>
            <a:ext cx="305671" cy="305671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15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858768"/>
            <a:ext cx="3447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insert = 1 zag → 5 rotations; left chain, height 5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069080" y="237744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9432" y="1371600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Q20: after search 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48756" y="3214116"/>
            <a:ext cx="274320" cy="4434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048756" y="2770632"/>
            <a:ext cx="274320" cy="4434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23076" y="2770632"/>
            <a:ext cx="274320" cy="4434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6323076" y="2327148"/>
            <a:ext cx="274320" cy="4434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3076" y="1883664"/>
            <a:ext cx="274320" cy="443484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0196" y="347472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4" dirty="0"/>
          </a:p>
        </p:txBody>
      </p:sp>
      <p:sp>
        <p:nvSpPr>
          <p:cNvPr id="26" name="Text 24"/>
          <p:cNvSpPr/>
          <p:nvPr/>
        </p:nvSpPr>
        <p:spPr>
          <a:xfrm>
            <a:off x="5865876" y="3031236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4" dirty="0"/>
          </a:p>
        </p:txBody>
      </p:sp>
      <p:sp>
        <p:nvSpPr>
          <p:cNvPr id="27" name="Text 25"/>
          <p:cNvSpPr/>
          <p:nvPr/>
        </p:nvSpPr>
        <p:spPr>
          <a:xfrm>
            <a:off x="6414516" y="3031236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4" dirty="0"/>
          </a:p>
        </p:txBody>
      </p:sp>
      <p:sp>
        <p:nvSpPr>
          <p:cNvPr id="28" name="Text 26"/>
          <p:cNvSpPr/>
          <p:nvPr/>
        </p:nvSpPr>
        <p:spPr>
          <a:xfrm>
            <a:off x="6140196" y="2587752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4" dirty="0"/>
          </a:p>
        </p:txBody>
      </p:sp>
      <p:sp>
        <p:nvSpPr>
          <p:cNvPr id="29" name="Text 27"/>
          <p:cNvSpPr/>
          <p:nvPr/>
        </p:nvSpPr>
        <p:spPr>
          <a:xfrm>
            <a:off x="6414516" y="214426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94" dirty="0"/>
          </a:p>
        </p:txBody>
      </p:sp>
      <p:sp>
        <p:nvSpPr>
          <p:cNvPr id="30" name="Text 28"/>
          <p:cNvSpPr/>
          <p:nvPr/>
        </p:nvSpPr>
        <p:spPr>
          <a:xfrm>
            <a:off x="6140196" y="1700784"/>
            <a:ext cx="365760" cy="365760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4" dirty="0"/>
          </a:p>
        </p:txBody>
      </p:sp>
      <p:sp>
        <p:nvSpPr>
          <p:cNvPr id="31" name="Text 29"/>
          <p:cNvSpPr txBox="1"/>
          <p:nvPr/>
        </p:nvSpPr>
        <p:spPr>
          <a:xfrm>
            <a:off x="4599432" y="3858768"/>
            <a:ext cx="3447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zig-zig, zig-zig, zig: 5 rotations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192024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 details: x = 1 → zig-zig → zig-zig → zig. The chain of height 5 becomes a tree of height 4, and every node on the old path moved closer to the root.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3891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Q21: splay(40)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 flipV="1">
            <a:off x="1799579" y="5490773"/>
            <a:ext cx="199777" cy="31964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1999355" y="5171131"/>
            <a:ext cx="199777" cy="31964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2199132" y="4851488"/>
            <a:ext cx="199777" cy="31964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98909" y="4851488"/>
            <a:ext cx="199777" cy="31964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66395" y="5677231"/>
            <a:ext cx="266369" cy="26636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866171" y="5357589"/>
            <a:ext cx="266369" cy="26636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065948" y="5037946"/>
            <a:ext cx="266369" cy="26636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465501" y="5037946"/>
            <a:ext cx="266369" cy="26636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265724" y="4718304"/>
            <a:ext cx="266369" cy="266369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596188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zag: 40 is the root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922776" y="512064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453128" y="43891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root: L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 flipV="1">
            <a:off x="5856732" y="5330952"/>
            <a:ext cx="246888" cy="4480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6103620" y="4882896"/>
            <a:ext cx="246888" cy="4480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92140" y="561441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85" dirty="0"/>
          </a:p>
        </p:txBody>
      </p:sp>
      <p:sp>
        <p:nvSpPr>
          <p:cNvPr id="49" name="Text 47"/>
          <p:cNvSpPr/>
          <p:nvPr/>
        </p:nvSpPr>
        <p:spPr>
          <a:xfrm>
            <a:off x="5939028" y="516636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85" dirty="0"/>
          </a:p>
        </p:txBody>
      </p:sp>
      <p:sp>
        <p:nvSpPr>
          <p:cNvPr id="50" name="Text 48"/>
          <p:cNvSpPr/>
          <p:nvPr/>
        </p:nvSpPr>
        <p:spPr>
          <a:xfrm>
            <a:off x="6185916" y="4718304"/>
            <a:ext cx="329184" cy="32918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85" dirty="0"/>
          </a:p>
        </p:txBody>
      </p:sp>
      <p:sp>
        <p:nvSpPr>
          <p:cNvPr id="51" name="Text 49"/>
          <p:cNvSpPr txBox="1"/>
          <p:nvPr/>
        </p:nvSpPr>
        <p:spPr>
          <a:xfrm>
            <a:off x="4453128" y="596188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30(15(10)); R = 50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827264" y="512064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357616" y="438912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R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 flipV="1">
            <a:off x="9637776" y="5330952"/>
            <a:ext cx="246888" cy="4480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9884664" y="4882896"/>
            <a:ext cx="246888" cy="4480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131552" y="4882896"/>
            <a:ext cx="246888" cy="448056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473184" y="561441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85" dirty="0"/>
          </a:p>
        </p:txBody>
      </p:sp>
      <p:sp>
        <p:nvSpPr>
          <p:cNvPr id="58" name="Text 56"/>
          <p:cNvSpPr/>
          <p:nvPr/>
        </p:nvSpPr>
        <p:spPr>
          <a:xfrm>
            <a:off x="9720072" y="516636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85" dirty="0"/>
          </a:p>
        </p:txBody>
      </p:sp>
      <p:sp>
        <p:nvSpPr>
          <p:cNvPr id="59" name="Text 57"/>
          <p:cNvSpPr/>
          <p:nvPr/>
        </p:nvSpPr>
        <p:spPr>
          <a:xfrm>
            <a:off x="10213848" y="516636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85" dirty="0"/>
          </a:p>
        </p:txBody>
      </p:sp>
      <p:sp>
        <p:nvSpPr>
          <p:cNvPr id="60" name="Text 58"/>
          <p:cNvSpPr/>
          <p:nvPr/>
        </p:nvSpPr>
        <p:spPr>
          <a:xfrm>
            <a:off x="9966960" y="4718304"/>
            <a:ext cx="329184" cy="32918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85" dirty="0"/>
          </a:p>
        </p:txBody>
      </p:sp>
      <p:sp>
        <p:nvSpPr>
          <p:cNvPr id="61" name="Text 59"/>
          <p:cNvSpPr txBox="1"/>
          <p:nvPr/>
        </p:nvSpPr>
        <p:spPr>
          <a:xfrm>
            <a:off x="8357616" y="5961888"/>
            <a:ext cx="3300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max(L) = 30 is already the root of L → 30(15(10), 50)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 · Questions Q22–Q24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4937760"/>
          </a:xfrm>
          <a:prstGeom prst="roundRect">
            <a:avLst>
              <a:gd name="adj" fmla="val 2000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490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§3.6.5 (order statistics)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01952"/>
            <a:ext cx="329184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of the BST from Q4 also stores the number of keys in its LEFT subtree (shown as L = …). Find the 8th smallest key by following one path from the root, showing your value of k at each step. State the general rule.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 flipV="1">
            <a:off x="1724558" y="4494276"/>
            <a:ext cx="217627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942186" y="5038344"/>
            <a:ext cx="217627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59813" y="5038344"/>
            <a:ext cx="217627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42186" y="4494276"/>
            <a:ext cx="217627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942186" y="3950208"/>
            <a:ext cx="435254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812694" y="5038344"/>
            <a:ext cx="217627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12694" y="4494276"/>
            <a:ext cx="217627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3950208"/>
            <a:ext cx="435254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69110" y="4882896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0" dirty="0"/>
          </a:p>
        </p:txBody>
      </p:sp>
      <p:sp>
        <p:nvSpPr>
          <p:cNvPr id="18" name="Text 16"/>
          <p:cNvSpPr txBox="1"/>
          <p:nvPr/>
        </p:nvSpPr>
        <p:spPr>
          <a:xfrm>
            <a:off x="1105692" y="47914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6738" y="542696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1323320" y="53355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21992" y="542696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30" dirty="0"/>
          </a:p>
        </p:txBody>
      </p:sp>
      <p:sp>
        <p:nvSpPr>
          <p:cNvPr id="22" name="Text 20"/>
          <p:cNvSpPr txBox="1"/>
          <p:nvPr/>
        </p:nvSpPr>
        <p:spPr>
          <a:xfrm>
            <a:off x="2539106" y="53355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04365" y="4882896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30" dirty="0"/>
          </a:p>
        </p:txBody>
      </p:sp>
      <p:sp>
        <p:nvSpPr>
          <p:cNvPr id="24" name="Text 22"/>
          <p:cNvSpPr txBox="1"/>
          <p:nvPr/>
        </p:nvSpPr>
        <p:spPr>
          <a:xfrm>
            <a:off x="2321479" y="47914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86738" y="4338828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0" dirty="0"/>
          </a:p>
        </p:txBody>
      </p:sp>
      <p:sp>
        <p:nvSpPr>
          <p:cNvPr id="26" name="Text 24"/>
          <p:cNvSpPr txBox="1"/>
          <p:nvPr/>
        </p:nvSpPr>
        <p:spPr>
          <a:xfrm>
            <a:off x="1323320" y="42473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57246" y="542696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30" dirty="0"/>
          </a:p>
        </p:txBody>
      </p:sp>
      <p:sp>
        <p:nvSpPr>
          <p:cNvPr id="28" name="Text 26"/>
          <p:cNvSpPr txBox="1"/>
          <p:nvPr/>
        </p:nvSpPr>
        <p:spPr>
          <a:xfrm>
            <a:off x="2193828" y="53355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74874" y="4882896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30" dirty="0"/>
          </a:p>
        </p:txBody>
      </p:sp>
      <p:sp>
        <p:nvSpPr>
          <p:cNvPr id="30" name="Text 28"/>
          <p:cNvSpPr txBox="1"/>
          <p:nvPr/>
        </p:nvSpPr>
        <p:spPr>
          <a:xfrm>
            <a:off x="3191988" y="47914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57246" y="4338828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30" dirty="0"/>
          </a:p>
        </p:txBody>
      </p:sp>
      <p:sp>
        <p:nvSpPr>
          <p:cNvPr id="32" name="Text 30"/>
          <p:cNvSpPr txBox="1"/>
          <p:nvPr/>
        </p:nvSpPr>
        <p:spPr>
          <a:xfrm>
            <a:off x="2974360" y="42473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21992" y="3794760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30" dirty="0"/>
          </a:p>
        </p:txBody>
      </p:sp>
      <p:sp>
        <p:nvSpPr>
          <p:cNvPr id="34" name="Text 32"/>
          <p:cNvSpPr txBox="1"/>
          <p:nvPr/>
        </p:nvSpPr>
        <p:spPr>
          <a:xfrm>
            <a:off x="2539106" y="3703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43400" y="1371600"/>
            <a:ext cx="3657600" cy="4937760"/>
          </a:xfrm>
          <a:prstGeom prst="roundRect">
            <a:avLst>
              <a:gd name="adj" fmla="val 2000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239512" y="1490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Lemma 3.3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26280" y="1901952"/>
            <a:ext cx="329184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that in every non-empty binary tree the number of leaves equals the number of nodes with two children plus one: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n₀ = n₂ + 1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count the edges in two different ways.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8138160" y="1371600"/>
            <a:ext cx="3520440" cy="4937760"/>
          </a:xfrm>
          <a:prstGeom prst="roundRect">
            <a:avLst>
              <a:gd name="adj" fmla="val 2078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7532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034272" y="14904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§10.4.1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321040" y="1901952"/>
            <a:ext cx="315468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N(h) be the FEWEST nodes an AVL tree of height h can have.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Find a recurrence for N(h) and compute N(0), …, N(5).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What is the largest possible height of an AVL tree with 100 nodes?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 · Questions Q25–Q27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3566160"/>
          </a:xfrm>
          <a:prstGeom prst="roundRect">
            <a:avLst>
              <a:gd name="adj" fmla="val 2051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490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§10.8 · lecture slide 224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01952"/>
            <a:ext cx="32918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that a red-black tree with n internal nodes has height at most </a:t>
            </a:r>
            <a:r>
              <a:rPr lang="en-US" sz="17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2·log₂(n + 1)</a:t>
            </a: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first show that a node with black height bh has at least 2^bh − 1 internal nodes in its subtree.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657600" cy="3566160"/>
          </a:xfrm>
          <a:prstGeom prst="roundRect">
            <a:avLst>
              <a:gd name="adj" fmla="val 2051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239512" y="1490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§3.4 · rebuilding trees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1901952"/>
            <a:ext cx="32918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tree has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Pre-order:  A B D G E C F H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In-order:   D G B E A C H F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the tree and write its post-order traversal.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34272" y="14904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§10.4.1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1901952"/>
            <a:ext cx="315468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1, 2, 3, …, 15 (in this order) into an empty AVL tree.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final tree, state its height, and count the rotations. What is special about the result compared with a plain BST?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E6F0FA"/>
          </a:solidFill>
          <a:ln w="9525">
            <a:solidFill>
              <a:srgbClr val="E6F0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230368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4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486400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Q25: black height and “no two reds in a row”. Q26: pre-order lists roots first; in-order tells you how many keys go left. Q27: check which inserts create a straight line (RR) and where the lowest unbalanced node 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 · Questions Q28–Q30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4937760"/>
          </a:xfrm>
          <a:prstGeom prst="roundRect">
            <a:avLst>
              <a:gd name="adj" fmla="val 2000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Q28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1490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§12.3 · amortized analysis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01952"/>
            <a:ext cx="329184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1, 2, …, 7 into a splay tree (this builds a left chain), then search for 1.</a:t>
            </a:r>
            <a:endParaRPr lang="en-US" sz="1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weight 1 per key compute the potential Φ = Σ log₂ size(x) before and after, the actual cost (rotations) and the amortized cost. Check the access-lemma bound 3(rank(root) − rank(x)) + 1.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657600" cy="4937760"/>
          </a:xfrm>
          <a:prstGeom prst="roundRect">
            <a:avLst>
              <a:gd name="adj" fmla="val 2000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239512" y="14904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slides 224–225 · design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1901952"/>
            <a:ext cx="329184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tree would you choose, AVL, red-black or splay? Justify each answer.</a:t>
            </a:r>
            <a:endParaRPr lang="en-US" sz="1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built once, then queried millions of times</a:t>
            </a:r>
            <a:endParaRPr lang="en-US" sz="1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a library’s ordered map with frequent inserts and deletes</a:t>
            </a:r>
            <a:endParaRPr lang="en-US" sz="1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a cache where 10% of the keys get 90% of the accesses</a:t>
            </a:r>
            <a:endParaRPr lang="en-US" sz="1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a real-time controller with hard latency limits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20440" cy="4937760"/>
          </a:xfrm>
          <a:prstGeom prst="roundRect">
            <a:avLst>
              <a:gd name="adj" fmla="val 2078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143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34272" y="149047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BST search exercise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1901952"/>
            <a:ext cx="315468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keys 1 … 1000 are stored in a BST and we search for 363. Which of these CANNOT be the sequence of keys examined?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2, 252, 401, 398, 330, 344, 397, 363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924, 220, 911, 244, 898, 258, 362, 363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925, 202, 911, 240, 912, 245, 363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2, 399, 387, 219, 266, 382, 381, 278, 363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935, 278, 347, 621, 299, 392, 358, 363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3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 · Solutions Q22–Q23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583680" cy="4937760"/>
          </a:xfrm>
          <a:prstGeom prst="roundRect">
            <a:avLst>
              <a:gd name="adj" fmla="val 1481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A22</a:t>
            </a:r>
            <a:endParaRPr lang="en-US" sz="1200" dirty="0"/>
          </a:p>
        </p:txBody>
      </p:sp>
      <p:graphicFrame>
        <p:nvGraphicFramePr>
          <p:cNvPr id="1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62179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"/>
                <a:gridCol w="64008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&gt; L + 1 → go right, k ← 8 − 5 − 1 =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&gt; L + 1 → go right, k ← 2 − 0 − 1 =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≤ L → go left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L + 1 → ANSWER: 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31520" y="429768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at a node with m keys in its left subtree, the node itself is the (m + 1)-th smallest of its subtree. If k ≤ m go left with the same k; if k = m + 1 stop; else go right with k − m − 1. Time O(h). Check: in-order is 1 3 4 6 7 8 10 13 14, so the 8th key is 13 ✔.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0" y="1371600"/>
            <a:ext cx="4343400" cy="4937760"/>
          </a:xfrm>
          <a:prstGeom prst="roundRect">
            <a:avLst>
              <a:gd name="adj" fmla="val 1684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5236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A23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1901952"/>
            <a:ext cx="397764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n₀ = n₂ + 1.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n = n₀ + n₁ + n₂ be the number of nodes by out-degree.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node except the root is the child of exactly one node, so the number of edges is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− 1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edge leaves a parent: a one-child node contributes 1 edge, a two-child node 2, a leaf 0. So edges =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n₁ + 2n₂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n₀ + n₁ + n₂ − 1 = n₁ + 2n₂, hence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n₀ = n₂ + 1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∎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3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 · Solutions Q24–Q25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745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A minimal tree of height h has a minimal subtree of height h − 1 and one of height h − 2 (the shortest the rule allows), plus the root: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N(h) = N(h − 1) + N(h − 2) + 1,   N(0) = 1, N(1) = 2</a:t>
            </a:r>
            <a:endParaRPr lang="en-US" sz="1500" dirty="0"/>
          </a:p>
        </p:txBody>
      </p:sp>
      <p:graphicFrame>
        <p:nvGraphicFramePr>
          <p:cNvPr id="1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46120"/>
          <a:ext cx="50292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  <a:gridCol w="429768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N(h)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31520" y="42976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N(8) = 88 ≤ 100 &lt; N(9) = 143. An AVL tree of height 9 needs at least 143 nodes, so with 100 nodes the height is </a:t>
            </a:r>
            <a:r>
              <a:rPr lang="en-US" sz="13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8</a:t>
            </a:r>
            <a:r>
              <a:rPr lang="en-US" sz="13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440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N(h) = F(h + 3) − 1 with Fibonacci numbers F, so N(h) grows like 1.618^h and the height is at most about 1.44·log₂ 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1371600"/>
            <a:ext cx="5532120" cy="4937760"/>
          </a:xfrm>
          <a:prstGeom prst="roundRect">
            <a:avLst>
              <a:gd name="adj" fmla="val 1481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364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A25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1901952"/>
            <a:ext cx="516636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height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bh(x) = number of black nodes on a path from x down to a NIL leaf (x excluded).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1: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subtree at x has ≥ 2^bh(x) − 1 internal nodes. Induction: a NIL has 0 = 2⁰ − 1. Each child of x has black height bh or bh − 1, so the subtree has ≥ 2(2^(bh−1) − 1) + 1 = 2^bh − 1 nodes.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2: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two reds in a row, so at least half of the nodes on any root-to-leaf path are black: </a:t>
            </a: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bh(root) ≥ h / 2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Combine: n ≥ 2^(h/2) − 1, so </a:t>
            </a: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≤ 2·log₂(n + 1)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∎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3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 · Solutions Q26–Q27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91056" y="3291840"/>
            <a:ext cx="256032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591056" y="2651760"/>
            <a:ext cx="256032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47088" y="2651760"/>
            <a:ext cx="256032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847088" y="2011680"/>
            <a:ext cx="256032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359152" y="3291840"/>
            <a:ext cx="256032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59152" y="2651760"/>
            <a:ext cx="256032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2011680"/>
            <a:ext cx="256032" cy="640080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374904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94" dirty="0"/>
          </a:p>
        </p:txBody>
      </p:sp>
      <p:sp>
        <p:nvSpPr>
          <p:cNvPr id="15" name="Text 13"/>
          <p:cNvSpPr/>
          <p:nvPr/>
        </p:nvSpPr>
        <p:spPr>
          <a:xfrm>
            <a:off x="1408176" y="310896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94" dirty="0"/>
          </a:p>
        </p:txBody>
      </p:sp>
      <p:sp>
        <p:nvSpPr>
          <p:cNvPr id="16" name="Text 14"/>
          <p:cNvSpPr/>
          <p:nvPr/>
        </p:nvSpPr>
        <p:spPr>
          <a:xfrm>
            <a:off x="1920240" y="310896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94" dirty="0"/>
          </a:p>
        </p:txBody>
      </p:sp>
      <p:sp>
        <p:nvSpPr>
          <p:cNvPr id="17" name="Text 15"/>
          <p:cNvSpPr/>
          <p:nvPr/>
        </p:nvSpPr>
        <p:spPr>
          <a:xfrm>
            <a:off x="1664208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94" dirty="0"/>
          </a:p>
        </p:txBody>
      </p:sp>
      <p:sp>
        <p:nvSpPr>
          <p:cNvPr id="18" name="Text 16"/>
          <p:cNvSpPr/>
          <p:nvPr/>
        </p:nvSpPr>
        <p:spPr>
          <a:xfrm>
            <a:off x="2176272" y="374904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94" dirty="0"/>
          </a:p>
        </p:txBody>
      </p:sp>
      <p:sp>
        <p:nvSpPr>
          <p:cNvPr id="19" name="Text 17"/>
          <p:cNvSpPr/>
          <p:nvPr/>
        </p:nvSpPr>
        <p:spPr>
          <a:xfrm>
            <a:off x="2432304" y="310896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94" dirty="0"/>
          </a:p>
        </p:txBody>
      </p:sp>
      <p:sp>
        <p:nvSpPr>
          <p:cNvPr id="20" name="Text 18"/>
          <p:cNvSpPr/>
          <p:nvPr/>
        </p:nvSpPr>
        <p:spPr>
          <a:xfrm>
            <a:off x="2176272" y="24688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94" dirty="0"/>
          </a:p>
        </p:txBody>
      </p:sp>
      <p:sp>
        <p:nvSpPr>
          <p:cNvPr id="21" name="Text 19"/>
          <p:cNvSpPr/>
          <p:nvPr/>
        </p:nvSpPr>
        <p:spPr>
          <a:xfrm>
            <a:off x="1920240" y="182880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4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94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187452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gives roots in order; in-order splits left / right: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root A; in-order left part D G B E, right part C H F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left part: root B; D G left, E right; D then G (G right of D)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right part: root C; nothing left; F H right → root F, H on its left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892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Post-order: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212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43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 D  E  B  H  F  C  A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760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pre-order of the result is A B D G E C F H and in-order is D G B E A C H F ✔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72200" y="137160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flipV="1">
            <a:off x="7500823" y="3072384"/>
            <a:ext cx="202082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02906" y="3072384"/>
            <a:ext cx="202082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7702906" y="2528316"/>
            <a:ext cx="404165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8309153" y="3072384"/>
            <a:ext cx="202082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11235" y="3072384"/>
            <a:ext cx="202082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07070" y="2528316"/>
            <a:ext cx="404165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8107070" y="1984248"/>
            <a:ext cx="808330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9117482" y="3072384"/>
            <a:ext cx="202082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19565" y="3072384"/>
            <a:ext cx="202082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9319565" y="2528316"/>
            <a:ext cx="404165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9925812" y="3072384"/>
            <a:ext cx="202082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27894" y="3072384"/>
            <a:ext cx="202082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23730" y="2528316"/>
            <a:ext cx="404165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15400" y="1984248"/>
            <a:ext cx="808330" cy="544068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45375" y="34610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7749540" y="34610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0" dirty="0"/>
          </a:p>
        </p:txBody>
      </p:sp>
      <p:sp>
        <p:nvSpPr>
          <p:cNvPr id="44" name="Text 42"/>
          <p:cNvSpPr/>
          <p:nvPr/>
        </p:nvSpPr>
        <p:spPr>
          <a:xfrm>
            <a:off x="7547458" y="2916936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8153705" y="34610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30" dirty="0"/>
          </a:p>
        </p:txBody>
      </p:sp>
      <p:sp>
        <p:nvSpPr>
          <p:cNvPr id="46" name="Text 44"/>
          <p:cNvSpPr/>
          <p:nvPr/>
        </p:nvSpPr>
        <p:spPr>
          <a:xfrm>
            <a:off x="8557870" y="34610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30" dirty="0"/>
          </a:p>
        </p:txBody>
      </p:sp>
      <p:sp>
        <p:nvSpPr>
          <p:cNvPr id="47" name="Text 45"/>
          <p:cNvSpPr/>
          <p:nvPr/>
        </p:nvSpPr>
        <p:spPr>
          <a:xfrm>
            <a:off x="8355787" y="2916936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30" dirty="0"/>
          </a:p>
        </p:txBody>
      </p:sp>
      <p:sp>
        <p:nvSpPr>
          <p:cNvPr id="48" name="Text 46"/>
          <p:cNvSpPr/>
          <p:nvPr/>
        </p:nvSpPr>
        <p:spPr>
          <a:xfrm>
            <a:off x="7951622" y="2372868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30" dirty="0"/>
          </a:p>
        </p:txBody>
      </p:sp>
      <p:sp>
        <p:nvSpPr>
          <p:cNvPr id="49" name="Text 47"/>
          <p:cNvSpPr/>
          <p:nvPr/>
        </p:nvSpPr>
        <p:spPr>
          <a:xfrm>
            <a:off x="8962034" y="34610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30" dirty="0"/>
          </a:p>
        </p:txBody>
      </p:sp>
      <p:sp>
        <p:nvSpPr>
          <p:cNvPr id="50" name="Text 48"/>
          <p:cNvSpPr/>
          <p:nvPr/>
        </p:nvSpPr>
        <p:spPr>
          <a:xfrm>
            <a:off x="9366199" y="34610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30" dirty="0"/>
          </a:p>
        </p:txBody>
      </p:sp>
      <p:sp>
        <p:nvSpPr>
          <p:cNvPr id="51" name="Text 49"/>
          <p:cNvSpPr/>
          <p:nvPr/>
        </p:nvSpPr>
        <p:spPr>
          <a:xfrm>
            <a:off x="9164117" y="2916936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30" dirty="0"/>
          </a:p>
        </p:txBody>
      </p:sp>
      <p:sp>
        <p:nvSpPr>
          <p:cNvPr id="52" name="Text 50"/>
          <p:cNvSpPr/>
          <p:nvPr/>
        </p:nvSpPr>
        <p:spPr>
          <a:xfrm>
            <a:off x="9770364" y="34610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30" dirty="0"/>
          </a:p>
        </p:txBody>
      </p:sp>
      <p:sp>
        <p:nvSpPr>
          <p:cNvPr id="53" name="Text 51"/>
          <p:cNvSpPr/>
          <p:nvPr/>
        </p:nvSpPr>
        <p:spPr>
          <a:xfrm>
            <a:off x="10174529" y="3461004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30" dirty="0"/>
          </a:p>
        </p:txBody>
      </p:sp>
      <p:sp>
        <p:nvSpPr>
          <p:cNvPr id="54" name="Text 52"/>
          <p:cNvSpPr/>
          <p:nvPr/>
        </p:nvSpPr>
        <p:spPr>
          <a:xfrm>
            <a:off x="9972446" y="2916936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30" dirty="0"/>
          </a:p>
        </p:txBody>
      </p:sp>
      <p:sp>
        <p:nvSpPr>
          <p:cNvPr id="55" name="Text 53"/>
          <p:cNvSpPr/>
          <p:nvPr/>
        </p:nvSpPr>
        <p:spPr>
          <a:xfrm>
            <a:off x="9568282" y="2372868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30" dirty="0"/>
          </a:p>
        </p:txBody>
      </p:sp>
      <p:sp>
        <p:nvSpPr>
          <p:cNvPr id="56" name="Text 54"/>
          <p:cNvSpPr/>
          <p:nvPr/>
        </p:nvSpPr>
        <p:spPr>
          <a:xfrm>
            <a:off x="8759952" y="1828800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30" dirty="0"/>
          </a:p>
        </p:txBody>
      </p:sp>
      <p:sp>
        <p:nvSpPr>
          <p:cNvPr id="57" name="Text 55"/>
          <p:cNvSpPr txBox="1"/>
          <p:nvPr/>
        </p:nvSpPr>
        <p:spPr>
          <a:xfrm>
            <a:off x="6355080" y="46634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2875" indent="-142875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</a:t>
            </a:r>
            <a:r>
              <a:rPr lang="en-US" sz="12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2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r>
              <a:rPr lang="en-US" sz="12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</a:t>
            </a:r>
            <a:r>
              <a:rPr lang="en-US" sz="12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binary tree with 15 nodes.</a:t>
            </a:r>
            <a:endParaRPr lang="en-US" sz="1250" dirty="0"/>
          </a:p>
          <a:p>
            <a:pPr marL="142875" indent="-142875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rotations</a:t>
            </a:r>
            <a:r>
              <a:rPr lang="en-US" sz="12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all single left rotations (RR case): inserts of 3, 5, 6, 7, 9, 10, 11, 12, 13, 14, 15.</a:t>
            </a:r>
            <a:endParaRPr lang="en-US" sz="1250" dirty="0"/>
          </a:p>
          <a:p>
            <a:pPr marL="142875" indent="-142875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BST would be a chain of height 14. Sorted input is the worst case for a plain BST, yet the AVL tree turns it into a perfectly balanced tree.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3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 · Solution Q28: amortized cost, with numbers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Φ = 12.299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1303020" y="4288536"/>
            <a:ext cx="246888" cy="48463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549908" y="3803904"/>
            <a:ext cx="246888" cy="48463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796796" y="3319272"/>
            <a:ext cx="246888" cy="48463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043684" y="2834640"/>
            <a:ext cx="246888" cy="48463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290572" y="2350008"/>
            <a:ext cx="246888" cy="48463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537460" y="1865376"/>
            <a:ext cx="246888" cy="48463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8428" y="4608576"/>
            <a:ext cx="329184" cy="32918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85" dirty="0"/>
          </a:p>
        </p:txBody>
      </p:sp>
      <p:sp>
        <p:nvSpPr>
          <p:cNvPr id="13" name="Text 11"/>
          <p:cNvSpPr txBox="1"/>
          <p:nvPr/>
        </p:nvSpPr>
        <p:spPr>
          <a:xfrm>
            <a:off x="674644" y="45171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85316" y="412394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85" dirty="0"/>
          </a:p>
        </p:txBody>
      </p:sp>
      <p:sp>
        <p:nvSpPr>
          <p:cNvPr id="15" name="Text 13"/>
          <p:cNvSpPr txBox="1"/>
          <p:nvPr/>
        </p:nvSpPr>
        <p:spPr>
          <a:xfrm>
            <a:off x="921532" y="403250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32204" y="363931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85" dirty="0"/>
          </a:p>
        </p:txBody>
      </p:sp>
      <p:sp>
        <p:nvSpPr>
          <p:cNvPr id="17" name="Text 15"/>
          <p:cNvSpPr txBox="1"/>
          <p:nvPr/>
        </p:nvSpPr>
        <p:spPr>
          <a:xfrm>
            <a:off x="1168420" y="35478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79092" y="315468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5" dirty="0"/>
          </a:p>
        </p:txBody>
      </p:sp>
      <p:sp>
        <p:nvSpPr>
          <p:cNvPr id="19" name="Text 17"/>
          <p:cNvSpPr txBox="1"/>
          <p:nvPr/>
        </p:nvSpPr>
        <p:spPr>
          <a:xfrm>
            <a:off x="1415308" y="3063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25980" y="267004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85" dirty="0"/>
          </a:p>
        </p:txBody>
      </p:sp>
      <p:sp>
        <p:nvSpPr>
          <p:cNvPr id="21" name="Text 19"/>
          <p:cNvSpPr txBox="1"/>
          <p:nvPr/>
        </p:nvSpPr>
        <p:spPr>
          <a:xfrm>
            <a:off x="1662196" y="2578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72868" y="2185416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85" dirty="0"/>
          </a:p>
        </p:txBody>
      </p:sp>
      <p:sp>
        <p:nvSpPr>
          <p:cNvPr id="23" name="Text 21"/>
          <p:cNvSpPr txBox="1"/>
          <p:nvPr/>
        </p:nvSpPr>
        <p:spPr>
          <a:xfrm>
            <a:off x="1909084" y="20939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19756" y="170078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85" dirty="0"/>
          </a:p>
        </p:txBody>
      </p:sp>
      <p:sp>
        <p:nvSpPr>
          <p:cNvPr id="25" name="Text 23"/>
          <p:cNvSpPr txBox="1"/>
          <p:nvPr/>
        </p:nvSpPr>
        <p:spPr>
          <a:xfrm>
            <a:off x="2955524" y="16093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s=7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95604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chain, height 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11880" y="3017520"/>
            <a:ext cx="457200" cy="310896"/>
          </a:xfrm>
          <a:prstGeom prst="rightArrow">
            <a:avLst/>
          </a:prstGeom>
          <a:solidFill>
            <a:srgbClr val="2D6A4F"/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42232" y="137160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3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Φ = 8.392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266944" y="3895344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266944" y="3319272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13832" y="3319272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5513832" y="2743200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60720" y="2743200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13832" y="2167128"/>
            <a:ext cx="246888" cy="576072"/>
          </a:xfrm>
          <a:prstGeom prst="line">
            <a:avLst/>
          </a:prstGeom>
          <a:noFill/>
          <a:ln w="19050">
            <a:solidFill>
              <a:srgbClr val="5B6B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4306824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85" dirty="0"/>
          </a:p>
        </p:txBody>
      </p:sp>
      <p:sp>
        <p:nvSpPr>
          <p:cNvPr id="36" name="Text 34"/>
          <p:cNvSpPr txBox="1"/>
          <p:nvPr/>
        </p:nvSpPr>
        <p:spPr>
          <a:xfrm>
            <a:off x="5685008" y="4215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02352" y="373075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85" dirty="0"/>
          </a:p>
        </p:txBody>
      </p:sp>
      <p:sp>
        <p:nvSpPr>
          <p:cNvPr id="38" name="Text 36"/>
          <p:cNvSpPr txBox="1"/>
          <p:nvPr/>
        </p:nvSpPr>
        <p:spPr>
          <a:xfrm>
            <a:off x="4638568" y="3639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96128" y="3730752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85" dirty="0"/>
          </a:p>
        </p:txBody>
      </p:sp>
      <p:sp>
        <p:nvSpPr>
          <p:cNvPr id="40" name="Text 38"/>
          <p:cNvSpPr txBox="1"/>
          <p:nvPr/>
        </p:nvSpPr>
        <p:spPr>
          <a:xfrm>
            <a:off x="5931896" y="3639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315468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85" dirty="0"/>
          </a:p>
        </p:txBody>
      </p:sp>
      <p:sp>
        <p:nvSpPr>
          <p:cNvPr id="42" name="Text 40"/>
          <p:cNvSpPr txBox="1"/>
          <p:nvPr/>
        </p:nvSpPr>
        <p:spPr>
          <a:xfrm>
            <a:off x="4885456" y="3063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43016" y="315468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85" dirty="0"/>
          </a:p>
        </p:txBody>
      </p:sp>
      <p:sp>
        <p:nvSpPr>
          <p:cNvPr id="44" name="Text 42"/>
          <p:cNvSpPr txBox="1"/>
          <p:nvPr/>
        </p:nvSpPr>
        <p:spPr>
          <a:xfrm>
            <a:off x="6178784" y="3063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96128" y="2578608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D6A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85" dirty="0"/>
          </a:p>
        </p:txBody>
      </p:sp>
      <p:sp>
        <p:nvSpPr>
          <p:cNvPr id="46" name="Text 44"/>
          <p:cNvSpPr txBox="1"/>
          <p:nvPr/>
        </p:nvSpPr>
        <p:spPr>
          <a:xfrm>
            <a:off x="5931896" y="24871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49240" y="2002536"/>
            <a:ext cx="329184" cy="329184"/>
          </a:xfrm>
          <a:prstGeom prst="ellipse">
            <a:avLst/>
          </a:prstGeom>
          <a:solidFill>
            <a:srgbClr val="FFD166"/>
          </a:solidFill>
          <a:ln w="28575">
            <a:solidFill>
              <a:srgbClr val="F2A9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85" dirty="0"/>
          </a:p>
        </p:txBody>
      </p:sp>
      <p:sp>
        <p:nvSpPr>
          <p:cNvPr id="48" name="Text 46"/>
          <p:cNvSpPr txBox="1"/>
          <p:nvPr/>
        </p:nvSpPr>
        <p:spPr>
          <a:xfrm>
            <a:off x="5685008" y="19110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s=7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4142232" y="495604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4 after zig-zig, zig-zig, zig-zig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406640" y="1417320"/>
            <a:ext cx="1325880" cy="1554480"/>
          </a:xfrm>
          <a:prstGeom prst="roundRect">
            <a:avLst>
              <a:gd name="adj" fmla="val 551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406640" y="15544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52" name="Text 50"/>
          <p:cNvSpPr txBox="1"/>
          <p:nvPr/>
        </p:nvSpPr>
        <p:spPr>
          <a:xfrm>
            <a:off x="7434072" y="2194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cost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(rotations)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23960" y="1417320"/>
            <a:ext cx="1325880" cy="1554480"/>
          </a:xfrm>
          <a:prstGeom prst="roundRect">
            <a:avLst>
              <a:gd name="adj" fmla="val 5517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823960" y="15544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-3.907</a:t>
            </a:r>
            <a:endParaRPr lang="en-US" sz="2400" dirty="0"/>
          </a:p>
        </p:txBody>
      </p:sp>
      <p:sp>
        <p:nvSpPr>
          <p:cNvPr id="55" name="Text 53"/>
          <p:cNvSpPr txBox="1"/>
          <p:nvPr/>
        </p:nvSpPr>
        <p:spPr>
          <a:xfrm>
            <a:off x="8851392" y="2194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Φ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0241280" y="1417320"/>
            <a:ext cx="1325880" cy="1554480"/>
          </a:xfrm>
          <a:prstGeom prst="roundRect">
            <a:avLst>
              <a:gd name="adj" fmla="val 5517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241280" y="15544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2.093</a:t>
            </a:r>
            <a:endParaRPr lang="en-US" sz="2400" dirty="0"/>
          </a:p>
        </p:txBody>
      </p:sp>
      <p:sp>
        <p:nvSpPr>
          <p:cNvPr id="58" name="Text 56"/>
          <p:cNvSpPr txBox="1"/>
          <p:nvPr/>
        </p:nvSpPr>
        <p:spPr>
          <a:xfrm>
            <a:off x="10268712" y="2194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amortized cost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7406640" y="3154680"/>
            <a:ext cx="4251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48590" indent="-14859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rank(x) = log₂ size(x); Φ is the sum over all nodes.</a:t>
            </a:r>
            <a:endParaRPr lang="en-US" sz="1300" dirty="0"/>
          </a:p>
          <a:p>
            <a:pPr marL="148590" indent="-14859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amortized = actual + ΔΦ = 6 + (-3.907) = </a:t>
            </a: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2.093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48590" indent="-14859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lemma: ≤ 3·(log₂ 7 − 0) + 1 = </a:t>
            </a: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9.42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✔ (2.09 is far below it).</a:t>
            </a:r>
            <a:endParaRPr lang="en-US" sz="1300" dirty="0"/>
          </a:p>
          <a:p>
            <a:pPr marL="148590" indent="-14859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expensive access (6 rotations) is paid for by the drop in potential.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48640" y="5532120"/>
            <a:ext cx="6583680" cy="822960"/>
          </a:xfrm>
          <a:prstGeom prst="roundRect">
            <a:avLst>
              <a:gd name="adj" fmla="val 8889"/>
            </a:avLst>
          </a:prstGeom>
          <a:solidFill>
            <a:srgbClr val="E6F0FA"/>
          </a:solidFill>
          <a:ln w="9525">
            <a:solidFill>
              <a:srgbClr val="E6F0F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31520" y="564184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4E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731520" y="5897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move-to-root (single rotations only) would turn the chain into a reversed chain of height 6 with no drop in potential; that is why splaying uses zig-zig, not two zigs.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PRACTICE · LEVEL 3 SOLUTIONS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 · Solutions Q29–Q30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A29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01952"/>
            <a:ext cx="5120640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AVL tree.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Lookups dominate, so the shortest possible tree (h ≤ 1.44 log₂ n) pays off; the extra rotation work at build time is paid once.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Red-black tree.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Mixed updates: at most 2 rotations per insert and 3 per delete, worst case O(log n) always. This is why C++ map/set and Java TreeMap use it.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Splay tree.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Skewed access pattern: hot keys stay near the root (working-set property); no balance data to store.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AVL or red-black, NOT splay.</a:t>
            </a:r>
            <a:r>
              <a:rPr lang="en-US" sz="13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Splay operations are only O(log n) amortized, a single one can cost O(n), which breaks hard latency limits.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490472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A30</a:t>
            </a:r>
            <a:endParaRPr lang="en-US" sz="1200" dirty="0"/>
          </a:p>
        </p:txBody>
      </p:sp>
      <p:graphicFrame>
        <p:nvGraphicFramePr>
          <p:cNvPr id="1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74520"/>
          <a:ext cx="51206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188720"/>
                <a:gridCol w="3383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7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key stays inside the shrinking interval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key stays inside the shrinking interval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912 must lie strictly between 240 and 911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key stays inside the shrinking interval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A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 must lie strictly between 347 and 621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6355080" y="50292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keep an interval (lo, hi) of keys still allowed. Comparing with 363: if 363 &lt; key, hi becomes key; otherwise lo becomes key. Any key outside the interval cannot appear later on the path.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43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Self-check: can you do all of these?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922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· Advanced Algorithms &amp; Data Structures (CS 5102)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45336"/>
            <a:ext cx="493776" cy="493776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2646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every term in a tree and compute its height, depth and degree.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545336"/>
            <a:ext cx="493776" cy="493776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42646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nodes with 2^(h+1) − 1, n₀ = n₂ + 1 and Catalan numbers.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05456"/>
            <a:ext cx="493776" cy="493776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38658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four traversals and rebuild a tree from two of them.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233172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505456"/>
            <a:ext cx="493776" cy="493776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238658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BST, search it, and delete a node in all three cases.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65576"/>
            <a:ext cx="493776" cy="493776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334670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balance factors and fix LL, RR, LR and RL with rotations.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329184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465576"/>
            <a:ext cx="493776" cy="493776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34670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AVL tree from a key sequence, including a deletion.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425696"/>
            <a:ext cx="493776" cy="493776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30682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a red-black tree: uncle red → recolour, uncle black → rotate.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425196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425696"/>
            <a:ext cx="493776" cy="493776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430682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a red-black tree using the double-black cases.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21208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E8F3EC"/>
          </a:solidFill>
          <a:ln w="9525">
            <a:solidFill>
              <a:srgbClr val="E8F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385816"/>
            <a:ext cx="493776" cy="493776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526694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Splay: zig, zig-zig, zig-zag; insert, search, delete.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72200" y="5212080"/>
            <a:ext cx="5486400" cy="841248"/>
          </a:xfrm>
          <a:prstGeom prst="roundRect">
            <a:avLst>
              <a:gd name="adj" fmla="val 8696"/>
            </a:avLst>
          </a:prstGeom>
          <a:solidFill>
            <a:srgbClr val="F3F8F5"/>
          </a:solidFill>
          <a:ln w="9525">
            <a:solidFill>
              <a:srgbClr val="C6DC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5385816"/>
            <a:ext cx="493776" cy="493776"/>
          </a:xfrm>
          <a:prstGeom prst="ellipse">
            <a:avLst/>
          </a:prstGeom>
          <a:solidFill>
            <a:srgbClr val="2D6A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526694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each tree is O(log n) and when to prefer which.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118</Slides>
  <Notes>118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118</vt:i4>
      </vt:variant>
    </vt:vector>
  </HeadingPairs>
  <TitlesOfParts>
    <vt:vector size="1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Trees: from basics to Splay Trees</dc:title>
  <dc:subject>PptxGenJS Presentation</dc:subject>
  <dc:creator>Study deck</dc:creator>
  <cp:lastModifiedBy>Study deck</cp:lastModifiedBy>
  <cp:revision>1</cp:revision>
  <dcterms:created xsi:type="dcterms:W3CDTF">2026-09-24T17:29:56Z</dcterms:created>
  <dcterms:modified xsi:type="dcterms:W3CDTF">2026-09-24T17:29:56Z</dcterms:modified>
</cp:coreProperties>
</file>