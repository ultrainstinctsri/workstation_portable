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</p:sldIdLst>
  <p:notesMasterIdLst>
    <p:notesMasterId r:id="rId9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notesMaster" Target="notesMasters/notesMaster1.xml"/><Relationship Id="rId93" Type="http://schemas.openxmlformats.org/officeDocument/2006/relationships/presProps" Target="presProps.xml"/><Relationship Id="rId94" Type="http://schemas.openxmlformats.org/officeDocument/2006/relationships/viewProps" Target="viewProps.xml"/><Relationship Id="rId95" Type="http://schemas.openxmlformats.org/officeDocument/2006/relationships/theme" Target="theme/theme1.xml"/><Relationship Id="rId9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4332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4332"/>
                </a:solidFill>
                <a:latin typeface="Calibri"/>
              </a:rPr>
              <a:t>Growth of work as n increases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O(1)</c:v>
                </c:pt>
              </c:strCache>
            </c:strRef>
          </c:tx>
          <c:spPr>
            <a:solidFill>
              <a:srgbClr val="6B7A72"/>
            </a:solidFill>
            <a:ln w="28575" cap="flat">
              <a:solidFill>
                <a:srgbClr val="6B7A7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6B7A72"/>
              </a:solidFill>
              <a:ln w="9525" cap="flat">
                <a:solidFill>
                  <a:srgbClr val="6B7A7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8</c:v>
                  </c:pt>
                  <c:pt idx="4">
                    <c:v>16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O(log n)</c:v>
                </c:pt>
              </c:strCache>
            </c:strRef>
          </c:tx>
          <c:spPr>
            <a:solidFill>
              <a:srgbClr val="2D6A4F"/>
            </a:solidFill>
            <a:ln w="28575" cap="flat">
              <a:solidFill>
                <a:srgbClr val="2D6A4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D6A4F"/>
              </a:solidFill>
              <a:ln w="9525" cap="flat">
                <a:solidFill>
                  <a:srgbClr val="2D6A4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8</c:v>
                  </c:pt>
                  <c:pt idx="4">
                    <c:v>16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O(n)</c:v>
                </c:pt>
              </c:strCache>
            </c:strRef>
          </c:tx>
          <c:spPr>
            <a:solidFill>
              <a:srgbClr val="C98A1A"/>
            </a:solidFill>
            <a:ln w="28575" cap="flat">
              <a:solidFill>
                <a:srgbClr val="C98A1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C98A1A"/>
              </a:solidFill>
              <a:ln w="9525" cap="flat">
                <a:solidFill>
                  <a:srgbClr val="C98A1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8</c:v>
                  </c:pt>
                  <c:pt idx="4">
                    <c:v>16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O(n log n)</c:v>
                </c:pt>
              </c:strCache>
            </c:strRef>
          </c:tx>
          <c:spPr>
            <a:solidFill>
              <a:srgbClr val="C0392B"/>
            </a:solidFill>
            <a:ln w="28575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8</c:v>
                  </c:pt>
                  <c:pt idx="4">
                    <c:v>16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</c:v>
                </c:pt>
                <c:pt idx="1">
                  <c:v>2</c:v>
                </c:pt>
                <c:pt idx="2">
                  <c:v>8</c:v>
                </c:pt>
                <c:pt idx="3">
                  <c:v>24</c:v>
                </c:pt>
                <c:pt idx="4">
                  <c:v>64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C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Companion to the Trees deck; this covers everything the lecture presents before reaching Trees (slides 1-87).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 5-6. This framing motivates every topic that follows: each new structure exists to make some operation faster.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 5. Space complexity should be optimized while time complexity for core operations stays low — the two often trade off against each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 7. This deck covers the linear side in full; the companion “Trees” deck covers the non-linear side through splay trees.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recap is used throughout the deck to justify why we prefer one structure over another for a given task.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slide into Part 2 (Arrays).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Handbook §2.2 and lecture slides 7-8,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address formula is the single most important fact about arrays: it explains both their strength (O(1) access) and how 2D array formulas are derived.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Handbook §2.2.1-2.2.2 and lecture slide 8. The amber cell [1][2] is used as the worked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Handbook §2.2.1. Binary search trace computed programmatically: lo/hi/mid at each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Insertion/deletion at the front or middle costs O(n) because of the shift; at the very end it is O(1) (if there is spare capacity).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Handbook §2.2.3. This bridges into why linked lists (Part 3) are attractive when insertions are frequent and unpredictable.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slides 15-17. Sets up the contrast with linked lists in Part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 18 and Handbook §2.3.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anchors every later design-choice question in the practice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Handbook §2.3.1. Searching for 40 visits 10, 25, 40 — 3 comparisons.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slides 21-28. Front insertion is O(1); the other three are O(1) once the target node is known, but finding that node (by value) costs O(n).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slides 22-23. This two-pointer swap is O(1) once you already hold a pointer to `current`.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Handbook §2.3.1, p.2-9. This nuance (O(1) local op vs Θ(n) with search) is a favourite exam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Merge is the operation linked lists do better than arrays: no extra allocation, just pointer relinking.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slides 34-51. Each type gets its own detailed slides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slides 36-37.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slides 38-43.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Computed by simulation (sim.js josephus(7,3)). This is a classic exam question and a natural application of circular lists.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 50. This informal picture sets up the formal skip list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Handbook §13.3-13.4. Levels here are fixed for a reproducible teaching example rather than truly randomized.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slides 47-51.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into Part 4 (Stacks), which is most commonly built on top of either an array or a singly linked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slides 53–55; Handbook §2.4: "Stack deletion deletes the element in the stack that was inserted the last... the stack is often referred to as a LIFO data type."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Handbook §2.4.1, C++ Stack class and Insert/Delete listing, verbatim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computed by sim.js stackSim(); matches Handbook Figure 2.11 exactly (same six operations, same array [10,20,30]→pop→[10,20]→push 40→[10,20,40]→pop→[10,20]).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slides 56–58; Handbook §2.4.1 closing paragraph on the linked-list 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Handbook §2.4.1.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slides 59–60; Handbook §2.4 introduction.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traces computed by sim.js bracketCheck(). Classic compiler front-end use of a stack, mentioned generally in Handbook §2.4.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sim.js infixToPostfix("3+4*2-1") → "3 4 2 * + 1 -", full token-by-token trace. Handbook §2.4 references exactly this compiler use-case.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sim.js evalPostfix and infixToPrefix, both machine-verified. ^ is right-associative, handled as the one exception in the precedence rule on the previous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Handbook §2.4: "a system stack is used to manage function calls... When g terminates, its activation record is removed and f continues executing with the local variables that were stored in its activation record."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4 recap, in the same style as the Part 3 linked-list summary.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slides 65–67; Handbook §2.4 introduces stack/queue/deque together by their deletion semantics.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Handbook §2.4.2, Figure 2.12, verbatim scenario: array of size 5, insert 10..50, delete three, then attempt to insert 60.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Handbook §2.4.2, Queue class C++ listing reproduced verbatim, and the explicit reasoning for why one slot must be sacrificed.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computed by sim.js handbookCircularQueueSim(8, ops) — implements the exact Insert/Delete logic from the Handbook §2.4.2 listing, reproducing Figure 2.13 state-by-state.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slides 68–70. Mirrors the linked-list stack from Part 4, but with two end-pointers instead of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Handbook §2.4.2.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sim.js dequeSim() trace, machine-verified. Handbook §2.4 defines the deque alongside the stack and queue.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sim.js priorityQueueSim(), max-priority variant, fully traced.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slides 85–87; Handbook §2.4 introduction, applications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5 recap, closing out the pre-Trees linear-structures sequence: Arrays → Linked Lists → Stacks → Queues.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Aggregated from Handbook §2.2–§2.4 and Parts 2–5 of this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Synthesis question, tying together the trade-off discussions from Parts 2–5.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of Part 1's Big-O introduction, now filled in with concrete examples from every structure covered.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Bridges Parts 2–5 and previews the shift to non-linear (tree) structures.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Collected from the "WATCH OUT" callouts and bug patterns across Parts 2–5.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slide into the existing Trees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1 Big-O recap, cross-referenced against concrete examples used across Parts 2–5.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 application of Part 2, Handbook §2.2 address formula.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S.addr2D(2000,3,5,8,10,4,'row'/'col') → 2140 / 2172, both computed and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S.binarySearch(arr,57) trace verified programmatically.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Conceptual question, Part 3 fundamentals.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S.stackSim, fully traced — final stack empty (all three pushes eventually popped).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S.simpleQueueSim, fully traced — final queue [3,4].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S.bracketCheck('{[(a+b)*(c-d)]}') → ok:true. Note bracketCheck only inspects bracket characters, so surrounding letters/operators are irrelevant to the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Amortized analysis recap from Part 2 dynamic-array slide, applied to a concrete n=20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S.arrInsertAt(a0,3,99) then S.arrDeleteAt(result,5), both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S.llInsertAfter, S.llDelete, S.llSearch — chained together and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S.llReverse(l0), straightforward array-reversal-equivalent for a singly linked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S.josephus(5,2) → eliminated [2,4,1,5], survivor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S.skipListLevels with a fixed, reproducible level assignment (same technique used in Part 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S.infixToPostfix('8-2*3+5') → "8 2 3 * - 5 +".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S.evalPostfix('6 3 2 + * 5 -') → 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S.handbookCircularQueueSim(5, ops) — verified FULL rejection on the 5th live element attempt.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S.llReverse then S.llSearch, chained — demonstrates that reversal changes per-query cost, not asymptotic behaviour.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S.josephus(8,3) → eliminated [3,6,1,5,2,8,4], survivor 7 — shown next to the earlier S.josephus(5,2) result for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S.infixToPrefix and S.infixToPostfix + S.evalPostfix on the same expression, cross-verified to the same value 43.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S.dequeSim, all four operation types exercised in one trace, fully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S.priorityQueueSim(ops, true) — max-priority variant, fully traced.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S.binarySearch(arrBS,81) and S.binarySearch(arrBS,4), both traced — 4 comparisons each, matching ⌈log2(13)⌉=4.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S.bracketCheck + S.infixToPostfix + S.evalPostfix, chained on related expressions.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Conceptual synthesis question tying Q14 (level structure) to the O(log n) expected / O(n) worst-case claim from Part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 algebraic consequence of the Handbook §2.4.2 convention introduced in Part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S.bracketCheck('{()[()]}') → ok:true; S.bracketCheck('{(})') → MISMATCH at '}', both fully traced.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synthesis question, deliberately combining Part 4/5 material with the decision-guide framing from Part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85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5102 · ADVANCED ALGORITHMS &amp; DATA STRUCTURES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23444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Structures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31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Arrays to Linked Lists, Stacks and Queues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9718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 Fundamentals · Arrays · Linked Lists · Stacks · Queues · Practice bank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3931920"/>
            <a:ext cx="6096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931920"/>
            <a:ext cx="60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432560" y="3931920"/>
            <a:ext cx="6096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32560" y="3931920"/>
            <a:ext cx="60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042160" y="3931920"/>
            <a:ext cx="6096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042160" y="3931920"/>
            <a:ext cx="60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291840" y="3931920"/>
            <a:ext cx="38862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80460" y="3931920"/>
            <a:ext cx="38862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91840" y="3931920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389120" y="3931920"/>
            <a:ext cx="38862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77740" y="3931920"/>
            <a:ext cx="38862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89120" y="3931920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069080" y="4160520"/>
            <a:ext cx="32004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330952" y="4078224"/>
            <a:ext cx="201168" cy="16459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221224" y="42702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61264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Dr. Saroj Kr Biswas’s lecture slides and the Handbook of Data Structures and Applications (Mehta &amp; Sahni, 2005)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C5A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learning path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459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B4332"/>
          </a:solidFill>
          <a:ln w="12700">
            <a:solidFill>
              <a:srgbClr val="E9F5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6642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101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3172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DS is, ADTs, linear vs non-linear, complexity basics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6459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B4332"/>
          </a:solidFill>
          <a:ln w="12700">
            <a:solidFill>
              <a:srgbClr val="E9F5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074920" y="16642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33172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Representation, memory address formulas, 1D/2D, operations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6459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B4332"/>
          </a:solidFill>
          <a:ln w="12700">
            <a:solidFill>
              <a:srgbClr val="E9F5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823960" y="16642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233172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Singly, doubly, circular, multilevel, skip list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977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B4332"/>
          </a:solidFill>
          <a:ln w="12700">
            <a:solidFill>
              <a:srgbClr val="E9F5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39959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66344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LIFO, array &amp; linked implementation, expression evaluation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297680" y="379476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3977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B4332"/>
          </a:solidFill>
          <a:ln w="12700">
            <a:solidFill>
              <a:srgbClr val="E9F5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5074920" y="39959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480560" y="466344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FIFO, circular queue, deque, priority queue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46720" y="379476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CF1DC"/>
          </a:solidFill>
          <a:ln w="12700">
            <a:solidFill>
              <a:srgbClr val="FCF1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0" y="3977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B4332"/>
          </a:solidFill>
          <a:ln w="12700">
            <a:solidFill>
              <a:srgbClr val="E9F5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8823960" y="39959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&amp; practice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0" y="466344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graded questions with worked solutions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FUNDAMENTALS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data structures at all?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FBEAE9"/>
          </a:solidFill>
          <a:ln w="12700">
            <a:solidFill>
              <a:srgbClr val="FBEA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361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A0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structure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name in an unsorted list of 1,000,000 records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945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 to 1,000,000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834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 in the worst case (linear search)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141732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E9F5EC"/>
          </a:solidFill>
          <a:ln w="12700">
            <a:solidFill>
              <a:srgbClr val="E9F5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15361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structure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search, but the data is kept in a balanced BST or a hash table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1945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20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834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 (log₂ 1,000,000 ≈ 20), or O(1) with hashing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114800"/>
            <a:ext cx="11109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165" indent="-177165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5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</a:t>
            </a: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organizes data so that common operations (search, insert, delete, sort, traverse) can be done efficiently.</a:t>
            </a:r>
            <a:endParaRPr lang="en-US" sz="1550" dirty="0"/>
          </a:p>
          <a:p>
            <a:pPr marL="177165" indent="-177165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data, stored differently, can make an algorithm run in O(1), O(log n), or O(n) time — same task, wildly different cost.</a:t>
            </a:r>
            <a:endParaRPr lang="en-US" sz="1550" dirty="0"/>
          </a:p>
          <a:p>
            <a:pPr marL="177165" indent="-177165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data structure is a </a:t>
            </a:r>
            <a:r>
              <a:rPr lang="en-US" sz="15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speed of search vs speed of insertion, memory used, simplicity of code.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FUNDAMENTALS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data structure?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E9F5EC"/>
          </a:solidFill>
          <a:ln w="12700">
            <a:solidFill>
              <a:srgbClr val="E9F5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361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8745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mathematical / logical way of organizing data in a computer’s memory so it can be used effectively.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803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bundles (1) how the data is arranged in memory and (2) the operations allowed on it (Handbook §2.1).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5361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Data Type (ADT)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187452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4305" indent="-154305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ADT is a </a:t>
            </a: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what operations are allowed (e.g. push, pop) and what they mean.</a:t>
            </a:r>
            <a:endParaRPr lang="en-US" sz="1350" dirty="0"/>
          </a:p>
          <a:p>
            <a:pPr marL="154305" indent="-154305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structure is an </a:t>
            </a: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an ADT (e.g. Stack ADT via an array or a linked list).</a:t>
            </a:r>
            <a:endParaRPr lang="en-US" sz="1350" dirty="0"/>
          </a:p>
          <a:p>
            <a:pPr marL="154305" indent="-154305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ADT, several possible data structures — each with its own time/space trade-offs.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434840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judge a data structure by (Handbook §2.1)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8006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8920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230368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are search, insert, delete?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97680" y="48006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80560" y="48920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5230368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extra memory does it use?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46720" y="48006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0" y="48920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Simplicity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5230368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easy is it to implement correctly?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FUNDAMENTALS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Classifying data structures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E9F5EC"/>
          </a:solidFill>
          <a:ln w="12700">
            <a:solidFill>
              <a:srgbClr val="E9F5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361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2024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are arranged sequentially; each element (except the first/last) has exactly one predecessor and one successor.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1188720" cy="411480"/>
          </a:xfrm>
          <a:prstGeom prst="roundRect">
            <a:avLst>
              <a:gd name="adj" fmla="val 13333"/>
            </a:avLst>
          </a:prstGeom>
          <a:solidFill>
            <a:srgbClr val="1B4332"/>
          </a:solidFill>
          <a:ln w="12700">
            <a:solidFill>
              <a:srgbClr val="E9F5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75688" y="2697480"/>
            <a:ext cx="1188720" cy="411480"/>
          </a:xfrm>
          <a:prstGeom prst="roundRect">
            <a:avLst>
              <a:gd name="adj" fmla="val 13333"/>
            </a:avLst>
          </a:prstGeom>
          <a:solidFill>
            <a:srgbClr val="1B4332"/>
          </a:solidFill>
          <a:ln w="12700">
            <a:solidFill>
              <a:srgbClr val="E9F5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74136" y="2697480"/>
            <a:ext cx="1188720" cy="411480"/>
          </a:xfrm>
          <a:prstGeom prst="roundRect">
            <a:avLst>
              <a:gd name="adj" fmla="val 13333"/>
            </a:avLst>
          </a:prstGeom>
          <a:solidFill>
            <a:srgbClr val="1B4332"/>
          </a:solidFill>
          <a:ln w="12700">
            <a:solidFill>
              <a:srgbClr val="E9F5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72584" y="2697480"/>
            <a:ext cx="1188720" cy="411480"/>
          </a:xfrm>
          <a:prstGeom prst="roundRect">
            <a:avLst>
              <a:gd name="adj" fmla="val 13333"/>
            </a:avLst>
          </a:prstGeom>
          <a:solidFill>
            <a:srgbClr val="1B4332"/>
          </a:solidFill>
          <a:ln w="12700">
            <a:solidFill>
              <a:srgbClr val="E9F5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3375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639312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48590" indent="-14859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implement and reason about</a:t>
            </a:r>
            <a:endParaRPr lang="en-US" sz="1300" dirty="0"/>
          </a:p>
          <a:p>
            <a:pPr marL="148590" indent="-14859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access is fast and predictable</a:t>
            </a:r>
            <a:endParaRPr lang="en-US" sz="1300" dirty="0"/>
          </a:p>
          <a:p>
            <a:pPr marL="148590" indent="-14859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traverse in order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029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part of the course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532180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all four linear structures above, in depth.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72200" y="141732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15361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Non-linear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192024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can connect to more than two neighbours; relationships branch out (hierarchical) or form networks.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0" y="2697480"/>
            <a:ext cx="1188720" cy="411480"/>
          </a:xfrm>
          <a:prstGeom prst="roundRect">
            <a:avLst>
              <a:gd name="adj" fmla="val 13333"/>
            </a:avLst>
          </a:prstGeom>
          <a:solidFill>
            <a:srgbClr val="C98A1A"/>
          </a:solidFill>
          <a:ln w="12700">
            <a:solidFill>
              <a:srgbClr val="E9F5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99248" y="2697480"/>
            <a:ext cx="1188720" cy="411480"/>
          </a:xfrm>
          <a:prstGeom prst="roundRect">
            <a:avLst>
              <a:gd name="adj" fmla="val 13333"/>
            </a:avLst>
          </a:prstGeom>
          <a:solidFill>
            <a:srgbClr val="C98A1A"/>
          </a:solidFill>
          <a:ln w="12700">
            <a:solidFill>
              <a:srgbClr val="E9F5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97696" y="2697480"/>
            <a:ext cx="1188720" cy="411480"/>
          </a:xfrm>
          <a:prstGeom prst="roundRect">
            <a:avLst>
              <a:gd name="adj" fmla="val 13333"/>
            </a:avLst>
          </a:prstGeom>
          <a:solidFill>
            <a:srgbClr val="C98A1A"/>
          </a:solidFill>
          <a:ln w="12700">
            <a:solidFill>
              <a:srgbClr val="E9F5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96144" y="2697480"/>
            <a:ext cx="1188720" cy="411480"/>
          </a:xfrm>
          <a:prstGeom prst="roundRect">
            <a:avLst>
              <a:gd name="adj" fmla="val 13333"/>
            </a:avLst>
          </a:prstGeom>
          <a:solidFill>
            <a:srgbClr val="C98A1A"/>
          </a:solidFill>
          <a:ln w="12700">
            <a:solidFill>
              <a:srgbClr val="E9F5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33375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3639312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48590" indent="-14859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Hierarchies (file systems, org charts)</a:t>
            </a:r>
            <a:endParaRPr lang="en-US" sz="1300" dirty="0"/>
          </a:p>
          <a:p>
            <a:pPr marL="148590" indent="-14859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(maps, social graphs)</a:t>
            </a:r>
            <a:endParaRPr lang="en-US" sz="1300" dirty="0"/>
          </a:p>
          <a:p>
            <a:pPr marL="148590" indent="-14859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priority access (heaps)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5029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C9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in the course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5321808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Trees, and self-balancing BSTs (AVL, Red-Black, Splay) — a separate deck.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FUNDAMENTALS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quick recap: measuring cost with Big-O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6692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165" indent="-177165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describe cost as a function of input size </a:t>
            </a:r>
            <a:r>
              <a:rPr lang="en-US" sz="15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ignoring constants: how does the work grow as n grows?</a:t>
            </a:r>
            <a:endParaRPr lang="en-US" sz="1550" dirty="0"/>
          </a:p>
          <a:p>
            <a:pPr marL="177165" indent="-177165">
              <a:spcAft>
                <a:spcPts val="1100"/>
              </a:spcAft>
              <a:buSzPct val="100000"/>
              <a:buChar char="•"/>
            </a:pPr>
            <a:r>
              <a:rPr lang="en-US" sz="15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constant — same cost regardless of n (e.g. array access by index).</a:t>
            </a:r>
            <a:endParaRPr lang="en-US" sz="1550" dirty="0"/>
          </a:p>
          <a:p>
            <a:pPr marL="177165" indent="-177165">
              <a:spcAft>
                <a:spcPts val="1100"/>
              </a:spcAft>
              <a:buSzPct val="100000"/>
              <a:buChar char="•"/>
            </a:pPr>
            <a:r>
              <a:rPr lang="en-US" sz="15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logarithmic — cost grows very slowly (e.g. binary search).</a:t>
            </a:r>
            <a:endParaRPr lang="en-US" sz="1550" dirty="0"/>
          </a:p>
          <a:p>
            <a:pPr marL="177165" indent="-177165">
              <a:spcAft>
                <a:spcPts val="1100"/>
              </a:spcAft>
              <a:buSzPct val="100000"/>
              <a:buChar char="•"/>
            </a:pPr>
            <a:r>
              <a:rPr lang="en-US" sz="15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linear — cost grows in proportion to n (e.g. linear search).</a:t>
            </a:r>
            <a:endParaRPr lang="en-US" sz="1550" dirty="0"/>
          </a:p>
          <a:p>
            <a:pPr marL="177165" indent="-177165">
              <a:spcAft>
                <a:spcPts val="1100"/>
              </a:spcAft>
              <a:buSzPct val="100000"/>
              <a:buChar char="•"/>
            </a:pPr>
            <a:r>
              <a:rPr lang="en-US" sz="15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</a:t>
            </a: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typical of good sorting algorithms.</a:t>
            </a:r>
            <a:endParaRPr lang="en-US" sz="1550" dirty="0"/>
          </a:p>
          <a:p>
            <a:pPr marL="177165" indent="-177165">
              <a:spcAft>
                <a:spcPts val="1100"/>
              </a:spcAft>
              <a:buSzPct val="100000"/>
              <a:buChar char="•"/>
            </a:pPr>
            <a:r>
              <a:rPr lang="en-US" sz="15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</a:t>
            </a: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quadratic — cost grows fast; watch out for nested loops over the same data.</a:t>
            </a:r>
            <a:endParaRPr lang="en-US" sz="15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0" y="1417320"/>
          <a:ext cx="52578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FUNDAMENTALS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start: the array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array is the simplest way to store a collection — and the baseline every other structure is compared against.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463040" y="2560320"/>
            <a:ext cx="91440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63040" y="256032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32735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77440" y="2560320"/>
            <a:ext cx="91440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77440" y="256032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32735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91840" y="2560320"/>
            <a:ext cx="91440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91840" y="256032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32735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06240" y="2560320"/>
            <a:ext cx="914400" cy="685800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06240" y="256032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32735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120640" y="2560320"/>
            <a:ext cx="91440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20640" y="256032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32735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35040" y="2560320"/>
            <a:ext cx="91440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35040" y="256032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035040" y="32735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931920"/>
            <a:ext cx="11109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2880" indent="-18288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sit in </a:t>
            </a: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contiguous memory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one after another.</a:t>
            </a:r>
            <a:endParaRPr lang="en-US" sz="1600" dirty="0"/>
          </a:p>
          <a:p>
            <a:pPr marL="182880" indent="-18288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element is reachable in </a:t>
            </a: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its index — the single biggest advantage of arrays.</a:t>
            </a:r>
            <a:endParaRPr lang="en-US" sz="1600" dirty="0"/>
          </a:p>
          <a:p>
            <a:pPr marL="182880" indent="-18288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trade-off: inserting or deleting in the middle costs </a:t>
            </a: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because later elements must shift.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4884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31920"/>
            <a:ext cx="6583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4310" indent="-19431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and memory address formulas</a:t>
            </a:r>
            <a:endParaRPr lang="en-US" sz="1700" dirty="0"/>
          </a:p>
          <a:p>
            <a:pPr marL="194310" indent="-19431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Operations: retrieve, search, insert, delete</a:t>
            </a:r>
            <a:endParaRPr lang="en-US" sz="1700" dirty="0"/>
          </a:p>
          <a:p>
            <a:pPr marL="194310" indent="-19431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and 2D arrays, dynamic arrays, pros/cons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C5A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ARRAYS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array: a collection of ⟨index, value⟩ pairs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920240" y="1463040"/>
            <a:ext cx="9144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20240" y="1463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20391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834640" y="1463040"/>
            <a:ext cx="9144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34640" y="1463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20391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749040" y="1463040"/>
            <a:ext cx="9144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49040" y="1463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20391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1463040"/>
            <a:ext cx="9144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63440" y="1463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Agra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20391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577840" y="1463040"/>
            <a:ext cx="9144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577840" y="1463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Kochi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577840" y="20391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2286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city[0] = "Delhi", city[1] = "Pune", … — indices start at 0 in C++/Java (Handbook §2.2)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2880360"/>
            <a:ext cx="7315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735" indent="-165735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 is conceptually a set of </a:t>
            </a: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⟨index, value⟩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pairs stored so any value can be fetched directly from its index.</a:t>
            </a:r>
            <a:endParaRPr lang="en-US" sz="1450" dirty="0"/>
          </a:p>
          <a:p>
            <a:pPr marL="165735" indent="-165735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Unordered use: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if only membership matters (e.g. a bag of cities), the index itself carries no meaning.</a:t>
            </a:r>
            <a:endParaRPr lang="en-US" sz="1450" dirty="0"/>
          </a:p>
          <a:p>
            <a:pPr marL="165735" indent="-165735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use: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if the array is sorted (e.g. names alphabetically), the index order matters: name[i] must precede name[j] when i &lt; j.</a:t>
            </a:r>
            <a:endParaRPr lang="en-US" sz="1450" dirty="0"/>
          </a:p>
          <a:p>
            <a:pPr marL="165735" indent="-165735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are stored contiguously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memory — one straight block of equal-sized cells.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229600" y="1463040"/>
            <a:ext cx="3429000" cy="4114800"/>
          </a:xfrm>
          <a:prstGeom prst="roundRect">
            <a:avLst>
              <a:gd name="adj" fmla="val 2133"/>
            </a:avLst>
          </a:prstGeom>
          <a:solidFill>
            <a:srgbClr val="E9F5EC"/>
          </a:solidFill>
          <a:ln w="12700">
            <a:solidFill>
              <a:srgbClr val="E9F5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12480" y="15727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vs dynamic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412480" y="1920240"/>
            <a:ext cx="3063240" cy="1463040"/>
          </a:xfrm>
          <a:prstGeom prst="roundRect">
            <a:avLst>
              <a:gd name="adj" fmla="val 3750"/>
            </a:avLst>
          </a:prstGeom>
          <a:solidFill>
            <a:srgbClr val="162D2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577072" y="2048256"/>
            <a:ext cx="273405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list[20];      // static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int* list;         // dynamic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 = new int[25];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412480" y="352044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7160" indent="-13716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Static: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size fixed at compile time.</a:t>
            </a:r>
            <a:endParaRPr lang="en-US" sz="1200" dirty="0"/>
          </a:p>
          <a:p>
            <a:pPr marL="137160" indent="-13716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Dynamic: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size decided (and changeable) at run time.</a:t>
            </a:r>
            <a:endParaRPr lang="en-US" sz="1200" dirty="0"/>
          </a:p>
          <a:p>
            <a:pPr marL="137160" indent="-13716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does </a:t>
            </a: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auto range-check — the programmer must track the size.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ARRAYS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an array sits in memory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address(A[i])  =  base address  +  i × (size of one element)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463040" y="2194560"/>
            <a:ext cx="914400" cy="59436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63040" y="219456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8163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77440" y="2194560"/>
            <a:ext cx="914400" cy="59436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77440" y="219456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28163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91840" y="2194560"/>
            <a:ext cx="914400" cy="59436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91840" y="219456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28163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06240" y="2194560"/>
            <a:ext cx="914400" cy="594360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06240" y="219456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28163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120640" y="2194560"/>
            <a:ext cx="914400" cy="59436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20640" y="219456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28163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063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828800" y="3063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108960" y="3063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1008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389120" y="3063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1012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0" y="3063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1016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33649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addresses, assuming base = 1000 and each int is 4 bytes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0" y="1463040"/>
            <a:ext cx="4343400" cy="3017520"/>
          </a:xfrm>
          <a:prstGeom prst="roundRect">
            <a:avLst>
              <a:gd name="adj" fmla="val 2424"/>
            </a:avLst>
          </a:prstGeom>
          <a:solidFill>
            <a:srgbClr val="E9F5EC"/>
          </a:solidFill>
          <a:ln w="12700">
            <a:solidFill>
              <a:srgbClr val="E9F5E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498080" y="15727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498080" y="19202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address(A[3]) = 1000 + 3 × 4 = 1012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7498080" y="2468880"/>
            <a:ext cx="3977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random access is O(1): one multiplication and one addition, regardless of array size or which index you ask for.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548640" y="3840480"/>
            <a:ext cx="11109960" cy="1005840"/>
          </a:xfrm>
          <a:prstGeom prst="roundRect">
            <a:avLst>
              <a:gd name="adj" fmla="val 7273"/>
            </a:avLst>
          </a:prstGeom>
          <a:solidFill>
            <a:srgbClr val="E9F5EC"/>
          </a:solidFill>
          <a:ln w="12700">
            <a:solidFill>
              <a:srgbClr val="E9F5E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31520" y="3950208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31520" y="4206240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Contiguous storage is what makes O(1) access possible — and it is exactly what a linked list gives up (Part 3).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ARRAYS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Two-dimensional arrays: row-major vs column-major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5544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[0][0]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188720" y="155448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88720" y="15544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[0][1]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828800" y="155448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28800" y="15544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[0][2]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68880" y="155448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468880" y="15544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[0][3]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05740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0574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[1][0]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188720" y="205740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88720" y="20574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[1][1]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828800" y="205740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F5C871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828800" y="20574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[1][2]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468880" y="205740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468880" y="20574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[1][3]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256032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25603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[2][0]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188720" y="256032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188720" y="25603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[2][1]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828800" y="256032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828800" y="25603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[2][2]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468880" y="256032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468880" y="25603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[2][3]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3200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logical 3×4 array (3 rows, 4 columns)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297680" y="16459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address(A[i][j]) = base + w × (i × cols + j)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4297680" y="24231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Row-major (C, C++, Java): store row 0 fully, then row 1, …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8138160" y="16459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address(A[i][j]) = base + w × (j × rows + i)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138160" y="24231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Column-major (Fortran, MATLAB): store column 0 fully, then column 1, …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48640" y="393192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E9F5EC"/>
          </a:solidFill>
          <a:ln w="12700">
            <a:solidFill>
              <a:srgbClr val="E9F5E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7240" y="404164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find A[1][2], base 1000, w = 4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777240" y="45720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Row-major: 1000 + 4×(1×4 + 2) = 1000 + 24 = 1024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777240" y="4937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Column-major: 1000 + 4×(2×3 + 1) = 1000 + 28 = 1028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777240" y="53492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against the grid above: element [1][2] is the 6th cell (0-indexed) in row-major order ✔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172200" y="393192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E9F5EC"/>
          </a:solidFill>
          <a:ln w="12700">
            <a:solidFill>
              <a:srgbClr val="E9F5E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355080" y="404164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355080" y="4297680"/>
            <a:ext cx="5029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2D array is really a 1D array in disguise: the formula just maps two indices onto one contiguous block of memory.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ARRAYS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I: retrieve and search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E9F5EC"/>
          </a:solidFill>
          <a:ln w="12700">
            <a:solidFill>
              <a:srgbClr val="E9F5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270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— O(1)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847088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an index, fetch the value directly using the address formula. If the array is sorted, min/max/median are also O(1) or O(log n).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2200" y="141732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0" y="15270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search — O(n)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0" y="1828800"/>
            <a:ext cx="4937760" cy="1463040"/>
          </a:xfrm>
          <a:prstGeom prst="roundRect">
            <a:avLst>
              <a:gd name="adj" fmla="val 3750"/>
            </a:avLst>
          </a:prstGeom>
          <a:solidFill>
            <a:srgbClr val="162D2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65392" y="1956816"/>
            <a:ext cx="46085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LinearSearch(int* a, int n, int x) {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(int i = 0; i &lt; n; i++)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(a[i] == x) return i;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-1;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783771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657600"/>
            <a:ext cx="7837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233672"/>
            <a:ext cx="7837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332411" y="3657600"/>
            <a:ext cx="783771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332411" y="3657600"/>
            <a:ext cx="7837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32411" y="4233672"/>
            <a:ext cx="7837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116183" y="3657600"/>
            <a:ext cx="783771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116183" y="3657600"/>
            <a:ext cx="7837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2116183" y="4233672"/>
            <a:ext cx="7837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899954" y="3657600"/>
            <a:ext cx="783771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899954" y="3657600"/>
            <a:ext cx="7837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2899954" y="4233672"/>
            <a:ext cx="7837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83726" y="3657600"/>
            <a:ext cx="783771" cy="548640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683726" y="3657600"/>
            <a:ext cx="7837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3683726" y="4233672"/>
            <a:ext cx="7837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467497" y="3657600"/>
            <a:ext cx="783771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467497" y="3657600"/>
            <a:ext cx="7837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467497" y="4233672"/>
            <a:ext cx="7837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251269" y="3657600"/>
            <a:ext cx="783771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251269" y="3657600"/>
            <a:ext cx="7837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5251269" y="4233672"/>
            <a:ext cx="7837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343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30 → checks index 0,1,2,3,4 → found at index 4 (5 comparisons)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309360" y="3657600"/>
            <a:ext cx="534924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09360" y="3657600"/>
            <a:ext cx="534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309360" y="4233672"/>
            <a:ext cx="5349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844284" y="3657600"/>
            <a:ext cx="534924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844284" y="3657600"/>
            <a:ext cx="534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6844284" y="4233672"/>
            <a:ext cx="5349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379208" y="3657600"/>
            <a:ext cx="534924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379208" y="3657600"/>
            <a:ext cx="534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7379208" y="4233672"/>
            <a:ext cx="5349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914132" y="3657600"/>
            <a:ext cx="534924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914132" y="3657600"/>
            <a:ext cx="534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7914132" y="4233672"/>
            <a:ext cx="5349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449056" y="3657600"/>
            <a:ext cx="534924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449056" y="3657600"/>
            <a:ext cx="534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8449056" y="4233672"/>
            <a:ext cx="5349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983980" y="3657600"/>
            <a:ext cx="534924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983980" y="3657600"/>
            <a:ext cx="534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500" dirty="0"/>
          </a:p>
        </p:txBody>
      </p:sp>
      <p:sp>
        <p:nvSpPr>
          <p:cNvPr id="51" name="Text 49"/>
          <p:cNvSpPr txBox="1"/>
          <p:nvPr/>
        </p:nvSpPr>
        <p:spPr>
          <a:xfrm>
            <a:off x="8983980" y="4233672"/>
            <a:ext cx="5349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9518904" y="3657600"/>
            <a:ext cx="534924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9518904" y="3657600"/>
            <a:ext cx="534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500" dirty="0"/>
          </a:p>
        </p:txBody>
      </p:sp>
      <p:sp>
        <p:nvSpPr>
          <p:cNvPr id="54" name="Text 52"/>
          <p:cNvSpPr txBox="1"/>
          <p:nvPr/>
        </p:nvSpPr>
        <p:spPr>
          <a:xfrm>
            <a:off x="9518904" y="4233672"/>
            <a:ext cx="5349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10053828" y="3657600"/>
            <a:ext cx="534924" cy="548640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0053828" y="3657600"/>
            <a:ext cx="534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500" dirty="0"/>
          </a:p>
        </p:txBody>
      </p:sp>
      <p:sp>
        <p:nvSpPr>
          <p:cNvPr id="57" name="Text 55"/>
          <p:cNvSpPr txBox="1"/>
          <p:nvPr/>
        </p:nvSpPr>
        <p:spPr>
          <a:xfrm>
            <a:off x="10053828" y="4233672"/>
            <a:ext cx="5349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10588752" y="3657600"/>
            <a:ext cx="534924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10588752" y="3657600"/>
            <a:ext cx="534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500" dirty="0"/>
          </a:p>
        </p:txBody>
      </p:sp>
      <p:sp>
        <p:nvSpPr>
          <p:cNvPr id="60" name="Text 58"/>
          <p:cNvSpPr txBox="1"/>
          <p:nvPr/>
        </p:nvSpPr>
        <p:spPr>
          <a:xfrm>
            <a:off x="10588752" y="4233672"/>
            <a:ext cx="5349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11123676" y="3657600"/>
            <a:ext cx="534924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11123676" y="3657600"/>
            <a:ext cx="534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1500" dirty="0"/>
          </a:p>
        </p:txBody>
      </p:sp>
      <p:sp>
        <p:nvSpPr>
          <p:cNvPr id="63" name="Text 61"/>
          <p:cNvSpPr txBox="1"/>
          <p:nvPr/>
        </p:nvSpPr>
        <p:spPr>
          <a:xfrm>
            <a:off x="11123676" y="4233672"/>
            <a:ext cx="5349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  <p:sp>
        <p:nvSpPr>
          <p:cNvPr id="64" name="Text 62"/>
          <p:cNvSpPr txBox="1"/>
          <p:nvPr/>
        </p:nvSpPr>
        <p:spPr>
          <a:xfrm>
            <a:off x="6309360" y="434340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52 (sorted array): mid=25(no)→ mid=52(yes) → found at index 7 in 2 steps, O(log n)</a:t>
            </a:r>
            <a:endParaRPr lang="en-US" sz="1250" dirty="0"/>
          </a:p>
        </p:txBody>
      </p:sp>
      <p:sp>
        <p:nvSpPr>
          <p:cNvPr id="65" name="Shape 63"/>
          <p:cNvSpPr/>
          <p:nvPr/>
        </p:nvSpPr>
        <p:spPr>
          <a:xfrm>
            <a:off x="548640" y="5029200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FCF1DC"/>
          </a:solidFill>
          <a:ln w="12700">
            <a:solidFill>
              <a:srgbClr val="FCF1DC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731520" y="5138928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9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100" dirty="0"/>
          </a:p>
        </p:txBody>
      </p:sp>
      <p:sp>
        <p:nvSpPr>
          <p:cNvPr id="67" name="Text 65"/>
          <p:cNvSpPr txBox="1"/>
          <p:nvPr/>
        </p:nvSpPr>
        <p:spPr>
          <a:xfrm>
            <a:off x="731520" y="5394960"/>
            <a:ext cx="1074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needs the array </a:t>
            </a: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that is the price paid for O(log n) search instead of O(n).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ARRAYS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II: insert and delete — the O(n) cost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355848" cy="2148840"/>
          </a:xfrm>
          <a:prstGeom prst="roundRect">
            <a:avLst>
              <a:gd name="adj" fmla="val 3404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481328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634594" cy="953719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783080"/>
            <a:ext cx="634594" cy="953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764231"/>
            <a:ext cx="6345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274674" y="1783080"/>
            <a:ext cx="634594" cy="953719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74674" y="1783080"/>
            <a:ext cx="634594" cy="953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74674" y="2764231"/>
            <a:ext cx="6345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909267" y="1783080"/>
            <a:ext cx="634594" cy="953719"/>
          </a:xfrm>
          <a:prstGeom prst="rect">
            <a:avLst/>
          </a:prstGeom>
          <a:solidFill>
            <a:srgbClr val="FBEAE9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909267" y="1783080"/>
            <a:ext cx="634594" cy="953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909267" y="2764231"/>
            <a:ext cx="6345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543861" y="1783080"/>
            <a:ext cx="634594" cy="953719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543861" y="1783080"/>
            <a:ext cx="634594" cy="953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2543861" y="2764231"/>
            <a:ext cx="6345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78454" y="1783080"/>
            <a:ext cx="634594" cy="953719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178454" y="1783080"/>
            <a:ext cx="634594" cy="953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3178454" y="2764231"/>
            <a:ext cx="6345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21792" y="3200400"/>
            <a:ext cx="3209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99 at index 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959352" y="2276856"/>
            <a:ext cx="411480" cy="292608"/>
          </a:xfrm>
          <a:prstGeom prst="rightArrow">
            <a:avLst/>
          </a:prstGeom>
          <a:solidFill>
            <a:srgbClr val="2D6A4F"/>
          </a:solidFill>
          <a:ln/>
        </p:spPr>
      </p:sp>
      <p:sp>
        <p:nvSpPr>
          <p:cNvPr id="24" name="Shape 22"/>
          <p:cNvSpPr/>
          <p:nvPr/>
        </p:nvSpPr>
        <p:spPr>
          <a:xfrm>
            <a:off x="4425696" y="1417320"/>
            <a:ext cx="3355848" cy="2148840"/>
          </a:xfrm>
          <a:prstGeom prst="roundRect">
            <a:avLst>
              <a:gd name="adj" fmla="val 3404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98848" y="1481328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right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17136" y="1783080"/>
            <a:ext cx="634594" cy="953719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17136" y="1783080"/>
            <a:ext cx="634594" cy="953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517136" y="2764231"/>
            <a:ext cx="6345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151730" y="1783080"/>
            <a:ext cx="634594" cy="953719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151730" y="1783080"/>
            <a:ext cx="634594" cy="953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151730" y="2764231"/>
            <a:ext cx="6345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786323" y="1783080"/>
            <a:ext cx="634594" cy="953719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786323" y="2764231"/>
            <a:ext cx="6345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20917" y="1783080"/>
            <a:ext cx="634594" cy="953719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20917" y="1783080"/>
            <a:ext cx="634594" cy="953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420917" y="2764231"/>
            <a:ext cx="6345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055510" y="1783080"/>
            <a:ext cx="634594" cy="953719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055510" y="1783080"/>
            <a:ext cx="634594" cy="953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7055510" y="2764231"/>
            <a:ext cx="6345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4498848" y="3200400"/>
            <a:ext cx="3209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at index ≥ 2 move one slot right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836408" y="2276856"/>
            <a:ext cx="411480" cy="292608"/>
          </a:xfrm>
          <a:prstGeom prst="rightArrow">
            <a:avLst/>
          </a:prstGeom>
          <a:solidFill>
            <a:srgbClr val="2D6A4F"/>
          </a:solidFill>
          <a:ln/>
        </p:spPr>
      </p:sp>
      <p:sp>
        <p:nvSpPr>
          <p:cNvPr id="42" name="Shape 40"/>
          <p:cNvSpPr/>
          <p:nvPr/>
        </p:nvSpPr>
        <p:spPr>
          <a:xfrm>
            <a:off x="8302752" y="1417320"/>
            <a:ext cx="3355848" cy="2148840"/>
          </a:xfrm>
          <a:prstGeom prst="roundRect">
            <a:avLst>
              <a:gd name="adj" fmla="val 3404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375904" y="1481328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8394192" y="1783080"/>
            <a:ext cx="528828" cy="953719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394192" y="1783080"/>
            <a:ext cx="528828" cy="953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8394192" y="2764231"/>
            <a:ext cx="5288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923020" y="1783080"/>
            <a:ext cx="528828" cy="953719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923020" y="1783080"/>
            <a:ext cx="528828" cy="953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8923020" y="2764231"/>
            <a:ext cx="5288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9451848" y="1783080"/>
            <a:ext cx="528828" cy="953719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451848" y="1783080"/>
            <a:ext cx="528828" cy="953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endParaRPr lang="en-US" sz="1500" dirty="0"/>
          </a:p>
        </p:txBody>
      </p:sp>
      <p:sp>
        <p:nvSpPr>
          <p:cNvPr id="52" name="Text 50"/>
          <p:cNvSpPr txBox="1"/>
          <p:nvPr/>
        </p:nvSpPr>
        <p:spPr>
          <a:xfrm>
            <a:off x="9451848" y="2764231"/>
            <a:ext cx="5288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9980676" y="1783080"/>
            <a:ext cx="528828" cy="953719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980676" y="1783080"/>
            <a:ext cx="528828" cy="953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500" dirty="0"/>
          </a:p>
        </p:txBody>
      </p:sp>
      <p:sp>
        <p:nvSpPr>
          <p:cNvPr id="55" name="Text 53"/>
          <p:cNvSpPr txBox="1"/>
          <p:nvPr/>
        </p:nvSpPr>
        <p:spPr>
          <a:xfrm>
            <a:off x="9980676" y="2764231"/>
            <a:ext cx="5288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10509504" y="1783080"/>
            <a:ext cx="528828" cy="953719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10509504" y="1783080"/>
            <a:ext cx="528828" cy="953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500" dirty="0"/>
          </a:p>
        </p:txBody>
      </p:sp>
      <p:sp>
        <p:nvSpPr>
          <p:cNvPr id="58" name="Text 56"/>
          <p:cNvSpPr txBox="1"/>
          <p:nvPr/>
        </p:nvSpPr>
        <p:spPr>
          <a:xfrm>
            <a:off x="10509504" y="2764231"/>
            <a:ext cx="5288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11038332" y="1783080"/>
            <a:ext cx="528828" cy="953719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11038332" y="1783080"/>
            <a:ext cx="528828" cy="953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500" dirty="0"/>
          </a:p>
        </p:txBody>
      </p:sp>
      <p:sp>
        <p:nvSpPr>
          <p:cNvPr id="61" name="Text 59"/>
          <p:cNvSpPr txBox="1"/>
          <p:nvPr/>
        </p:nvSpPr>
        <p:spPr>
          <a:xfrm>
            <a:off x="11038332" y="2764231"/>
            <a:ext cx="5288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62" name="Text 60"/>
          <p:cNvSpPr txBox="1"/>
          <p:nvPr/>
        </p:nvSpPr>
        <p:spPr>
          <a:xfrm>
            <a:off x="8375904" y="3200400"/>
            <a:ext cx="3209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placed at index 2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548640" y="3794760"/>
            <a:ext cx="3355848" cy="2148840"/>
          </a:xfrm>
          <a:prstGeom prst="roundRect">
            <a:avLst>
              <a:gd name="adj" fmla="val 3404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21792" y="3858768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640080" y="4160520"/>
            <a:ext cx="634594" cy="953719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640080" y="4160520"/>
            <a:ext cx="634594" cy="953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67" name="Text 65"/>
          <p:cNvSpPr txBox="1"/>
          <p:nvPr/>
        </p:nvSpPr>
        <p:spPr>
          <a:xfrm>
            <a:off x="640080" y="5141671"/>
            <a:ext cx="6345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1274674" y="4160520"/>
            <a:ext cx="634594" cy="953719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1274674" y="4160520"/>
            <a:ext cx="634594" cy="953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500" dirty="0"/>
          </a:p>
        </p:txBody>
      </p:sp>
      <p:sp>
        <p:nvSpPr>
          <p:cNvPr id="70" name="Text 68"/>
          <p:cNvSpPr txBox="1"/>
          <p:nvPr/>
        </p:nvSpPr>
        <p:spPr>
          <a:xfrm>
            <a:off x="1274674" y="5141671"/>
            <a:ext cx="6345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1909267" y="4160520"/>
            <a:ext cx="634594" cy="953719"/>
          </a:xfrm>
          <a:prstGeom prst="rect">
            <a:avLst/>
          </a:prstGeom>
          <a:solidFill>
            <a:srgbClr val="FBEAE9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1909267" y="4160520"/>
            <a:ext cx="634594" cy="953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endParaRPr lang="en-US" sz="1500" dirty="0"/>
          </a:p>
        </p:txBody>
      </p:sp>
      <p:sp>
        <p:nvSpPr>
          <p:cNvPr id="73" name="Text 71"/>
          <p:cNvSpPr txBox="1"/>
          <p:nvPr/>
        </p:nvSpPr>
        <p:spPr>
          <a:xfrm>
            <a:off x="1909267" y="5141671"/>
            <a:ext cx="6345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2543861" y="4160520"/>
            <a:ext cx="634594" cy="953719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2543861" y="4160520"/>
            <a:ext cx="634594" cy="953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500" dirty="0"/>
          </a:p>
        </p:txBody>
      </p:sp>
      <p:sp>
        <p:nvSpPr>
          <p:cNvPr id="76" name="Text 74"/>
          <p:cNvSpPr txBox="1"/>
          <p:nvPr/>
        </p:nvSpPr>
        <p:spPr>
          <a:xfrm>
            <a:off x="2543861" y="5141671"/>
            <a:ext cx="6345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3178454" y="4160520"/>
            <a:ext cx="634594" cy="953719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3178454" y="4160520"/>
            <a:ext cx="634594" cy="953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500" dirty="0"/>
          </a:p>
        </p:txBody>
      </p:sp>
      <p:sp>
        <p:nvSpPr>
          <p:cNvPr id="79" name="Text 77"/>
          <p:cNvSpPr txBox="1"/>
          <p:nvPr/>
        </p:nvSpPr>
        <p:spPr>
          <a:xfrm>
            <a:off x="3178454" y="5141671"/>
            <a:ext cx="6345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80" name="Text 78"/>
          <p:cNvSpPr txBox="1"/>
          <p:nvPr/>
        </p:nvSpPr>
        <p:spPr>
          <a:xfrm>
            <a:off x="621792" y="5577840"/>
            <a:ext cx="3209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index 2 (value 99)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3959352" y="4654296"/>
            <a:ext cx="411480" cy="292608"/>
          </a:xfrm>
          <a:prstGeom prst="rightArrow">
            <a:avLst/>
          </a:prstGeom>
          <a:solidFill>
            <a:srgbClr val="2D6A4F"/>
          </a:solidFill>
          <a:ln/>
        </p:spPr>
      </p:sp>
      <p:sp>
        <p:nvSpPr>
          <p:cNvPr id="82" name="Shape 80"/>
          <p:cNvSpPr/>
          <p:nvPr/>
        </p:nvSpPr>
        <p:spPr>
          <a:xfrm>
            <a:off x="4425696" y="3794760"/>
            <a:ext cx="3355848" cy="2148840"/>
          </a:xfrm>
          <a:prstGeom prst="roundRect">
            <a:avLst>
              <a:gd name="adj" fmla="val 3404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4498848" y="3858768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left</a:t>
            </a:r>
            <a:endParaRPr lang="en-US" sz="1300" dirty="0"/>
          </a:p>
        </p:txBody>
      </p:sp>
      <p:sp>
        <p:nvSpPr>
          <p:cNvPr id="84" name="Shape 82"/>
          <p:cNvSpPr/>
          <p:nvPr/>
        </p:nvSpPr>
        <p:spPr>
          <a:xfrm>
            <a:off x="4517136" y="4160520"/>
            <a:ext cx="634594" cy="953719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4517136" y="4160520"/>
            <a:ext cx="634594" cy="953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86" name="Text 84"/>
          <p:cNvSpPr txBox="1"/>
          <p:nvPr/>
        </p:nvSpPr>
        <p:spPr>
          <a:xfrm>
            <a:off x="4517136" y="5141671"/>
            <a:ext cx="6345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5151730" y="4160520"/>
            <a:ext cx="634594" cy="953719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5151730" y="4160520"/>
            <a:ext cx="634594" cy="953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500" dirty="0"/>
          </a:p>
        </p:txBody>
      </p:sp>
      <p:sp>
        <p:nvSpPr>
          <p:cNvPr id="89" name="Text 87"/>
          <p:cNvSpPr txBox="1"/>
          <p:nvPr/>
        </p:nvSpPr>
        <p:spPr>
          <a:xfrm>
            <a:off x="5151730" y="5141671"/>
            <a:ext cx="6345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90" name="Shape 88"/>
          <p:cNvSpPr/>
          <p:nvPr/>
        </p:nvSpPr>
        <p:spPr>
          <a:xfrm>
            <a:off x="5786323" y="4160520"/>
            <a:ext cx="634594" cy="953719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5786323" y="4160520"/>
            <a:ext cx="634594" cy="953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500" dirty="0"/>
          </a:p>
        </p:txBody>
      </p:sp>
      <p:sp>
        <p:nvSpPr>
          <p:cNvPr id="92" name="Text 90"/>
          <p:cNvSpPr txBox="1"/>
          <p:nvPr/>
        </p:nvSpPr>
        <p:spPr>
          <a:xfrm>
            <a:off x="5786323" y="5141671"/>
            <a:ext cx="6345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93" name="Shape 91"/>
          <p:cNvSpPr/>
          <p:nvPr/>
        </p:nvSpPr>
        <p:spPr>
          <a:xfrm>
            <a:off x="6420917" y="4160520"/>
            <a:ext cx="634594" cy="953719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6420917" y="4160520"/>
            <a:ext cx="634594" cy="953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500" dirty="0"/>
          </a:p>
        </p:txBody>
      </p:sp>
      <p:sp>
        <p:nvSpPr>
          <p:cNvPr id="95" name="Text 93"/>
          <p:cNvSpPr txBox="1"/>
          <p:nvPr/>
        </p:nvSpPr>
        <p:spPr>
          <a:xfrm>
            <a:off x="6420917" y="5141671"/>
            <a:ext cx="6345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96" name="Shape 94"/>
          <p:cNvSpPr/>
          <p:nvPr/>
        </p:nvSpPr>
        <p:spPr>
          <a:xfrm>
            <a:off x="7055510" y="4160520"/>
            <a:ext cx="634594" cy="953719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7055510" y="5141671"/>
            <a:ext cx="6345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98" name="Text 96"/>
          <p:cNvSpPr txBox="1"/>
          <p:nvPr/>
        </p:nvSpPr>
        <p:spPr>
          <a:xfrm>
            <a:off x="4498848" y="5577840"/>
            <a:ext cx="3209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at index &gt; 2 move one slot left</a:t>
            </a:r>
            <a:endParaRPr lang="en-US" sz="1200" dirty="0"/>
          </a:p>
        </p:txBody>
      </p:sp>
      <p:sp>
        <p:nvSpPr>
          <p:cNvPr id="99" name="Shape 97"/>
          <p:cNvSpPr/>
          <p:nvPr/>
        </p:nvSpPr>
        <p:spPr>
          <a:xfrm>
            <a:off x="7836408" y="4654296"/>
            <a:ext cx="411480" cy="292608"/>
          </a:xfrm>
          <a:prstGeom prst="rightArrow">
            <a:avLst/>
          </a:prstGeom>
          <a:solidFill>
            <a:srgbClr val="2D6A4F"/>
          </a:solidFill>
          <a:ln/>
        </p:spPr>
      </p:sp>
      <p:sp>
        <p:nvSpPr>
          <p:cNvPr id="100" name="Shape 98"/>
          <p:cNvSpPr/>
          <p:nvPr/>
        </p:nvSpPr>
        <p:spPr>
          <a:xfrm>
            <a:off x="8302752" y="3794760"/>
            <a:ext cx="3355848" cy="2148840"/>
          </a:xfrm>
          <a:prstGeom prst="roundRect">
            <a:avLst>
              <a:gd name="adj" fmla="val 3404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8375904" y="3858768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300" dirty="0"/>
          </a:p>
        </p:txBody>
      </p:sp>
      <p:sp>
        <p:nvSpPr>
          <p:cNvPr id="102" name="Shape 100"/>
          <p:cNvSpPr/>
          <p:nvPr/>
        </p:nvSpPr>
        <p:spPr>
          <a:xfrm>
            <a:off x="8394192" y="4160520"/>
            <a:ext cx="793242" cy="953719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8394192" y="4160520"/>
            <a:ext cx="793242" cy="953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104" name="Text 102"/>
          <p:cNvSpPr txBox="1"/>
          <p:nvPr/>
        </p:nvSpPr>
        <p:spPr>
          <a:xfrm>
            <a:off x="8394192" y="5141671"/>
            <a:ext cx="7932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105" name="Shape 103"/>
          <p:cNvSpPr/>
          <p:nvPr/>
        </p:nvSpPr>
        <p:spPr>
          <a:xfrm>
            <a:off x="9187434" y="4160520"/>
            <a:ext cx="793242" cy="953719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9187434" y="4160520"/>
            <a:ext cx="793242" cy="953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500" dirty="0"/>
          </a:p>
        </p:txBody>
      </p:sp>
      <p:sp>
        <p:nvSpPr>
          <p:cNvPr id="107" name="Text 105"/>
          <p:cNvSpPr txBox="1"/>
          <p:nvPr/>
        </p:nvSpPr>
        <p:spPr>
          <a:xfrm>
            <a:off x="9187434" y="5141671"/>
            <a:ext cx="7932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08" name="Shape 106"/>
          <p:cNvSpPr/>
          <p:nvPr/>
        </p:nvSpPr>
        <p:spPr>
          <a:xfrm>
            <a:off x="9980676" y="4160520"/>
            <a:ext cx="793242" cy="953719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9980676" y="4160520"/>
            <a:ext cx="793242" cy="953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500" dirty="0"/>
          </a:p>
        </p:txBody>
      </p:sp>
      <p:sp>
        <p:nvSpPr>
          <p:cNvPr id="110" name="Text 108"/>
          <p:cNvSpPr txBox="1"/>
          <p:nvPr/>
        </p:nvSpPr>
        <p:spPr>
          <a:xfrm>
            <a:off x="9980676" y="5141671"/>
            <a:ext cx="7932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11" name="Shape 109"/>
          <p:cNvSpPr/>
          <p:nvPr/>
        </p:nvSpPr>
        <p:spPr>
          <a:xfrm>
            <a:off x="10773918" y="4160520"/>
            <a:ext cx="793242" cy="953719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10773918" y="4160520"/>
            <a:ext cx="793242" cy="953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500" dirty="0"/>
          </a:p>
        </p:txBody>
      </p:sp>
      <p:sp>
        <p:nvSpPr>
          <p:cNvPr id="113" name="Text 111"/>
          <p:cNvSpPr txBox="1"/>
          <p:nvPr/>
        </p:nvSpPr>
        <p:spPr>
          <a:xfrm>
            <a:off x="10773918" y="5141671"/>
            <a:ext cx="7932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14" name="Text 112"/>
          <p:cNvSpPr txBox="1"/>
          <p:nvPr/>
        </p:nvSpPr>
        <p:spPr>
          <a:xfrm>
            <a:off x="8375904" y="5577840"/>
            <a:ext cx="3209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shrinks to 4 elements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ARRAYS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(growable) arrays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67665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165" indent="-177165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static array’s size is fixed forever. A </a:t>
            </a:r>
            <a:r>
              <a:rPr lang="en-US" sz="15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array</a:t>
            </a: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starts with some capacity and </a:t>
            </a:r>
            <a:r>
              <a:rPr lang="en-US" sz="15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</a:t>
            </a: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it fills up.</a:t>
            </a:r>
            <a:endParaRPr lang="en-US" sz="1550" dirty="0"/>
          </a:p>
          <a:p>
            <a:pPr marL="177165" indent="-177165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strategy: when full, allocate a </a:t>
            </a:r>
            <a:r>
              <a:rPr lang="en-US" sz="15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new, larger array</a:t>
            </a: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(commonly double the size), copy all elements across, free the old array.</a:t>
            </a:r>
            <a:endParaRPr lang="en-US" sz="1550" dirty="0"/>
          </a:p>
          <a:p>
            <a:pPr marL="177165" indent="-177165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growth step costs </a:t>
            </a:r>
            <a:r>
              <a:rPr lang="en-US" sz="15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(the copy) — but it happens rarely, so the </a:t>
            </a:r>
            <a:r>
              <a:rPr lang="en-US" sz="15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amortized</a:t>
            </a: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cost of n insertions is still O(1) per insertion on average.</a:t>
            </a:r>
            <a:endParaRPr lang="en-US" sz="1550" dirty="0"/>
          </a:p>
          <a:p>
            <a:pPr marL="177165" indent="-177165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how C++ </a:t>
            </a:r>
            <a:r>
              <a:rPr lang="en-US" sz="155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std::vector</a:t>
            </a: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Java </a:t>
            </a:r>
            <a:r>
              <a:rPr lang="en-US" sz="155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Python </a:t>
            </a:r>
            <a:r>
              <a:rPr lang="en-US" sz="155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work internally.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589520" y="1417320"/>
            <a:ext cx="4069080" cy="4480560"/>
          </a:xfrm>
          <a:prstGeom prst="roundRect">
            <a:avLst>
              <a:gd name="adj" fmla="val 1798"/>
            </a:avLst>
          </a:prstGeom>
          <a:solidFill>
            <a:srgbClr val="E9F5EC"/>
          </a:solidFill>
          <a:ln w="12700">
            <a:solidFill>
              <a:srgbClr val="E9F5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18120" y="15361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Amortized doubling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818120" y="19202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1: insert costs 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058400" y="19202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818120" y="24871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2: insert costs 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0" y="24871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C9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818120" y="305409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4: insert costs 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0" y="305409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C9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O(2)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818120" y="362102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8: insert costs 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0" y="362102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C9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O(4)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818120" y="4187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16: insert costs 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0" y="418795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C9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O(8)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818120" y="466344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of n inserts ≈ n + n/2 + n/4 + … ≈ 2n → O(n) total, i.e. O(1) amortized per insert.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ARRAYS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Arrays: strengths, weaknesses, uses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657600" cy="4572000"/>
          </a:xfrm>
          <a:prstGeom prst="roundRect">
            <a:avLst>
              <a:gd name="adj" fmla="val 2000"/>
            </a:avLst>
          </a:prstGeom>
          <a:solidFill>
            <a:srgbClr val="E9F5EC"/>
          </a:solidFill>
          <a:ln w="12700">
            <a:solidFill>
              <a:srgbClr val="E9F5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11680"/>
            <a:ext cx="32461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2880" indent="-18288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random access by index</a:t>
            </a:r>
            <a:endParaRPr lang="en-US" sz="1600" dirty="0"/>
          </a:p>
          <a:p>
            <a:pPr marL="182880" indent="-18288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Cache-friendly: contiguous memory</a:t>
            </a:r>
            <a:endParaRPr lang="en-US" sz="1600" dirty="0"/>
          </a:p>
          <a:p>
            <a:pPr marL="182880" indent="-18288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— no pointer overhead</a:t>
            </a:r>
            <a:endParaRPr lang="en-US" sz="1600" dirty="0"/>
          </a:p>
          <a:p>
            <a:pPr marL="182880" indent="-18288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implement and reason about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43400" y="1417320"/>
            <a:ext cx="3657600" cy="4572000"/>
          </a:xfrm>
          <a:prstGeom prst="roundRect">
            <a:avLst>
              <a:gd name="adj" fmla="val 2000"/>
            </a:avLst>
          </a:prstGeom>
          <a:solidFill>
            <a:srgbClr val="FBEAE9"/>
          </a:solidFill>
          <a:ln w="12700">
            <a:solidFill>
              <a:srgbClr val="FBEA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1554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A0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Weaknesses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011680"/>
            <a:ext cx="32461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2880" indent="-18288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size (static arrays)</a:t>
            </a:r>
            <a:endParaRPr lang="en-US" sz="1600" dirty="0"/>
          </a:p>
          <a:p>
            <a:pPr marL="182880" indent="-18288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insert/delete in the middle</a:t>
            </a:r>
            <a:endParaRPr lang="en-US" sz="1600" dirty="0"/>
          </a:p>
          <a:p>
            <a:pPr marL="182880" indent="-18288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built-in bounds checking in C/C++</a:t>
            </a:r>
            <a:endParaRPr lang="en-US" sz="1600" dirty="0"/>
          </a:p>
          <a:p>
            <a:pPr marL="182880" indent="-18288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Resizing a dynamic array costs O(n)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38160" y="1417320"/>
            <a:ext cx="3520440" cy="4572000"/>
          </a:xfrm>
          <a:prstGeom prst="roundRect">
            <a:avLst>
              <a:gd name="adj" fmla="val 2078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667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Used for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366760" y="2011680"/>
            <a:ext cx="3108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2880" indent="-18288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tables, buffers</a:t>
            </a:r>
            <a:endParaRPr lang="en-US" sz="1600" dirty="0"/>
          </a:p>
          <a:p>
            <a:pPr marL="182880" indent="-18288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 and images (2D arrays)</a:t>
            </a:r>
            <a:endParaRPr lang="en-US" sz="1600" dirty="0"/>
          </a:p>
          <a:p>
            <a:pPr marL="182880" indent="-18288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stacks, queues, heaps</a:t>
            </a:r>
            <a:endParaRPr lang="en-US" sz="1600" dirty="0"/>
          </a:p>
          <a:p>
            <a:pPr marL="182880" indent="-18288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fixed or rarely-resized collection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4884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 Lists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31920"/>
            <a:ext cx="6583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4310" indent="-19431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dynamic alternative to the array</a:t>
            </a:r>
            <a:endParaRPr lang="en-US" sz="1700" dirty="0"/>
          </a:p>
          <a:p>
            <a:pPr marL="194310" indent="-19431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and deletion at any point, in O(1) once located</a:t>
            </a:r>
            <a:endParaRPr lang="en-US" sz="1700" dirty="0"/>
          </a:p>
          <a:p>
            <a:pPr marL="194310" indent="-19431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Singly, doubly, circular, multilevel and skip lists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C5A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LINKED LISTS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linked list: nodes joined by pointers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" y="1645920"/>
            <a:ext cx="594360" cy="59436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1645920"/>
            <a:ext cx="594360" cy="59436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645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560320" y="1645920"/>
            <a:ext cx="594360" cy="59436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54680" y="1645920"/>
            <a:ext cx="594360" cy="59436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60320" y="1645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297680" y="1645920"/>
            <a:ext cx="594360" cy="59436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1645920"/>
            <a:ext cx="594360" cy="59436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97680" y="1645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011680" y="1943100"/>
            <a:ext cx="54864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749040" y="1943100"/>
            <a:ext cx="54864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650992" y="1860804"/>
            <a:ext cx="201168" cy="16459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541264" y="20528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1234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| next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23774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49440" y="1371600"/>
            <a:ext cx="4754880" cy="1554480"/>
          </a:xfrm>
          <a:prstGeom prst="roundRect">
            <a:avLst>
              <a:gd name="adj" fmla="val 3529"/>
            </a:avLst>
          </a:prstGeom>
          <a:solidFill>
            <a:srgbClr val="162D2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14032" y="1499616"/>
            <a:ext cx="442569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ListNode {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data;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ListNode* next;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List { ListNode* first; };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3200400"/>
            <a:ext cx="10607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165" indent="-177165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5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stores the data plus a </a:t>
            </a:r>
            <a:r>
              <a:rPr lang="en-US" sz="15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</a:t>
            </a: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the next node (Handbook §2.3, Fig. 2.5).</a:t>
            </a:r>
            <a:endParaRPr lang="en-US" sz="1550" dirty="0"/>
          </a:p>
          <a:p>
            <a:pPr marL="177165" indent="-177165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need </a:t>
            </a:r>
            <a:r>
              <a:rPr lang="en-US" sz="15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 contiguous in memory — each can live anywhere; the pointer is what links them.</a:t>
            </a:r>
            <a:endParaRPr lang="en-US" sz="1550" dirty="0"/>
          </a:p>
          <a:p>
            <a:pPr marL="177165" indent="-177165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 object keeps just one pointer, </a:t>
            </a:r>
            <a:r>
              <a:rPr lang="en-US" sz="15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to the head node. The last node’s pointer is </a:t>
            </a:r>
            <a:r>
              <a:rPr lang="en-US" sz="15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50" dirty="0"/>
          </a:p>
          <a:p>
            <a:pPr marL="177165" indent="-177165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trades away O(1) random access (you must walk from </a:t>
            </a:r>
            <a:r>
              <a:rPr lang="en-US" sz="155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</a:t>
            </a: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for O(1) insert/delete once you are at the right spot.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LINKED LISTS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 vs linked list: the core trade-off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1099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931920"/>
                <a:gridCol w="3886200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 list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layout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contiguous block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scattered nodes + pointers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by index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 — must walk from first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Insert/delete at front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 (shift)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Insert/delete at a known node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 (shift)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for a 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O(n), or O(log n) sorted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 always (no binary search)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memory per element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(or two) pointers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Resizing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 copy (dynamic array)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grows/shrinks for free, node by node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669280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E9F5EC"/>
          </a:solidFill>
          <a:ln w="12700">
            <a:solidFill>
              <a:srgbClr val="E9F5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779008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6035040"/>
            <a:ext cx="1074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many random lookups by index → array. Frequent insert/delete, unknown final size → linked list.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LINKED LISTS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Searching a linked list: Θ(n)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525780" cy="548640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8740" y="1828800"/>
            <a:ext cx="525780" cy="548640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828800"/>
            <a:ext cx="5257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286000" y="1828800"/>
            <a:ext cx="525780" cy="548640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11780" y="1828800"/>
            <a:ext cx="525780" cy="548640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86000" y="1828800"/>
            <a:ext cx="5257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749040" y="1828800"/>
            <a:ext cx="525780" cy="548640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74820" y="1828800"/>
            <a:ext cx="525780" cy="548640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49040" y="1828800"/>
            <a:ext cx="5257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212080" y="1828800"/>
            <a:ext cx="52578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37860" y="1828800"/>
            <a:ext cx="52578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12080" y="1828800"/>
            <a:ext cx="5257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675120" y="1828800"/>
            <a:ext cx="52578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00900" y="1828800"/>
            <a:ext cx="52578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75120" y="1828800"/>
            <a:ext cx="5257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874520" y="2103120"/>
            <a:ext cx="41148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337560" y="2103120"/>
            <a:ext cx="41148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800600" y="2103120"/>
            <a:ext cx="41148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263640" y="2103120"/>
            <a:ext cx="41148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891272" y="2020824"/>
            <a:ext cx="201168" cy="16459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81544" y="22128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22960" y="3108960"/>
            <a:ext cx="7772400" cy="1371600"/>
          </a:xfrm>
          <a:prstGeom prst="roundRect">
            <a:avLst>
              <a:gd name="adj" fmla="val 4000"/>
            </a:avLst>
          </a:prstGeom>
          <a:solidFill>
            <a:srgbClr val="162D2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87552" y="3236976"/>
            <a:ext cx="744321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List::Search(int k) {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(ListNode* cur = first; cur; cur = cur-&gt;next)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(cur-&gt;data == k) return true;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false;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466344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735" indent="-165735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</a:t>
            </a:r>
            <a:r>
              <a:rPr lang="en-US" sz="145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follow </a:t>
            </a:r>
            <a:r>
              <a:rPr lang="en-US" sz="145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pointers, compare each node’s data with k.</a:t>
            </a:r>
            <a:endParaRPr lang="en-US" sz="1450" dirty="0"/>
          </a:p>
          <a:p>
            <a:pPr marL="165735" indent="-165735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 (not found, or found at the end): visit all n nodes → </a:t>
            </a: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Θ(n)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  <a:p>
            <a:pPr marL="165735" indent="-165735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 sorted array, a sorted linked list </a:t>
            </a: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 binary-searched — you cannot jump to the middle without walking there first.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LINKED LISTS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Insertion: four places to add a node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front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965960"/>
            <a:ext cx="434340" cy="475488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5860" y="1965960"/>
            <a:ext cx="434340" cy="475488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965960"/>
            <a:ext cx="4343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856232" y="1965960"/>
            <a:ext cx="434340" cy="475488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90572" y="1965960"/>
            <a:ext cx="434340" cy="475488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856232" y="1965960"/>
            <a:ext cx="4343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980944" y="1965960"/>
            <a:ext cx="434340" cy="475488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15284" y="1965960"/>
            <a:ext cx="434340" cy="475488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80944" y="1965960"/>
            <a:ext cx="4343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05656" y="1965960"/>
            <a:ext cx="434340" cy="475488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39996" y="1965960"/>
            <a:ext cx="434340" cy="475488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05656" y="1965960"/>
            <a:ext cx="4343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600200" y="2203704"/>
            <a:ext cx="256032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724912" y="2203704"/>
            <a:ext cx="256032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849624" y="2203704"/>
            <a:ext cx="256032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138928" y="2121408"/>
            <a:ext cx="201168" cy="16459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029200" y="23134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72200" y="141732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09360" y="15087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given node (after 20)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355080" y="1965960"/>
            <a:ext cx="434340" cy="475488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89420" y="1965960"/>
            <a:ext cx="434340" cy="475488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55080" y="1965960"/>
            <a:ext cx="4343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479792" y="1965960"/>
            <a:ext cx="434340" cy="475488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14132" y="1965960"/>
            <a:ext cx="434340" cy="475488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79792" y="1965960"/>
            <a:ext cx="4343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604504" y="1965960"/>
            <a:ext cx="434340" cy="475488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38844" y="1965960"/>
            <a:ext cx="434340" cy="475488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604504" y="1965960"/>
            <a:ext cx="4343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729216" y="1965960"/>
            <a:ext cx="434340" cy="475488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163556" y="1965960"/>
            <a:ext cx="434340" cy="475488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729216" y="1965960"/>
            <a:ext cx="4343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223760" y="2203704"/>
            <a:ext cx="256032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8348472" y="2203704"/>
            <a:ext cx="256032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473184" y="2203704"/>
            <a:ext cx="256032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10762488" y="2121408"/>
            <a:ext cx="201168" cy="16459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10652760" y="23134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48640" y="388620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85800" y="39776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 given node (before 30)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731520" y="4434840"/>
            <a:ext cx="434340" cy="475488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65860" y="4434840"/>
            <a:ext cx="434340" cy="475488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31520" y="4434840"/>
            <a:ext cx="4343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1856232" y="4434840"/>
            <a:ext cx="434340" cy="475488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290572" y="4434840"/>
            <a:ext cx="434340" cy="475488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856232" y="4434840"/>
            <a:ext cx="4343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2980944" y="4434840"/>
            <a:ext cx="434340" cy="475488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415284" y="4434840"/>
            <a:ext cx="434340" cy="475488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2980944" y="4434840"/>
            <a:ext cx="4343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4105656" y="4434840"/>
            <a:ext cx="434340" cy="475488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39996" y="4434840"/>
            <a:ext cx="434340" cy="475488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105656" y="4434840"/>
            <a:ext cx="4343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1600200" y="4672584"/>
            <a:ext cx="256032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2724912" y="4672584"/>
            <a:ext cx="256032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3849624" y="4672584"/>
            <a:ext cx="256032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5138928" y="4590288"/>
            <a:ext cx="201168" cy="16459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5029200" y="47823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172200" y="388620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6309360" y="39776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end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6355080" y="4434840"/>
            <a:ext cx="434340" cy="475488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789420" y="4434840"/>
            <a:ext cx="434340" cy="475488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6355080" y="4434840"/>
            <a:ext cx="4343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7479792" y="4434840"/>
            <a:ext cx="434340" cy="475488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914132" y="4434840"/>
            <a:ext cx="434340" cy="475488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7479792" y="4434840"/>
            <a:ext cx="4343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8604504" y="4434840"/>
            <a:ext cx="434340" cy="475488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038844" y="4434840"/>
            <a:ext cx="434340" cy="475488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8604504" y="4434840"/>
            <a:ext cx="4343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9729216" y="4434840"/>
            <a:ext cx="434340" cy="475488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163556" y="4434840"/>
            <a:ext cx="434340" cy="475488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9729216" y="4434840"/>
            <a:ext cx="4343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7223760" y="4672584"/>
            <a:ext cx="256032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8348472" y="4672584"/>
            <a:ext cx="256032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9473184" y="4672584"/>
            <a:ext cx="256032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79" name="Shape 77"/>
          <p:cNvSpPr/>
          <p:nvPr/>
        </p:nvSpPr>
        <p:spPr>
          <a:xfrm>
            <a:off x="10762488" y="4590288"/>
            <a:ext cx="201168" cy="16459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10652760" y="47823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LINKED LISTS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Insertion detail: after a given node — just two pointers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355848" cy="2194560"/>
          </a:xfrm>
          <a:prstGeom prst="roundRect">
            <a:avLst>
              <a:gd name="adj" fmla="val 3333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481328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45720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920240"/>
            <a:ext cx="45720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9202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011680" y="1920240"/>
            <a:ext cx="457200" cy="502920"/>
          </a:xfrm>
          <a:prstGeom prst="rect">
            <a:avLst/>
          </a:prstGeom>
          <a:solidFill>
            <a:srgbClr val="FBEAE9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1920240"/>
            <a:ext cx="457200" cy="502920"/>
          </a:xfrm>
          <a:prstGeom prst="rect">
            <a:avLst/>
          </a:prstGeom>
          <a:solidFill>
            <a:srgbClr val="FBEAE9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011680" y="19202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83280" y="1920240"/>
            <a:ext cx="45720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0" y="1920240"/>
            <a:ext cx="45720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83280" y="19202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54480" y="2171700"/>
            <a:ext cx="45720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926080" y="2171700"/>
            <a:ext cx="45720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462272" y="2089404"/>
            <a:ext cx="201168" cy="16459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352544" y="22814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" y="3246120"/>
            <a:ext cx="3209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25 after node 20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959352" y="2339035"/>
            <a:ext cx="411480" cy="292608"/>
          </a:xfrm>
          <a:prstGeom prst="rightArrow">
            <a:avLst/>
          </a:prstGeom>
          <a:solidFill>
            <a:srgbClr val="2D6A4F"/>
          </a:solidFill>
          <a:ln/>
        </p:spPr>
      </p:sp>
      <p:sp>
        <p:nvSpPr>
          <p:cNvPr id="22" name="Shape 20"/>
          <p:cNvSpPr/>
          <p:nvPr/>
        </p:nvSpPr>
        <p:spPr>
          <a:xfrm>
            <a:off x="4425696" y="1417320"/>
            <a:ext cx="3355848" cy="2194560"/>
          </a:xfrm>
          <a:prstGeom prst="roundRect">
            <a:avLst>
              <a:gd name="adj" fmla="val 3333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498848" y="1481328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the new node forward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17136" y="1920240"/>
            <a:ext cx="38862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05756" y="1920240"/>
            <a:ext cx="38862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17136" y="1920240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522976" y="1920240"/>
            <a:ext cx="388620" cy="457200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11596" y="1920240"/>
            <a:ext cx="388620" cy="457200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522976" y="1920240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528816" y="1920240"/>
            <a:ext cx="388620" cy="457200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17436" y="1920240"/>
            <a:ext cx="388620" cy="457200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28816" y="1920240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534656" y="1920240"/>
            <a:ext cx="38862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923276" y="1920240"/>
            <a:ext cx="38862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534656" y="1920240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294376" y="2148840"/>
            <a:ext cx="22860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300216" y="2148840"/>
            <a:ext cx="22860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306056" y="2148840"/>
            <a:ext cx="22860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8476488" y="2066544"/>
            <a:ext cx="201168" cy="16459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366760" y="22585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4498848" y="3246120"/>
            <a:ext cx="3209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newnode-&gt;next = current-&gt;next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7836408" y="2339035"/>
            <a:ext cx="411480" cy="292608"/>
          </a:xfrm>
          <a:prstGeom prst="rightArrow">
            <a:avLst/>
          </a:prstGeom>
          <a:solidFill>
            <a:srgbClr val="2D6A4F"/>
          </a:solidFill>
          <a:ln/>
        </p:spPr>
      </p:sp>
      <p:sp>
        <p:nvSpPr>
          <p:cNvPr id="43" name="Shape 41"/>
          <p:cNvSpPr/>
          <p:nvPr/>
        </p:nvSpPr>
        <p:spPr>
          <a:xfrm>
            <a:off x="8302752" y="1417320"/>
            <a:ext cx="3355848" cy="2194560"/>
          </a:xfrm>
          <a:prstGeom prst="roundRect">
            <a:avLst>
              <a:gd name="adj" fmla="val 3333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375904" y="1481328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8394192" y="1920240"/>
            <a:ext cx="38862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82812" y="1920240"/>
            <a:ext cx="38862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394192" y="1920240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9400032" y="1920240"/>
            <a:ext cx="38862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788652" y="1920240"/>
            <a:ext cx="38862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400032" y="1920240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10405872" y="1920240"/>
            <a:ext cx="388620" cy="457200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794492" y="1920240"/>
            <a:ext cx="388620" cy="457200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10405872" y="1920240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11411712" y="1920240"/>
            <a:ext cx="38862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800332" y="1920240"/>
            <a:ext cx="38862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1411712" y="1920240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9171432" y="2148840"/>
            <a:ext cx="22860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10177272" y="2148840"/>
            <a:ext cx="22860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11183112" y="2148840"/>
            <a:ext cx="22860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12353544" y="2066544"/>
            <a:ext cx="201168" cy="16459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12243816" y="22585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8375904" y="3246120"/>
            <a:ext cx="3209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current-&gt;next = newnode</a:t>
            </a:r>
            <a:endParaRPr lang="en-US" sz="1250" dirty="0"/>
          </a:p>
        </p:txBody>
      </p:sp>
      <p:sp>
        <p:nvSpPr>
          <p:cNvPr id="63" name="Shape 61"/>
          <p:cNvSpPr/>
          <p:nvPr/>
        </p:nvSpPr>
        <p:spPr>
          <a:xfrm>
            <a:off x="548640" y="3931920"/>
            <a:ext cx="5852160" cy="1737360"/>
          </a:xfrm>
          <a:prstGeom prst="roundRect">
            <a:avLst>
              <a:gd name="adj" fmla="val 3158"/>
            </a:avLst>
          </a:prstGeom>
          <a:solidFill>
            <a:srgbClr val="162D22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713232" y="4059936"/>
            <a:ext cx="552297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InsertAfter(ListNode* current, int v) {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ListNode* n = new ListNode;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n-&gt;data = v;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n-&gt;next = current-&gt;next;   // step 1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current-&gt;next = n;         // step 2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65" name="Shape 63"/>
          <p:cNvSpPr/>
          <p:nvPr/>
        </p:nvSpPr>
        <p:spPr>
          <a:xfrm>
            <a:off x="6675120" y="3931920"/>
            <a:ext cx="4983480" cy="1737360"/>
          </a:xfrm>
          <a:prstGeom prst="roundRect">
            <a:avLst>
              <a:gd name="adj" fmla="val 4211"/>
            </a:avLst>
          </a:prstGeom>
          <a:solidFill>
            <a:srgbClr val="FCF1DC"/>
          </a:solidFill>
          <a:ln w="12700">
            <a:solidFill>
              <a:srgbClr val="FCF1DC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6858000" y="4041648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9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100" dirty="0"/>
          </a:p>
        </p:txBody>
      </p:sp>
      <p:sp>
        <p:nvSpPr>
          <p:cNvPr id="67" name="Text 65"/>
          <p:cNvSpPr txBox="1"/>
          <p:nvPr/>
        </p:nvSpPr>
        <p:spPr>
          <a:xfrm>
            <a:off x="6858000" y="4297680"/>
            <a:ext cx="4617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matters: set the new node’s </a:t>
            </a: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first, before overwriting current’s next — otherwise you lose the rest of the list.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LINKED LISTS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Deletion: unlink, then free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355848" cy="2194560"/>
          </a:xfrm>
          <a:prstGeom prst="roundRect">
            <a:avLst>
              <a:gd name="adj" fmla="val 3333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481328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45720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920240"/>
            <a:ext cx="45720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9202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011680" y="1920240"/>
            <a:ext cx="457200" cy="502920"/>
          </a:xfrm>
          <a:prstGeom prst="rect">
            <a:avLst/>
          </a:prstGeom>
          <a:solidFill>
            <a:srgbClr val="FBEAE9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1920240"/>
            <a:ext cx="457200" cy="502920"/>
          </a:xfrm>
          <a:prstGeom prst="rect">
            <a:avLst/>
          </a:prstGeom>
          <a:solidFill>
            <a:srgbClr val="FBEAE9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011680" y="19202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83280" y="1920240"/>
            <a:ext cx="45720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0" y="1920240"/>
            <a:ext cx="45720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83280" y="19202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54480" y="2171700"/>
            <a:ext cx="45720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926080" y="2171700"/>
            <a:ext cx="45720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462272" y="2089404"/>
            <a:ext cx="201168" cy="16459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352544" y="22814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" y="3246120"/>
            <a:ext cx="3209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node 20 (need a pointer to its predecessor, 10)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959352" y="2339035"/>
            <a:ext cx="411480" cy="292608"/>
          </a:xfrm>
          <a:prstGeom prst="rightArrow">
            <a:avLst/>
          </a:prstGeom>
          <a:solidFill>
            <a:srgbClr val="2D6A4F"/>
          </a:solidFill>
          <a:ln/>
        </p:spPr>
      </p:sp>
      <p:sp>
        <p:nvSpPr>
          <p:cNvPr id="22" name="Shape 20"/>
          <p:cNvSpPr/>
          <p:nvPr/>
        </p:nvSpPr>
        <p:spPr>
          <a:xfrm>
            <a:off x="4425696" y="1417320"/>
            <a:ext cx="3355848" cy="2194560"/>
          </a:xfrm>
          <a:prstGeom prst="roundRect">
            <a:avLst>
              <a:gd name="adj" fmla="val 3333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498848" y="1481328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Relink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17136" y="1920240"/>
            <a:ext cx="457200" cy="502920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74336" y="1920240"/>
            <a:ext cx="457200" cy="502920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17136" y="19202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888736" y="1920240"/>
            <a:ext cx="457200" cy="502920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45936" y="1920240"/>
            <a:ext cx="457200" cy="502920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888736" y="19202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31536" y="2171700"/>
            <a:ext cx="45720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967728" y="2089404"/>
            <a:ext cx="201168" cy="16459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858000" y="22814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4498848" y="3246120"/>
            <a:ext cx="3209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prev-&gt;next = current-&gt;next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836408" y="2339035"/>
            <a:ext cx="411480" cy="292608"/>
          </a:xfrm>
          <a:prstGeom prst="rightArrow">
            <a:avLst/>
          </a:prstGeom>
          <a:solidFill>
            <a:srgbClr val="2D6A4F"/>
          </a:solidFill>
          <a:ln/>
        </p:spPr>
      </p:sp>
      <p:sp>
        <p:nvSpPr>
          <p:cNvPr id="35" name="Shape 33"/>
          <p:cNvSpPr/>
          <p:nvPr/>
        </p:nvSpPr>
        <p:spPr>
          <a:xfrm>
            <a:off x="8302752" y="1417320"/>
            <a:ext cx="3355848" cy="2194560"/>
          </a:xfrm>
          <a:prstGeom prst="roundRect">
            <a:avLst>
              <a:gd name="adj" fmla="val 3333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375904" y="1481328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394192" y="1920240"/>
            <a:ext cx="45720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851392" y="1920240"/>
            <a:ext cx="45720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394192" y="19202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9765792" y="1920240"/>
            <a:ext cx="45720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222992" y="1920240"/>
            <a:ext cx="45720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765792" y="19202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9308592" y="2171700"/>
            <a:ext cx="45720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10844784" y="2089404"/>
            <a:ext cx="201168" cy="16459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10735056" y="22814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8375904" y="3246120"/>
            <a:ext cx="3209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20 is freed; list is 10 → 30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548640" y="3886200"/>
            <a:ext cx="11109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735" indent="-165735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delete </a:t>
            </a:r>
            <a:r>
              <a:rPr lang="en-US" sz="145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you need a pointer to its </a:t>
            </a: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predecessor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set predecessor-&gt;next = current-&gt;next, then free current.</a:t>
            </a:r>
            <a:endParaRPr lang="en-US" sz="1450" dirty="0"/>
          </a:p>
          <a:p>
            <a:pPr marL="165735" indent="-165735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insertion and deletion are </a:t>
            </a: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*provided the needed pointers are already in hand*.</a:t>
            </a:r>
            <a:endParaRPr lang="en-US" sz="1450" dirty="0"/>
          </a:p>
          <a:p>
            <a:pPr marL="165735" indent="-165735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 you usually must </a:t>
            </a: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first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find the node (or its predecessor) — so “delete key 50” costs Θ(n) overall: Θ(n) to search + O(1) to unlink.</a:t>
            </a:r>
            <a:endParaRPr lang="en-US" sz="1450" dirty="0"/>
          </a:p>
          <a:p>
            <a:pPr marL="165735" indent="-165735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student bug: forgetting to keep a </a:t>
            </a: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trailing pointer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while searching, so the predecessor is never available when needed.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LINKED LISTS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Sorted lists: what you gain, what you don’t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109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linked list can be kept </a:t>
            </a: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just like an array — but insertion must now walk to the right spot: </a:t>
            </a: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O(1).</a:t>
            </a:r>
            <a:endParaRPr lang="en-US" sz="1500" dirty="0"/>
          </a:p>
          <a:p>
            <a:pPr marL="171450" indent="-17145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 sorted array, you still </a:t>
            </a: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binary search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— no O(log n) lookup, because you cannot jump to an arbitrary index.</a:t>
            </a:r>
            <a:endParaRPr lang="en-US" sz="1500" dirty="0"/>
          </a:p>
          <a:p>
            <a:pPr marL="171450" indent="-17145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sorted linked lists ARE good at: </a:t>
            </a: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two sorted lists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into one sorted list in O(n + m), with </a:t>
            </a: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 array space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needed — just relink nodes.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520440"/>
            <a:ext cx="41148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3520440"/>
            <a:ext cx="41148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5204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920240" y="3520440"/>
            <a:ext cx="41148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31720" y="3520440"/>
            <a:ext cx="41148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920240" y="35204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017520" y="3520440"/>
            <a:ext cx="41148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3520440"/>
            <a:ext cx="41148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17520" y="35204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645920" y="3749040"/>
            <a:ext cx="27432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743200" y="3749040"/>
            <a:ext cx="27432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005072" y="3666744"/>
            <a:ext cx="201168" cy="16459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895344" y="38587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22960" y="4343400"/>
            <a:ext cx="41148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34440" y="4343400"/>
            <a:ext cx="41148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3434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920240" y="4343400"/>
            <a:ext cx="41148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31720" y="4343400"/>
            <a:ext cx="41148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920240" y="43434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017520" y="4343400"/>
            <a:ext cx="41148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29000" y="4343400"/>
            <a:ext cx="41148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017520" y="43434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645920" y="4572000"/>
            <a:ext cx="27432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743200" y="4572000"/>
            <a:ext cx="27432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005072" y="4489704"/>
            <a:ext cx="201168" cy="16459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895344" y="46817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82880" y="363931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82880" y="446227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9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B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760720" y="3931920"/>
            <a:ext cx="640080" cy="365760"/>
          </a:xfrm>
          <a:prstGeom prst="rightArrow">
            <a:avLst/>
          </a:prstGeom>
          <a:solidFill>
            <a:srgbClr val="2D6A4F"/>
          </a:solidFill>
          <a:ln/>
        </p:spPr>
      </p:sp>
      <p:sp>
        <p:nvSpPr>
          <p:cNvPr id="35" name="Shape 33"/>
          <p:cNvSpPr/>
          <p:nvPr/>
        </p:nvSpPr>
        <p:spPr>
          <a:xfrm>
            <a:off x="6766560" y="3931920"/>
            <a:ext cx="301752" cy="457200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68312" y="3931920"/>
            <a:ext cx="301752" cy="457200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766560" y="3931920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461504" y="3931920"/>
            <a:ext cx="301752" cy="457200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63256" y="3931920"/>
            <a:ext cx="301752" cy="457200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461504" y="3931920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156448" y="3931920"/>
            <a:ext cx="301752" cy="457200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458200" y="3931920"/>
            <a:ext cx="301752" cy="457200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156448" y="3931920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851392" y="3931920"/>
            <a:ext cx="301752" cy="457200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153144" y="3931920"/>
            <a:ext cx="301752" cy="457200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851392" y="3931920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9546336" y="3931920"/>
            <a:ext cx="301752" cy="457200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848088" y="3931920"/>
            <a:ext cx="301752" cy="457200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546336" y="3931920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0241280" y="3931920"/>
            <a:ext cx="301752" cy="457200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543032" y="3931920"/>
            <a:ext cx="301752" cy="457200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10241280" y="3931920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7370064" y="4160520"/>
            <a:ext cx="9144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8065008" y="4160520"/>
            <a:ext cx="9144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8759952" y="4160520"/>
            <a:ext cx="9144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9454896" y="4160520"/>
            <a:ext cx="9144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10149840" y="4160520"/>
            <a:ext cx="9144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11009376" y="4078224"/>
            <a:ext cx="201168" cy="16459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10899648" y="42702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6766560" y="4617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(used in merge sort, Handbook §2.3.1)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48640" y="5212080"/>
            <a:ext cx="11109960" cy="1005840"/>
          </a:xfrm>
          <a:prstGeom prst="roundRect">
            <a:avLst>
              <a:gd name="adj" fmla="val 7273"/>
            </a:avLst>
          </a:prstGeom>
          <a:solidFill>
            <a:srgbClr val="E9F5EC"/>
          </a:solidFill>
          <a:ln w="12700">
            <a:solidFill>
              <a:srgbClr val="E9F5EC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31520" y="5321808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100" dirty="0"/>
          </a:p>
        </p:txBody>
      </p:sp>
      <p:sp>
        <p:nvSpPr>
          <p:cNvPr id="63" name="Text 61"/>
          <p:cNvSpPr txBox="1"/>
          <p:nvPr/>
        </p:nvSpPr>
        <p:spPr>
          <a:xfrm>
            <a:off x="731520" y="5577840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Concatenating two UNSORTED lists is even simpler: point the first list’s last node at the second list’s first node. O(1) if you keep a tail pointer, O(n) otherwise (you must walk to the end).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LINKED LISTS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flavours of linked list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97480" cy="4480560"/>
          </a:xfrm>
          <a:prstGeom prst="roundRect">
            <a:avLst>
              <a:gd name="adj" fmla="val 2712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Singly linked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2860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pointer per node: next only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53949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traversal only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64992" y="1463040"/>
            <a:ext cx="2697480" cy="4480560"/>
          </a:xfrm>
          <a:prstGeom prst="roundRect">
            <a:avLst>
              <a:gd name="adj" fmla="val 2712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02152" y="16002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Doubly linked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02152" y="22860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pointers: prev and next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502152" y="53949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 both directions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81344" y="1463040"/>
            <a:ext cx="2697480" cy="4480560"/>
          </a:xfrm>
          <a:prstGeom prst="roundRect">
            <a:avLst>
              <a:gd name="adj" fmla="val 2712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18504" y="16002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Circular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318504" y="22860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node points back to first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318504" y="53949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NULL — wraps around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97696" y="1463040"/>
            <a:ext cx="2697480" cy="4480560"/>
          </a:xfrm>
          <a:prstGeom prst="roundRect">
            <a:avLst>
              <a:gd name="adj" fmla="val 2712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34856" y="16002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Multilevel / Skip list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134856" y="22860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“express-lane” pointers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9134856" y="53949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search, O(log n) average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3291840"/>
            <a:ext cx="274320" cy="347472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5840" y="3291840"/>
            <a:ext cx="274320" cy="347472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329184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444752" y="3291840"/>
            <a:ext cx="274320" cy="347472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19072" y="3291840"/>
            <a:ext cx="274320" cy="347472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444752" y="329184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157984" y="3291840"/>
            <a:ext cx="274320" cy="347472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32304" y="3291840"/>
            <a:ext cx="274320" cy="347472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157984" y="329184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280160" y="3465576"/>
            <a:ext cx="164592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993392" y="3465576"/>
            <a:ext cx="164592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871216" y="3383280"/>
            <a:ext cx="201168" cy="16459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2761488" y="35753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566160" y="3291840"/>
            <a:ext cx="274320" cy="347472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40480" y="3291840"/>
            <a:ext cx="274320" cy="347472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566160" y="329184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343400" y="3291840"/>
            <a:ext cx="274320" cy="347472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17720" y="3291840"/>
            <a:ext cx="274320" cy="347472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343400" y="329184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120640" y="3291840"/>
            <a:ext cx="274320" cy="347472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394960" y="3291840"/>
            <a:ext cx="274320" cy="347472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120640" y="329184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114800" y="3383280"/>
            <a:ext cx="22860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4892040" y="3383280"/>
            <a:ext cx="22860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 flipH="1">
            <a:off x="4892040" y="3575304"/>
            <a:ext cx="228600" cy="9144"/>
          </a:xfrm>
          <a:prstGeom prst="line">
            <a:avLst/>
          </a:prstGeom>
          <a:noFill/>
          <a:ln w="19050">
            <a:solidFill>
              <a:srgbClr val="C98A1A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 flipH="1">
            <a:off x="4114800" y="3575304"/>
            <a:ext cx="228600" cy="9144"/>
          </a:xfrm>
          <a:prstGeom prst="line">
            <a:avLst/>
          </a:prstGeom>
          <a:noFill/>
          <a:ln w="19050">
            <a:solidFill>
              <a:srgbClr val="C98A1A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5833872" y="3383280"/>
            <a:ext cx="201168" cy="16459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5724144" y="35753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355080" y="3291840"/>
            <a:ext cx="274320" cy="347472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629400" y="3291840"/>
            <a:ext cx="274320" cy="347472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355080" y="329184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7068312" y="3291840"/>
            <a:ext cx="274320" cy="347472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342632" y="3291840"/>
            <a:ext cx="274320" cy="347472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068312" y="329184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7781544" y="3291840"/>
            <a:ext cx="274320" cy="347472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055864" y="3291840"/>
            <a:ext cx="274320" cy="347472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781544" y="329184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903720" y="3465576"/>
            <a:ext cx="164592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7616952" y="3465576"/>
            <a:ext cx="164592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8055864" y="3639312"/>
            <a:ext cx="9144" cy="329184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  <a:tailEnd type="none"/>
          </a:ln>
        </p:spPr>
      </p:sp>
      <p:sp>
        <p:nvSpPr>
          <p:cNvPr id="61" name="Shape 59"/>
          <p:cNvSpPr/>
          <p:nvPr/>
        </p:nvSpPr>
        <p:spPr>
          <a:xfrm flipH="1">
            <a:off x="6629400" y="3968496"/>
            <a:ext cx="1426464" cy="9144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  <a:tailEnd type="none"/>
          </a:ln>
        </p:spPr>
      </p:sp>
      <p:sp>
        <p:nvSpPr>
          <p:cNvPr id="62" name="Shape 60"/>
          <p:cNvSpPr/>
          <p:nvPr/>
        </p:nvSpPr>
        <p:spPr>
          <a:xfrm flipV="1">
            <a:off x="6629400" y="3639312"/>
            <a:ext cx="9144" cy="329184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9144000" y="3291840"/>
            <a:ext cx="274320" cy="347472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418320" y="3291840"/>
            <a:ext cx="274320" cy="347472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9144000" y="329184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9857232" y="3291840"/>
            <a:ext cx="274320" cy="347472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131552" y="3291840"/>
            <a:ext cx="274320" cy="347472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9857232" y="329184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10570464" y="3291840"/>
            <a:ext cx="274320" cy="347472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844784" y="3291840"/>
            <a:ext cx="274320" cy="347472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10570464" y="329184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9692640" y="3465576"/>
            <a:ext cx="164592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>
            <a:off x="10405872" y="3465576"/>
            <a:ext cx="164592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11283696" y="3383280"/>
            <a:ext cx="201168" cy="16459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11173968" y="35753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418320" y="3063240"/>
            <a:ext cx="1188720" cy="9144"/>
          </a:xfrm>
          <a:prstGeom prst="line">
            <a:avLst/>
          </a:prstGeom>
          <a:noFill/>
          <a:ln w="19050">
            <a:solidFill>
              <a:srgbClr val="C98A1A"/>
            </a:solidFill>
            <a:prstDash val="dash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LINKED LISTS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Doubly linked lists: a pointer in each direction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280160" y="1828800"/>
            <a:ext cx="594360" cy="59436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74520" y="1828800"/>
            <a:ext cx="594360" cy="59436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80160" y="1828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1828800"/>
            <a:ext cx="594360" cy="594360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86200" y="1828800"/>
            <a:ext cx="594360" cy="594360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91840" y="1828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303520" y="1828800"/>
            <a:ext cx="594360" cy="59436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97880" y="1828800"/>
            <a:ext cx="594360" cy="59436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03520" y="1828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468880" y="2043684"/>
            <a:ext cx="82296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480560" y="2043684"/>
            <a:ext cx="82296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H="1">
            <a:off x="4480560" y="2235708"/>
            <a:ext cx="822960" cy="9144"/>
          </a:xfrm>
          <a:prstGeom prst="line">
            <a:avLst/>
          </a:prstGeom>
          <a:noFill/>
          <a:ln w="19050">
            <a:solidFill>
              <a:srgbClr val="C98A1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H="1">
            <a:off x="2468880" y="2235708"/>
            <a:ext cx="822960" cy="9144"/>
          </a:xfrm>
          <a:prstGeom prst="line">
            <a:avLst/>
          </a:prstGeom>
          <a:noFill/>
          <a:ln w="19050">
            <a:solidFill>
              <a:srgbClr val="C98A1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656832" y="2043684"/>
            <a:ext cx="201168" cy="16459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47104" y="22357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 | data | next  (drawn as a 2-field box; the extra prev pointer is the arrow below)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2926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next pointers (forward)     amber = prev pointers (backward)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38160" y="1828800"/>
            <a:ext cx="3520440" cy="1051560"/>
          </a:xfrm>
          <a:prstGeom prst="roundRect">
            <a:avLst>
              <a:gd name="adj" fmla="val 5217"/>
            </a:avLst>
          </a:prstGeom>
          <a:solidFill>
            <a:srgbClr val="162D2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302752" y="1956816"/>
            <a:ext cx="319125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DLNode {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data;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DLNode *prev, *next;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374904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singly-linked list’s biggest limitation: you can now traverse </a:t>
            </a: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too.</a:t>
            </a:r>
            <a:endParaRPr lang="en-US" sz="1500" dirty="0"/>
          </a:p>
          <a:p>
            <a:pPr marL="171450" indent="-17145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 is simpler: given only </a:t>
            </a:r>
            <a:r>
              <a:rPr lang="en-US" sz="15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you already have </a:t>
            </a:r>
            <a:r>
              <a:rPr lang="en-US" sz="15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current-&gt;prev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trailing pointer needed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while searching.</a:t>
            </a:r>
            <a:endParaRPr lang="en-US" sz="1500" dirty="0"/>
          </a:p>
          <a:p>
            <a:pPr marL="171450" indent="-17145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one extra pointer per node (more memory), and every insert/delete must fix </a:t>
            </a: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links instead of one.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LINKED LISTS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Circular linked lists: the last node points back to the first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463040" y="1828800"/>
            <a:ext cx="50292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65960" y="1828800"/>
            <a:ext cx="50292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63040" y="18288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26080" y="1828800"/>
            <a:ext cx="50292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1828800"/>
            <a:ext cx="50292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26080" y="18288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1828800"/>
            <a:ext cx="50292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1828800"/>
            <a:ext cx="50292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89120" y="18288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852160" y="1828800"/>
            <a:ext cx="50292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1828800"/>
            <a:ext cx="50292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52160" y="18288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468880" y="2103120"/>
            <a:ext cx="45720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931920" y="2103120"/>
            <a:ext cx="45720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394960" y="2103120"/>
            <a:ext cx="45720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355080" y="2377440"/>
            <a:ext cx="9144" cy="640080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  <a:tailEnd type="none"/>
          </a:ln>
        </p:spPr>
      </p:sp>
      <p:sp>
        <p:nvSpPr>
          <p:cNvPr id="21" name="Shape 19"/>
          <p:cNvSpPr/>
          <p:nvPr/>
        </p:nvSpPr>
        <p:spPr>
          <a:xfrm flipH="1">
            <a:off x="1965960" y="3017520"/>
            <a:ext cx="4389120" cy="9144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  <a:tailEnd type="none"/>
          </a:ln>
        </p:spPr>
      </p:sp>
      <p:sp>
        <p:nvSpPr>
          <p:cNvPr id="22" name="Shape 20"/>
          <p:cNvSpPr/>
          <p:nvPr/>
        </p:nvSpPr>
        <p:spPr>
          <a:xfrm flipV="1">
            <a:off x="1965960" y="2377440"/>
            <a:ext cx="9144" cy="640080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1463040" y="33832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NULL pointer anywhere — traversal can start at any node and will eventually loop back.</a:t>
            </a:r>
            <a:endParaRPr lang="en-US" sz="12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3931920"/>
          <a:ext cx="9281160" cy="914400"/>
        </p:xfrm>
        <a:graphic>
          <a:graphicData uri="http://schemas.openxmlformats.org/drawingml/2006/table">
            <a:tbl>
              <a:tblPr/>
              <a:tblGrid>
                <a:gridCol w="4663440"/>
                <a:gridCol w="461772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Advantages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Disadvantages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 traversal: no dead ends, whole list reachable from any node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 is trickier — must explicitly stop after one full loop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fit for round-robin scheduling, repeating playlists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Infinite-loop risk if a stopping condition bug creeps 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Useful for the Josephus-style elimination problems (below)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Deletion needs care: must correctly re-point the wrap-around link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LINKED LISTS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Circular list in action: the Josephus elimination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people stand in a circle (1..7). Counting starts at 1; every 3rd person is eliminated. Who survives?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749040" y="2011680"/>
            <a:ext cx="1501304" cy="722990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250344" y="2734670"/>
            <a:ext cx="370791" cy="1624544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H="1">
            <a:off x="4582201" y="4359214"/>
            <a:ext cx="1038935" cy="1302783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H="1">
            <a:off x="2915879" y="5661996"/>
            <a:ext cx="1666322" cy="9144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H="1" flipV="1">
            <a:off x="1876944" y="4359214"/>
            <a:ext cx="1038935" cy="1302783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 flipV="1">
            <a:off x="1876944" y="2734670"/>
            <a:ext cx="370791" cy="1624544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V="1">
            <a:off x="2247736" y="2011680"/>
            <a:ext cx="1501304" cy="722990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474720" y="1737360"/>
            <a:ext cx="548640" cy="548640"/>
          </a:xfrm>
          <a:prstGeom prst="ellipse">
            <a:avLst/>
          </a:prstGeom>
          <a:solidFill>
            <a:srgbClr val="FBEAE9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7472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76024" y="2460350"/>
            <a:ext cx="548640" cy="548640"/>
          </a:xfrm>
          <a:prstGeom prst="ellipse">
            <a:avLst/>
          </a:prstGeom>
          <a:solidFill>
            <a:srgbClr val="FBEAE9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76024" y="246035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46816" y="4084894"/>
            <a:ext cx="548640" cy="548640"/>
          </a:xfrm>
          <a:prstGeom prst="ellipse">
            <a:avLst/>
          </a:prstGeom>
          <a:solidFill>
            <a:srgbClr val="FBEAE9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46816" y="408489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07881" y="5387676"/>
            <a:ext cx="548640" cy="548640"/>
          </a:xfrm>
          <a:prstGeom prst="ellipse">
            <a:avLst/>
          </a:prstGeom>
          <a:solidFill>
            <a:srgbClr val="E9F5EC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307881" y="53876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641559" y="5387676"/>
            <a:ext cx="548640" cy="548640"/>
          </a:xfrm>
          <a:prstGeom prst="ellipse">
            <a:avLst/>
          </a:prstGeom>
          <a:solidFill>
            <a:srgbClr val="FBEAE9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641559" y="53876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602624" y="4084894"/>
            <a:ext cx="548640" cy="548640"/>
          </a:xfrm>
          <a:prstGeom prst="ellipse">
            <a:avLst/>
          </a:prstGeom>
          <a:solidFill>
            <a:srgbClr val="FBEAE9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602624" y="408489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973416" y="2460350"/>
            <a:ext cx="548640" cy="548640"/>
          </a:xfrm>
          <a:prstGeom prst="ellipse">
            <a:avLst/>
          </a:prstGeom>
          <a:solidFill>
            <a:srgbClr val="FBEAE9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973416" y="246035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138160" y="196596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E9F5EC"/>
          </a:solidFill>
          <a:ln w="12700">
            <a:solidFill>
              <a:srgbClr val="E9F5E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321040" y="207568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Elimination order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321040" y="239572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→ 6 → 2 → 7 → 5 → 1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8321040" y="30175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321040" y="33375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 4</a:t>
            </a:r>
            <a:endParaRPr lang="en-US" sz="2400" dirty="0"/>
          </a:p>
        </p:txBody>
      </p:sp>
      <p:sp>
        <p:nvSpPr>
          <p:cNvPr id="32" name="Text 30"/>
          <p:cNvSpPr txBox="1"/>
          <p:nvPr/>
        </p:nvSpPr>
        <p:spPr>
          <a:xfrm>
            <a:off x="8321040" y="3977640"/>
            <a:ext cx="3154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with a circular linked list: keep a pointer to the current person, step forward 3 times (skipping removed nodes), unlink the node you land on, repeat.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LINKED LISTS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Multilevel linked lists: express lanes over a chain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109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multilevel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(or multilist) structure adds extra pointers that skip ahead, so search does not have to visit every single node.</a:t>
            </a:r>
            <a:endParaRPr lang="en-US" sz="1500" dirty="0"/>
          </a:p>
          <a:p>
            <a:pPr marL="171450" indent="-17145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base linked list (Level 0) plus one or more “express” levels above it, each skipping over several base nodes.</a:t>
            </a:r>
            <a:endParaRPr lang="en-US" sz="1500" dirty="0"/>
          </a:p>
          <a:p>
            <a:pPr marL="171450" indent="-17145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is later formalized into the </a:t>
            </a: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list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multilevel structure with a precise, randomized rule for how many levels each node gets.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5029200"/>
            <a:ext cx="301752" cy="420624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4712" y="5029200"/>
            <a:ext cx="301752" cy="420624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5029200"/>
            <a:ext cx="301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609344" y="5029200"/>
            <a:ext cx="301752" cy="420624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11096" y="5029200"/>
            <a:ext cx="301752" cy="420624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609344" y="5029200"/>
            <a:ext cx="301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395728" y="5029200"/>
            <a:ext cx="301752" cy="420624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97480" y="5029200"/>
            <a:ext cx="301752" cy="420624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395728" y="5029200"/>
            <a:ext cx="301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182112" y="5029200"/>
            <a:ext cx="301752" cy="420624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83864" y="5029200"/>
            <a:ext cx="301752" cy="420624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182112" y="5029200"/>
            <a:ext cx="301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968496" y="5029200"/>
            <a:ext cx="301752" cy="420624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70248" y="5029200"/>
            <a:ext cx="301752" cy="420624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968496" y="5029200"/>
            <a:ext cx="301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54880" y="5029200"/>
            <a:ext cx="301752" cy="420624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56632" y="5029200"/>
            <a:ext cx="301752" cy="420624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54880" y="5029200"/>
            <a:ext cx="301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541264" y="5029200"/>
            <a:ext cx="301752" cy="420624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43016" y="5029200"/>
            <a:ext cx="301752" cy="420624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541264" y="5029200"/>
            <a:ext cx="301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327648" y="5029200"/>
            <a:ext cx="301752" cy="420624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29400" y="5029200"/>
            <a:ext cx="301752" cy="420624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27648" y="5029200"/>
            <a:ext cx="301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426464" y="5239512"/>
            <a:ext cx="18288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2212848" y="5239512"/>
            <a:ext cx="18288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999232" y="5239512"/>
            <a:ext cx="18288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785616" y="5239512"/>
            <a:ext cx="18288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572000" y="5239512"/>
            <a:ext cx="18288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358384" y="5239512"/>
            <a:ext cx="18288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144768" y="5239512"/>
            <a:ext cx="18288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095744" y="5157216"/>
            <a:ext cx="201168" cy="16459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986016" y="5349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22960" y="3611880"/>
            <a:ext cx="603504" cy="420624"/>
          </a:xfrm>
          <a:prstGeom prst="roundRect">
            <a:avLst>
              <a:gd name="adj" fmla="val 17391"/>
            </a:avLst>
          </a:prstGeom>
          <a:solidFill>
            <a:srgbClr val="F5C871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22960" y="3611880"/>
            <a:ext cx="603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1124712" y="4032504"/>
            <a:ext cx="9144" cy="996696"/>
          </a:xfrm>
          <a:prstGeom prst="line">
            <a:avLst/>
          </a:prstGeom>
          <a:noFill/>
          <a:ln w="15875">
            <a:solidFill>
              <a:srgbClr val="C98A1A"/>
            </a:solidFill>
            <a:prstDash val="dash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2395728" y="3611880"/>
            <a:ext cx="603504" cy="420624"/>
          </a:xfrm>
          <a:prstGeom prst="roundRect">
            <a:avLst>
              <a:gd name="adj" fmla="val 17391"/>
            </a:avLst>
          </a:prstGeom>
          <a:solidFill>
            <a:srgbClr val="F5C871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395728" y="3611880"/>
            <a:ext cx="603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2697480" y="4032504"/>
            <a:ext cx="9144" cy="996696"/>
          </a:xfrm>
          <a:prstGeom prst="line">
            <a:avLst/>
          </a:prstGeom>
          <a:noFill/>
          <a:ln w="15875">
            <a:solidFill>
              <a:srgbClr val="C98A1A"/>
            </a:solidFill>
            <a:prstDash val="dash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3968496" y="3611880"/>
            <a:ext cx="603504" cy="420624"/>
          </a:xfrm>
          <a:prstGeom prst="roundRect">
            <a:avLst>
              <a:gd name="adj" fmla="val 17391"/>
            </a:avLst>
          </a:prstGeom>
          <a:solidFill>
            <a:srgbClr val="F5C871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968496" y="3611880"/>
            <a:ext cx="603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4270248" y="4032504"/>
            <a:ext cx="9144" cy="996696"/>
          </a:xfrm>
          <a:prstGeom prst="line">
            <a:avLst/>
          </a:prstGeom>
          <a:noFill/>
          <a:ln w="15875">
            <a:solidFill>
              <a:srgbClr val="C98A1A"/>
            </a:solidFill>
            <a:prstDash val="dash"/>
            <a:tailEnd type="none"/>
          </a:ln>
        </p:spPr>
      </p:sp>
      <p:sp>
        <p:nvSpPr>
          <p:cNvPr id="48" name="Shape 46"/>
          <p:cNvSpPr/>
          <p:nvPr/>
        </p:nvSpPr>
        <p:spPr>
          <a:xfrm>
            <a:off x="5541264" y="3611880"/>
            <a:ext cx="603504" cy="420624"/>
          </a:xfrm>
          <a:prstGeom prst="roundRect">
            <a:avLst>
              <a:gd name="adj" fmla="val 17391"/>
            </a:avLst>
          </a:prstGeom>
          <a:solidFill>
            <a:srgbClr val="F5C871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541264" y="3611880"/>
            <a:ext cx="603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5843016" y="4032504"/>
            <a:ext cx="9144" cy="996696"/>
          </a:xfrm>
          <a:prstGeom prst="line">
            <a:avLst/>
          </a:prstGeom>
          <a:noFill/>
          <a:ln w="15875">
            <a:solidFill>
              <a:srgbClr val="C98A1A"/>
            </a:solidFill>
            <a:prstDash val="dash"/>
            <a:tailEnd type="none"/>
          </a:ln>
        </p:spPr>
      </p:sp>
      <p:sp>
        <p:nvSpPr>
          <p:cNvPr id="51" name="Shape 49"/>
          <p:cNvSpPr/>
          <p:nvPr/>
        </p:nvSpPr>
        <p:spPr>
          <a:xfrm>
            <a:off x="1426464" y="3822192"/>
            <a:ext cx="969264" cy="9144"/>
          </a:xfrm>
          <a:prstGeom prst="line">
            <a:avLst/>
          </a:prstGeom>
          <a:noFill/>
          <a:ln w="22225">
            <a:solidFill>
              <a:srgbClr val="C98A1A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2999232" y="3822192"/>
            <a:ext cx="969264" cy="9144"/>
          </a:xfrm>
          <a:prstGeom prst="line">
            <a:avLst/>
          </a:prstGeom>
          <a:noFill/>
          <a:ln w="22225">
            <a:solidFill>
              <a:srgbClr val="C98A1A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4572000" y="3822192"/>
            <a:ext cx="969264" cy="9144"/>
          </a:xfrm>
          <a:prstGeom prst="line">
            <a:avLst/>
          </a:prstGeom>
          <a:noFill/>
          <a:ln w="22225">
            <a:solidFill>
              <a:srgbClr val="C98A1A"/>
            </a:solidFill>
            <a:prstDash val="solid"/>
            <a:tailEnd type="triangle"/>
          </a:ln>
        </p:spPr>
      </p:sp>
      <p:sp>
        <p:nvSpPr>
          <p:cNvPr id="54" name="Text 52"/>
          <p:cNvSpPr txBox="1"/>
          <p:nvPr/>
        </p:nvSpPr>
        <p:spPr>
          <a:xfrm>
            <a:off x="822960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9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(express lane): 10 → 30 → 50 → 70</a:t>
            </a:r>
            <a:endParaRPr lang="en-US" sz="1150" dirty="0"/>
          </a:p>
        </p:txBody>
      </p:sp>
      <p:sp>
        <p:nvSpPr>
          <p:cNvPr id="55" name="Text 53"/>
          <p:cNvSpPr txBox="1"/>
          <p:nvPr/>
        </p:nvSpPr>
        <p:spPr>
          <a:xfrm>
            <a:off x="822960" y="5532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 (full list): every node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7818120" y="3566160"/>
            <a:ext cx="3840480" cy="1920240"/>
          </a:xfrm>
          <a:prstGeom prst="roundRect">
            <a:avLst>
              <a:gd name="adj" fmla="val 3810"/>
            </a:avLst>
          </a:prstGeom>
          <a:solidFill>
            <a:srgbClr val="E9F5EC"/>
          </a:solidFill>
          <a:ln w="12700">
            <a:solidFill>
              <a:srgbClr val="E9F5EC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001000" y="36758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8001000" y="3931920"/>
            <a:ext cx="3474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70: jump 10 → 30 → 50 → 70 on Level 1 (3 hops) instead of walking 10 → 20 → 30 → 40 → 50 → 60 → 70 on Level 0 (6 hops).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LINKED LISTS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Skip lists: randomized levels for O(log n) average search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109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735" indent="-165735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is given a </a:t>
            </a: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level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inserted (flip a coin: level 1 with prob ½, level 2 with prob ¼, …).</a:t>
            </a:r>
            <a:endParaRPr lang="en-US" sz="1450" dirty="0"/>
          </a:p>
          <a:p>
            <a:pPr marL="165735" indent="-165735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search starts at the </a:t>
            </a: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top-left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node and moves right while the next key is ≤ target; when it would overshoot, it </a:t>
            </a: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down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level.</a:t>
            </a:r>
            <a:endParaRPr lang="en-US" sz="1450" dirty="0"/>
          </a:p>
          <a:p>
            <a:pPr marL="165735" indent="-165735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search cost is </a:t>
            </a: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extra levels act exactly like the “express lanes” on the previous slide, but self-organizing.</a:t>
            </a:r>
            <a:endParaRPr lang="en-US" sz="1450" dirty="0"/>
          </a:p>
          <a:p>
            <a:pPr marL="165735" indent="-165735">
              <a:spcAft>
                <a:spcPts val="700"/>
              </a:spcAft>
              <a:buSzPct val="100000"/>
              <a:buChar char="•"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Handbook §13.3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skip lists are a practical, simpler-to-implement alternative to balanced trees for ordered dictionaries.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3566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80160" y="3566160"/>
            <a:ext cx="822960" cy="365760"/>
          </a:xfrm>
          <a:prstGeom prst="roundRect">
            <a:avLst>
              <a:gd name="adj" fmla="val 20000"/>
            </a:avLst>
          </a:prstGeom>
          <a:solidFill>
            <a:srgbClr val="F5C871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80160" y="3566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103120" y="3749040"/>
            <a:ext cx="4846320" cy="9144"/>
          </a:xfrm>
          <a:prstGeom prst="line">
            <a:avLst/>
          </a:prstGeom>
          <a:noFill/>
          <a:ln w="19050">
            <a:solidFill>
              <a:srgbClr val="C98A1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691640" y="3931920"/>
            <a:ext cx="9144" cy="1600200"/>
          </a:xfrm>
          <a:prstGeom prst="line">
            <a:avLst/>
          </a:prstGeom>
          <a:noFill/>
          <a:ln w="12700">
            <a:solidFill>
              <a:srgbClr val="6B7A72"/>
            </a:solidFill>
            <a:prstDash val="dash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6949440" y="3566160"/>
            <a:ext cx="822960" cy="365760"/>
          </a:xfrm>
          <a:prstGeom prst="roundRect">
            <a:avLst>
              <a:gd name="adj" fmla="val 20000"/>
            </a:avLst>
          </a:prstGeom>
          <a:solidFill>
            <a:srgbClr val="F5C871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49440" y="3566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60920" y="3931920"/>
            <a:ext cx="9144" cy="1600200"/>
          </a:xfrm>
          <a:prstGeom prst="line">
            <a:avLst/>
          </a:prstGeom>
          <a:noFill/>
          <a:ln w="12700">
            <a:solidFill>
              <a:srgbClr val="6B7A72"/>
            </a:solidFill>
            <a:prstDash val="dash"/>
            <a:tailEnd type="none"/>
          </a:ln>
        </p:spPr>
      </p:sp>
      <p:sp>
        <p:nvSpPr>
          <p:cNvPr id="14" name="Text 12"/>
          <p:cNvSpPr txBox="1"/>
          <p:nvPr/>
        </p:nvSpPr>
        <p:spPr>
          <a:xfrm>
            <a:off x="274320" y="4160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280160" y="4160520"/>
            <a:ext cx="822960" cy="365760"/>
          </a:xfrm>
          <a:prstGeom prst="roundRect">
            <a:avLst>
              <a:gd name="adj" fmla="val 20000"/>
            </a:avLst>
          </a:prstGeom>
          <a:solidFill>
            <a:srgbClr val="F5C871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280160" y="41605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103120" y="4343400"/>
            <a:ext cx="2011680" cy="9144"/>
          </a:xfrm>
          <a:prstGeom prst="line">
            <a:avLst/>
          </a:prstGeom>
          <a:noFill/>
          <a:ln w="19050">
            <a:solidFill>
              <a:srgbClr val="C98A1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691640" y="4526280"/>
            <a:ext cx="9144" cy="1005840"/>
          </a:xfrm>
          <a:prstGeom prst="line">
            <a:avLst/>
          </a:prstGeom>
          <a:noFill/>
          <a:ln w="12700">
            <a:solidFill>
              <a:srgbClr val="6B7A72"/>
            </a:solidFill>
            <a:prstDash val="dash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4114800" y="4160520"/>
            <a:ext cx="822960" cy="365760"/>
          </a:xfrm>
          <a:prstGeom prst="roundRect">
            <a:avLst>
              <a:gd name="adj" fmla="val 20000"/>
            </a:avLst>
          </a:prstGeom>
          <a:solidFill>
            <a:srgbClr val="F5C871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114800" y="41605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937760" y="4343400"/>
            <a:ext cx="2011680" cy="9144"/>
          </a:xfrm>
          <a:prstGeom prst="line">
            <a:avLst/>
          </a:prstGeom>
          <a:noFill/>
          <a:ln w="19050">
            <a:solidFill>
              <a:srgbClr val="C98A1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526280" y="4526280"/>
            <a:ext cx="9144" cy="1005840"/>
          </a:xfrm>
          <a:prstGeom prst="line">
            <a:avLst/>
          </a:prstGeom>
          <a:noFill/>
          <a:ln w="12700">
            <a:solidFill>
              <a:srgbClr val="6B7A72"/>
            </a:solidFill>
            <a:prstDash val="dash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6949440" y="4160520"/>
            <a:ext cx="822960" cy="365760"/>
          </a:xfrm>
          <a:prstGeom prst="roundRect">
            <a:avLst>
              <a:gd name="adj" fmla="val 20000"/>
            </a:avLst>
          </a:prstGeom>
          <a:solidFill>
            <a:srgbClr val="F5C871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49440" y="41605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772400" y="4343400"/>
            <a:ext cx="2011680" cy="9144"/>
          </a:xfrm>
          <a:prstGeom prst="line">
            <a:avLst/>
          </a:prstGeom>
          <a:noFill/>
          <a:ln w="19050">
            <a:solidFill>
              <a:srgbClr val="C98A1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360920" y="4526280"/>
            <a:ext cx="9144" cy="1005840"/>
          </a:xfrm>
          <a:prstGeom prst="line">
            <a:avLst/>
          </a:prstGeom>
          <a:noFill/>
          <a:ln w="12700">
            <a:solidFill>
              <a:srgbClr val="6B7A72"/>
            </a:solidFill>
            <a:prstDash val="dash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9784080" y="4160520"/>
            <a:ext cx="822960" cy="365760"/>
          </a:xfrm>
          <a:prstGeom prst="roundRect">
            <a:avLst>
              <a:gd name="adj" fmla="val 20000"/>
            </a:avLst>
          </a:prstGeom>
          <a:solidFill>
            <a:srgbClr val="F5C871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784080" y="41605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10195560" y="4526280"/>
            <a:ext cx="9144" cy="1005840"/>
          </a:xfrm>
          <a:prstGeom prst="line">
            <a:avLst/>
          </a:prstGeom>
          <a:noFill/>
          <a:ln w="12700">
            <a:solidFill>
              <a:srgbClr val="6B7A72"/>
            </a:solidFill>
            <a:prstDash val="dash"/>
            <a:tailEnd type="none"/>
          </a:ln>
        </p:spPr>
      </p:sp>
      <p:sp>
        <p:nvSpPr>
          <p:cNvPr id="30" name="Text 28"/>
          <p:cNvSpPr txBox="1"/>
          <p:nvPr/>
        </p:nvSpPr>
        <p:spPr>
          <a:xfrm>
            <a:off x="274320" y="4754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280160" y="4754880"/>
            <a:ext cx="822960" cy="365760"/>
          </a:xfrm>
          <a:prstGeom prst="roundRect">
            <a:avLst>
              <a:gd name="adj" fmla="val 20000"/>
            </a:avLst>
          </a:prstGeom>
          <a:solidFill>
            <a:srgbClr val="F5C871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280160" y="47548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2103120" y="4937760"/>
            <a:ext cx="594360" cy="9144"/>
          </a:xfrm>
          <a:prstGeom prst="line">
            <a:avLst/>
          </a:prstGeom>
          <a:noFill/>
          <a:ln w="19050">
            <a:solidFill>
              <a:srgbClr val="C98A1A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691640" y="5120640"/>
            <a:ext cx="9144" cy="411480"/>
          </a:xfrm>
          <a:prstGeom prst="line">
            <a:avLst/>
          </a:prstGeom>
          <a:noFill/>
          <a:ln w="12700">
            <a:solidFill>
              <a:srgbClr val="6B7A72"/>
            </a:solidFill>
            <a:prstDash val="dash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2697480" y="4754880"/>
            <a:ext cx="822960" cy="365760"/>
          </a:xfrm>
          <a:prstGeom prst="roundRect">
            <a:avLst>
              <a:gd name="adj" fmla="val 20000"/>
            </a:avLst>
          </a:prstGeom>
          <a:solidFill>
            <a:srgbClr val="F5C871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697480" y="47548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3520440" y="4937760"/>
            <a:ext cx="594360" cy="9144"/>
          </a:xfrm>
          <a:prstGeom prst="line">
            <a:avLst/>
          </a:prstGeom>
          <a:noFill/>
          <a:ln w="19050">
            <a:solidFill>
              <a:srgbClr val="C98A1A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3108960" y="5120640"/>
            <a:ext cx="9144" cy="411480"/>
          </a:xfrm>
          <a:prstGeom prst="line">
            <a:avLst/>
          </a:prstGeom>
          <a:noFill/>
          <a:ln w="12700">
            <a:solidFill>
              <a:srgbClr val="6B7A72"/>
            </a:solidFill>
            <a:prstDash val="dash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4114800" y="4754880"/>
            <a:ext cx="822960" cy="365760"/>
          </a:xfrm>
          <a:prstGeom prst="roundRect">
            <a:avLst>
              <a:gd name="adj" fmla="val 20000"/>
            </a:avLst>
          </a:prstGeom>
          <a:solidFill>
            <a:srgbClr val="F5C871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114800" y="47548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4937760" y="4937760"/>
            <a:ext cx="594360" cy="9144"/>
          </a:xfrm>
          <a:prstGeom prst="line">
            <a:avLst/>
          </a:prstGeom>
          <a:noFill/>
          <a:ln w="19050">
            <a:solidFill>
              <a:srgbClr val="C98A1A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4526280" y="5120640"/>
            <a:ext cx="9144" cy="411480"/>
          </a:xfrm>
          <a:prstGeom prst="line">
            <a:avLst/>
          </a:prstGeom>
          <a:noFill/>
          <a:ln w="12700">
            <a:solidFill>
              <a:srgbClr val="6B7A72"/>
            </a:solidFill>
            <a:prstDash val="dash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5532120" y="4754880"/>
            <a:ext cx="822960" cy="365760"/>
          </a:xfrm>
          <a:prstGeom prst="roundRect">
            <a:avLst>
              <a:gd name="adj" fmla="val 20000"/>
            </a:avLst>
          </a:prstGeom>
          <a:solidFill>
            <a:srgbClr val="F5C871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532120" y="47548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6355080" y="4937760"/>
            <a:ext cx="594360" cy="9144"/>
          </a:xfrm>
          <a:prstGeom prst="line">
            <a:avLst/>
          </a:prstGeom>
          <a:noFill/>
          <a:ln w="19050">
            <a:solidFill>
              <a:srgbClr val="C98A1A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5943600" y="5120640"/>
            <a:ext cx="9144" cy="411480"/>
          </a:xfrm>
          <a:prstGeom prst="line">
            <a:avLst/>
          </a:prstGeom>
          <a:noFill/>
          <a:ln w="12700">
            <a:solidFill>
              <a:srgbClr val="6B7A72"/>
            </a:solidFill>
            <a:prstDash val="dash"/>
            <a:tailEnd type="none"/>
          </a:ln>
        </p:spPr>
      </p:sp>
      <p:sp>
        <p:nvSpPr>
          <p:cNvPr id="47" name="Shape 45"/>
          <p:cNvSpPr/>
          <p:nvPr/>
        </p:nvSpPr>
        <p:spPr>
          <a:xfrm>
            <a:off x="6949440" y="4754880"/>
            <a:ext cx="822960" cy="365760"/>
          </a:xfrm>
          <a:prstGeom prst="roundRect">
            <a:avLst>
              <a:gd name="adj" fmla="val 20000"/>
            </a:avLst>
          </a:prstGeom>
          <a:solidFill>
            <a:srgbClr val="F5C871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949440" y="47548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7772400" y="4937760"/>
            <a:ext cx="594360" cy="9144"/>
          </a:xfrm>
          <a:prstGeom prst="line">
            <a:avLst/>
          </a:prstGeom>
          <a:noFill/>
          <a:ln w="19050">
            <a:solidFill>
              <a:srgbClr val="C98A1A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7360920" y="5120640"/>
            <a:ext cx="9144" cy="411480"/>
          </a:xfrm>
          <a:prstGeom prst="line">
            <a:avLst/>
          </a:prstGeom>
          <a:noFill/>
          <a:ln w="12700">
            <a:solidFill>
              <a:srgbClr val="6B7A72"/>
            </a:solidFill>
            <a:prstDash val="dash"/>
            <a:tailEnd type="none"/>
          </a:ln>
        </p:spPr>
      </p:sp>
      <p:sp>
        <p:nvSpPr>
          <p:cNvPr id="51" name="Shape 49"/>
          <p:cNvSpPr/>
          <p:nvPr/>
        </p:nvSpPr>
        <p:spPr>
          <a:xfrm>
            <a:off x="8366760" y="4754880"/>
            <a:ext cx="822960" cy="365760"/>
          </a:xfrm>
          <a:prstGeom prst="roundRect">
            <a:avLst>
              <a:gd name="adj" fmla="val 20000"/>
            </a:avLst>
          </a:prstGeom>
          <a:solidFill>
            <a:srgbClr val="F5C871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366760" y="47548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9189720" y="4937760"/>
            <a:ext cx="594360" cy="9144"/>
          </a:xfrm>
          <a:prstGeom prst="line">
            <a:avLst/>
          </a:prstGeom>
          <a:noFill/>
          <a:ln w="19050">
            <a:solidFill>
              <a:srgbClr val="C98A1A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8778240" y="5120640"/>
            <a:ext cx="9144" cy="411480"/>
          </a:xfrm>
          <a:prstGeom prst="line">
            <a:avLst/>
          </a:prstGeom>
          <a:noFill/>
          <a:ln w="12700">
            <a:solidFill>
              <a:srgbClr val="6B7A72"/>
            </a:solidFill>
            <a:prstDash val="dash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9784080" y="4754880"/>
            <a:ext cx="822960" cy="365760"/>
          </a:xfrm>
          <a:prstGeom prst="roundRect">
            <a:avLst>
              <a:gd name="adj" fmla="val 20000"/>
            </a:avLst>
          </a:prstGeom>
          <a:solidFill>
            <a:srgbClr val="F5C871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784080" y="47548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250" dirty="0"/>
          </a:p>
        </p:txBody>
      </p:sp>
      <p:sp>
        <p:nvSpPr>
          <p:cNvPr id="57" name="Shape 55"/>
          <p:cNvSpPr/>
          <p:nvPr/>
        </p:nvSpPr>
        <p:spPr>
          <a:xfrm>
            <a:off x="10195560" y="5120640"/>
            <a:ext cx="9144" cy="411480"/>
          </a:xfrm>
          <a:prstGeom prst="line">
            <a:avLst/>
          </a:prstGeom>
          <a:noFill/>
          <a:ln w="12700">
            <a:solidFill>
              <a:srgbClr val="6B7A72"/>
            </a:solidFill>
            <a:prstDash val="dash"/>
            <a:tailEnd type="none"/>
          </a:ln>
        </p:spPr>
      </p:sp>
      <p:sp>
        <p:nvSpPr>
          <p:cNvPr id="58" name="Text 56"/>
          <p:cNvSpPr txBox="1"/>
          <p:nvPr/>
        </p:nvSpPr>
        <p:spPr>
          <a:xfrm>
            <a:off x="274320" y="5349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1280160" y="5349240"/>
            <a:ext cx="82296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1280160" y="53492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50" dirty="0"/>
          </a:p>
        </p:txBody>
      </p:sp>
      <p:sp>
        <p:nvSpPr>
          <p:cNvPr id="61" name="Shape 59"/>
          <p:cNvSpPr/>
          <p:nvPr/>
        </p:nvSpPr>
        <p:spPr>
          <a:xfrm>
            <a:off x="2103120" y="5532120"/>
            <a:ext cx="594360" cy="9144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2697480" y="5349240"/>
            <a:ext cx="82296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2697480" y="53492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50" dirty="0"/>
          </a:p>
        </p:txBody>
      </p:sp>
      <p:sp>
        <p:nvSpPr>
          <p:cNvPr id="64" name="Shape 62"/>
          <p:cNvSpPr/>
          <p:nvPr/>
        </p:nvSpPr>
        <p:spPr>
          <a:xfrm>
            <a:off x="3520440" y="5532120"/>
            <a:ext cx="594360" cy="9144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4114800" y="5349240"/>
            <a:ext cx="82296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4114800" y="53492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50" dirty="0"/>
          </a:p>
        </p:txBody>
      </p:sp>
      <p:sp>
        <p:nvSpPr>
          <p:cNvPr id="67" name="Shape 65"/>
          <p:cNvSpPr/>
          <p:nvPr/>
        </p:nvSpPr>
        <p:spPr>
          <a:xfrm>
            <a:off x="4937760" y="5532120"/>
            <a:ext cx="594360" cy="9144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5532120" y="5349240"/>
            <a:ext cx="82296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5532120" y="53492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250" dirty="0"/>
          </a:p>
        </p:txBody>
      </p:sp>
      <p:sp>
        <p:nvSpPr>
          <p:cNvPr id="70" name="Shape 68"/>
          <p:cNvSpPr/>
          <p:nvPr/>
        </p:nvSpPr>
        <p:spPr>
          <a:xfrm>
            <a:off x="6355080" y="5532120"/>
            <a:ext cx="594360" cy="9144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6949440" y="5349240"/>
            <a:ext cx="82296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6949440" y="53492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250" dirty="0"/>
          </a:p>
        </p:txBody>
      </p:sp>
      <p:sp>
        <p:nvSpPr>
          <p:cNvPr id="73" name="Shape 71"/>
          <p:cNvSpPr/>
          <p:nvPr/>
        </p:nvSpPr>
        <p:spPr>
          <a:xfrm>
            <a:off x="7772400" y="5532120"/>
            <a:ext cx="594360" cy="9144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8366760" y="5349240"/>
            <a:ext cx="822960" cy="365760"/>
          </a:xfrm>
          <a:prstGeom prst="roundRect">
            <a:avLst>
              <a:gd name="adj" fmla="val 20000"/>
            </a:avLst>
          </a:prstGeom>
          <a:solidFill>
            <a:srgbClr val="E9F5EC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8366760" y="53492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250" dirty="0"/>
          </a:p>
        </p:txBody>
      </p:sp>
      <p:sp>
        <p:nvSpPr>
          <p:cNvPr id="76" name="Shape 74"/>
          <p:cNvSpPr/>
          <p:nvPr/>
        </p:nvSpPr>
        <p:spPr>
          <a:xfrm>
            <a:off x="9189720" y="5532120"/>
            <a:ext cx="594360" cy="9144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9784080" y="5349240"/>
            <a:ext cx="82296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9784080" y="53492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250" dirty="0"/>
          </a:p>
        </p:txBody>
      </p:sp>
      <p:sp>
        <p:nvSpPr>
          <p:cNvPr id="79" name="Shape 77"/>
          <p:cNvSpPr/>
          <p:nvPr/>
        </p:nvSpPr>
        <p:spPr>
          <a:xfrm>
            <a:off x="548640" y="5943600"/>
            <a:ext cx="11109960" cy="685800"/>
          </a:xfrm>
          <a:prstGeom prst="roundRect">
            <a:avLst>
              <a:gd name="adj" fmla="val 10667"/>
            </a:avLst>
          </a:prstGeom>
          <a:solidFill>
            <a:srgbClr val="E9F5EC"/>
          </a:solidFill>
          <a:ln w="12700">
            <a:solidFill>
              <a:srgbClr val="E9F5EC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731520" y="6053328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100" dirty="0"/>
          </a:p>
        </p:txBody>
      </p:sp>
      <p:sp>
        <p:nvSpPr>
          <p:cNvPr id="81" name="Text 79"/>
          <p:cNvSpPr txBox="1"/>
          <p:nvPr/>
        </p:nvSpPr>
        <p:spPr>
          <a:xfrm>
            <a:off x="731520" y="6309360"/>
            <a:ext cx="10744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60: at L3 start 10 → 50 (next is beyond 60, drop) → at L2 50 → 70 (overshoot, drop) → at L1 50 → 60 found. 3 hops instead of 5 on L0 alone.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LINKED LISTS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linked lists show up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00" cy="1143000"/>
          </a:xfrm>
          <a:prstGeom prst="roundRect">
            <a:avLst>
              <a:gd name="adj" fmla="val 6400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5087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memory management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87452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lists in memory allocators link up unused blocks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417320"/>
            <a:ext cx="5486400" cy="1143000"/>
          </a:xfrm>
          <a:prstGeom prst="roundRect">
            <a:avLst>
              <a:gd name="adj" fmla="val 6400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55080" y="15087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stacks &amp; queues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187452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insert/delete at the ends in O(1), no resizing needed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5486400" cy="1143000"/>
          </a:xfrm>
          <a:prstGeom prst="roundRect">
            <a:avLst>
              <a:gd name="adj" fmla="val 6400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788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/ big-number arithmetic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15468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node per term or digit, easy to add terms of any degree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2697480"/>
            <a:ext cx="5486400" cy="1143000"/>
          </a:xfrm>
          <a:prstGeom prst="roundRect">
            <a:avLst>
              <a:gd name="adj" fmla="val 6400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55080" y="2788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history / browser back-forward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315468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doubly linked list: step backward and forward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5486400" cy="1143000"/>
          </a:xfrm>
          <a:prstGeom prst="roundRect">
            <a:avLst>
              <a:gd name="adj" fmla="val 6400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4069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Music/photo players ("next", "previous")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43484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doubly linked list — wraps at the end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3977640"/>
            <a:ext cx="5486400" cy="1143000"/>
          </a:xfrm>
          <a:prstGeom prst="roundRect">
            <a:avLst>
              <a:gd name="adj" fmla="val 6400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55080" y="4069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lists for graphs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443484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vertex keeps a linked list of its neighbours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257800"/>
            <a:ext cx="5486400" cy="1143000"/>
          </a:xfrm>
          <a:prstGeom prst="roundRect">
            <a:avLst>
              <a:gd name="adj" fmla="val 6400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5349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table chaining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571500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bucket is a small linked list of colliding keys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72200" y="5257800"/>
            <a:ext cx="5486400" cy="1143000"/>
          </a:xfrm>
          <a:prstGeom prst="roundRect">
            <a:avLst>
              <a:gd name="adj" fmla="val 6400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55080" y="5349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LRU cache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6355080" y="571500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doubly linked list + hash map, O(1) move-to-front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LINKED LISTS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 lists: summary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31720"/>
                <a:gridCol w="2651760"/>
                <a:gridCol w="37490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Traversal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pointers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Singly linked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(next)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simplest stacks/queues, one-way lists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Doubly linked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directions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(prev, next)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undo/redo, LRU caches, deques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Circular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wraps at the 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or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round-robin scheduling, playlists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Multilevel / Skip list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skips ahead, drops down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 per node on average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ordered dictionaries without a balanced tree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709160"/>
            <a:ext cx="11109960" cy="1417320"/>
          </a:xfrm>
          <a:prstGeom prst="roundRect">
            <a:avLst>
              <a:gd name="adj" fmla="val 5161"/>
            </a:avLst>
          </a:prstGeom>
          <a:solidFill>
            <a:srgbClr val="E9F5EC"/>
          </a:solidFill>
          <a:ln w="12700">
            <a:solidFill>
              <a:srgbClr val="E9F5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48006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5102352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win when you need random access by index. Linked lists win when you need frequent insert/delete without shifting — and their variants (doubly, circular, skip) each remove one specific limitation of the plain singly linked chain.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4884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31920"/>
            <a:ext cx="6583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4310" indent="-19431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LIFO structure: last in, first out</a:t>
            </a:r>
            <a:endParaRPr lang="en-US" sz="1700" dirty="0"/>
          </a:p>
          <a:p>
            <a:pPr marL="194310" indent="-19431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homes: array-based and linked-list based</a:t>
            </a:r>
            <a:endParaRPr lang="en-US" sz="1700" dirty="0"/>
          </a:p>
          <a:p>
            <a:pPr marL="194310" indent="-19431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workhorse behind expression evaluation, parsing and recursion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C5A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STACKS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stack: Last-In-First-Out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05840" y="3319272"/>
            <a:ext cx="1371600" cy="475488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331927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05840" y="2843784"/>
            <a:ext cx="1371600" cy="475488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284378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05840" y="2368296"/>
            <a:ext cx="1371600" cy="475488"/>
          </a:xfrm>
          <a:prstGeom prst="rect">
            <a:avLst/>
          </a:prstGeom>
          <a:solidFill>
            <a:srgbClr val="F5C871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236829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05840" y="1892808"/>
            <a:ext cx="1371600" cy="475488"/>
          </a:xfrm>
          <a:prstGeom prst="rect">
            <a:avLst/>
          </a:prstGeom>
          <a:solidFill>
            <a:srgbClr val="F4F8F5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1417320"/>
            <a:ext cx="1371600" cy="475488"/>
          </a:xfrm>
          <a:prstGeom prst="rect">
            <a:avLst/>
          </a:prstGeom>
          <a:solidFill>
            <a:srgbClr val="F4F8F5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50592" y="236829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top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651760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push(40) →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514600" y="32461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pop() removes 30 first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1417320"/>
            <a:ext cx="66751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supports insertion and deletion at </a:t>
            </a: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end only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called the </a:t>
            </a: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marL="171450" indent="-17145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 always removes the element that was inserted </a:t>
            </a: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recently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hence </a:t>
            </a: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LIFO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(Last In, First Out) (Handbook §2.4).</a:t>
            </a:r>
            <a:endParaRPr lang="en-US" sz="1500" dirty="0"/>
          </a:p>
          <a:p>
            <a:pPr marL="171450" indent="-17145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push(x)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insert x on top · </a:t>
            </a: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pop()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remove and return the top element · </a:t>
            </a: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peek()/top()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look at the top without removing it · </a:t>
            </a: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isEmpty()</a:t>
            </a:r>
            <a:endParaRPr lang="en-US" sz="1500" dirty="0"/>
          </a:p>
          <a:p>
            <a:pPr marL="171450" indent="-17145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feel: a stack of plates, a browser's "back" history, the </a:t>
            </a: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button in an editor.</a:t>
            </a:r>
            <a:endParaRPr lang="en-US" sz="1500" dirty="0"/>
          </a:p>
          <a:p>
            <a:pPr marL="171450" indent="-17145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push and pop touch only the top, so a correct implementation runs both in </a:t>
            </a: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5120640"/>
            <a:ext cx="11109960" cy="914400"/>
          </a:xfrm>
          <a:prstGeom prst="roundRect">
            <a:avLst>
              <a:gd name="adj" fmla="val 8000"/>
            </a:avLst>
          </a:prstGeom>
          <a:solidFill>
            <a:srgbClr val="E9F5EC"/>
          </a:solidFill>
          <a:ln w="12700">
            <a:solidFill>
              <a:srgbClr val="E9F5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5230368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486400"/>
            <a:ext cx="10744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stack is really just a </a:t>
            </a: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restricted to end-only operations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Everything about a stack is a rule about *where* you are allowed to insert and delete — not a new physical layout.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STACKS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Array-based stack: the top index does all the work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212080" cy="3063240"/>
          </a:xfrm>
          <a:prstGeom prst="roundRect">
            <a:avLst>
              <a:gd name="adj" fmla="val 1791"/>
            </a:avLst>
          </a:prstGeom>
          <a:solidFill>
            <a:srgbClr val="162D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499616"/>
            <a:ext cx="4882896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Stack {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Stack(int maxSize = 100);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Insert(int);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int* Delete(int&amp;);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private: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*stack;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size;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top;  // highest filled index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371600"/>
            <a:ext cx="5486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735" indent="-165735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</a:t>
            </a: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= −1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(empty). Insert (push): </a:t>
            </a:r>
            <a:r>
              <a:rPr lang="en-US" sz="145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stack[++top] = x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increment top, then write.</a:t>
            </a:r>
            <a:endParaRPr lang="en-US" sz="1450" dirty="0"/>
          </a:p>
          <a:p>
            <a:pPr marL="165735" indent="-165735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(pop): </a:t>
            </a:r>
            <a:r>
              <a:rPr lang="en-US" sz="145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stack[top--]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read the top slot, then decrement top.</a:t>
            </a:r>
            <a:endParaRPr lang="en-US" sz="1450" dirty="0"/>
          </a:p>
          <a:p>
            <a:pPr marL="165735" indent="-165735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push attempted when </a:t>
            </a:r>
            <a:r>
              <a:rPr lang="en-US" sz="145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== size − 1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(array full).</a:t>
            </a:r>
            <a:endParaRPr lang="en-US" sz="1450" dirty="0"/>
          </a:p>
          <a:p>
            <a:pPr marL="165735" indent="-165735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Underflow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pop attempted when </a:t>
            </a:r>
            <a:r>
              <a:rPr lang="en-US" sz="145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== −1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(nothing to remove).</a:t>
            </a:r>
            <a:endParaRPr lang="en-US" sz="1450" dirty="0"/>
          </a:p>
          <a:p>
            <a:pPr marL="165735" indent="-165735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operations touch a fixed offset from </a:t>
            </a:r>
            <a:r>
              <a:rPr lang="en-US" sz="145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shifting of other elements — so each is </a:t>
            </a: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(Handbook §2.4.1).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4709160"/>
            <a:ext cx="11109960" cy="1234440"/>
          </a:xfrm>
          <a:prstGeom prst="roundRect">
            <a:avLst>
              <a:gd name="adj" fmla="val 5926"/>
            </a:avLst>
          </a:prstGeom>
          <a:solidFill>
            <a:srgbClr val="FCF1DC"/>
          </a:solidFill>
          <a:ln w="12700">
            <a:solidFill>
              <a:srgbClr val="FCF1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4818888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9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074920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*same* array as Part 2 — a stack is not a different memory layout, only a </a:t>
            </a: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insert/delete only at index </a:t>
            </a:r>
            <a:r>
              <a:rPr lang="en-US" sz="14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STACKS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push(10), push(20), push(30), pop(), push(40), pop()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386584" cy="2103120"/>
          </a:xfrm>
          <a:prstGeom prst="roundRect">
            <a:avLst>
              <a:gd name="adj" fmla="val 3478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48132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= −1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660904"/>
            <a:ext cx="914400" cy="438912"/>
          </a:xfrm>
          <a:prstGeom prst="rect">
            <a:avLst/>
          </a:prstGeom>
          <a:solidFill>
            <a:srgbClr val="F4F8F5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221992"/>
            <a:ext cx="914400" cy="438912"/>
          </a:xfrm>
          <a:prstGeom prst="rect">
            <a:avLst/>
          </a:prstGeom>
          <a:solidFill>
            <a:srgbClr val="F4F8F5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83080"/>
            <a:ext cx="914400" cy="438912"/>
          </a:xfrm>
          <a:prstGeom prst="rect">
            <a:avLst/>
          </a:prstGeom>
          <a:solidFill>
            <a:srgbClr val="F4F8F5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315468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stack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990088" y="2300630"/>
            <a:ext cx="411480" cy="292608"/>
          </a:xfrm>
          <a:prstGeom prst="rightArrow">
            <a:avLst/>
          </a:prstGeom>
          <a:solidFill>
            <a:srgbClr val="2D6A4F"/>
          </a:solidFill>
          <a:ln/>
        </p:spPr>
      </p:sp>
      <p:sp>
        <p:nvSpPr>
          <p:cNvPr id="12" name="Shape 10"/>
          <p:cNvSpPr/>
          <p:nvPr/>
        </p:nvSpPr>
        <p:spPr>
          <a:xfrm>
            <a:off x="3456432" y="1417320"/>
            <a:ext cx="2386584" cy="2103120"/>
          </a:xfrm>
          <a:prstGeom prst="roundRect">
            <a:avLst>
              <a:gd name="adj" fmla="val 3478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29584" y="148132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push(10)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547872" y="2660904"/>
            <a:ext cx="914400" cy="438912"/>
          </a:xfrm>
          <a:prstGeom prst="rect">
            <a:avLst/>
          </a:prstGeom>
          <a:solidFill>
            <a:srgbClr val="F5C871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47872" y="2660904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547872" y="2221992"/>
            <a:ext cx="914400" cy="438912"/>
          </a:xfrm>
          <a:prstGeom prst="rect">
            <a:avLst/>
          </a:prstGeom>
          <a:solidFill>
            <a:srgbClr val="F4F8F5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47872" y="1783080"/>
            <a:ext cx="914400" cy="438912"/>
          </a:xfrm>
          <a:prstGeom prst="rect">
            <a:avLst/>
          </a:prstGeom>
          <a:solidFill>
            <a:srgbClr val="F4F8F5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35424" y="2660904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top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529584" y="315468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= 0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897880" y="2300630"/>
            <a:ext cx="411480" cy="292608"/>
          </a:xfrm>
          <a:prstGeom prst="rightArrow">
            <a:avLst/>
          </a:prstGeom>
          <a:solidFill>
            <a:srgbClr val="2D6A4F"/>
          </a:solidFill>
          <a:ln/>
        </p:spPr>
      </p:sp>
      <p:sp>
        <p:nvSpPr>
          <p:cNvPr id="21" name="Shape 19"/>
          <p:cNvSpPr/>
          <p:nvPr/>
        </p:nvSpPr>
        <p:spPr>
          <a:xfrm>
            <a:off x="6364224" y="1417320"/>
            <a:ext cx="2386584" cy="2103120"/>
          </a:xfrm>
          <a:prstGeom prst="roundRect">
            <a:avLst>
              <a:gd name="adj" fmla="val 3478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37376" y="148132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push(20)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55664" y="2660904"/>
            <a:ext cx="914400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55664" y="2660904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55664" y="2221992"/>
            <a:ext cx="914400" cy="438912"/>
          </a:xfrm>
          <a:prstGeom prst="rect">
            <a:avLst/>
          </a:prstGeom>
          <a:solidFill>
            <a:srgbClr val="F5C871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55664" y="222199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55664" y="1783080"/>
            <a:ext cx="914400" cy="438912"/>
          </a:xfrm>
          <a:prstGeom prst="rect">
            <a:avLst/>
          </a:prstGeom>
          <a:solidFill>
            <a:srgbClr val="F4F8F5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443216" y="2221992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top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437376" y="315468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= 1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805672" y="2300630"/>
            <a:ext cx="411480" cy="292608"/>
          </a:xfrm>
          <a:prstGeom prst="rightArrow">
            <a:avLst/>
          </a:prstGeom>
          <a:solidFill>
            <a:srgbClr val="2D6A4F"/>
          </a:solidFill>
          <a:ln/>
        </p:spPr>
      </p:sp>
      <p:sp>
        <p:nvSpPr>
          <p:cNvPr id="31" name="Shape 29"/>
          <p:cNvSpPr/>
          <p:nvPr/>
        </p:nvSpPr>
        <p:spPr>
          <a:xfrm>
            <a:off x="9272016" y="1417320"/>
            <a:ext cx="2386584" cy="2103120"/>
          </a:xfrm>
          <a:prstGeom prst="roundRect">
            <a:avLst>
              <a:gd name="adj" fmla="val 3478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345168" y="148132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push(30)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9363456" y="2660904"/>
            <a:ext cx="914400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363456" y="2660904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9363456" y="2221992"/>
            <a:ext cx="914400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363456" y="222199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9363456" y="1783080"/>
            <a:ext cx="914400" cy="438912"/>
          </a:xfrm>
          <a:prstGeom prst="rect">
            <a:avLst/>
          </a:prstGeom>
          <a:solidFill>
            <a:srgbClr val="F5C871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363456" y="17830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10351008" y="1783080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top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9345168" y="315468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= 2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1463040" y="3840480"/>
            <a:ext cx="2746248" cy="2103120"/>
          </a:xfrm>
          <a:prstGeom prst="roundRect">
            <a:avLst>
              <a:gd name="adj" fmla="val 3478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536192" y="3904488"/>
            <a:ext cx="2599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pop() → 30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1554480" y="5084064"/>
            <a:ext cx="1051560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554480" y="5084064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1554480" y="4645152"/>
            <a:ext cx="1051560" cy="438912"/>
          </a:xfrm>
          <a:prstGeom prst="rect">
            <a:avLst/>
          </a:prstGeom>
          <a:solidFill>
            <a:srgbClr val="F5C871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554480" y="4645152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1554480" y="4206240"/>
            <a:ext cx="1051560" cy="438912"/>
          </a:xfrm>
          <a:prstGeom prst="rect">
            <a:avLst/>
          </a:prstGeom>
          <a:solidFill>
            <a:srgbClr val="F4F8F5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679192" y="4645152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top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1536192" y="5577840"/>
            <a:ext cx="2599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30, top = 1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4264152" y="4723790"/>
            <a:ext cx="411480" cy="292608"/>
          </a:xfrm>
          <a:prstGeom prst="rightArrow">
            <a:avLst/>
          </a:prstGeom>
          <a:solidFill>
            <a:srgbClr val="2D6A4F"/>
          </a:solidFill>
          <a:ln/>
        </p:spPr>
      </p:sp>
      <p:sp>
        <p:nvSpPr>
          <p:cNvPr id="51" name="Shape 49"/>
          <p:cNvSpPr/>
          <p:nvPr/>
        </p:nvSpPr>
        <p:spPr>
          <a:xfrm>
            <a:off x="4730496" y="3840480"/>
            <a:ext cx="2746248" cy="2103120"/>
          </a:xfrm>
          <a:prstGeom prst="roundRect">
            <a:avLst>
              <a:gd name="adj" fmla="val 3478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803648" y="3904488"/>
            <a:ext cx="2599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push(40)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4821936" y="5084064"/>
            <a:ext cx="1051560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821936" y="5084064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4821936" y="4645152"/>
            <a:ext cx="1051560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821936" y="4645152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4821936" y="4206240"/>
            <a:ext cx="1051560" cy="438912"/>
          </a:xfrm>
          <a:prstGeom prst="rect">
            <a:avLst/>
          </a:prstGeom>
          <a:solidFill>
            <a:srgbClr val="F5C871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4821936" y="420624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400" dirty="0"/>
          </a:p>
        </p:txBody>
      </p:sp>
      <p:sp>
        <p:nvSpPr>
          <p:cNvPr id="59" name="Text 57"/>
          <p:cNvSpPr txBox="1"/>
          <p:nvPr/>
        </p:nvSpPr>
        <p:spPr>
          <a:xfrm>
            <a:off x="5946648" y="4206240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top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4803648" y="5577840"/>
            <a:ext cx="2599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= 2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7531608" y="4723790"/>
            <a:ext cx="411480" cy="292608"/>
          </a:xfrm>
          <a:prstGeom prst="rightArrow">
            <a:avLst/>
          </a:prstGeom>
          <a:solidFill>
            <a:srgbClr val="2D6A4F"/>
          </a:solidFill>
          <a:ln/>
        </p:spPr>
      </p:sp>
      <p:sp>
        <p:nvSpPr>
          <p:cNvPr id="62" name="Shape 60"/>
          <p:cNvSpPr/>
          <p:nvPr/>
        </p:nvSpPr>
        <p:spPr>
          <a:xfrm>
            <a:off x="7997952" y="3840480"/>
            <a:ext cx="2746248" cy="2103120"/>
          </a:xfrm>
          <a:prstGeom prst="roundRect">
            <a:avLst>
              <a:gd name="adj" fmla="val 3478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8071104" y="3904488"/>
            <a:ext cx="2599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pop() → 40</a:t>
            </a:r>
            <a:endParaRPr lang="en-US" sz="1250" dirty="0"/>
          </a:p>
        </p:txBody>
      </p:sp>
      <p:sp>
        <p:nvSpPr>
          <p:cNvPr id="64" name="Shape 62"/>
          <p:cNvSpPr/>
          <p:nvPr/>
        </p:nvSpPr>
        <p:spPr>
          <a:xfrm>
            <a:off x="8089392" y="5084064"/>
            <a:ext cx="1051560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8089392" y="5084064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8089392" y="4645152"/>
            <a:ext cx="1051560" cy="438912"/>
          </a:xfrm>
          <a:prstGeom prst="rect">
            <a:avLst/>
          </a:prstGeom>
          <a:solidFill>
            <a:srgbClr val="F5C871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8089392" y="4645152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8089392" y="4206240"/>
            <a:ext cx="1051560" cy="438912"/>
          </a:xfrm>
          <a:prstGeom prst="rect">
            <a:avLst/>
          </a:prstGeom>
          <a:solidFill>
            <a:srgbClr val="F4F8F5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9214104" y="4645152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top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8071104" y="5577840"/>
            <a:ext cx="2599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40, top = 1</a:t>
            </a:r>
            <a:endParaRPr lang="en-US" sz="1150" dirty="0"/>
          </a:p>
        </p:txBody>
      </p:sp>
      <p:sp>
        <p:nvSpPr>
          <p:cNvPr id="71" name="Text 69"/>
          <p:cNvSpPr txBox="1"/>
          <p:nvPr/>
        </p:nvSpPr>
        <p:spPr>
          <a:xfrm>
            <a:off x="548640" y="6080760"/>
            <a:ext cx="11109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stack: [10, 20], top = 1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STACKS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Linked-list stack: push/pop at the front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394960" cy="3291840"/>
          </a:xfrm>
          <a:prstGeom prst="roundRect">
            <a:avLst>
              <a:gd name="adj" fmla="val 1667"/>
            </a:avLst>
          </a:prstGeom>
          <a:solidFill>
            <a:srgbClr val="162D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499616"/>
            <a:ext cx="5065776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push(int x) {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Node* n = new Node(x);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n-&gt;next = top;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top = n;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pop() {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x = top-&gt;data;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Node* old = top;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top = top-&gt;next;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delete old;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x;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1371600"/>
            <a:ext cx="5394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0020" indent="-16002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one pointer, </a:t>
            </a: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to the first node of a singly linked list — push and pop both act only on that node.</a:t>
            </a:r>
            <a:endParaRPr lang="en-US" sz="1400" dirty="0"/>
          </a:p>
          <a:p>
            <a:pPr marL="160020" indent="-16002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push(x)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create a new node, point its </a:t>
            </a:r>
            <a:r>
              <a:rPr lang="en-US" sz="14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the old top, make it the new top — O(1), no shifting.</a:t>
            </a:r>
            <a:endParaRPr lang="en-US" sz="1400" dirty="0"/>
          </a:p>
          <a:p>
            <a:pPr marL="160020" indent="-16002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pop()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read </a:t>
            </a:r>
            <a:r>
              <a:rPr lang="en-US" sz="14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top-&gt;data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advance </a:t>
            </a:r>
            <a:r>
              <a:rPr lang="en-US" sz="14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</a:t>
            </a:r>
            <a:r>
              <a:rPr lang="en-US" sz="14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top-&gt;next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free the old node — O(1).</a:t>
            </a:r>
            <a:endParaRPr lang="en-US" sz="1400" dirty="0"/>
          </a:p>
          <a:p>
            <a:pPr marL="160020" indent="-16002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Handbook §2.4.1: </a:t>
            </a:r>
            <a:r>
              <a:rPr lang="en-US" sz="14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stack data type can also be implemented using linked lists by requiring all insertions and deletions to be made at the front of the linked list."</a:t>
            </a:r>
            <a:endParaRPr lang="en-US" sz="1400" dirty="0"/>
          </a:p>
          <a:p>
            <a:pPr marL="160020" indent="-16002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fixed capacity to run out of — it grows one node at a time until memory itself is exhausted, so there is no array-style </a:t>
            </a: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check.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STACKS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Array-based vs linked-list stack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1099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000500"/>
                <a:gridCol w="40005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Array-based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Linked-list based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/ pop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memory / element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pointer per node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at creation — can overflow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grows on demand — no fixed limit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behaviour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contiguous — cache-friendly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scattered — more cache misses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use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known/bounded max depth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 or unbounded depth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892040"/>
            <a:ext cx="11109960" cy="1234440"/>
          </a:xfrm>
          <a:prstGeom prst="roundRect">
            <a:avLst>
              <a:gd name="adj" fmla="val 5926"/>
            </a:avLst>
          </a:prstGeom>
          <a:solidFill>
            <a:srgbClr val="E9F5EC"/>
          </a:solidFill>
          <a:ln w="12700">
            <a:solidFill>
              <a:srgbClr val="E9F5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001768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5257800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give </a:t>
            </a: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push/pop — the choice is about memory shape, not speed. Most language libraries (C++ </a:t>
            </a:r>
            <a:r>
              <a:rPr lang="en-US" sz="135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std::stack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Java </a:t>
            </a:r>
            <a:r>
              <a:rPr lang="en-US" sz="135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Deque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default to an </a:t>
            </a: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array-backed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implementation for cache locality, wrapped in a fixed or dynamic array.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STACKS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stacks show up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91056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evaluation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1956816"/>
            <a:ext cx="32369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and evaluate arithmetic expressions (infix ↔ postfix ↔ prefix).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4630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62272" y="1591056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symbols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4462272" y="1956816"/>
            <a:ext cx="32369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that brackets/braces/parens in code or markup are properly nested.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14630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11312" y="1591056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8211312" y="1956816"/>
            <a:ext cx="32369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pushes an activation record; every return pops one (the "call stack").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" y="3236976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/ redo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3602736"/>
            <a:ext cx="32369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action pushed on an undo stack; popping it reverses the most recent action.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97680" y="310896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62272" y="3236976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Depth-first search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462272" y="3602736"/>
            <a:ext cx="32369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explicit stack (or recursion) explores as deep as possible before backtracking.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46720" y="310896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11312" y="3236976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history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8211312" y="3602736"/>
            <a:ext cx="32369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"back" button pops the most recently visited page.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98932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Handbook §2.4: "a stack may be used by a compiler to process an expression such as (a + b) × (c + d)." The rest of this part walks through the expression and call-stack applications in detail.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STACKS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Application: matching balanced brackets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109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735" indent="-165735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left to right. On an </a:t>
            </a: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symbol, push it.</a:t>
            </a:r>
            <a:endParaRPr lang="en-US" sz="1450" dirty="0"/>
          </a:p>
          <a:p>
            <a:pPr marL="165735" indent="-165735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</a:t>
            </a: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symbol, pop the stack — it must match the closer's type, or the string is unbalanced.</a:t>
            </a:r>
            <a:endParaRPr lang="en-US" sz="1450" dirty="0"/>
          </a:p>
          <a:p>
            <a:pPr marL="165735" indent="-165735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end, the stack must be </a:t>
            </a: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 unmatched opener left over also means "unbalanced".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2761488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"{[()()]}"  →  balanced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0632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'{'  push  stack: [{]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32841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'['  push  stack: [{ []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5935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'('  push  stack: [{ [ (]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8587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')'  pop   stack: [{ []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1239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'('  push  stack: [{ [ (]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3891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')'  pop   stack: [{ []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65429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']'  pop   stack: [{]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9194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'}'  pop   stack: []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2395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BALANCED — stack empty at the end ✓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26480" y="2697480"/>
            <a:ext cx="5532120" cy="3566160"/>
          </a:xfrm>
          <a:prstGeom prst="roundRect">
            <a:avLst>
              <a:gd name="adj" fmla="val 2051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99632" y="2761488"/>
            <a:ext cx="5385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"{[(])}"  →  unbalanced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306324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'{'  push       stack: [{]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332841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'['  push       stack: [{ []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3593592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'('  push       stack: [{ [ (]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385876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']'  MISMATCH   stack: [{ [ (]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4178808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MISMATCH at ']' — top of stack was '(' ✗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STACKS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Application: infix → postfix (the shunting-yard idea)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109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0020" indent="-16002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go straight to the </a:t>
            </a: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Operators are held on a stack until it is safe to emit them.</a:t>
            </a:r>
            <a:endParaRPr lang="en-US" sz="1400" dirty="0"/>
          </a:p>
          <a:p>
            <a:pPr marL="160020" indent="-16002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pushing operator </a:t>
            </a:r>
            <a:r>
              <a:rPr lang="en-US" sz="14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pop and emit every stacked operator with </a:t>
            </a: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precedence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than </a:t>
            </a:r>
            <a:r>
              <a:rPr lang="en-US" sz="14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(strictly greater, or equal and left-associative — </a:t>
            </a:r>
            <a:r>
              <a:rPr lang="en-US" sz="14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^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exception, it is right-associative).</a:t>
            </a:r>
            <a:endParaRPr lang="en-US" sz="1400" dirty="0"/>
          </a:p>
          <a:p>
            <a:pPr marL="160020" indent="-16002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pushed and acts as a wall; </a:t>
            </a:r>
            <a:r>
              <a:rPr lang="en-US" sz="14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pops and emits until the matching </a:t>
            </a:r>
            <a:r>
              <a:rPr lang="en-US" sz="14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then discards both parens.</a:t>
            </a:r>
            <a:endParaRPr lang="en-US" sz="1400" dirty="0"/>
          </a:p>
          <a:p>
            <a:pPr marL="160020" indent="-16002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end, pop and emit whatever operators remain on the stack.</a:t>
            </a:r>
            <a:endParaRPr lang="en-US" sz="14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46120"/>
          <a:ext cx="5943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377440"/>
                <a:gridCol w="22860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(bottom→top)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so far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*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*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3 4 2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4 2 * +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4 2 * + 1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58000" y="3246120"/>
            <a:ext cx="4800600" cy="2880360"/>
          </a:xfrm>
          <a:prstGeom prst="roundRect">
            <a:avLst>
              <a:gd name="adj" fmla="val 2540"/>
            </a:avLst>
          </a:prstGeom>
          <a:solidFill>
            <a:srgbClr val="E9F5EC"/>
          </a:solidFill>
          <a:ln w="12700">
            <a:solidFill>
              <a:srgbClr val="E9F5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086600" y="3401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Infix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086600" y="3657600"/>
            <a:ext cx="4343400" cy="502920"/>
          </a:xfrm>
          <a:prstGeom prst="roundRect">
            <a:avLst>
              <a:gd name="adj" fmla="val 10909"/>
            </a:avLst>
          </a:prstGeom>
          <a:solidFill>
            <a:srgbClr val="162D2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251192" y="3785616"/>
            <a:ext cx="4014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+ 4 * 2 - 1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086600" y="43159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Postfix (result)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086600" y="4572000"/>
            <a:ext cx="4343400" cy="502920"/>
          </a:xfrm>
          <a:prstGeom prst="roundRect">
            <a:avLst>
              <a:gd name="adj" fmla="val 10909"/>
            </a:avLst>
          </a:prstGeom>
          <a:solidFill>
            <a:srgbClr val="162D2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251192" y="4700016"/>
            <a:ext cx="4014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4 2 * + 1 -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086600" y="521208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4*2 is emitted before 3+…  because * outranks + — the postfix order encodes precedence without any parentheses.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STACKS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Application: evaluating a postfix expression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109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735" indent="-165735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left to right. A </a:t>
            </a: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pushed. An </a:t>
            </a: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pops its two operands, applies the operator, pushes the result back.</a:t>
            </a:r>
            <a:endParaRPr lang="en-US" sz="1450" dirty="0"/>
          </a:p>
          <a:p>
            <a:pPr marL="165735" indent="-165735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precedence rules or parentheses needed at evaluation time — postfix already encodes the order.</a:t>
            </a:r>
            <a:endParaRPr lang="en-US" sz="145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53949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19456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after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[3, 4]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[3, 4, 2]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4*2=8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[3, 8]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3+8=11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[11]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[11, 1]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11-1=10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[10]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7607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postfix "3 4 2 * + 1 -"  =  10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26480" y="2423160"/>
            <a:ext cx="5532120" cy="3200400"/>
          </a:xfrm>
          <a:prstGeom prst="roundRect">
            <a:avLst>
              <a:gd name="adj" fmla="val 2286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99632" y="2487168"/>
            <a:ext cx="5385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harder example — with an exponent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217920" y="2788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infix: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269480" y="2734056"/>
            <a:ext cx="4251960" cy="384048"/>
          </a:xfrm>
          <a:prstGeom prst="roundRect">
            <a:avLst>
              <a:gd name="adj" fmla="val 14286"/>
            </a:avLst>
          </a:prstGeom>
          <a:solidFill>
            <a:srgbClr val="162D2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434072" y="2862072"/>
            <a:ext cx="3922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(6+2) * (5-3)^2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6217920" y="3291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postfix: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269480" y="3236976"/>
            <a:ext cx="4251960" cy="384048"/>
          </a:xfrm>
          <a:prstGeom prst="roundRect">
            <a:avLst>
              <a:gd name="adj" fmla="val 14286"/>
            </a:avLst>
          </a:prstGeom>
          <a:solidFill>
            <a:srgbClr val="162D2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434072" y="3364992"/>
            <a:ext cx="3922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2 + 5 3 - 2 ^ *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prefix: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269480" y="3739896"/>
            <a:ext cx="4251960" cy="384048"/>
          </a:xfrm>
          <a:prstGeom prst="roundRect">
            <a:avLst>
              <a:gd name="adj" fmla="val 14286"/>
            </a:avLst>
          </a:prstGeom>
          <a:solidFill>
            <a:srgbClr val="162D2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434072" y="3867912"/>
            <a:ext cx="3922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+ 6 2 ^ - 5 3 2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6217920" y="4361688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= 32   (8 × 4 = 32)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STACKS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Application: the function call stack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54864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735" indent="-165735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</a:t>
            </a:r>
            <a:r>
              <a:rPr lang="en-US" sz="145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main()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calls </a:t>
            </a:r>
            <a:r>
              <a:rPr lang="en-US" sz="145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f()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system pushes an </a:t>
            </a: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record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</a:t>
            </a:r>
            <a:r>
              <a:rPr lang="en-US" sz="145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its parameters, local variables, and the return address.</a:t>
            </a:r>
            <a:endParaRPr lang="en-US" sz="1450" dirty="0"/>
          </a:p>
          <a:p>
            <a:pPr marL="165735" indent="-165735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</a:t>
            </a:r>
            <a:r>
              <a:rPr lang="en-US" sz="145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f()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calls </a:t>
            </a:r>
            <a:r>
              <a:rPr lang="en-US" sz="145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g()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new activation record for </a:t>
            </a:r>
            <a:r>
              <a:rPr lang="en-US" sz="145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goes </a:t>
            </a: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top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45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 locals stay safely underneath, untouched.</a:t>
            </a:r>
            <a:endParaRPr lang="en-US" sz="1450" dirty="0"/>
          </a:p>
          <a:p>
            <a:pPr marL="165735" indent="-165735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</a:t>
            </a:r>
            <a:r>
              <a:rPr lang="en-US" sz="145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g()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returns, its record is </a:t>
            </a: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popped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r>
              <a:rPr lang="en-US" sz="145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f()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resumes exactly where it left off, reading its own locals from its own (now top) record.</a:t>
            </a:r>
            <a:endParaRPr lang="en-US" sz="1450" dirty="0"/>
          </a:p>
          <a:p>
            <a:pPr marL="165735" indent="-165735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precisely why </a:t>
            </a: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works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each call gets its own frame, stacked LIFO, with no interference between them.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949440" y="416052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086600" y="42519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086600" y="456285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 of main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949440" y="3264408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86600" y="33558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086600" y="36667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 of f, return→main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49440" y="2368296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F5C871"/>
          </a:solidFill>
          <a:ln w="25400">
            <a:solidFill>
              <a:srgbClr val="C98A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86600" y="24597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27706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 of g, return→f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1018520" y="2642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9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top (currently executing)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949440" y="14264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stack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5212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↓  grows the stack   ·   return ↑  shrinks it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STACKS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Stacks: summary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83380"/>
                <a:gridCol w="41833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Array-based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Linked-list based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/ pop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Overflow risk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fixed capacity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(until memory runs out)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space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pointer / node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applications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expr. evaluation, bracket matching, function calls, undo/redo, DFS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709160"/>
            <a:ext cx="11109960" cy="1417320"/>
          </a:xfrm>
          <a:prstGeom prst="roundRect">
            <a:avLst>
              <a:gd name="adj" fmla="val 5161"/>
            </a:avLst>
          </a:prstGeom>
          <a:solidFill>
            <a:srgbClr val="E9F5EC"/>
          </a:solidFill>
          <a:ln w="12700">
            <a:solidFill>
              <a:srgbClr val="E9F5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4818888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5074920"/>
            <a:ext cx="10744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stack is a </a:t>
            </a: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a new memory layout: restrict insertion and deletion to one end, and you get LIFO order for free. That single rule is enough to evaluate expressions, check nesting, and make recursion possible.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4884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Queues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31920"/>
            <a:ext cx="6583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4310" indent="-19431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FIFO structure: first in, first out</a:t>
            </a:r>
            <a:endParaRPr lang="en-US" sz="1700" dirty="0"/>
          </a:p>
          <a:p>
            <a:pPr marL="194310" indent="-19431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circular array trick, and why it is needed</a:t>
            </a:r>
            <a:endParaRPr lang="en-US" sz="1700" dirty="0"/>
          </a:p>
          <a:p>
            <a:pPr marL="194310" indent="-19431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Deques, priority queues, and where queues show up in practice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C5A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QUEUES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queue: First-In-First-Out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822960" cy="54864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116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7860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645920" y="2011680"/>
            <a:ext cx="822960" cy="54864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45920" y="20116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257860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68880" y="2011680"/>
            <a:ext cx="822960" cy="54864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468880" y="20116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468880" y="257860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91840" y="2011680"/>
            <a:ext cx="822960" cy="548640"/>
          </a:xfrm>
          <a:prstGeom prst="rect">
            <a:avLst/>
          </a:prstGeom>
          <a:solidFill>
            <a:srgbClr val="F4F8F5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91840" y="257860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175564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468880" y="277977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9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enqueue(x) adds at </a:t>
            </a:r>
            <a:r>
              <a:rPr lang="en-US" sz="1200" b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</a:t>
            </a: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dequeue() removes from </a:t>
            </a:r>
            <a:r>
              <a:rPr lang="en-US" sz="1200" b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1371600"/>
            <a:ext cx="6858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inserts at one end (the </a:t>
            </a: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and deletes from the other end (the </a:t>
            </a: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500" dirty="0"/>
          </a:p>
          <a:p>
            <a:pPr marL="171450" indent="-17145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 always removes the element that was inserted </a:t>
            </a: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earliest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hence </a:t>
            </a: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(First In, First Out) (Handbook §2.4).</a:t>
            </a:r>
            <a:endParaRPr lang="en-US" sz="1500" dirty="0"/>
          </a:p>
          <a:p>
            <a:pPr marL="171450" indent="-17145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enqueue(x)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insert x at the rear · </a:t>
            </a: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dequeue()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remove and return the front element · </a:t>
            </a: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peek()/front()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isEmpty()</a:t>
            </a:r>
            <a:endParaRPr lang="en-US" sz="1500" dirty="0"/>
          </a:p>
          <a:p>
            <a:pPr marL="171450" indent="-17145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feel: a checkout line, a print queue, packets waiting on a network link.</a:t>
            </a:r>
            <a:endParaRPr lang="en-US" sz="1500" dirty="0"/>
          </a:p>
          <a:p>
            <a:pPr marL="171450" indent="-17145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(double-ended queue) generalises this further, allowing insertion/deletion at </a:t>
            </a: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ends (Handbook §2.4).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5120640"/>
            <a:ext cx="11109960" cy="914400"/>
          </a:xfrm>
          <a:prstGeom prst="roundRect">
            <a:avLst>
              <a:gd name="adj" fmla="val 8000"/>
            </a:avLst>
          </a:prstGeom>
          <a:solidFill>
            <a:srgbClr val="E9F5EC"/>
          </a:solidFill>
          <a:ln w="12700">
            <a:solidFill>
              <a:srgbClr val="E9F5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5230368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5486400"/>
            <a:ext cx="10744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stack needed only </a:t>
            </a: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end-pointer (</a:t>
            </a:r>
            <a:r>
              <a:rPr lang="en-US" sz="135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A queue inserts at one end and deletes at the other, so it needs </a:t>
            </a: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35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35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rear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tracked separately.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QUEUES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simple array queue — and where it breaks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109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</a:t>
            </a: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left-to-right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exactly like a stack, but delete from the </a:t>
            </a: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(the front), not the right.</a:t>
            </a:r>
            <a:endParaRPr lang="en-US" sz="1500" dirty="0"/>
          </a:p>
          <a:p>
            <a:pPr marL="171450" indent="-17145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few enqueues and dequeues, the used region </a:t>
            </a: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drifts rightward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slots on the left sit wasted, even though the array itself is not full.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3355848" cy="2286000"/>
          </a:xfrm>
          <a:prstGeom prst="roundRect">
            <a:avLst>
              <a:gd name="adj" fmla="val 3200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2624328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10,20,30,40,50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634594" cy="50292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063240"/>
            <a:ext cx="6345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584448"/>
            <a:ext cx="6345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274674" y="3063240"/>
            <a:ext cx="634594" cy="50292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74674" y="3063240"/>
            <a:ext cx="6345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74674" y="3584448"/>
            <a:ext cx="6345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909267" y="3063240"/>
            <a:ext cx="634594" cy="50292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909267" y="3063240"/>
            <a:ext cx="6345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909267" y="3584448"/>
            <a:ext cx="6345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43861" y="3063240"/>
            <a:ext cx="634594" cy="50292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543861" y="3063240"/>
            <a:ext cx="6345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543861" y="3584448"/>
            <a:ext cx="6345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78454" y="3063240"/>
            <a:ext cx="634594" cy="50292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178454" y="3063240"/>
            <a:ext cx="6345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178454" y="3584448"/>
            <a:ext cx="6345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2807208"/>
            <a:ext cx="6345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178454" y="3785616"/>
            <a:ext cx="6345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9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21792" y="4480560"/>
            <a:ext cx="3209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of size 5, now full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59352" y="3474720"/>
            <a:ext cx="411480" cy="292608"/>
          </a:xfrm>
          <a:prstGeom prst="rightArrow">
            <a:avLst/>
          </a:prstGeom>
          <a:solidFill>
            <a:srgbClr val="2D6A4F"/>
          </a:solidFill>
          <a:ln/>
        </p:spPr>
      </p:sp>
      <p:sp>
        <p:nvSpPr>
          <p:cNvPr id="27" name="Shape 25"/>
          <p:cNvSpPr/>
          <p:nvPr/>
        </p:nvSpPr>
        <p:spPr>
          <a:xfrm>
            <a:off x="4425696" y="2560320"/>
            <a:ext cx="3355848" cy="2286000"/>
          </a:xfrm>
          <a:prstGeom prst="roundRect">
            <a:avLst>
              <a:gd name="adj" fmla="val 3200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498848" y="2624328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×3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17136" y="3063240"/>
            <a:ext cx="634594" cy="502920"/>
          </a:xfrm>
          <a:prstGeom prst="rect">
            <a:avLst/>
          </a:prstGeom>
          <a:solidFill>
            <a:srgbClr val="F4F8F5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17136" y="3584448"/>
            <a:ext cx="6345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151730" y="3063240"/>
            <a:ext cx="634594" cy="502920"/>
          </a:xfrm>
          <a:prstGeom prst="rect">
            <a:avLst/>
          </a:prstGeom>
          <a:solidFill>
            <a:srgbClr val="F4F8F5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151730" y="3584448"/>
            <a:ext cx="6345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786323" y="3063240"/>
            <a:ext cx="634594" cy="502920"/>
          </a:xfrm>
          <a:prstGeom prst="rect">
            <a:avLst/>
          </a:prstGeom>
          <a:solidFill>
            <a:srgbClr val="F4F8F5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786323" y="3584448"/>
            <a:ext cx="6345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20917" y="3063240"/>
            <a:ext cx="634594" cy="50292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20917" y="3584448"/>
            <a:ext cx="6345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055510" y="3063240"/>
            <a:ext cx="634594" cy="50292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055510" y="3584448"/>
            <a:ext cx="6345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6420917" y="2807208"/>
            <a:ext cx="6345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055510" y="3785616"/>
            <a:ext cx="6345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9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4498848" y="4480560"/>
            <a:ext cx="3209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 20, 30 removed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836408" y="3474720"/>
            <a:ext cx="411480" cy="292608"/>
          </a:xfrm>
          <a:prstGeom prst="rightArrow">
            <a:avLst/>
          </a:prstGeom>
          <a:solidFill>
            <a:srgbClr val="2D6A4F"/>
          </a:solidFill>
          <a:ln/>
        </p:spPr>
      </p:sp>
      <p:sp>
        <p:nvSpPr>
          <p:cNvPr id="43" name="Shape 41"/>
          <p:cNvSpPr/>
          <p:nvPr/>
        </p:nvSpPr>
        <p:spPr>
          <a:xfrm>
            <a:off x="8302752" y="2560320"/>
            <a:ext cx="3355848" cy="2286000"/>
          </a:xfrm>
          <a:prstGeom prst="roundRect">
            <a:avLst>
              <a:gd name="adj" fmla="val 3200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375904" y="2624328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60?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8394192" y="3063240"/>
            <a:ext cx="634594" cy="502920"/>
          </a:xfrm>
          <a:prstGeom prst="rect">
            <a:avLst/>
          </a:prstGeom>
          <a:solidFill>
            <a:srgbClr val="F4F8F5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394192" y="3584448"/>
            <a:ext cx="6345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9028786" y="3063240"/>
            <a:ext cx="634594" cy="502920"/>
          </a:xfrm>
          <a:prstGeom prst="rect">
            <a:avLst/>
          </a:prstGeom>
          <a:solidFill>
            <a:srgbClr val="F4F8F5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028786" y="3584448"/>
            <a:ext cx="6345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9663379" y="3063240"/>
            <a:ext cx="634594" cy="502920"/>
          </a:xfrm>
          <a:prstGeom prst="rect">
            <a:avLst/>
          </a:prstGeom>
          <a:solidFill>
            <a:srgbClr val="F4F8F5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663379" y="3584448"/>
            <a:ext cx="6345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10297973" y="3063240"/>
            <a:ext cx="634594" cy="50292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10297973" y="3584448"/>
            <a:ext cx="6345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10932566" y="3063240"/>
            <a:ext cx="634594" cy="50292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0932566" y="3584448"/>
            <a:ext cx="6345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10297973" y="2807208"/>
            <a:ext cx="6345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10932566" y="3785616"/>
            <a:ext cx="6345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9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8394192" y="3703320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→ ?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8375904" y="4480560"/>
            <a:ext cx="3209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free slots exist — but all on the wrong side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548640" y="5074920"/>
            <a:ext cx="11109960" cy="1280160"/>
          </a:xfrm>
          <a:prstGeom prst="roundRect">
            <a:avLst>
              <a:gd name="adj" fmla="val 5714"/>
            </a:avLst>
          </a:prstGeom>
          <a:solidFill>
            <a:srgbClr val="FBEAE9"/>
          </a:solidFill>
          <a:ln w="12700">
            <a:solidFill>
              <a:srgbClr val="FBEAE9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731520" y="5184648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731520" y="5440680"/>
            <a:ext cx="10744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deleting 10, 20, 30 the queue holds just [40, 50], yet a naive "insert only past the last used index" rule would report the array as full — three usable slots on the left are stranded. Handbook §2.4.2: "it appears that we are out of room... [but] there are three locations available to the left."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QUEUES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fix: wrap around with a circular array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86400" cy="3977640"/>
          </a:xfrm>
          <a:prstGeom prst="roundRect">
            <a:avLst>
              <a:gd name="adj" fmla="val 1379"/>
            </a:avLst>
          </a:prstGeom>
          <a:solidFill>
            <a:srgbClr val="162D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499616"/>
            <a:ext cx="5157216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Queue {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...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private: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*queue, size;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front, rear;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Queue::Insert(int x) {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k = (rear + 1) % size;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(front == k) cerr &lt;&lt; "Full!";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queue[rear = k] = x;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int* Queue::Delete(int&amp; x) {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(front == rear) return 0; // empty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 = queue[++front %= size];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&amp;x;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371600"/>
            <a:ext cx="5349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0020" indent="-16002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array as a </a:t>
            </a: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index </a:t>
            </a:r>
            <a:r>
              <a:rPr lang="en-US" sz="14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 − 1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wraps back to index </a:t>
            </a:r>
            <a:r>
              <a:rPr lang="en-US" sz="14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via </a:t>
            </a:r>
            <a:r>
              <a:rPr lang="en-US" sz="14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size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160020" indent="-16002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</a:t>
            </a:r>
            <a:r>
              <a:rPr lang="en-US" sz="14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4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rear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move with </a:t>
            </a: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arithmetic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freed slots on the left are reused instead of stranded.</a:t>
            </a:r>
            <a:endParaRPr lang="en-US" sz="1400" dirty="0"/>
          </a:p>
          <a:p>
            <a:pPr marL="160020" indent="-16002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 used here (Handbook §2.4.2): </a:t>
            </a:r>
            <a:r>
              <a:rPr lang="en-US" sz="14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 == rear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means </a:t>
            </a: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This sacrifices </a:t>
            </a: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slot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</a:t>
            </a:r>
            <a:r>
              <a:rPr lang="en-US" sz="14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-slot array can hold at most </a:t>
            </a:r>
            <a:r>
              <a:rPr lang="en-US" sz="14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 − 1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elements, so </a:t>
            </a:r>
            <a:r>
              <a:rPr lang="en-US" sz="14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reaching </a:t>
            </a:r>
            <a:r>
              <a:rPr lang="en-US" sz="14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rear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after an insert unambiguously means </a:t>
            </a: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160020" indent="-16002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sacrificing that slot, "full" and "empty" would look identical (</a:t>
            </a:r>
            <a:r>
              <a:rPr lang="en-US" sz="14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 == rear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both cases) — the whole reason for the rule.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QUEUES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an 8-slot circular queue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355848" cy="2148840"/>
          </a:xfrm>
          <a:prstGeom prst="roundRect">
            <a:avLst>
              <a:gd name="adj" fmla="val 3404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481328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10…60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075688"/>
            <a:ext cx="396621" cy="457200"/>
          </a:xfrm>
          <a:prstGeom prst="rect">
            <a:avLst/>
          </a:prstGeom>
          <a:solidFill>
            <a:srgbClr val="F4F8F5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551176"/>
            <a:ext cx="3966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036701" y="2075688"/>
            <a:ext cx="396621" cy="45720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36701" y="2075688"/>
            <a:ext cx="3966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36701" y="2551176"/>
            <a:ext cx="3966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433322" y="2075688"/>
            <a:ext cx="396621" cy="45720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33322" y="2075688"/>
            <a:ext cx="3966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433322" y="2551176"/>
            <a:ext cx="3966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829943" y="2075688"/>
            <a:ext cx="396621" cy="45720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829943" y="2075688"/>
            <a:ext cx="3966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829943" y="2551176"/>
            <a:ext cx="3966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26564" y="2075688"/>
            <a:ext cx="396621" cy="45720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226564" y="2075688"/>
            <a:ext cx="3966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226564" y="2551176"/>
            <a:ext cx="3966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623185" y="2075688"/>
            <a:ext cx="396621" cy="457200"/>
          </a:xfrm>
          <a:prstGeom prst="rect">
            <a:avLst/>
          </a:prstGeom>
          <a:solidFill>
            <a:srgbClr val="F5C871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623185" y="2075688"/>
            <a:ext cx="3966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623185" y="2551176"/>
            <a:ext cx="3966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019806" y="2075688"/>
            <a:ext cx="396621" cy="457200"/>
          </a:xfrm>
          <a:prstGeom prst="rect">
            <a:avLst/>
          </a:prstGeom>
          <a:solidFill>
            <a:srgbClr val="F4F8F5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019806" y="2551176"/>
            <a:ext cx="3966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16427" y="2075688"/>
            <a:ext cx="396621" cy="457200"/>
          </a:xfrm>
          <a:prstGeom prst="rect">
            <a:avLst/>
          </a:prstGeom>
          <a:solidFill>
            <a:srgbClr val="F4F8F5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416427" y="2551176"/>
            <a:ext cx="3966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1819656"/>
            <a:ext cx="3966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2623185" y="2752344"/>
            <a:ext cx="3966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9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21792" y="3200400"/>
            <a:ext cx="3209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front=0, rear=6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959352" y="2276856"/>
            <a:ext cx="411480" cy="292608"/>
          </a:xfrm>
          <a:prstGeom prst="rightArrow">
            <a:avLst/>
          </a:prstGeom>
          <a:solidFill>
            <a:srgbClr val="2D6A4F"/>
          </a:solidFill>
          <a:ln/>
        </p:spPr>
      </p:sp>
      <p:sp>
        <p:nvSpPr>
          <p:cNvPr id="32" name="Shape 30"/>
          <p:cNvSpPr/>
          <p:nvPr/>
        </p:nvSpPr>
        <p:spPr>
          <a:xfrm>
            <a:off x="4425696" y="1417320"/>
            <a:ext cx="3355848" cy="2148840"/>
          </a:xfrm>
          <a:prstGeom prst="roundRect">
            <a:avLst>
              <a:gd name="adj" fmla="val 3404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498848" y="1481328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70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517136" y="2075688"/>
            <a:ext cx="396621" cy="457200"/>
          </a:xfrm>
          <a:prstGeom prst="rect">
            <a:avLst/>
          </a:prstGeom>
          <a:solidFill>
            <a:srgbClr val="F4F8F5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17136" y="2551176"/>
            <a:ext cx="3966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913757" y="2075688"/>
            <a:ext cx="396621" cy="45720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913757" y="2075688"/>
            <a:ext cx="3966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4913757" y="2551176"/>
            <a:ext cx="3966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310378" y="2075688"/>
            <a:ext cx="396621" cy="45720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310378" y="2075688"/>
            <a:ext cx="3966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5310378" y="2551176"/>
            <a:ext cx="3966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706999" y="2075688"/>
            <a:ext cx="396621" cy="45720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706999" y="2075688"/>
            <a:ext cx="3966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5706999" y="2551176"/>
            <a:ext cx="3966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103620" y="2075688"/>
            <a:ext cx="396621" cy="45720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103620" y="2075688"/>
            <a:ext cx="3966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6103620" y="2551176"/>
            <a:ext cx="3966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500241" y="2075688"/>
            <a:ext cx="396621" cy="45720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500241" y="2075688"/>
            <a:ext cx="3966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6500241" y="2551176"/>
            <a:ext cx="3966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896862" y="2075688"/>
            <a:ext cx="396621" cy="45720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896862" y="2075688"/>
            <a:ext cx="3966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6896862" y="2551176"/>
            <a:ext cx="3966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293483" y="2075688"/>
            <a:ext cx="396621" cy="457200"/>
          </a:xfrm>
          <a:prstGeom prst="rect">
            <a:avLst/>
          </a:prstGeom>
          <a:solidFill>
            <a:srgbClr val="F5C871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293483" y="2075688"/>
            <a:ext cx="3966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7293483" y="2551176"/>
            <a:ext cx="3966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4517136" y="1819656"/>
            <a:ext cx="3966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7293483" y="2752344"/>
            <a:ext cx="3966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9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</a:t>
            </a:r>
            <a:endParaRPr lang="en-US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4498848" y="3200400"/>
            <a:ext cx="3209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front=0, rear=7 — 1 slot left empty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7836408" y="2276856"/>
            <a:ext cx="411480" cy="292608"/>
          </a:xfrm>
          <a:prstGeom prst="rightArrow">
            <a:avLst/>
          </a:prstGeom>
          <a:solidFill>
            <a:srgbClr val="2D6A4F"/>
          </a:solidFill>
          <a:ln/>
        </p:spPr>
      </p:sp>
      <p:sp>
        <p:nvSpPr>
          <p:cNvPr id="61" name="Shape 59"/>
          <p:cNvSpPr/>
          <p:nvPr/>
        </p:nvSpPr>
        <p:spPr>
          <a:xfrm>
            <a:off x="8302752" y="1417320"/>
            <a:ext cx="3355848" cy="2148840"/>
          </a:xfrm>
          <a:prstGeom prst="roundRect">
            <a:avLst>
              <a:gd name="adj" fmla="val 3404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8375904" y="1481328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80 → FULL</a:t>
            </a:r>
            <a:endParaRPr lang="en-US" sz="1250" dirty="0"/>
          </a:p>
        </p:txBody>
      </p:sp>
      <p:sp>
        <p:nvSpPr>
          <p:cNvPr id="63" name="Shape 61"/>
          <p:cNvSpPr/>
          <p:nvPr/>
        </p:nvSpPr>
        <p:spPr>
          <a:xfrm>
            <a:off x="8394192" y="2075688"/>
            <a:ext cx="396621" cy="457200"/>
          </a:xfrm>
          <a:prstGeom prst="rect">
            <a:avLst/>
          </a:prstGeom>
          <a:solidFill>
            <a:srgbClr val="F4F8F5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8394192" y="2551176"/>
            <a:ext cx="3966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8790813" y="2075688"/>
            <a:ext cx="396621" cy="45720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8790813" y="2075688"/>
            <a:ext cx="3966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8790813" y="2551176"/>
            <a:ext cx="3966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9187434" y="2075688"/>
            <a:ext cx="396621" cy="45720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9187434" y="2075688"/>
            <a:ext cx="3966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9187434" y="2551176"/>
            <a:ext cx="3966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9584055" y="2075688"/>
            <a:ext cx="396621" cy="45720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9584055" y="2075688"/>
            <a:ext cx="3966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400" dirty="0"/>
          </a:p>
        </p:txBody>
      </p:sp>
      <p:sp>
        <p:nvSpPr>
          <p:cNvPr id="73" name="Text 71"/>
          <p:cNvSpPr txBox="1"/>
          <p:nvPr/>
        </p:nvSpPr>
        <p:spPr>
          <a:xfrm>
            <a:off x="9584055" y="2551176"/>
            <a:ext cx="3966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9980676" y="2075688"/>
            <a:ext cx="396621" cy="45720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9980676" y="2075688"/>
            <a:ext cx="3966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400" dirty="0"/>
          </a:p>
        </p:txBody>
      </p:sp>
      <p:sp>
        <p:nvSpPr>
          <p:cNvPr id="76" name="Text 74"/>
          <p:cNvSpPr txBox="1"/>
          <p:nvPr/>
        </p:nvSpPr>
        <p:spPr>
          <a:xfrm>
            <a:off x="9980676" y="2551176"/>
            <a:ext cx="3966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10377297" y="2075688"/>
            <a:ext cx="396621" cy="45720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10377297" y="2075688"/>
            <a:ext cx="3966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400" dirty="0"/>
          </a:p>
        </p:txBody>
      </p:sp>
      <p:sp>
        <p:nvSpPr>
          <p:cNvPr id="79" name="Text 77"/>
          <p:cNvSpPr txBox="1"/>
          <p:nvPr/>
        </p:nvSpPr>
        <p:spPr>
          <a:xfrm>
            <a:off x="10377297" y="2551176"/>
            <a:ext cx="3966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10773918" y="2075688"/>
            <a:ext cx="396621" cy="45720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10773918" y="2075688"/>
            <a:ext cx="3966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400" dirty="0"/>
          </a:p>
        </p:txBody>
      </p:sp>
      <p:sp>
        <p:nvSpPr>
          <p:cNvPr id="82" name="Text 80"/>
          <p:cNvSpPr txBox="1"/>
          <p:nvPr/>
        </p:nvSpPr>
        <p:spPr>
          <a:xfrm>
            <a:off x="10773918" y="2551176"/>
            <a:ext cx="3966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11170539" y="2075688"/>
            <a:ext cx="396621" cy="45720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11170539" y="2075688"/>
            <a:ext cx="3966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400" dirty="0"/>
          </a:p>
        </p:txBody>
      </p:sp>
      <p:sp>
        <p:nvSpPr>
          <p:cNvPr id="85" name="Text 83"/>
          <p:cNvSpPr txBox="1"/>
          <p:nvPr/>
        </p:nvSpPr>
        <p:spPr>
          <a:xfrm>
            <a:off x="11170539" y="2551176"/>
            <a:ext cx="3966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86" name="Text 84"/>
          <p:cNvSpPr txBox="1"/>
          <p:nvPr/>
        </p:nvSpPr>
        <p:spPr>
          <a:xfrm>
            <a:off x="8394192" y="1819656"/>
            <a:ext cx="3966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1100" dirty="0"/>
          </a:p>
        </p:txBody>
      </p:sp>
      <p:sp>
        <p:nvSpPr>
          <p:cNvPr id="87" name="Text 85"/>
          <p:cNvSpPr txBox="1"/>
          <p:nvPr/>
        </p:nvSpPr>
        <p:spPr>
          <a:xfrm>
            <a:off x="11170539" y="2752344"/>
            <a:ext cx="3966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9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</a:t>
            </a:r>
            <a:endParaRPr lang="en-US" sz="1100" dirty="0"/>
          </a:p>
        </p:txBody>
      </p:sp>
      <p:sp>
        <p:nvSpPr>
          <p:cNvPr id="88" name="Text 86"/>
          <p:cNvSpPr txBox="1"/>
          <p:nvPr/>
        </p:nvSpPr>
        <p:spPr>
          <a:xfrm>
            <a:off x="8394192" y="2743200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(size-1 = 7 held — the max)</a:t>
            </a:r>
            <a:endParaRPr lang="en-US" sz="1050" dirty="0"/>
          </a:p>
        </p:txBody>
      </p:sp>
      <p:sp>
        <p:nvSpPr>
          <p:cNvPr id="89" name="Text 87"/>
          <p:cNvSpPr txBox="1"/>
          <p:nvPr/>
        </p:nvSpPr>
        <p:spPr>
          <a:xfrm>
            <a:off x="8375904" y="3200400"/>
            <a:ext cx="3209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attempt is rejected</a:t>
            </a:r>
            <a:endParaRPr lang="en-US" sz="1150" dirty="0"/>
          </a:p>
        </p:txBody>
      </p:sp>
      <p:sp>
        <p:nvSpPr>
          <p:cNvPr id="90" name="Shape 88"/>
          <p:cNvSpPr/>
          <p:nvPr/>
        </p:nvSpPr>
        <p:spPr>
          <a:xfrm>
            <a:off x="548640" y="3886200"/>
            <a:ext cx="3355848" cy="2148840"/>
          </a:xfrm>
          <a:prstGeom prst="roundRect">
            <a:avLst>
              <a:gd name="adj" fmla="val 3404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621792" y="3950208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10, 20</a:t>
            </a:r>
            <a:endParaRPr lang="en-US" sz="1250" dirty="0"/>
          </a:p>
        </p:txBody>
      </p:sp>
      <p:sp>
        <p:nvSpPr>
          <p:cNvPr id="92" name="Shape 90"/>
          <p:cNvSpPr/>
          <p:nvPr/>
        </p:nvSpPr>
        <p:spPr>
          <a:xfrm>
            <a:off x="640080" y="4544568"/>
            <a:ext cx="396621" cy="457200"/>
          </a:xfrm>
          <a:prstGeom prst="rect">
            <a:avLst/>
          </a:prstGeom>
          <a:solidFill>
            <a:srgbClr val="F4F8F5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640080" y="5020056"/>
            <a:ext cx="3966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1036701" y="4544568"/>
            <a:ext cx="396621" cy="457200"/>
          </a:xfrm>
          <a:prstGeom prst="rect">
            <a:avLst/>
          </a:prstGeom>
          <a:solidFill>
            <a:srgbClr val="F4F8F5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1036701" y="5020056"/>
            <a:ext cx="3966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1433322" y="4544568"/>
            <a:ext cx="396621" cy="457200"/>
          </a:xfrm>
          <a:prstGeom prst="rect">
            <a:avLst/>
          </a:prstGeom>
          <a:solidFill>
            <a:srgbClr val="F4F8F5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1433322" y="5020056"/>
            <a:ext cx="3966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1829943" y="4544568"/>
            <a:ext cx="396621" cy="457200"/>
          </a:xfrm>
          <a:prstGeom prst="rect">
            <a:avLst/>
          </a:prstGeom>
          <a:solidFill>
            <a:srgbClr val="F5C871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1829943" y="4544568"/>
            <a:ext cx="3966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400" dirty="0"/>
          </a:p>
        </p:txBody>
      </p:sp>
      <p:sp>
        <p:nvSpPr>
          <p:cNvPr id="100" name="Text 98"/>
          <p:cNvSpPr txBox="1"/>
          <p:nvPr/>
        </p:nvSpPr>
        <p:spPr>
          <a:xfrm>
            <a:off x="1829943" y="5020056"/>
            <a:ext cx="3966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2226564" y="4544568"/>
            <a:ext cx="396621" cy="45720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2226564" y="4544568"/>
            <a:ext cx="3966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400" dirty="0"/>
          </a:p>
        </p:txBody>
      </p:sp>
      <p:sp>
        <p:nvSpPr>
          <p:cNvPr id="103" name="Text 101"/>
          <p:cNvSpPr txBox="1"/>
          <p:nvPr/>
        </p:nvSpPr>
        <p:spPr>
          <a:xfrm>
            <a:off x="2226564" y="5020056"/>
            <a:ext cx="3966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2623185" y="4544568"/>
            <a:ext cx="396621" cy="45720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2623185" y="4544568"/>
            <a:ext cx="3966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400" dirty="0"/>
          </a:p>
        </p:txBody>
      </p:sp>
      <p:sp>
        <p:nvSpPr>
          <p:cNvPr id="106" name="Text 104"/>
          <p:cNvSpPr txBox="1"/>
          <p:nvPr/>
        </p:nvSpPr>
        <p:spPr>
          <a:xfrm>
            <a:off x="2623185" y="5020056"/>
            <a:ext cx="3966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107" name="Shape 105"/>
          <p:cNvSpPr/>
          <p:nvPr/>
        </p:nvSpPr>
        <p:spPr>
          <a:xfrm>
            <a:off x="3019806" y="4544568"/>
            <a:ext cx="396621" cy="45720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3019806" y="4544568"/>
            <a:ext cx="3966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400" dirty="0"/>
          </a:p>
        </p:txBody>
      </p:sp>
      <p:sp>
        <p:nvSpPr>
          <p:cNvPr id="109" name="Text 107"/>
          <p:cNvSpPr txBox="1"/>
          <p:nvPr/>
        </p:nvSpPr>
        <p:spPr>
          <a:xfrm>
            <a:off x="3019806" y="5020056"/>
            <a:ext cx="3966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110" name="Shape 108"/>
          <p:cNvSpPr/>
          <p:nvPr/>
        </p:nvSpPr>
        <p:spPr>
          <a:xfrm>
            <a:off x="3416427" y="4544568"/>
            <a:ext cx="396621" cy="45720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3416427" y="4544568"/>
            <a:ext cx="3966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400" dirty="0"/>
          </a:p>
        </p:txBody>
      </p:sp>
      <p:sp>
        <p:nvSpPr>
          <p:cNvPr id="112" name="Text 110"/>
          <p:cNvSpPr txBox="1"/>
          <p:nvPr/>
        </p:nvSpPr>
        <p:spPr>
          <a:xfrm>
            <a:off x="3416427" y="5020056"/>
            <a:ext cx="3966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113" name="Text 111"/>
          <p:cNvSpPr txBox="1"/>
          <p:nvPr/>
        </p:nvSpPr>
        <p:spPr>
          <a:xfrm>
            <a:off x="1433322" y="4288536"/>
            <a:ext cx="3966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1100" dirty="0"/>
          </a:p>
        </p:txBody>
      </p:sp>
      <p:sp>
        <p:nvSpPr>
          <p:cNvPr id="114" name="Text 112"/>
          <p:cNvSpPr txBox="1"/>
          <p:nvPr/>
        </p:nvSpPr>
        <p:spPr>
          <a:xfrm>
            <a:off x="3416427" y="5221224"/>
            <a:ext cx="3966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9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</a:t>
            </a:r>
            <a:endParaRPr lang="en-US" sz="1100" dirty="0"/>
          </a:p>
        </p:txBody>
      </p:sp>
      <p:sp>
        <p:nvSpPr>
          <p:cNvPr id="115" name="Text 113"/>
          <p:cNvSpPr txBox="1"/>
          <p:nvPr/>
        </p:nvSpPr>
        <p:spPr>
          <a:xfrm>
            <a:off x="621792" y="5669280"/>
            <a:ext cx="3209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front=2, rear=7</a:t>
            </a:r>
            <a:endParaRPr lang="en-US" sz="1150" dirty="0"/>
          </a:p>
        </p:txBody>
      </p:sp>
      <p:sp>
        <p:nvSpPr>
          <p:cNvPr id="116" name="Shape 114"/>
          <p:cNvSpPr/>
          <p:nvPr/>
        </p:nvSpPr>
        <p:spPr>
          <a:xfrm>
            <a:off x="3959352" y="4745736"/>
            <a:ext cx="411480" cy="292608"/>
          </a:xfrm>
          <a:prstGeom prst="rightArrow">
            <a:avLst/>
          </a:prstGeom>
          <a:solidFill>
            <a:srgbClr val="2D6A4F"/>
          </a:solidFill>
          <a:ln/>
        </p:spPr>
      </p:sp>
      <p:sp>
        <p:nvSpPr>
          <p:cNvPr id="117" name="Shape 115"/>
          <p:cNvSpPr/>
          <p:nvPr/>
        </p:nvSpPr>
        <p:spPr>
          <a:xfrm>
            <a:off x="4425696" y="3886200"/>
            <a:ext cx="3355848" cy="2148840"/>
          </a:xfrm>
          <a:prstGeom prst="roundRect">
            <a:avLst>
              <a:gd name="adj" fmla="val 3404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4498848" y="3950208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80</a:t>
            </a:r>
            <a:endParaRPr lang="en-US" sz="1250" dirty="0"/>
          </a:p>
        </p:txBody>
      </p:sp>
      <p:sp>
        <p:nvSpPr>
          <p:cNvPr id="119" name="Shape 117"/>
          <p:cNvSpPr/>
          <p:nvPr/>
        </p:nvSpPr>
        <p:spPr>
          <a:xfrm>
            <a:off x="4517136" y="4544568"/>
            <a:ext cx="396621" cy="457200"/>
          </a:xfrm>
          <a:prstGeom prst="rect">
            <a:avLst/>
          </a:prstGeom>
          <a:solidFill>
            <a:srgbClr val="F5C871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4517136" y="4544568"/>
            <a:ext cx="3966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400" dirty="0"/>
          </a:p>
        </p:txBody>
      </p:sp>
      <p:sp>
        <p:nvSpPr>
          <p:cNvPr id="121" name="Text 119"/>
          <p:cNvSpPr txBox="1"/>
          <p:nvPr/>
        </p:nvSpPr>
        <p:spPr>
          <a:xfrm>
            <a:off x="4517136" y="5020056"/>
            <a:ext cx="3966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122" name="Shape 120"/>
          <p:cNvSpPr/>
          <p:nvPr/>
        </p:nvSpPr>
        <p:spPr>
          <a:xfrm>
            <a:off x="4913757" y="4544568"/>
            <a:ext cx="396621" cy="457200"/>
          </a:xfrm>
          <a:prstGeom prst="rect">
            <a:avLst/>
          </a:prstGeom>
          <a:solidFill>
            <a:srgbClr val="F4F8F5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123" name="Text 121"/>
          <p:cNvSpPr txBox="1"/>
          <p:nvPr/>
        </p:nvSpPr>
        <p:spPr>
          <a:xfrm>
            <a:off x="4913757" y="5020056"/>
            <a:ext cx="3966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24" name="Shape 122"/>
          <p:cNvSpPr/>
          <p:nvPr/>
        </p:nvSpPr>
        <p:spPr>
          <a:xfrm>
            <a:off x="5310378" y="4544568"/>
            <a:ext cx="396621" cy="457200"/>
          </a:xfrm>
          <a:prstGeom prst="rect">
            <a:avLst/>
          </a:prstGeom>
          <a:solidFill>
            <a:srgbClr val="F4F8F5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125" name="Text 123"/>
          <p:cNvSpPr txBox="1"/>
          <p:nvPr/>
        </p:nvSpPr>
        <p:spPr>
          <a:xfrm>
            <a:off x="5310378" y="5020056"/>
            <a:ext cx="3966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26" name="Shape 124"/>
          <p:cNvSpPr/>
          <p:nvPr/>
        </p:nvSpPr>
        <p:spPr>
          <a:xfrm>
            <a:off x="5706999" y="4544568"/>
            <a:ext cx="396621" cy="45720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127" name="Text 125"/>
          <p:cNvSpPr txBox="1"/>
          <p:nvPr/>
        </p:nvSpPr>
        <p:spPr>
          <a:xfrm>
            <a:off x="5706999" y="4544568"/>
            <a:ext cx="3966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400" dirty="0"/>
          </a:p>
        </p:txBody>
      </p:sp>
      <p:sp>
        <p:nvSpPr>
          <p:cNvPr id="128" name="Text 126"/>
          <p:cNvSpPr txBox="1"/>
          <p:nvPr/>
        </p:nvSpPr>
        <p:spPr>
          <a:xfrm>
            <a:off x="5706999" y="5020056"/>
            <a:ext cx="3966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129" name="Shape 127"/>
          <p:cNvSpPr/>
          <p:nvPr/>
        </p:nvSpPr>
        <p:spPr>
          <a:xfrm>
            <a:off x="6103620" y="4544568"/>
            <a:ext cx="396621" cy="45720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130" name="Text 128"/>
          <p:cNvSpPr txBox="1"/>
          <p:nvPr/>
        </p:nvSpPr>
        <p:spPr>
          <a:xfrm>
            <a:off x="6103620" y="4544568"/>
            <a:ext cx="3966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400" dirty="0"/>
          </a:p>
        </p:txBody>
      </p:sp>
      <p:sp>
        <p:nvSpPr>
          <p:cNvPr id="131" name="Text 129"/>
          <p:cNvSpPr txBox="1"/>
          <p:nvPr/>
        </p:nvSpPr>
        <p:spPr>
          <a:xfrm>
            <a:off x="6103620" y="5020056"/>
            <a:ext cx="3966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132" name="Shape 130"/>
          <p:cNvSpPr/>
          <p:nvPr/>
        </p:nvSpPr>
        <p:spPr>
          <a:xfrm>
            <a:off x="6500241" y="4544568"/>
            <a:ext cx="396621" cy="45720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133" name="Text 131"/>
          <p:cNvSpPr txBox="1"/>
          <p:nvPr/>
        </p:nvSpPr>
        <p:spPr>
          <a:xfrm>
            <a:off x="6500241" y="4544568"/>
            <a:ext cx="3966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400" dirty="0"/>
          </a:p>
        </p:txBody>
      </p:sp>
      <p:sp>
        <p:nvSpPr>
          <p:cNvPr id="134" name="Text 132"/>
          <p:cNvSpPr txBox="1"/>
          <p:nvPr/>
        </p:nvSpPr>
        <p:spPr>
          <a:xfrm>
            <a:off x="6500241" y="5020056"/>
            <a:ext cx="3966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135" name="Shape 133"/>
          <p:cNvSpPr/>
          <p:nvPr/>
        </p:nvSpPr>
        <p:spPr>
          <a:xfrm>
            <a:off x="6896862" y="4544568"/>
            <a:ext cx="396621" cy="45720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136" name="Text 134"/>
          <p:cNvSpPr txBox="1"/>
          <p:nvPr/>
        </p:nvSpPr>
        <p:spPr>
          <a:xfrm>
            <a:off x="6896862" y="4544568"/>
            <a:ext cx="3966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400" dirty="0"/>
          </a:p>
        </p:txBody>
      </p:sp>
      <p:sp>
        <p:nvSpPr>
          <p:cNvPr id="137" name="Text 135"/>
          <p:cNvSpPr txBox="1"/>
          <p:nvPr/>
        </p:nvSpPr>
        <p:spPr>
          <a:xfrm>
            <a:off x="6896862" y="5020056"/>
            <a:ext cx="3966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138" name="Shape 136"/>
          <p:cNvSpPr/>
          <p:nvPr/>
        </p:nvSpPr>
        <p:spPr>
          <a:xfrm>
            <a:off x="7293483" y="4544568"/>
            <a:ext cx="396621" cy="45720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139" name="Text 137"/>
          <p:cNvSpPr txBox="1"/>
          <p:nvPr/>
        </p:nvSpPr>
        <p:spPr>
          <a:xfrm>
            <a:off x="7293483" y="4544568"/>
            <a:ext cx="3966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400" dirty="0"/>
          </a:p>
        </p:txBody>
      </p:sp>
      <p:sp>
        <p:nvSpPr>
          <p:cNvPr id="140" name="Text 138"/>
          <p:cNvSpPr txBox="1"/>
          <p:nvPr/>
        </p:nvSpPr>
        <p:spPr>
          <a:xfrm>
            <a:off x="7293483" y="5020056"/>
            <a:ext cx="3966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141" name="Text 139"/>
          <p:cNvSpPr txBox="1"/>
          <p:nvPr/>
        </p:nvSpPr>
        <p:spPr>
          <a:xfrm>
            <a:off x="5310378" y="4288536"/>
            <a:ext cx="3966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1100" dirty="0"/>
          </a:p>
        </p:txBody>
      </p:sp>
      <p:sp>
        <p:nvSpPr>
          <p:cNvPr id="142" name="Text 140"/>
          <p:cNvSpPr txBox="1"/>
          <p:nvPr/>
        </p:nvSpPr>
        <p:spPr>
          <a:xfrm>
            <a:off x="4517136" y="5221224"/>
            <a:ext cx="3966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9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</a:t>
            </a:r>
            <a:endParaRPr lang="en-US" sz="1100" dirty="0"/>
          </a:p>
        </p:txBody>
      </p:sp>
      <p:sp>
        <p:nvSpPr>
          <p:cNvPr id="143" name="Text 141"/>
          <p:cNvSpPr txBox="1"/>
          <p:nvPr/>
        </p:nvSpPr>
        <p:spPr>
          <a:xfrm>
            <a:off x="4498848" y="5669280"/>
            <a:ext cx="3209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to index 0, rear=0</a:t>
            </a:r>
            <a:endParaRPr lang="en-US" sz="1150" dirty="0"/>
          </a:p>
        </p:txBody>
      </p:sp>
      <p:sp>
        <p:nvSpPr>
          <p:cNvPr id="144" name="Shape 142"/>
          <p:cNvSpPr/>
          <p:nvPr/>
        </p:nvSpPr>
        <p:spPr>
          <a:xfrm>
            <a:off x="7836408" y="4745736"/>
            <a:ext cx="411480" cy="292608"/>
          </a:xfrm>
          <a:prstGeom prst="rightArrow">
            <a:avLst/>
          </a:prstGeom>
          <a:solidFill>
            <a:srgbClr val="2D6A4F"/>
          </a:solidFill>
          <a:ln/>
        </p:spPr>
      </p:sp>
      <p:sp>
        <p:nvSpPr>
          <p:cNvPr id="145" name="Shape 143"/>
          <p:cNvSpPr/>
          <p:nvPr/>
        </p:nvSpPr>
        <p:spPr>
          <a:xfrm>
            <a:off x="8302752" y="3886200"/>
            <a:ext cx="3355848" cy="2148840"/>
          </a:xfrm>
          <a:prstGeom prst="roundRect">
            <a:avLst>
              <a:gd name="adj" fmla="val 3404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146" name="Text 144"/>
          <p:cNvSpPr txBox="1"/>
          <p:nvPr/>
        </p:nvSpPr>
        <p:spPr>
          <a:xfrm>
            <a:off x="8375904" y="3950208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90 → FULL again</a:t>
            </a:r>
            <a:endParaRPr lang="en-US" sz="1250" dirty="0"/>
          </a:p>
        </p:txBody>
      </p:sp>
      <p:sp>
        <p:nvSpPr>
          <p:cNvPr id="147" name="Shape 145"/>
          <p:cNvSpPr/>
          <p:nvPr/>
        </p:nvSpPr>
        <p:spPr>
          <a:xfrm>
            <a:off x="8394192" y="4544568"/>
            <a:ext cx="396621" cy="45720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148" name="Text 146"/>
          <p:cNvSpPr txBox="1"/>
          <p:nvPr/>
        </p:nvSpPr>
        <p:spPr>
          <a:xfrm>
            <a:off x="8394192" y="4544568"/>
            <a:ext cx="3966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400" dirty="0"/>
          </a:p>
        </p:txBody>
      </p:sp>
      <p:sp>
        <p:nvSpPr>
          <p:cNvPr id="149" name="Text 147"/>
          <p:cNvSpPr txBox="1"/>
          <p:nvPr/>
        </p:nvSpPr>
        <p:spPr>
          <a:xfrm>
            <a:off x="8394192" y="5020056"/>
            <a:ext cx="3966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150" name="Shape 148"/>
          <p:cNvSpPr/>
          <p:nvPr/>
        </p:nvSpPr>
        <p:spPr>
          <a:xfrm>
            <a:off x="8790813" y="4544568"/>
            <a:ext cx="396621" cy="457200"/>
          </a:xfrm>
          <a:prstGeom prst="rect">
            <a:avLst/>
          </a:prstGeom>
          <a:solidFill>
            <a:srgbClr val="F5C871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151" name="Text 149"/>
          <p:cNvSpPr txBox="1"/>
          <p:nvPr/>
        </p:nvSpPr>
        <p:spPr>
          <a:xfrm>
            <a:off x="8790813" y="4544568"/>
            <a:ext cx="3966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400" dirty="0"/>
          </a:p>
        </p:txBody>
      </p:sp>
      <p:sp>
        <p:nvSpPr>
          <p:cNvPr id="152" name="Text 150"/>
          <p:cNvSpPr txBox="1"/>
          <p:nvPr/>
        </p:nvSpPr>
        <p:spPr>
          <a:xfrm>
            <a:off x="8790813" y="5020056"/>
            <a:ext cx="3966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53" name="Shape 151"/>
          <p:cNvSpPr/>
          <p:nvPr/>
        </p:nvSpPr>
        <p:spPr>
          <a:xfrm>
            <a:off x="9187434" y="4544568"/>
            <a:ext cx="396621" cy="457200"/>
          </a:xfrm>
          <a:prstGeom prst="rect">
            <a:avLst/>
          </a:prstGeom>
          <a:solidFill>
            <a:srgbClr val="F4F8F5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154" name="Text 152"/>
          <p:cNvSpPr txBox="1"/>
          <p:nvPr/>
        </p:nvSpPr>
        <p:spPr>
          <a:xfrm>
            <a:off x="9187434" y="5020056"/>
            <a:ext cx="3966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55" name="Shape 153"/>
          <p:cNvSpPr/>
          <p:nvPr/>
        </p:nvSpPr>
        <p:spPr>
          <a:xfrm>
            <a:off x="9584055" y="4544568"/>
            <a:ext cx="396621" cy="45720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156" name="Text 154"/>
          <p:cNvSpPr txBox="1"/>
          <p:nvPr/>
        </p:nvSpPr>
        <p:spPr>
          <a:xfrm>
            <a:off x="9584055" y="4544568"/>
            <a:ext cx="3966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400" dirty="0"/>
          </a:p>
        </p:txBody>
      </p:sp>
      <p:sp>
        <p:nvSpPr>
          <p:cNvPr id="157" name="Text 155"/>
          <p:cNvSpPr txBox="1"/>
          <p:nvPr/>
        </p:nvSpPr>
        <p:spPr>
          <a:xfrm>
            <a:off x="9584055" y="5020056"/>
            <a:ext cx="3966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158" name="Shape 156"/>
          <p:cNvSpPr/>
          <p:nvPr/>
        </p:nvSpPr>
        <p:spPr>
          <a:xfrm>
            <a:off x="9980676" y="4544568"/>
            <a:ext cx="396621" cy="45720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159" name="Text 157"/>
          <p:cNvSpPr txBox="1"/>
          <p:nvPr/>
        </p:nvSpPr>
        <p:spPr>
          <a:xfrm>
            <a:off x="9980676" y="4544568"/>
            <a:ext cx="3966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400" dirty="0"/>
          </a:p>
        </p:txBody>
      </p:sp>
      <p:sp>
        <p:nvSpPr>
          <p:cNvPr id="160" name="Text 158"/>
          <p:cNvSpPr txBox="1"/>
          <p:nvPr/>
        </p:nvSpPr>
        <p:spPr>
          <a:xfrm>
            <a:off x="9980676" y="5020056"/>
            <a:ext cx="3966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161" name="Shape 159"/>
          <p:cNvSpPr/>
          <p:nvPr/>
        </p:nvSpPr>
        <p:spPr>
          <a:xfrm>
            <a:off x="10377297" y="4544568"/>
            <a:ext cx="396621" cy="45720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162" name="Text 160"/>
          <p:cNvSpPr txBox="1"/>
          <p:nvPr/>
        </p:nvSpPr>
        <p:spPr>
          <a:xfrm>
            <a:off x="10377297" y="4544568"/>
            <a:ext cx="3966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400" dirty="0"/>
          </a:p>
        </p:txBody>
      </p:sp>
      <p:sp>
        <p:nvSpPr>
          <p:cNvPr id="163" name="Text 161"/>
          <p:cNvSpPr txBox="1"/>
          <p:nvPr/>
        </p:nvSpPr>
        <p:spPr>
          <a:xfrm>
            <a:off x="10377297" y="5020056"/>
            <a:ext cx="3966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164" name="Shape 162"/>
          <p:cNvSpPr/>
          <p:nvPr/>
        </p:nvSpPr>
        <p:spPr>
          <a:xfrm>
            <a:off x="10773918" y="4544568"/>
            <a:ext cx="396621" cy="45720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165" name="Text 163"/>
          <p:cNvSpPr txBox="1"/>
          <p:nvPr/>
        </p:nvSpPr>
        <p:spPr>
          <a:xfrm>
            <a:off x="10773918" y="4544568"/>
            <a:ext cx="3966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400" dirty="0"/>
          </a:p>
        </p:txBody>
      </p:sp>
      <p:sp>
        <p:nvSpPr>
          <p:cNvPr id="166" name="Text 164"/>
          <p:cNvSpPr txBox="1"/>
          <p:nvPr/>
        </p:nvSpPr>
        <p:spPr>
          <a:xfrm>
            <a:off x="10773918" y="5020056"/>
            <a:ext cx="3966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167" name="Shape 165"/>
          <p:cNvSpPr/>
          <p:nvPr/>
        </p:nvSpPr>
        <p:spPr>
          <a:xfrm>
            <a:off x="11170539" y="4544568"/>
            <a:ext cx="396621" cy="45720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168" name="Text 166"/>
          <p:cNvSpPr txBox="1"/>
          <p:nvPr/>
        </p:nvSpPr>
        <p:spPr>
          <a:xfrm>
            <a:off x="11170539" y="4544568"/>
            <a:ext cx="3966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400" dirty="0"/>
          </a:p>
        </p:txBody>
      </p:sp>
      <p:sp>
        <p:nvSpPr>
          <p:cNvPr id="169" name="Text 167"/>
          <p:cNvSpPr txBox="1"/>
          <p:nvPr/>
        </p:nvSpPr>
        <p:spPr>
          <a:xfrm>
            <a:off x="11170539" y="5020056"/>
            <a:ext cx="3966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170" name="Text 168"/>
          <p:cNvSpPr txBox="1"/>
          <p:nvPr/>
        </p:nvSpPr>
        <p:spPr>
          <a:xfrm>
            <a:off x="9187434" y="4288536"/>
            <a:ext cx="3966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1100" dirty="0"/>
          </a:p>
        </p:txBody>
      </p:sp>
      <p:sp>
        <p:nvSpPr>
          <p:cNvPr id="171" name="Text 169"/>
          <p:cNvSpPr txBox="1"/>
          <p:nvPr/>
        </p:nvSpPr>
        <p:spPr>
          <a:xfrm>
            <a:off x="8790813" y="5221224"/>
            <a:ext cx="3966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9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</a:t>
            </a:r>
            <a:endParaRPr lang="en-US" sz="1100" dirty="0"/>
          </a:p>
        </p:txBody>
      </p:sp>
      <p:sp>
        <p:nvSpPr>
          <p:cNvPr id="172" name="Text 170"/>
          <p:cNvSpPr txBox="1"/>
          <p:nvPr/>
        </p:nvSpPr>
        <p:spPr>
          <a:xfrm>
            <a:off x="8375904" y="5669280"/>
            <a:ext cx="3209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front=2, rear=1</a:t>
            </a:r>
            <a:endParaRPr lang="en-US" sz="1150" dirty="0"/>
          </a:p>
        </p:txBody>
      </p:sp>
      <p:sp>
        <p:nvSpPr>
          <p:cNvPr id="173" name="Text 171"/>
          <p:cNvSpPr txBox="1"/>
          <p:nvPr/>
        </p:nvSpPr>
        <p:spPr>
          <a:xfrm>
            <a:off x="548640" y="6172200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marks the guard slot just behind the real front element; the actual front value sits at (front+1) mod size. Sequence and outcomes match Handbook §2.4.2 Figure 2.13 exactly.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QUEUES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Linked-list queue: two pointers, not one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760720" cy="4023360"/>
          </a:xfrm>
          <a:prstGeom prst="roundRect">
            <a:avLst>
              <a:gd name="adj" fmla="val 1364"/>
            </a:avLst>
          </a:prstGeom>
          <a:solidFill>
            <a:srgbClr val="162D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499616"/>
            <a:ext cx="5431536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*front = nullptr, *rear = nullptr;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enqueue(int x) {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Node* n = new Node{x, nullptr};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(!rear) front = rear = n;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{ rear-&gt;next = n; rear = n; }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dequeue() {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x = front-&gt;data;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Node* old = front;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front = front-&gt;next;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(!front) rear = nullptr;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delete old;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x;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1371600"/>
            <a:ext cx="50749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0020" indent="-16002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stack needed only </a:t>
            </a:r>
            <a:r>
              <a:rPr lang="en-US" sz="14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 queue inserts at the </a:t>
            </a: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deletes from the </a:t>
            </a: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two different ends — so it keeps </a:t>
            </a: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pointers.</a:t>
            </a:r>
            <a:endParaRPr lang="en-US" sz="1400" dirty="0"/>
          </a:p>
          <a:p>
            <a:pPr marL="160020" indent="-16002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enqueue(x)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attach a new node after </a:t>
            </a:r>
            <a:r>
              <a:rPr lang="en-US" sz="14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rear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move </a:t>
            </a:r>
            <a:r>
              <a:rPr lang="en-US" sz="14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rear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it — O(1). If the queue was empty, </a:t>
            </a:r>
            <a:r>
              <a:rPr lang="en-US" sz="14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4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rear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both point to the new node.</a:t>
            </a:r>
            <a:endParaRPr lang="en-US" sz="1400" dirty="0"/>
          </a:p>
          <a:p>
            <a:pPr marL="160020" indent="-16002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dequeue()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read </a:t>
            </a:r>
            <a:r>
              <a:rPr lang="en-US" sz="14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front-&gt;data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advance </a:t>
            </a:r>
            <a:r>
              <a:rPr lang="en-US" sz="14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O(1). If the list becomes empty, reset </a:t>
            </a:r>
            <a:r>
              <a:rPr lang="en-US" sz="14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rear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null too, or </a:t>
            </a:r>
            <a:r>
              <a:rPr lang="en-US" sz="14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rear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would dangle.</a:t>
            </a:r>
            <a:endParaRPr lang="en-US" sz="1400" dirty="0"/>
          </a:p>
          <a:p>
            <a:pPr marL="160020" indent="-16002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the linked stack, there is no fixed capacity — it grows one node at a time, no circular-array trick needed.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QUEUES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Array-based vs linked-list queue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10996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046220"/>
                <a:gridCol w="404622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Circular array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 list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enqueue / dequeue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memory / element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pointer per node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— size − 1 usable slots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grows on demand — no fixed limit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Pointers kept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front, rear (indices)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front, rear (node pointers)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use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known/bounded max size, ring buffers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 or unbounded size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892040"/>
            <a:ext cx="11109960" cy="1234440"/>
          </a:xfrm>
          <a:prstGeom prst="roundRect">
            <a:avLst>
              <a:gd name="adj" fmla="val 5926"/>
            </a:avLst>
          </a:prstGeom>
          <a:solidFill>
            <a:srgbClr val="E9F5EC"/>
          </a:solidFill>
          <a:ln w="12700">
            <a:solidFill>
              <a:srgbClr val="E9F5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001768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5257800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story as stacks: both give </a:t>
            </a: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enqueue/dequeue. Circular arrays are the classic choice for </a:t>
            </a: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 ring buffers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(audio/network buffers); linked lists suit queues whose length is unpredictable.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QUEUES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deque: insertion and deletion at both ends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109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735" indent="-165735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(double-ended queue) supports four operations: </a:t>
            </a: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addFront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addRear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delFront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delRear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all O(1) with a doubly linked list or a circular array.</a:t>
            </a:r>
            <a:endParaRPr lang="en-US" sz="1450" dirty="0"/>
          </a:p>
          <a:p>
            <a:pPr marL="165735" indent="-165735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</a:t>
            </a: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deque used only at one end; a plain </a:t>
            </a: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deque used with adds at one end and deletes at the other. A deque can emulate either.</a:t>
            </a:r>
            <a:endParaRPr lang="en-US" sz="1450" dirty="0"/>
          </a:p>
          <a:p>
            <a:pPr marL="165735" indent="-165735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Handbook §2.4: </a:t>
            </a:r>
            <a:r>
              <a:rPr lang="en-US" sz="145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deque combines the stack and the queue by supporting both types of deletions."</a:t>
            </a:r>
            <a:endParaRPr lang="en-US" sz="145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83280"/>
          <a:ext cx="58521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65760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deque after (front → rear)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addRear(10)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[10]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addRear(20)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[10, 20]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addFront(5)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[5, 10, 20]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delFront(5)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[10, 20]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delRear(20)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[10]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addFront(1)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[1, 10]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675120" y="3383280"/>
            <a:ext cx="4983480" cy="2651760"/>
          </a:xfrm>
          <a:prstGeom prst="roundRect">
            <a:avLst>
              <a:gd name="adj" fmla="val 2759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748272" y="3447288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the trace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98180" y="4023360"/>
            <a:ext cx="868680" cy="50292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98180" y="402336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166860" y="4023360"/>
            <a:ext cx="868680" cy="50292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66860" y="402336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0" y="475488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deque: [1, 10]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858000" y="516636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addFront/addRear/delFront/delRear each touched only an end — no shifting of the middle elements.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QUEUES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priority queue: order by priority, not arrival time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109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735" indent="-165735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removes the element with the </a:t>
            </a: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(or lowest) priority next — not necessarily the one that arrived first.</a:t>
            </a:r>
            <a:endParaRPr lang="en-US" sz="1450" dirty="0"/>
          </a:p>
          <a:p>
            <a:pPr marL="165735" indent="-165735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array/list implementation just keeps the collection </a:t>
            </a: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by priority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insert in sorted position, always remove from the priority end. Insert costs O(n); remove-highest costs O(1).</a:t>
            </a:r>
            <a:endParaRPr lang="en-US" sz="1450" dirty="0"/>
          </a:p>
          <a:p>
            <a:pPr marL="165735" indent="-165735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 later topic) does both in O(log n), which is why priority queues are usually heap-backed in practice — but the *behaviour* being modelled is what matters here.</a:t>
            </a:r>
            <a:endParaRPr lang="en-US" sz="145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29000"/>
          <a:ext cx="65836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queue after (highest → lowest)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insert(30)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[30]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insert(10)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[30, 10]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insert(50)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[50, 30, 10]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remove(50)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[30, 10]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insert(40)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[40, 30, 10]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remove(40)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[30, 10]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406640" y="3429000"/>
            <a:ext cx="4251960" cy="2606040"/>
          </a:xfrm>
          <a:prstGeom prst="roundRect">
            <a:avLst>
              <a:gd name="adj" fmla="val 2807"/>
            </a:avLst>
          </a:prstGeom>
          <a:solidFill>
            <a:srgbClr val="FCF1DC"/>
          </a:solidFill>
          <a:ln w="12700">
            <a:solidFill>
              <a:srgbClr val="FCF1D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589520" y="353872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9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589520" y="3794760"/>
            <a:ext cx="3886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though 30 was inserted first, remove() returns </a:t>
            </a: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highest priority present — not 30. That is what separates a priority queue from a plain FIFO queue.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QUEUES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queues show up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91056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/ task scheduling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1956816"/>
            <a:ext cx="32369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OS scheduler or a print spooler serves requests in arrival order.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4630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62272" y="1591056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Breadth-first search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4462272" y="1956816"/>
            <a:ext cx="32369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uses a queue of frontier nodes to explore a graph level by level.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14630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11312" y="1591056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Buffering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8211312" y="1956816"/>
            <a:ext cx="32369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Keystrokes, network packets, or audio samples queue up between producer and consumer.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" y="3236976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 scheduling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3602736"/>
            <a:ext cx="32369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process gets a time slice, then re-joins the back of the queue.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97680" y="310896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62272" y="3236976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Call/request handling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462272" y="3602736"/>
            <a:ext cx="32369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server or call centre serves incoming requests first-come, first-served.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46720" y="310896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11312" y="3236976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Producer–consumer pipelines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8211312" y="3602736"/>
            <a:ext cx="32369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stage enqueues work; another dequeues and processes it, decoupling their speeds.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98932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Handbook §2.4: "A queue is used to schedule jobs at a resource when a first-in first-out policy is to be implemented... a queue is used to implement a breadth-first traversal of a graph."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QUEUES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Queues: summary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83380"/>
                <a:gridCol w="41833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Circular array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 list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enqueue / dequeue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Overflow risk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size − 1 usable slots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(until memory runs out)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deque (both ends), priority queue (by priority)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applications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scheduling, BFS, buffering, round-robin, request handling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709160"/>
            <a:ext cx="11109960" cy="1417320"/>
          </a:xfrm>
          <a:prstGeom prst="roundRect">
            <a:avLst>
              <a:gd name="adj" fmla="val 5161"/>
            </a:avLst>
          </a:prstGeom>
          <a:solidFill>
            <a:srgbClr val="E9F5EC"/>
          </a:solidFill>
          <a:ln w="12700">
            <a:solidFill>
              <a:srgbClr val="E9F5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4818888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5074920"/>
            <a:ext cx="10744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vs queue is entirely about </a:t>
            </a: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end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deletion happens on: same end as insertion (LIFO) or the opposite end (FIFO). A deque supports both; a priority queue replaces "arrival order" with an explicit priority rule.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4884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&amp; Review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31920"/>
            <a:ext cx="6583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4310" indent="-19431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table for every structure covered so far</a:t>
            </a:r>
            <a:endParaRPr lang="en-US" sz="1700" dirty="0"/>
          </a:p>
          <a:p>
            <a:pPr marL="194310" indent="-19431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guide: which structure fits which job</a:t>
            </a:r>
            <a:endParaRPr lang="en-US" sz="1700" dirty="0"/>
          </a:p>
          <a:p>
            <a:pPr marL="194310" indent="-19431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recurring ideas that tie all of it together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C5A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COMPARE &amp; REVIEW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linear structure, side by side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10996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783080"/>
                <a:gridCol w="2057400"/>
                <a:gridCol w="1828800"/>
                <a:gridCol w="1737360"/>
                <a:gridCol w="137160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by index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front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array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 / O(log n) sorted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 — shift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if room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 — shift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array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 / O(log n) sorted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 — shift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amortized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 — shift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Singly linked 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with tail ptr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once located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Doubly linked 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with tail ptr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once located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Circular linked 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with tail ptr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once located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 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 expected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 expected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 expected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(array / list)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push/pop: O(1)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 (array / list)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enqueue/dequeue: O(1)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62356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"Once located" = after you already hold a pointer to the node; walking there from the head is still O(n) unless the position is already known.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COMPARE &amp; REVIEW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structure should I reach for?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109960" cy="493776"/>
          </a:xfrm>
          <a:prstGeom prst="roundRect">
            <a:avLst>
              <a:gd name="adj" fmla="val 14815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2646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need fast random access by index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635240" y="1426464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Array (static if size is known, dynamic otherwise)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38528"/>
            <a:ext cx="1110996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993392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need frequent insert/delete in the middle, and don't need index access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635240" y="199339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Linked list (singly if one-directional is enough)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505456"/>
            <a:ext cx="11109960" cy="493776"/>
          </a:xfrm>
          <a:prstGeom prst="roundRect">
            <a:avLst>
              <a:gd name="adj" fmla="val 14815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560320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need to walk backward as easily as forward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635240" y="256032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Doubly linked list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072384"/>
            <a:ext cx="1110996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12724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need round-robin / wrap-around access with no fixed "end"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635240" y="312724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Circular linked list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639312"/>
            <a:ext cx="11109960" cy="493776"/>
          </a:xfrm>
          <a:prstGeom prst="roundRect">
            <a:avLst>
              <a:gd name="adj" fmla="val 14815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694176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need ordered search close to O(log n) without a balanced tree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635240" y="369417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Skip list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1110996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26110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only ever touch one end, last-in-first-out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635240" y="4261104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Stack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773168"/>
            <a:ext cx="11109960" cy="493776"/>
          </a:xfrm>
          <a:prstGeom prst="roundRect">
            <a:avLst>
              <a:gd name="adj" fmla="val 14815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4828032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only ever add at one end and remove from the other, first-in-first-out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635240" y="482803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Queue (circular array if bounded, linked list otherwise)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5340096"/>
            <a:ext cx="1110996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1520" y="5394960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need both ends active, or arrival order doesn't decide priority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635240" y="539496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Deque, or priority queue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COMPARE &amp; REVIEW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Big-O cheat sheet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109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3657600"/>
                <a:gridCol w="4160520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Feel of the growth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Seen in this deck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cost regardless of 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 index access, stack/queue push-pop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logarithmic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doubling n adds one more step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search, skip list search (expected)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scales directly with 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search, linked-list traversal, array shift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linearithmic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passes, each costing O(log 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 sorting (later topic)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quadratic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scales with pairs of elements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sorting, nested scans (later topic)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983480"/>
            <a:ext cx="11109960" cy="1188720"/>
          </a:xfrm>
          <a:prstGeom prst="roundRect">
            <a:avLst>
              <a:gd name="adj" fmla="val 6154"/>
            </a:avLst>
          </a:prstGeom>
          <a:solidFill>
            <a:srgbClr val="FCF1DC"/>
          </a:solidFill>
          <a:ln w="12700">
            <a:solidFill>
              <a:srgbClr val="FCF1D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093208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9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534924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 describes </a:t>
            </a: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a stopwatch reading. An O(n) algorithm can outrun an O(log n) one for small n — the guarantee is about what happens as </a:t>
            </a: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gets large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(Part 1, "measuring cost with Big-O").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COMPARE &amp; REVIEW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 underneath all of it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1975104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2359152"/>
            <a:ext cx="23134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Contiguous memory buys O(1) access, at the cost of O(n) insert/delete.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72968" y="2752344"/>
            <a:ext cx="192024" cy="256032"/>
          </a:xfrm>
          <a:prstGeom prst="rightArrow">
            <a:avLst/>
          </a:prstGeom>
          <a:solidFill>
            <a:srgbClr val="2D6A4F"/>
          </a:solidFill>
          <a:ln/>
        </p:spPr>
      </p:sp>
      <p:sp>
        <p:nvSpPr>
          <p:cNvPr id="9" name="Shape 7"/>
          <p:cNvSpPr/>
          <p:nvPr/>
        </p:nvSpPr>
        <p:spPr>
          <a:xfrm>
            <a:off x="3383280" y="182880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9584" y="1975104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529584" y="2359152"/>
            <a:ext cx="23134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that O(1) access for O(1) insert/delete — once you're at the right node.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07608" y="2752344"/>
            <a:ext cx="192024" cy="256032"/>
          </a:xfrm>
          <a:prstGeom prst="rightArrow">
            <a:avLst/>
          </a:prstGeom>
          <a:solidFill>
            <a:srgbClr val="2D6A4F"/>
          </a:solidFill>
          <a:ln/>
        </p:spPr>
      </p:sp>
      <p:sp>
        <p:nvSpPr>
          <p:cNvPr id="13" name="Shape 11"/>
          <p:cNvSpPr/>
          <p:nvPr/>
        </p:nvSpPr>
        <p:spPr>
          <a:xfrm>
            <a:off x="6217920" y="182880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64224" y="1975104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364224" y="2359152"/>
            <a:ext cx="23134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a list/array to one active end → LIFO order falls out for free.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42248" y="2752344"/>
            <a:ext cx="192024" cy="256032"/>
          </a:xfrm>
          <a:prstGeom prst="rightArrow">
            <a:avLst/>
          </a:prstGeom>
          <a:solidFill>
            <a:srgbClr val="2D6A4F"/>
          </a:solidFill>
          <a:ln/>
        </p:spPr>
      </p:sp>
      <p:sp>
        <p:nvSpPr>
          <p:cNvPr id="17" name="Shape 15"/>
          <p:cNvSpPr/>
          <p:nvPr/>
        </p:nvSpPr>
        <p:spPr>
          <a:xfrm>
            <a:off x="9052560" y="182880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98864" y="1975104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198864" y="2359152"/>
            <a:ext cx="23134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to insert-one-end / delete-other-end → FIFO order falls out for free.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297680"/>
            <a:ext cx="11109960" cy="1737360"/>
          </a:xfrm>
          <a:prstGeom prst="roundRect">
            <a:avLst>
              <a:gd name="adj" fmla="val 4211"/>
            </a:avLst>
          </a:prstGeom>
          <a:solidFill>
            <a:srgbClr val="E9F5EC"/>
          </a:solidFill>
          <a:ln w="12700">
            <a:solidFill>
              <a:srgbClr val="E9F5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407408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663440"/>
            <a:ext cx="10744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structure in Parts 2–5 is the </a:t>
            </a: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underlying question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"where does memory live, and where are insertions/deletions allowed?" — answered a different way. Trees, next, answer it by allowing </a:t>
            </a: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one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next-pointer per node.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COMPARE &amp; REVIEW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pitfalls to watch for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BEAE9"/>
          </a:solidFill>
          <a:ln w="12700">
            <a:solidFill>
              <a:srgbClr val="FBEA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490472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the head pointer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1828800"/>
            <a:ext cx="51114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</a:t>
            </a:r>
            <a:r>
              <a:rPr lang="en-US" sz="115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</a:t>
            </a: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(or </a:t>
            </a:r>
            <a:r>
              <a:rPr lang="en-US" sz="115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</a:t>
            </a: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or </a:t>
            </a:r>
            <a:r>
              <a:rPr lang="en-US" sz="115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</a:t>
            </a: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is overwritten before you've saved it, the rest of the structure becomes unreachable — this is a memory leak in un-managed languages.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BEAE9"/>
          </a:solidFill>
          <a:ln w="12700">
            <a:solidFill>
              <a:srgbClr val="FBEA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82512" y="1490472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Off-by-one on shifts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382512" y="1828800"/>
            <a:ext cx="51114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insert/delete shifts must move elements in the right direction and stop at the right index — a common source of overwritten or duplicated values.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BEAE9"/>
          </a:solidFill>
          <a:ln w="12700">
            <a:solidFill>
              <a:srgbClr val="FBEAE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" y="3090672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vs full ambiguity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3429000"/>
            <a:ext cx="51114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circular queue with </a:t>
            </a:r>
            <a:r>
              <a:rPr lang="en-US" sz="115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 == rear</a:t>
            </a: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both empty and full is the classic bug — solved by sacrificing one slot (Handbook §2.4.2).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29718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BEAE9"/>
          </a:solidFill>
          <a:ln w="12700">
            <a:solidFill>
              <a:srgbClr val="FBEAE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82512" y="3090672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to update the tail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382512" y="3429000"/>
            <a:ext cx="51114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the last node of a singly linked list (with a tail pointer) or the last item of a deque must also reset that end pointer, or it dangles.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BEAE9"/>
          </a:solidFill>
          <a:ln w="12700">
            <a:solidFill>
              <a:srgbClr val="FBEAE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" y="4690872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NULL/next confusion in circular lists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13232" y="5029200"/>
            <a:ext cx="51114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circular list never has a NULL next — the "last" node's next is the first node. Treating it like a normal list causes infinite loops.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45720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BEAE9"/>
          </a:solidFill>
          <a:ln w="12700">
            <a:solidFill>
              <a:srgbClr val="FBEAE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82512" y="4690872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Precedence errors in postfix conversion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382512" y="5029200"/>
            <a:ext cx="51114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that </a:t>
            </a:r>
            <a:r>
              <a:rPr lang="en-US" sz="115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^</a:t>
            </a: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right-associative (unlike </a:t>
            </a:r>
            <a:r>
              <a:rPr lang="en-US" sz="115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- * /</a:t>
            </a: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silently produces the wrong postfix order for exponent-heavy expressions.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COMPARE &amp; REVIEW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comes next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111099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8595" indent="-188595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so far has been </a:t>
            </a:r>
            <a:r>
              <a:rPr lang="en-US" sz="16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r>
              <a:rPr lang="en-US" sz="16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every element has at most one "next" (or one "next" and one "previous").</a:t>
            </a:r>
            <a:endParaRPr lang="en-US" sz="1650" dirty="0"/>
          </a:p>
          <a:p>
            <a:pPr marL="188595" indent="-188595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6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</a:t>
            </a:r>
            <a:r>
              <a:rPr lang="en-US" sz="16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lets a node point to </a:t>
            </a:r>
            <a:r>
              <a:rPr lang="en-US" sz="16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one</a:t>
            </a:r>
            <a:r>
              <a:rPr lang="en-US" sz="16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child, opening up hierarchical relationships: file systems, expression trees, decision structures, organisation charts.</a:t>
            </a:r>
            <a:endParaRPr lang="en-US" sz="1650" dirty="0"/>
          </a:p>
          <a:p>
            <a:pPr marL="188595" indent="-188595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of the same questions carry over — how is it stored, what does insert/delete cost, what does it cost to search — but the branching structure changes every answer.</a:t>
            </a:r>
            <a:endParaRPr lang="en-US" sz="1650" dirty="0"/>
          </a:p>
          <a:p>
            <a:pPr marL="188595" indent="-188595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skip list from Part 3 was a hint of what is coming: multiple "levels" of pointers to skip past large chunks of data. Trees generalise that idea formally.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5394960"/>
            <a:ext cx="11109960" cy="914400"/>
          </a:xfrm>
          <a:prstGeom prst="roundRect">
            <a:avLst>
              <a:gd name="adj" fmla="val 8000"/>
            </a:avLst>
          </a:prstGeom>
          <a:solidFill>
            <a:srgbClr val="E9F5EC"/>
          </a:solidFill>
          <a:ln w="12700">
            <a:solidFill>
              <a:srgbClr val="E9F5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5504688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760720"/>
            <a:ext cx="10744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next: </a:t>
            </a: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from the basic terminology through binary search trees, AVL trees, and splay trees.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4884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Bank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31920"/>
            <a:ext cx="6583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4310" indent="-19431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questions, graded basic → advanced</a:t>
            </a:r>
            <a:endParaRPr lang="en-US" sz="1700" dirty="0"/>
          </a:p>
          <a:p>
            <a:pPr marL="194310" indent="-19431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computed and verified programmatically</a:t>
            </a:r>
            <a:endParaRPr lang="en-US" sz="1700" dirty="0"/>
          </a:p>
          <a:p>
            <a:pPr marL="194310" indent="-19431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Intro, Arrays, Linked Lists, Stacks and Queues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C5A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PRACTICE BANK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Q1. Ordering growth rates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35640" y="365760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E9F5EC"/>
          </a:solidFill>
          <a:ln w="12700">
            <a:solidFill>
              <a:srgbClr val="E9F5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53312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463040"/>
            <a:ext cx="106527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4305" indent="-154305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O(1), O(log n), O(n), O(n log n), O(n²) from fastest to slowest for large n.</a:t>
            </a:r>
            <a:endParaRPr lang="en-US" sz="1350" dirty="0"/>
          </a:p>
          <a:p>
            <a:pPr marL="154305" indent="-154305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one example of each that appeared in this deck.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359152"/>
            <a:ext cx="11109960" cy="3995928"/>
          </a:xfrm>
          <a:prstGeom prst="roundRect">
            <a:avLst>
              <a:gd name="adj" fmla="val 1831"/>
            </a:avLst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4505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743200"/>
          <a:ext cx="106527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737360"/>
                <a:gridCol w="7360920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from this deck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(fastest)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 index access; stack push/pop; queue enqueue/dequeue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search on a sorted array; skip-list search (expected)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search; linked-list traversal; array insert/delete (shift)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 sorting — a later topic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(slowest)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sorting / nested scans — a later topic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PRACTICE BANK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Q2. Array address arithmetic (1D)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35640" y="365760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E9F5EC"/>
          </a:solidFill>
          <a:ln w="12700">
            <a:solidFill>
              <a:srgbClr val="E9F5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53312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463040"/>
            <a:ext cx="106527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4305" indent="-154305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 starts at base address 1000; each element takes 4 bytes.</a:t>
            </a:r>
            <a:endParaRPr lang="en-US" sz="1350" dirty="0"/>
          </a:p>
          <a:p>
            <a:pPr marL="154305" indent="-154305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address of arr[7]?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359152"/>
            <a:ext cx="11109960" cy="3995928"/>
          </a:xfrm>
          <a:prstGeom prst="roundRect">
            <a:avLst>
              <a:gd name="adj" fmla="val 1831"/>
            </a:avLst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4505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743200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address(arr[i]) = base + w × i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246120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address(arr[7]) = 1000 + 4 × 7 = 1000 + 28 = </a:t>
            </a: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1028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531620" y="3840480"/>
            <a:ext cx="91440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31620" y="38404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531620" y="43708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446020" y="3840480"/>
            <a:ext cx="91440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446020" y="38404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446020" y="43708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60420" y="3840480"/>
            <a:ext cx="91440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60420" y="38404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1008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360420" y="43708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74820" y="3840480"/>
            <a:ext cx="91440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274820" y="38404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1012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274820" y="43708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189220" y="3840480"/>
            <a:ext cx="91440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89220" y="38404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1016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189220" y="43708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03620" y="3840480"/>
            <a:ext cx="91440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103620" y="38404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1020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103620" y="43708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018020" y="3840480"/>
            <a:ext cx="91440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018020" y="38404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018020" y="43708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32420" y="3840480"/>
            <a:ext cx="914400" cy="502920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932420" y="38404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1028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932420" y="43708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777240" y="4663440"/>
            <a:ext cx="1065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shown for indices 0–7 (index 7 highlighted)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PRACTICE BANK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Q3. 2D array addressing: row-major vs column-major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35640" y="365760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E9F5EC"/>
          </a:solidFill>
          <a:ln w="12700">
            <a:solidFill>
              <a:srgbClr val="E9F5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53312"/>
            <a:ext cx="11109960" cy="1005840"/>
          </a:xfrm>
          <a:prstGeom prst="roundRect">
            <a:avLst>
              <a:gd name="adj" fmla="val 7273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463040"/>
            <a:ext cx="10652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4305" indent="-154305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2D array has 8 rows × 10 columns, 4 bytes/element, base address 2000.</a:t>
            </a:r>
            <a:endParaRPr lang="en-US" sz="1350" dirty="0"/>
          </a:p>
          <a:p>
            <a:pPr marL="154305" indent="-154305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address of element [3][5] both row-major and column-major.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496312"/>
            <a:ext cx="11109960" cy="3858768"/>
          </a:xfrm>
          <a:prstGeom prst="roundRect">
            <a:avLst>
              <a:gd name="adj" fmla="val 1896"/>
            </a:avLst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5877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880360"/>
            <a:ext cx="10652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row-major: base + w × (row × cols + col)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200400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2000 + 4 × (3 × 10 + 5) = 2000 + 4 × 35 = </a:t>
            </a: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2140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749040"/>
            <a:ext cx="10652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column-major: base + w × (col × rows + row)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069080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2000 + 4 × (5 × 8 + 3) = 2000 + 4 × 43 = </a:t>
            </a: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2172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663440"/>
            <a:ext cx="1065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element, two different addresses — the storage order is a choice the language/library makes (Handbook §2.2.3).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PRACTICE BANK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Q4. Linear vs binary search, comparison count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35640" y="365760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E9F5EC"/>
          </a:solidFill>
          <a:ln w="12700">
            <a:solidFill>
              <a:srgbClr val="E9F5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53312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463040"/>
            <a:ext cx="106527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4305" indent="-154305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[3, 8, 14, 19, 25, 31, 38, 44, 50, 57] is sorted. Search for 57 (the last element).</a:t>
            </a:r>
            <a:endParaRPr lang="en-US" sz="1350" dirty="0"/>
          </a:p>
          <a:p>
            <a:pPr marL="154305" indent="-154305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comparisons does linear search take, versus binary search?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359152"/>
            <a:ext cx="11109960" cy="3995928"/>
          </a:xfrm>
          <a:prstGeom prst="roundRect">
            <a:avLst>
              <a:gd name="adj" fmla="val 1831"/>
            </a:avLst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4505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743200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search: checks index 0,1,2,...,9 in order → 10 comparisons before finding 57 at index 9.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77240" y="3246120"/>
            <a:ext cx="882396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246120"/>
            <a:ext cx="8823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730752"/>
            <a:ext cx="8823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659636" y="3246120"/>
            <a:ext cx="882396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659636" y="3246120"/>
            <a:ext cx="8823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659636" y="3730752"/>
            <a:ext cx="8823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42032" y="3246120"/>
            <a:ext cx="882396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542032" y="3246120"/>
            <a:ext cx="8823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2542032" y="3730752"/>
            <a:ext cx="8823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24428" y="3246120"/>
            <a:ext cx="882396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24428" y="3246120"/>
            <a:ext cx="8823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424428" y="3730752"/>
            <a:ext cx="8823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06824" y="3246120"/>
            <a:ext cx="882396" cy="457200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306824" y="3246120"/>
            <a:ext cx="8823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306824" y="3730752"/>
            <a:ext cx="8823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189220" y="3246120"/>
            <a:ext cx="882396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89220" y="3246120"/>
            <a:ext cx="8823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189220" y="3730752"/>
            <a:ext cx="8823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71616" y="3246120"/>
            <a:ext cx="882396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071616" y="3246120"/>
            <a:ext cx="8823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071616" y="3730752"/>
            <a:ext cx="8823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954012" y="3246120"/>
            <a:ext cx="882396" cy="457200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954012" y="3246120"/>
            <a:ext cx="8823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6954012" y="3730752"/>
            <a:ext cx="8823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836408" y="3246120"/>
            <a:ext cx="882396" cy="457200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836408" y="3246120"/>
            <a:ext cx="8823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7836408" y="3730752"/>
            <a:ext cx="8823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718804" y="3246120"/>
            <a:ext cx="882396" cy="457200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718804" y="3246120"/>
            <a:ext cx="8823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8718804" y="3730752"/>
            <a:ext cx="8823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777240" y="3886200"/>
            <a:ext cx="10652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trace: mid=4(25) → mid=7(44) → mid=8(50) → mid=9(57) → found at index 9 in </a:t>
            </a: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comparisons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777240" y="4572000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comparisons (linear) vs 4 (binary) — binary search wins because ⌈log₂(10)⌉ = 4.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PRACTICE BANK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Q5. Losing the head pointer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35640" y="365760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E9F5EC"/>
          </a:solidFill>
          <a:ln w="12700">
            <a:solidFill>
              <a:srgbClr val="E9F5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53312"/>
            <a:ext cx="11109960" cy="594360"/>
          </a:xfrm>
          <a:prstGeom prst="roundRect">
            <a:avLst>
              <a:gd name="adj" fmla="val 12308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463040"/>
            <a:ext cx="10652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4305" indent="-154305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singly linked list, what goes wrong if the </a:t>
            </a:r>
            <a:r>
              <a:rPr lang="en-US" sz="135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pointer is overwritten before you have saved it anywhere else?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084832"/>
            <a:ext cx="11109960" cy="4270248"/>
          </a:xfrm>
          <a:prstGeom prst="roundRect">
            <a:avLst>
              <a:gd name="adj" fmla="val 1713"/>
            </a:avLst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1762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468880"/>
            <a:ext cx="1065276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0020" indent="-16002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 object's </a:t>
            </a: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handle on the chain is </a:t>
            </a:r>
            <a:r>
              <a:rPr lang="en-US" sz="14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every other node is reached by following </a:t>
            </a:r>
            <a:r>
              <a:rPr lang="en-US" sz="14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links starting there.</a:t>
            </a:r>
            <a:endParaRPr lang="en-US" sz="1400" dirty="0"/>
          </a:p>
          <a:p>
            <a:pPr marL="160020" indent="-16002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</a:t>
            </a:r>
            <a:r>
              <a:rPr lang="en-US" sz="14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reassigned (e.g., </a:t>
            </a:r>
            <a:r>
              <a:rPr lang="en-US" sz="14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= someOtherPointer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without first saving its old value, every node in the original chain becomes </a:t>
            </a: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unreachable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there is no other pointer left pointing at it.</a:t>
            </a:r>
            <a:endParaRPr lang="en-US" sz="1400" dirty="0"/>
          </a:p>
          <a:p>
            <a:pPr marL="160020" indent="-16002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language without garbage collection, those nodes are now a </a:t>
            </a: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leak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still allocated, but impossible to free or use.</a:t>
            </a:r>
            <a:endParaRPr lang="en-US" sz="1400" dirty="0"/>
          </a:p>
          <a:p>
            <a:pPr marL="160020" indent="-16002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why insertion-at-front code always does </a:t>
            </a:r>
            <a:r>
              <a:rPr lang="en-US" sz="14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newNode-&gt;next = first;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= newNode;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order matters.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PRACTICE BANK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Q6. Stack trace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35640" y="365760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E9F5EC"/>
          </a:solidFill>
          <a:ln w="12700">
            <a:solidFill>
              <a:srgbClr val="E9F5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53312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463040"/>
            <a:ext cx="106527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4305" indent="-154305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this sequence on an initially empty stack:</a:t>
            </a:r>
            <a:endParaRPr lang="en-US" sz="1350" dirty="0"/>
          </a:p>
          <a:p>
            <a:pPr marL="154305" indent="-154305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push(5), push(15), push(25), pop(), push(35), pop(), pop(). What is the final stack?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359152"/>
            <a:ext cx="11109960" cy="3995928"/>
          </a:xfrm>
          <a:prstGeom prst="roundRect">
            <a:avLst>
              <a:gd name="adj" fmla="val 1831"/>
            </a:avLst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4505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743200"/>
          <a:ext cx="67208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737360"/>
                <a:gridCol w="42519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after (bottom→top)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push(5)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[5]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push(15)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[5, 15]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push(25)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[5, 15, 25]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pop(25)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[5, 15]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push(35)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[5, 15, 35]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pop(35)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[5, 15]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pop(15)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[5]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7863840" y="2743200"/>
            <a:ext cx="3566160" cy="3017520"/>
          </a:xfrm>
          <a:prstGeom prst="roundRect">
            <a:avLst>
              <a:gd name="adj" fmla="val 2424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36992" y="2807208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Final: [5]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098280" y="5202936"/>
            <a:ext cx="1097280" cy="502920"/>
          </a:xfrm>
          <a:prstGeom prst="rect">
            <a:avLst/>
          </a:prstGeom>
          <a:solidFill>
            <a:srgbClr val="F5C871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098280" y="520293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9098280" y="4700016"/>
            <a:ext cx="1097280" cy="502920"/>
          </a:xfrm>
          <a:prstGeom prst="rect">
            <a:avLst/>
          </a:prstGeom>
          <a:solidFill>
            <a:srgbClr val="F4F8F5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098280" y="4197096"/>
            <a:ext cx="1097280" cy="502920"/>
          </a:xfrm>
          <a:prstGeom prst="rect">
            <a:avLst/>
          </a:prstGeom>
          <a:solidFill>
            <a:srgbClr val="F4F8F5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098280" y="3694176"/>
            <a:ext cx="1097280" cy="502920"/>
          </a:xfrm>
          <a:prstGeom prst="rect">
            <a:avLst/>
          </a:prstGeom>
          <a:solidFill>
            <a:srgbClr val="F4F8F5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268712" y="520293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top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PRACTICE BANK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Q7. Simple queue trace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35640" y="365760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E9F5EC"/>
          </a:solidFill>
          <a:ln w="12700">
            <a:solidFill>
              <a:srgbClr val="E9F5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53312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463040"/>
            <a:ext cx="106527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4305" indent="-154305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this sequence on an initially empty queue:</a:t>
            </a:r>
            <a:endParaRPr lang="en-US" sz="1350" dirty="0"/>
          </a:p>
          <a:p>
            <a:pPr marL="154305" indent="-154305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enqueue(1), enqueue(2), enqueue(3), dequeue(), enqueue(4), dequeue(). What is the final queue, front to rear?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359152"/>
            <a:ext cx="11109960" cy="3995928"/>
          </a:xfrm>
          <a:prstGeom prst="roundRect">
            <a:avLst>
              <a:gd name="adj" fmla="val 1831"/>
            </a:avLst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4505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graphicFrame>
        <p:nvGraphicFramePr>
          <p:cNvPr id="7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743200"/>
          <a:ext cx="6604711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737360"/>
                <a:gridCol w="4135831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 after (front→rear)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enqueue(1)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enqueue(2)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[1, 2]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enqueue(3)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[1, 2, 3]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dequeue(1)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[2, 3]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enqueue(4)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[2, 3, 4]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dequeue(2)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[3, 4]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7701534" y="2743200"/>
            <a:ext cx="3728466" cy="1005840"/>
          </a:xfrm>
          <a:prstGeom prst="roundRect">
            <a:avLst>
              <a:gd name="adj" fmla="val 7273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4686" y="2807208"/>
            <a:ext cx="35821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Final: [3, 4]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697087" y="3127248"/>
            <a:ext cx="868680" cy="502920"/>
          </a:xfrm>
          <a:prstGeom prst="rect">
            <a:avLst/>
          </a:prstGeom>
          <a:solidFill>
            <a:srgbClr val="F5C871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697087" y="3127248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9565767" y="3127248"/>
            <a:ext cx="868680" cy="502920"/>
          </a:xfrm>
          <a:prstGeom prst="rect">
            <a:avLst/>
          </a:prstGeom>
          <a:solidFill>
            <a:srgbClr val="F5C871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565767" y="3127248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PRACTICE BANK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Q8. Balanced brackets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35640" y="365760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E9F5EC"/>
          </a:solidFill>
          <a:ln w="12700">
            <a:solidFill>
              <a:srgbClr val="E9F5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53312"/>
            <a:ext cx="11109960" cy="594360"/>
          </a:xfrm>
          <a:prstGeom prst="roundRect">
            <a:avLst>
              <a:gd name="adj" fmla="val 12308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463040"/>
            <a:ext cx="10652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4305" indent="-154305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string "{[(a+b)*(c-d)]}" balanced? Show the stack trace that proves it.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084832"/>
            <a:ext cx="11109960" cy="4270248"/>
          </a:xfrm>
          <a:prstGeom prst="roundRect">
            <a:avLst>
              <a:gd name="adj" fmla="val 1713"/>
            </a:avLst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1762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2468880"/>
            <a:ext cx="6604711" cy="3767328"/>
          </a:xfrm>
          <a:prstGeom prst="roundRect">
            <a:avLst>
              <a:gd name="adj" fmla="val 1456"/>
            </a:avLst>
          </a:prstGeom>
          <a:solidFill>
            <a:srgbClr val="162D2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2596896"/>
            <a:ext cx="6275527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'{'  push  stack: [{]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'['  push  stack: [{ []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'('  push  stack: [{ [ (]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')'  pop  stack: [{ []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'('  push  stack: [{ [ (]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')'  pop  stack: [{ []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']'  pop  stack: [{]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'}'  pop  stack: []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808062" y="2560320"/>
            <a:ext cx="34088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BALANCED ✓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808062" y="3063240"/>
            <a:ext cx="340888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Non-bracket characters (letters, +, -, *) are simply skipped — only bracket-type characters ever touch the stack.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PRACTICE BANK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Q9. Amortized cost of dynamic-array growth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195560" y="365760"/>
            <a:ext cx="1417320" cy="274320"/>
          </a:xfrm>
          <a:prstGeom prst="roundRect">
            <a:avLst>
              <a:gd name="adj" fmla="val 20000"/>
            </a:avLst>
          </a:prstGeom>
          <a:solidFill>
            <a:srgbClr val="FCF1DC"/>
          </a:solidFill>
          <a:ln w="12700">
            <a:solidFill>
              <a:srgbClr val="E9F5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53312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463040"/>
            <a:ext cx="106527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4305" indent="-154305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dynamic array starts at capacity 1 and doubles whenever it is full.</a:t>
            </a:r>
            <a:endParaRPr lang="en-US" sz="1350" dirty="0"/>
          </a:p>
          <a:p>
            <a:pPr marL="154305" indent="-154305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20 insertions, roughly how many resizes happen, and what is the amortized cost per insertion?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359152"/>
            <a:ext cx="11109960" cy="3995928"/>
          </a:xfrm>
          <a:prstGeom prst="roundRect">
            <a:avLst>
              <a:gd name="adj" fmla="val 1831"/>
            </a:avLst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4505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743200"/>
            <a:ext cx="10652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48590" indent="-14859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Capacities visited: 1, 2, 4, 8, 16, 32 — a resize happens each time the array fills, so by 20 insertions it has resized </a:t>
            </a: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times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(at counts 1, 2, 4, 8, 16).</a:t>
            </a:r>
            <a:endParaRPr lang="en-US" sz="1300" dirty="0"/>
          </a:p>
          <a:p>
            <a:pPr marL="148590" indent="-14859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copying work across all resizes: 1+2+4+8+16 = 31 element-copies — always </a:t>
            </a: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 2n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n insertions (here n=20, 31 &lt; 40).</a:t>
            </a:r>
            <a:endParaRPr lang="en-US" sz="1300" dirty="0"/>
          </a:p>
          <a:p>
            <a:pPr marL="148590" indent="-14859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that 31 across 20 insertions: about 1.55 copy-operations per insertion, </a:t>
            </a: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top of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insertion itself — so the amortized cost per insertion is still </a:t>
            </a: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even though any single insertion that triggers a resize costs O(n).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4434840"/>
            <a:ext cx="10652760" cy="822960"/>
          </a:xfrm>
          <a:prstGeom prst="roundRect">
            <a:avLst>
              <a:gd name="adj" fmla="val 8889"/>
            </a:avLst>
          </a:prstGeom>
          <a:solidFill>
            <a:srgbClr val="E9F5EC"/>
          </a:solidFill>
          <a:ln w="12700">
            <a:solidFill>
              <a:srgbClr val="E9F5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4544568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4800600"/>
            <a:ext cx="10287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same idea as a savings account: most insertions are "cheap" (O(1)), and they collectively pre-pay for the occasional "expensive" O(n) resize.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PRACTICE BANK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Q10. Array insert then delete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195560" y="365760"/>
            <a:ext cx="1417320" cy="274320"/>
          </a:xfrm>
          <a:prstGeom prst="roundRect">
            <a:avLst>
              <a:gd name="adj" fmla="val 20000"/>
            </a:avLst>
          </a:prstGeom>
          <a:solidFill>
            <a:srgbClr val="FCF1DC"/>
          </a:solidFill>
          <a:ln w="12700">
            <a:solidFill>
              <a:srgbClr val="E9F5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53312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463040"/>
            <a:ext cx="106527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4305" indent="-154305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array [12, 25, 38, 41, 57, 63], insert 99 at index 3, then delete whatever ends up at index 5.</a:t>
            </a:r>
            <a:endParaRPr lang="en-US" sz="1350" dirty="0"/>
          </a:p>
          <a:p>
            <a:pPr marL="154305" indent="-154305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both resulting arrays.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359152"/>
            <a:ext cx="11109960" cy="3995928"/>
          </a:xfrm>
          <a:prstGeom prst="roundRect">
            <a:avLst>
              <a:gd name="adj" fmla="val 1831"/>
            </a:avLst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4505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88820" y="2743200"/>
            <a:ext cx="9144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988820" y="2743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988820" y="32278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903220" y="2743200"/>
            <a:ext cx="9144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03220" y="2743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903220" y="32278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817620" y="2743200"/>
            <a:ext cx="9144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817620" y="2743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817620" y="32278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32020" y="2743200"/>
            <a:ext cx="914400" cy="457200"/>
          </a:xfrm>
          <a:prstGeom prst="rect">
            <a:avLst/>
          </a:prstGeom>
          <a:solidFill>
            <a:srgbClr val="FBEAE9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32020" y="2743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732020" y="32278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46420" y="2743200"/>
            <a:ext cx="9144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46420" y="2743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646420" y="32278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60820" y="2743200"/>
            <a:ext cx="9144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60820" y="2743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560820" y="32278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77240" y="3520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99 at idx 3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531620" y="3794760"/>
            <a:ext cx="9144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531620" y="3794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1531620" y="42793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446020" y="3794760"/>
            <a:ext cx="9144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446020" y="3794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2446020" y="42793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360420" y="3794760"/>
            <a:ext cx="9144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360420" y="3794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3360420" y="42793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274820" y="3794760"/>
            <a:ext cx="914400" cy="457200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274820" y="3794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4274820" y="42793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189220" y="3794760"/>
            <a:ext cx="9144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189220" y="3794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5189220" y="42793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103620" y="3794760"/>
            <a:ext cx="914400" cy="457200"/>
          </a:xfrm>
          <a:prstGeom prst="rect">
            <a:avLst/>
          </a:prstGeom>
          <a:solidFill>
            <a:srgbClr val="FBEAE9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103620" y="3794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6103620" y="42793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018020" y="3794760"/>
            <a:ext cx="9144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018020" y="3794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250" dirty="0"/>
          </a:p>
        </p:txBody>
      </p:sp>
      <p:sp>
        <p:nvSpPr>
          <p:cNvPr id="49" name="Text 47"/>
          <p:cNvSpPr txBox="1"/>
          <p:nvPr/>
        </p:nvSpPr>
        <p:spPr>
          <a:xfrm>
            <a:off x="7018020" y="42793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777240" y="4572000"/>
            <a:ext cx="1065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insert: [12, 25, 38, 99, 41, 57, 63]  —  now delete idx 5 (value 57)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1988820" y="4846320"/>
            <a:ext cx="9144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1988820" y="4846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50" dirty="0"/>
          </a:p>
        </p:txBody>
      </p:sp>
      <p:sp>
        <p:nvSpPr>
          <p:cNvPr id="53" name="Text 51"/>
          <p:cNvSpPr txBox="1"/>
          <p:nvPr/>
        </p:nvSpPr>
        <p:spPr>
          <a:xfrm>
            <a:off x="1988820" y="5330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903220" y="4846320"/>
            <a:ext cx="9144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2903220" y="4846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50" dirty="0"/>
          </a:p>
        </p:txBody>
      </p:sp>
      <p:sp>
        <p:nvSpPr>
          <p:cNvPr id="56" name="Text 54"/>
          <p:cNvSpPr txBox="1"/>
          <p:nvPr/>
        </p:nvSpPr>
        <p:spPr>
          <a:xfrm>
            <a:off x="2903220" y="5330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3817620" y="4846320"/>
            <a:ext cx="9144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3817620" y="4846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250" dirty="0"/>
          </a:p>
        </p:txBody>
      </p:sp>
      <p:sp>
        <p:nvSpPr>
          <p:cNvPr id="59" name="Text 57"/>
          <p:cNvSpPr txBox="1"/>
          <p:nvPr/>
        </p:nvSpPr>
        <p:spPr>
          <a:xfrm>
            <a:off x="3817620" y="5330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4732020" y="4846320"/>
            <a:ext cx="9144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4732020" y="4846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endParaRPr lang="en-US" sz="1250" dirty="0"/>
          </a:p>
        </p:txBody>
      </p:sp>
      <p:sp>
        <p:nvSpPr>
          <p:cNvPr id="62" name="Text 60"/>
          <p:cNvSpPr txBox="1"/>
          <p:nvPr/>
        </p:nvSpPr>
        <p:spPr>
          <a:xfrm>
            <a:off x="4732020" y="5330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5646420" y="4846320"/>
            <a:ext cx="9144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5646420" y="4846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250" dirty="0"/>
          </a:p>
        </p:txBody>
      </p:sp>
      <p:sp>
        <p:nvSpPr>
          <p:cNvPr id="65" name="Text 63"/>
          <p:cNvSpPr txBox="1"/>
          <p:nvPr/>
        </p:nvSpPr>
        <p:spPr>
          <a:xfrm>
            <a:off x="5646420" y="5330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6560820" y="4846320"/>
            <a:ext cx="914400" cy="457200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6560820" y="4846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250" dirty="0"/>
          </a:p>
        </p:txBody>
      </p:sp>
      <p:sp>
        <p:nvSpPr>
          <p:cNvPr id="68" name="Text 66"/>
          <p:cNvSpPr txBox="1"/>
          <p:nvPr/>
        </p:nvSpPr>
        <p:spPr>
          <a:xfrm>
            <a:off x="6560820" y="5330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69" name="Text 67"/>
          <p:cNvSpPr txBox="1"/>
          <p:nvPr/>
        </p:nvSpPr>
        <p:spPr>
          <a:xfrm>
            <a:off x="777240" y="5623560"/>
            <a:ext cx="1065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final: [12, 25, 38, 99, 41, 63]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PRACTICE BANK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Q11. Linked-list insert, delete, then search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195560" y="365760"/>
            <a:ext cx="1417320" cy="274320"/>
          </a:xfrm>
          <a:prstGeom prst="roundRect">
            <a:avLst>
              <a:gd name="adj" fmla="val 20000"/>
            </a:avLst>
          </a:prstGeom>
          <a:solidFill>
            <a:srgbClr val="FCF1DC"/>
          </a:solidFill>
          <a:ln w="12700">
            <a:solidFill>
              <a:srgbClr val="E9F5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53312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463040"/>
            <a:ext cx="106527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4305" indent="-154305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list [10, 20, 30, 40]: insert 25 after 20, then delete the node holding 30, then search for 25.</a:t>
            </a:r>
            <a:endParaRPr lang="en-US" sz="1350" dirty="0"/>
          </a:p>
          <a:p>
            <a:pPr marL="154305" indent="-154305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list after each step and the search path.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11109960" cy="3813048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633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2926080"/>
            <a:ext cx="41148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88720" y="2926080"/>
            <a:ext cx="41148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926080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920240" y="2926080"/>
            <a:ext cx="41148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31720" y="2926080"/>
            <a:ext cx="41148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920240" y="2926080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063240" y="2926080"/>
            <a:ext cx="411480" cy="566928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2926080"/>
            <a:ext cx="411480" cy="566928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063240" y="2926080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206240" y="2926080"/>
            <a:ext cx="41148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2926080"/>
            <a:ext cx="41148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206240" y="2926080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349240" y="2926080"/>
            <a:ext cx="41148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60720" y="2926080"/>
            <a:ext cx="41148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49240" y="2926080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600200" y="3209544"/>
            <a:ext cx="32004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743200" y="3209544"/>
            <a:ext cx="32004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886200" y="3209544"/>
            <a:ext cx="32004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029200" y="3209544"/>
            <a:ext cx="32004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336792" y="3127248"/>
            <a:ext cx="201168" cy="16459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227064" y="33192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777240" y="3703320"/>
            <a:ext cx="1065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insertAfter(20, 25): [10, 20, 25, 30, 40]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77240" y="4206240"/>
            <a:ext cx="411480" cy="566928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88720" y="4206240"/>
            <a:ext cx="411480" cy="566928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7240" y="4206240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1920240" y="4206240"/>
            <a:ext cx="411480" cy="566928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31720" y="4206240"/>
            <a:ext cx="411480" cy="566928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920240" y="4206240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3063240" y="4206240"/>
            <a:ext cx="411480" cy="566928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74720" y="4206240"/>
            <a:ext cx="411480" cy="566928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063240" y="4206240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4206240" y="4206240"/>
            <a:ext cx="41148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17720" y="4206240"/>
            <a:ext cx="41148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206240" y="4206240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1600200" y="4489704"/>
            <a:ext cx="32004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2743200" y="4489704"/>
            <a:ext cx="32004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3886200" y="4489704"/>
            <a:ext cx="32004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5193792" y="4407408"/>
            <a:ext cx="201168" cy="16459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5084064" y="45994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777240" y="4983480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delete(30): [10, 20, 25, 40]  —  search(25) path: 10 → 20 → 25, found = true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PRACTICE BANK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Q12. Reversing a linked list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195560" y="365760"/>
            <a:ext cx="1417320" cy="274320"/>
          </a:xfrm>
          <a:prstGeom prst="roundRect">
            <a:avLst>
              <a:gd name="adj" fmla="val 20000"/>
            </a:avLst>
          </a:prstGeom>
          <a:solidFill>
            <a:srgbClr val="FCF1DC"/>
          </a:solidFill>
          <a:ln w="12700">
            <a:solidFill>
              <a:srgbClr val="E9F5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53312"/>
            <a:ext cx="11109960" cy="594360"/>
          </a:xfrm>
          <a:prstGeom prst="roundRect">
            <a:avLst>
              <a:gd name="adj" fmla="val 12308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463040"/>
            <a:ext cx="10652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4305" indent="-154305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list [5, 15, 25, 35, 45], reverse it. What is the new node order?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084832"/>
            <a:ext cx="11109960" cy="4270248"/>
          </a:xfrm>
          <a:prstGeom prst="roundRect">
            <a:avLst>
              <a:gd name="adj" fmla="val 1713"/>
            </a:avLst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1762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4688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38862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5860" y="2724912"/>
            <a:ext cx="38862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724912"/>
            <a:ext cx="3886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828800" y="2724912"/>
            <a:ext cx="38862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17420" y="2724912"/>
            <a:ext cx="38862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828800" y="2724912"/>
            <a:ext cx="3886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880360" y="2724912"/>
            <a:ext cx="38862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68980" y="2724912"/>
            <a:ext cx="38862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880360" y="2724912"/>
            <a:ext cx="3886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931920" y="2724912"/>
            <a:ext cx="38862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20540" y="2724912"/>
            <a:ext cx="38862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931920" y="2724912"/>
            <a:ext cx="3886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983480" y="2724912"/>
            <a:ext cx="38862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72100" y="2724912"/>
            <a:ext cx="38862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983480" y="2724912"/>
            <a:ext cx="3886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554480" y="3008376"/>
            <a:ext cx="27432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606040" y="3008376"/>
            <a:ext cx="27432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657600" y="3008376"/>
            <a:ext cx="27432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709160" y="3008376"/>
            <a:ext cx="27432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925312" y="2926080"/>
            <a:ext cx="201168" cy="16459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815584" y="31181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777240" y="35204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reverse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77240" y="3776472"/>
            <a:ext cx="388620" cy="566928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65860" y="3776472"/>
            <a:ext cx="388620" cy="566928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7240" y="3776472"/>
            <a:ext cx="3886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1828800" y="3776472"/>
            <a:ext cx="388620" cy="566928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17420" y="3776472"/>
            <a:ext cx="388620" cy="566928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828800" y="3776472"/>
            <a:ext cx="3886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2880360" y="3776472"/>
            <a:ext cx="388620" cy="566928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68980" y="3776472"/>
            <a:ext cx="388620" cy="566928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880360" y="3776472"/>
            <a:ext cx="3886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3931920" y="3776472"/>
            <a:ext cx="388620" cy="566928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320540" y="3776472"/>
            <a:ext cx="388620" cy="566928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931920" y="3776472"/>
            <a:ext cx="3886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4983480" y="3776472"/>
            <a:ext cx="388620" cy="566928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372100" y="3776472"/>
            <a:ext cx="388620" cy="566928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983480" y="3776472"/>
            <a:ext cx="3886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1554480" y="4059936"/>
            <a:ext cx="27432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2606040" y="4059936"/>
            <a:ext cx="27432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3657600" y="4059936"/>
            <a:ext cx="27432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4709160" y="4059936"/>
            <a:ext cx="27432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5925312" y="3977640"/>
            <a:ext cx="201168" cy="16459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5815584" y="4169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777240" y="4572000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[45, 35, 25, 15, 5] — every next pointer flips direction; the old first node (5) becomes the new last node.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PRACTICE BANK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Q13. Josephus elimination (circular list)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195560" y="365760"/>
            <a:ext cx="1417320" cy="274320"/>
          </a:xfrm>
          <a:prstGeom prst="roundRect">
            <a:avLst>
              <a:gd name="adj" fmla="val 20000"/>
            </a:avLst>
          </a:prstGeom>
          <a:solidFill>
            <a:srgbClr val="FCF1DC"/>
          </a:solidFill>
          <a:ln w="12700">
            <a:solidFill>
              <a:srgbClr val="E9F5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53312"/>
            <a:ext cx="11109960" cy="914400"/>
          </a:xfrm>
          <a:prstGeom prst="roundRect">
            <a:avLst>
              <a:gd name="adj" fmla="val 8000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463040"/>
            <a:ext cx="10652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4305" indent="-154305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people stand in a circle, numbered 1–5. Starting the count at person 1, every 2nd person is eliminated (k=2).</a:t>
            </a:r>
            <a:endParaRPr lang="en-US" sz="1350" dirty="0"/>
          </a:p>
          <a:p>
            <a:pPr marL="154305" indent="-154305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the elimination order and find the survivor.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404872"/>
            <a:ext cx="11109960" cy="3950208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4963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31720" y="2926080"/>
            <a:ext cx="1087058" cy="789794"/>
          </a:xfrm>
          <a:prstGeom prst="line">
            <a:avLst/>
          </a:prstGeom>
          <a:noFill/>
          <a:ln w="12700">
            <a:solidFill>
              <a:srgbClr val="DCE6DF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 flipH="1">
            <a:off x="3003559" y="3715874"/>
            <a:ext cx="415219" cy="1277913"/>
          </a:xfrm>
          <a:prstGeom prst="line">
            <a:avLst/>
          </a:prstGeom>
          <a:noFill/>
          <a:ln w="12700">
            <a:solidFill>
              <a:srgbClr val="DCE6DF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 flipH="1">
            <a:off x="1659881" y="4993786"/>
            <a:ext cx="1343677" cy="9144"/>
          </a:xfrm>
          <a:prstGeom prst="line">
            <a:avLst/>
          </a:prstGeom>
          <a:noFill/>
          <a:ln w="12700">
            <a:solidFill>
              <a:srgbClr val="DCE6DF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 flipH="1" flipV="1">
            <a:off x="1244662" y="3715874"/>
            <a:ext cx="415219" cy="1277913"/>
          </a:xfrm>
          <a:prstGeom prst="line">
            <a:avLst/>
          </a:prstGeom>
          <a:noFill/>
          <a:ln w="12700">
            <a:solidFill>
              <a:srgbClr val="DCE6DF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 flipV="1">
            <a:off x="1244662" y="2926080"/>
            <a:ext cx="1087058" cy="789794"/>
          </a:xfrm>
          <a:prstGeom prst="line">
            <a:avLst/>
          </a:prstGeom>
          <a:noFill/>
          <a:ln w="12700">
            <a:solidFill>
              <a:srgbClr val="DCE6DF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2075688" y="2670048"/>
            <a:ext cx="512064" cy="512064"/>
          </a:xfrm>
          <a:prstGeom prst="ellipse">
            <a:avLst/>
          </a:prstGeom>
          <a:solidFill>
            <a:srgbClr val="FBEAE9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075688" y="2670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162746" y="3459842"/>
            <a:ext cx="512064" cy="512064"/>
          </a:xfrm>
          <a:prstGeom prst="ellipse">
            <a:avLst/>
          </a:prstGeom>
          <a:solidFill>
            <a:srgbClr val="FBEAE9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162746" y="345984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7527" y="4737754"/>
            <a:ext cx="512064" cy="512064"/>
          </a:xfrm>
          <a:prstGeom prst="ellipse">
            <a:avLst/>
          </a:prstGeom>
          <a:solidFill>
            <a:srgbClr val="F5C871"/>
          </a:solidFill>
          <a:ln w="25400">
            <a:solidFill>
              <a:srgbClr val="C98A1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747527" y="473775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403849" y="4737754"/>
            <a:ext cx="512064" cy="512064"/>
          </a:xfrm>
          <a:prstGeom prst="ellipse">
            <a:avLst/>
          </a:prstGeom>
          <a:solidFill>
            <a:srgbClr val="FBEAE9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403849" y="473775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88630" y="3459842"/>
            <a:ext cx="512064" cy="512064"/>
          </a:xfrm>
          <a:prstGeom prst="ellipse">
            <a:avLst/>
          </a:prstGeom>
          <a:solidFill>
            <a:srgbClr val="FBEAE9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88630" y="345984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069080" y="3063240"/>
            <a:ext cx="7360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 in order: 2 → 4 → 1 → 5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4069080" y="3474720"/>
            <a:ext cx="7360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survivor: </a:t>
            </a: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069080" y="3977640"/>
            <a:ext cx="7360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models a circular linked list: each "count to k" step is k next-pointer hops, and elimination is an O(1) unlink once you're at the node.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PRACTICE BANK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Q14. Skip list levels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195560" y="365760"/>
            <a:ext cx="1417320" cy="274320"/>
          </a:xfrm>
          <a:prstGeom prst="roundRect">
            <a:avLst>
              <a:gd name="adj" fmla="val 20000"/>
            </a:avLst>
          </a:prstGeom>
          <a:solidFill>
            <a:srgbClr val="FCF1DC"/>
          </a:solidFill>
          <a:ln w="12700">
            <a:solidFill>
              <a:srgbClr val="E9F5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53312"/>
            <a:ext cx="11109960" cy="1005840"/>
          </a:xfrm>
          <a:prstGeom prst="roundRect">
            <a:avLst>
              <a:gd name="adj" fmla="val 7273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463040"/>
            <a:ext cx="10652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4305" indent="-154305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skip list holds keys 10–80 with assigned levels: 10→L1, 20→L2, 30→L1, 40→L3, 50→L1, 60→L2, 70→L1, 80→L2.</a:t>
            </a:r>
            <a:endParaRPr lang="en-US" sz="1350" dirty="0"/>
          </a:p>
          <a:p>
            <a:pPr marL="154305" indent="-154305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keys appear at level 2? Which appear at level 3 (the express lane)?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496312"/>
            <a:ext cx="11109960" cy="3858768"/>
          </a:xfrm>
          <a:prstGeom prst="roundRect">
            <a:avLst>
              <a:gd name="adj" fmla="val 1896"/>
            </a:avLst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5877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8803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920240" y="2834640"/>
            <a:ext cx="82296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920240" y="28346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566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874520" y="3520440"/>
            <a:ext cx="82296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874520" y="35204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697480" y="3520440"/>
            <a:ext cx="82296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697480" y="35204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520440" y="3520440"/>
            <a:ext cx="82296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520440" y="35204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43400" y="3520440"/>
            <a:ext cx="82296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43400" y="35204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251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874520" y="4206240"/>
            <a:ext cx="82296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874520" y="42062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697480" y="4206240"/>
            <a:ext cx="82296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697480" y="42062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520440" y="4206240"/>
            <a:ext cx="82296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520440" y="42062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343400" y="4206240"/>
            <a:ext cx="82296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343400" y="42062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166360" y="4206240"/>
            <a:ext cx="82296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166360" y="42062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989320" y="4206240"/>
            <a:ext cx="82296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989320" y="42062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12280" y="4206240"/>
            <a:ext cx="82296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812280" y="42062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635240" y="4206240"/>
            <a:ext cx="82296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35240" y="42062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777240" y="5166360"/>
            <a:ext cx="10652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(express lane): only 40 qualifies. Level 2: 20, 40, 60, 80. Level 1 (base list): every key. A search starts at the top level and drops down whenever the next node would overshoot — fewer nodes to pass at each higher level is what gives the expected O(log n) search (Handbook §13.3–13.4).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PRACTICE BANK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Q15. Infix to postfix conversion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195560" y="365760"/>
            <a:ext cx="1417320" cy="274320"/>
          </a:xfrm>
          <a:prstGeom prst="roundRect">
            <a:avLst>
              <a:gd name="adj" fmla="val 20000"/>
            </a:avLst>
          </a:prstGeom>
          <a:solidFill>
            <a:srgbClr val="FCF1DC"/>
          </a:solidFill>
          <a:ln w="12700">
            <a:solidFill>
              <a:srgbClr val="E9F5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53312"/>
            <a:ext cx="11109960" cy="594360"/>
          </a:xfrm>
          <a:prstGeom prst="roundRect">
            <a:avLst>
              <a:gd name="adj" fmla="val 12308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463040"/>
            <a:ext cx="10652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4305" indent="-154305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"8 - 2 * 3 + 5" to postfix using the stack algorithm. Show the trace.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084832"/>
            <a:ext cx="11109960" cy="4270248"/>
          </a:xfrm>
          <a:prstGeom prst="roundRect">
            <a:avLst>
              <a:gd name="adj" fmla="val 1713"/>
            </a:avLst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1762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graphicFrame>
        <p:nvGraphicFramePr>
          <p:cNvPr id="7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468880"/>
          <a:ext cx="6604711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194560"/>
                <a:gridCol w="3404311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8 2 3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2 3 * 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2 3 * - 5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7808062" y="2560320"/>
            <a:ext cx="34088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postfix result: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808062" y="2852928"/>
            <a:ext cx="3408883" cy="457200"/>
          </a:xfrm>
          <a:prstGeom prst="roundRect">
            <a:avLst>
              <a:gd name="adj" fmla="val 12000"/>
            </a:avLst>
          </a:prstGeom>
          <a:solidFill>
            <a:srgbClr val="162D2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972654" y="2980944"/>
            <a:ext cx="307969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2 3 * - 5 +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7808062" y="3474720"/>
            <a:ext cx="340888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outranks both - and +, so 2*3 is emitted first even though it appears after the leading 8-.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PRACTICE BANK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Q16. Evaluating a postfix expression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195560" y="365760"/>
            <a:ext cx="1417320" cy="274320"/>
          </a:xfrm>
          <a:prstGeom prst="roundRect">
            <a:avLst>
              <a:gd name="adj" fmla="val 20000"/>
            </a:avLst>
          </a:prstGeom>
          <a:solidFill>
            <a:srgbClr val="FCF1DC"/>
          </a:solidFill>
          <a:ln w="12700">
            <a:solidFill>
              <a:srgbClr val="E9F5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53312"/>
            <a:ext cx="11109960" cy="594360"/>
          </a:xfrm>
          <a:prstGeom prst="roundRect">
            <a:avLst>
              <a:gd name="adj" fmla="val 12308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463040"/>
            <a:ext cx="10652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4305" indent="-154305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postfix expression "6 3 2 + * 5 -". Show the stack trace and the final value.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084832"/>
            <a:ext cx="11109960" cy="4270248"/>
          </a:xfrm>
          <a:prstGeom prst="roundRect">
            <a:avLst>
              <a:gd name="adj" fmla="val 1713"/>
            </a:avLst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1762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graphicFrame>
        <p:nvGraphicFramePr>
          <p:cNvPr id="7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468880"/>
          <a:ext cx="6604711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103120"/>
                <a:gridCol w="3495751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after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[6]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[6, 3]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[6, 3, 2]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3+2=5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[6, 5]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6*5=30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[30]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[30, 5]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30-5=25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[25]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7808062" y="2606040"/>
            <a:ext cx="34088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= </a:t>
            </a:r>
            <a:r>
              <a:rPr lang="en-US" sz="17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7808062" y="3108960"/>
            <a:ext cx="34088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(3+2)=5, then 6×5=30, then 30−5=25.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78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PRACTICE BANK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Q17. Circular queue trace (size 5)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195560" y="365760"/>
            <a:ext cx="1417320" cy="274320"/>
          </a:xfrm>
          <a:prstGeom prst="roundRect">
            <a:avLst>
              <a:gd name="adj" fmla="val 20000"/>
            </a:avLst>
          </a:prstGeom>
          <a:solidFill>
            <a:srgbClr val="FCF1DC"/>
          </a:solidFill>
          <a:ln w="12700">
            <a:solidFill>
              <a:srgbClr val="E9F5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53312"/>
            <a:ext cx="11109960" cy="914400"/>
          </a:xfrm>
          <a:prstGeom prst="roundRect">
            <a:avLst>
              <a:gd name="adj" fmla="val 8000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463040"/>
            <a:ext cx="10652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4305" indent="-154305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5-slot circular queue (front==rear means empty) runs: enqueue 1,2,3,4; dequeue; enqueue 5; enqueue 6.</a:t>
            </a:r>
            <a:endParaRPr lang="en-US" sz="1350" dirty="0"/>
          </a:p>
          <a:p>
            <a:pPr marL="154305" indent="-154305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it — does the last enqueue succeed?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404872"/>
            <a:ext cx="11109960" cy="3950208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4963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2788920"/>
            <a:ext cx="2272284" cy="1828800"/>
          </a:xfrm>
          <a:prstGeom prst="roundRect">
            <a:avLst>
              <a:gd name="adj" fmla="val 4000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0392" y="2852928"/>
            <a:ext cx="21259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 1..4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68680" y="3291840"/>
            <a:ext cx="417881" cy="411480"/>
          </a:xfrm>
          <a:prstGeom prst="rect">
            <a:avLst/>
          </a:prstGeom>
          <a:solidFill>
            <a:srgbClr val="F4F8F5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3721608"/>
            <a:ext cx="4178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286561" y="3291840"/>
            <a:ext cx="417881" cy="41148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86561" y="3291840"/>
            <a:ext cx="41788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86561" y="3721608"/>
            <a:ext cx="4178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704442" y="3291840"/>
            <a:ext cx="417881" cy="41148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704442" y="3291840"/>
            <a:ext cx="41788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704442" y="3721608"/>
            <a:ext cx="4178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122322" y="3291840"/>
            <a:ext cx="417881" cy="41148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122322" y="3291840"/>
            <a:ext cx="41788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122322" y="3721608"/>
            <a:ext cx="4178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40203" y="3291840"/>
            <a:ext cx="417881" cy="41148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540203" y="3291840"/>
            <a:ext cx="41788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2540203" y="3721608"/>
            <a:ext cx="4178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868680" y="3035808"/>
            <a:ext cx="4178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2540203" y="3922776"/>
            <a:ext cx="4178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9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50392" y="4251960"/>
            <a:ext cx="21259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front=0, rear=4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104388" y="3520440"/>
            <a:ext cx="411480" cy="292608"/>
          </a:xfrm>
          <a:prstGeom prst="rightArrow">
            <a:avLst/>
          </a:prstGeom>
          <a:solidFill>
            <a:srgbClr val="2D6A4F"/>
          </a:solidFill>
          <a:ln/>
        </p:spPr>
      </p:sp>
      <p:sp>
        <p:nvSpPr>
          <p:cNvPr id="30" name="Shape 28"/>
          <p:cNvSpPr/>
          <p:nvPr/>
        </p:nvSpPr>
        <p:spPr>
          <a:xfrm>
            <a:off x="3570732" y="2788920"/>
            <a:ext cx="2272284" cy="1828800"/>
          </a:xfrm>
          <a:prstGeom prst="roundRect">
            <a:avLst>
              <a:gd name="adj" fmla="val 4000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643884" y="2852928"/>
            <a:ext cx="21259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dequeue → 1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662172" y="3291840"/>
            <a:ext cx="417881" cy="411480"/>
          </a:xfrm>
          <a:prstGeom prst="rect">
            <a:avLst/>
          </a:prstGeom>
          <a:solidFill>
            <a:srgbClr val="F4F8F5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662172" y="3721608"/>
            <a:ext cx="4178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080053" y="3291840"/>
            <a:ext cx="417881" cy="411480"/>
          </a:xfrm>
          <a:prstGeom prst="rect">
            <a:avLst/>
          </a:prstGeom>
          <a:solidFill>
            <a:srgbClr val="F4F8F5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080053" y="3721608"/>
            <a:ext cx="4178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497934" y="3291840"/>
            <a:ext cx="417881" cy="41148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497934" y="3291840"/>
            <a:ext cx="41788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4497934" y="3721608"/>
            <a:ext cx="4178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915814" y="3291840"/>
            <a:ext cx="417881" cy="41148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915814" y="3291840"/>
            <a:ext cx="41788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4915814" y="3721608"/>
            <a:ext cx="4178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333695" y="3291840"/>
            <a:ext cx="417881" cy="41148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333695" y="3291840"/>
            <a:ext cx="41788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5333695" y="3721608"/>
            <a:ext cx="4178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4080053" y="3035808"/>
            <a:ext cx="4178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5333695" y="3922776"/>
            <a:ext cx="4178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9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3643884" y="4251960"/>
            <a:ext cx="21259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front=1, rear=4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897880" y="3520440"/>
            <a:ext cx="411480" cy="292608"/>
          </a:xfrm>
          <a:prstGeom prst="rightArrow">
            <a:avLst/>
          </a:prstGeom>
          <a:solidFill>
            <a:srgbClr val="2D6A4F"/>
          </a:solidFill>
          <a:ln/>
        </p:spPr>
      </p:sp>
      <p:sp>
        <p:nvSpPr>
          <p:cNvPr id="49" name="Shape 47"/>
          <p:cNvSpPr/>
          <p:nvPr/>
        </p:nvSpPr>
        <p:spPr>
          <a:xfrm>
            <a:off x="6364224" y="2788920"/>
            <a:ext cx="2272284" cy="1828800"/>
          </a:xfrm>
          <a:prstGeom prst="roundRect">
            <a:avLst>
              <a:gd name="adj" fmla="val 4000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437376" y="2852928"/>
            <a:ext cx="21259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 5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455664" y="3291840"/>
            <a:ext cx="417881" cy="41148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455664" y="3291840"/>
            <a:ext cx="41788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6455664" y="3721608"/>
            <a:ext cx="4178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873545" y="3291840"/>
            <a:ext cx="417881" cy="411480"/>
          </a:xfrm>
          <a:prstGeom prst="rect">
            <a:avLst/>
          </a:prstGeom>
          <a:solidFill>
            <a:srgbClr val="F4F8F5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873545" y="3721608"/>
            <a:ext cx="4178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7291426" y="3291840"/>
            <a:ext cx="417881" cy="41148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291426" y="3291840"/>
            <a:ext cx="41788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7291426" y="3721608"/>
            <a:ext cx="4178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709306" y="3291840"/>
            <a:ext cx="417881" cy="41148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7709306" y="3291840"/>
            <a:ext cx="41788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61" name="Text 59"/>
          <p:cNvSpPr txBox="1"/>
          <p:nvPr/>
        </p:nvSpPr>
        <p:spPr>
          <a:xfrm>
            <a:off x="7709306" y="3721608"/>
            <a:ext cx="4178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8127187" y="3291840"/>
            <a:ext cx="417881" cy="41148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8127187" y="3291840"/>
            <a:ext cx="41788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8127187" y="3721608"/>
            <a:ext cx="4178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65" name="Text 63"/>
          <p:cNvSpPr txBox="1"/>
          <p:nvPr/>
        </p:nvSpPr>
        <p:spPr>
          <a:xfrm>
            <a:off x="6873545" y="3035808"/>
            <a:ext cx="4178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6455664" y="3922776"/>
            <a:ext cx="4178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9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</a:t>
            </a:r>
            <a:endParaRPr lang="en-US" sz="1100" dirty="0"/>
          </a:p>
        </p:txBody>
      </p:sp>
      <p:sp>
        <p:nvSpPr>
          <p:cNvPr id="67" name="Text 65"/>
          <p:cNvSpPr txBox="1"/>
          <p:nvPr/>
        </p:nvSpPr>
        <p:spPr>
          <a:xfrm>
            <a:off x="6437376" y="4251960"/>
            <a:ext cx="21259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front=1, rear=0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8691372" y="3520440"/>
            <a:ext cx="411480" cy="292608"/>
          </a:xfrm>
          <a:prstGeom prst="rightArrow">
            <a:avLst/>
          </a:prstGeom>
          <a:solidFill>
            <a:srgbClr val="2D6A4F"/>
          </a:solidFill>
          <a:ln/>
        </p:spPr>
      </p:sp>
      <p:sp>
        <p:nvSpPr>
          <p:cNvPr id="69" name="Shape 67"/>
          <p:cNvSpPr/>
          <p:nvPr/>
        </p:nvSpPr>
        <p:spPr>
          <a:xfrm>
            <a:off x="9157716" y="2788920"/>
            <a:ext cx="2272284" cy="1828800"/>
          </a:xfrm>
          <a:prstGeom prst="roundRect">
            <a:avLst>
              <a:gd name="adj" fmla="val 4000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9230868" y="2852928"/>
            <a:ext cx="21259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 6</a:t>
            </a:r>
            <a:endParaRPr lang="en-US" sz="1150" dirty="0"/>
          </a:p>
        </p:txBody>
      </p:sp>
      <p:sp>
        <p:nvSpPr>
          <p:cNvPr id="71" name="Shape 69"/>
          <p:cNvSpPr/>
          <p:nvPr/>
        </p:nvSpPr>
        <p:spPr>
          <a:xfrm>
            <a:off x="9249156" y="3291840"/>
            <a:ext cx="417881" cy="41148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9249156" y="3291840"/>
            <a:ext cx="41788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73" name="Text 71"/>
          <p:cNvSpPr txBox="1"/>
          <p:nvPr/>
        </p:nvSpPr>
        <p:spPr>
          <a:xfrm>
            <a:off x="9249156" y="3721608"/>
            <a:ext cx="4178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9667037" y="3291840"/>
            <a:ext cx="417881" cy="411480"/>
          </a:xfrm>
          <a:prstGeom prst="rect">
            <a:avLst/>
          </a:prstGeom>
          <a:solidFill>
            <a:srgbClr val="F4F8F5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9667037" y="3721608"/>
            <a:ext cx="4178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10084918" y="3291840"/>
            <a:ext cx="417881" cy="41148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10084918" y="3291840"/>
            <a:ext cx="41788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78" name="Text 76"/>
          <p:cNvSpPr txBox="1"/>
          <p:nvPr/>
        </p:nvSpPr>
        <p:spPr>
          <a:xfrm>
            <a:off x="10084918" y="3721608"/>
            <a:ext cx="4178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10502798" y="3291840"/>
            <a:ext cx="417881" cy="41148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10502798" y="3291840"/>
            <a:ext cx="41788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81" name="Text 79"/>
          <p:cNvSpPr txBox="1"/>
          <p:nvPr/>
        </p:nvSpPr>
        <p:spPr>
          <a:xfrm>
            <a:off x="10502798" y="3721608"/>
            <a:ext cx="4178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10920679" y="3291840"/>
            <a:ext cx="417881" cy="411480"/>
          </a:xfrm>
          <a:prstGeom prst="rect">
            <a:avLst/>
          </a:prstGeom>
          <a:solidFill>
            <a:srgbClr val="FFFFFF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10920679" y="3291840"/>
            <a:ext cx="41788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84" name="Text 82"/>
          <p:cNvSpPr txBox="1"/>
          <p:nvPr/>
        </p:nvSpPr>
        <p:spPr>
          <a:xfrm>
            <a:off x="10920679" y="3721608"/>
            <a:ext cx="4178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85" name="Text 83"/>
          <p:cNvSpPr txBox="1"/>
          <p:nvPr/>
        </p:nvSpPr>
        <p:spPr>
          <a:xfrm>
            <a:off x="9667037" y="3035808"/>
            <a:ext cx="4178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1100" dirty="0"/>
          </a:p>
        </p:txBody>
      </p:sp>
      <p:sp>
        <p:nvSpPr>
          <p:cNvPr id="86" name="Text 84"/>
          <p:cNvSpPr txBox="1"/>
          <p:nvPr/>
        </p:nvSpPr>
        <p:spPr>
          <a:xfrm>
            <a:off x="9249156" y="3922776"/>
            <a:ext cx="4178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9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</a:t>
            </a:r>
            <a:endParaRPr lang="en-US" sz="1100" dirty="0"/>
          </a:p>
        </p:txBody>
      </p:sp>
      <p:sp>
        <p:nvSpPr>
          <p:cNvPr id="87" name="Text 85"/>
          <p:cNvSpPr txBox="1"/>
          <p:nvPr/>
        </p:nvSpPr>
        <p:spPr>
          <a:xfrm>
            <a:off x="9230868" y="4251960"/>
            <a:ext cx="21259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— full</a:t>
            </a:r>
            <a:endParaRPr lang="en-US" sz="1100" dirty="0"/>
          </a:p>
        </p:txBody>
      </p:sp>
      <p:sp>
        <p:nvSpPr>
          <p:cNvPr id="88" name="Text 86"/>
          <p:cNvSpPr txBox="1"/>
          <p:nvPr/>
        </p:nvSpPr>
        <p:spPr>
          <a:xfrm>
            <a:off x="777240" y="4709160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5-slot array holds at most 4 elements under this convention — enqueue(6) is correctly rejected as FULL.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79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PRACTICE BANK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Q18. Reverse, then search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61320" y="365760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1B4332"/>
          </a:solidFill>
          <a:ln w="12700">
            <a:solidFill>
              <a:srgbClr val="E9F5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53312"/>
            <a:ext cx="11109960" cy="914400"/>
          </a:xfrm>
          <a:prstGeom prst="roundRect">
            <a:avLst>
              <a:gd name="adj" fmla="val 8000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463040"/>
            <a:ext cx="10652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4305" indent="-154305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[5, 15, 25, 35, 45] is reversed, then searched for 15.</a:t>
            </a:r>
            <a:endParaRPr lang="en-US" sz="1350" dirty="0"/>
          </a:p>
          <a:p>
            <a:pPr marL="154305" indent="-154305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traversal path, and how many hops does it take compared to searching the original list?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404872"/>
            <a:ext cx="11109960" cy="3950208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4963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2788920"/>
            <a:ext cx="388620" cy="566928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65860" y="2788920"/>
            <a:ext cx="388620" cy="566928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788920"/>
            <a:ext cx="3886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828800" y="2788920"/>
            <a:ext cx="388620" cy="566928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17420" y="2788920"/>
            <a:ext cx="388620" cy="566928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828800" y="2788920"/>
            <a:ext cx="3886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880360" y="2788920"/>
            <a:ext cx="388620" cy="566928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68980" y="2788920"/>
            <a:ext cx="388620" cy="566928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880360" y="2788920"/>
            <a:ext cx="3886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931920" y="2788920"/>
            <a:ext cx="388620" cy="566928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20540" y="2788920"/>
            <a:ext cx="388620" cy="566928"/>
          </a:xfrm>
          <a:prstGeom prst="rect">
            <a:avLst/>
          </a:prstGeom>
          <a:solidFill>
            <a:srgbClr val="F5C871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931920" y="2788920"/>
            <a:ext cx="3886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983480" y="2788920"/>
            <a:ext cx="38862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72100" y="2788920"/>
            <a:ext cx="38862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83480" y="2788920"/>
            <a:ext cx="3886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554480" y="3072384"/>
            <a:ext cx="27432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606040" y="3072384"/>
            <a:ext cx="27432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657600" y="3072384"/>
            <a:ext cx="27432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709160" y="3072384"/>
            <a:ext cx="274320" cy="914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925312" y="2990088"/>
            <a:ext cx="201168" cy="16459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815584" y="31821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777240" y="3566160"/>
            <a:ext cx="1065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reversed list: [45, 35, 25, 15, 5]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777240" y="3977640"/>
            <a:ext cx="1065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search(15) path: 45 → 35 → 25 → 15 — found after </a:t>
            </a: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hops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(was at position 2 in the original list, now at position 4 after reversal).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77240" y="4572000"/>
            <a:ext cx="10652760" cy="914400"/>
          </a:xfrm>
          <a:prstGeom prst="roundRect">
            <a:avLst>
              <a:gd name="adj" fmla="val 8000"/>
            </a:avLst>
          </a:prstGeom>
          <a:solidFill>
            <a:srgbClr val="E9F5EC"/>
          </a:solidFill>
          <a:ln w="12700">
            <a:solidFill>
              <a:srgbClr val="E9F5E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60120" y="4681728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960120" y="4937760"/>
            <a:ext cx="10287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Reversal changes *where* an element sits (and therefore search cost from the front), but not the O(n) worst-case bound for search in a singly linked list — only which specific searches are cheap or expensive.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80</a:t>
            </a:fld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PRACTICE BANK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Q19. Josephus with a larger circle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61320" y="365760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1B4332"/>
          </a:solidFill>
          <a:ln w="12700">
            <a:solidFill>
              <a:srgbClr val="E9F5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53312"/>
            <a:ext cx="11109960" cy="731520"/>
          </a:xfrm>
          <a:prstGeom prst="roundRect">
            <a:avLst>
              <a:gd name="adj" fmla="val 10000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463040"/>
            <a:ext cx="10652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4305" indent="-154305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people in a circle, k=3 this time (every 3rd person eliminated). Find the elimination order and survivor, and compare the *pattern* to the earlier n=5, k=2 case.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221992"/>
            <a:ext cx="11109960" cy="4133088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3134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graphicFrame>
        <p:nvGraphicFramePr>
          <p:cNvPr id="8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606040"/>
          <a:ext cx="106527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81228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eliminated order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survivor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n=5, k=2 (Q13)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→ 4 → 1 → 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n=8, k=3 (this question)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→ 6 → 1 → 5 → 2 → 8 → 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777240" y="4206240"/>
            <a:ext cx="10652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traced the same way: walk k next-pointers around the circular list from the last elimination point, unlink the node you land on, and repeat until one node remains. There is no shortcut formula used here — it is simulated step by step, exactly as a circular linked list would execute it.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81</a:t>
            </a:fld>
            <a:endParaRPr 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PRACTICE BANK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Q20. Infix to prefix, cross-checked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61320" y="365760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1B4332"/>
          </a:solidFill>
          <a:ln w="12700">
            <a:solidFill>
              <a:srgbClr val="E9F5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53312"/>
            <a:ext cx="11109960" cy="822960"/>
          </a:xfrm>
          <a:prstGeom prst="roundRect">
            <a:avLst>
              <a:gd name="adj" fmla="val 8889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463040"/>
            <a:ext cx="10652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4305" indent="-154305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"(8-2)*3+5^2" to prefix notation. Verify your answer by also converting to postfix and evaluating both — they must agree.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313432"/>
            <a:ext cx="11109960" cy="4041648"/>
          </a:xfrm>
          <a:prstGeom prst="roundRect">
            <a:avLst>
              <a:gd name="adj" fmla="val 1810"/>
            </a:avLst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4048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6974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infix: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783080" y="2642616"/>
            <a:ext cx="9646920" cy="384048"/>
          </a:xfrm>
          <a:prstGeom prst="roundRect">
            <a:avLst>
              <a:gd name="adj" fmla="val 14286"/>
            </a:avLst>
          </a:prstGeom>
          <a:solidFill>
            <a:srgbClr val="162D2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947672" y="2770632"/>
            <a:ext cx="9317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(8-2) * 3 + 5^2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2004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prefix: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783080" y="3145536"/>
            <a:ext cx="9646920" cy="384048"/>
          </a:xfrm>
          <a:prstGeom prst="roundRect">
            <a:avLst>
              <a:gd name="adj" fmla="val 14286"/>
            </a:avLst>
          </a:prstGeom>
          <a:solidFill>
            <a:srgbClr val="162D2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947672" y="3273552"/>
            <a:ext cx="9317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* - 8 2 3 ^ 5 2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3703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postfix: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783080" y="3648456"/>
            <a:ext cx="9646920" cy="384048"/>
          </a:xfrm>
          <a:prstGeom prst="roundRect">
            <a:avLst>
              <a:gd name="adj" fmla="val 14286"/>
            </a:avLst>
          </a:prstGeom>
          <a:solidFill>
            <a:srgbClr val="162D2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947672" y="3776472"/>
            <a:ext cx="9317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2 - 3 * 5 2 ^ +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297680"/>
            <a:ext cx="10652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the postfix form: (8−2)=6, 6×3=18, 5^2=25, 18+25 = </a:t>
            </a: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Both notations must evaluate to the same value — they encode the same expression tree, just walked in different orders.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82</a:t>
            </a:fld>
            <a:endParaRPr 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PRACTICE BANK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Q21. Deque trace, all four operations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61320" y="365760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1B4332"/>
          </a:solidFill>
          <a:ln w="12700">
            <a:solidFill>
              <a:srgbClr val="E9F5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53312"/>
            <a:ext cx="11109960" cy="914400"/>
          </a:xfrm>
          <a:prstGeom prst="roundRect">
            <a:avLst>
              <a:gd name="adj" fmla="val 8000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463040"/>
            <a:ext cx="10652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4305" indent="-154305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empty: addFront(3), addRear(7), addRear(9), delFront(), addFront(1), delRear(), addFront(0).</a:t>
            </a:r>
            <a:endParaRPr lang="en-US" sz="1350" dirty="0"/>
          </a:p>
          <a:p>
            <a:pPr marL="154305" indent="-154305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the deque after each step.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404872"/>
            <a:ext cx="11109960" cy="3950208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4963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graphicFrame>
        <p:nvGraphicFramePr>
          <p:cNvPr id="8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788920"/>
          <a:ext cx="6391656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828800"/>
                <a:gridCol w="3922776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deque (front→rear)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addFront(3)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addRear(7)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[3, 7]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addRear(9)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[3, 7, 9]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delFront(3)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[7, 9]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addFront(1)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[1, 7, 9]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delRear(9)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[1, 7]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addFront(0)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[0, 1, 7]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7595006" y="2788920"/>
            <a:ext cx="3834994" cy="2560320"/>
          </a:xfrm>
          <a:prstGeom prst="roundRect">
            <a:avLst>
              <a:gd name="adj" fmla="val 2857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68158" y="2852928"/>
            <a:ext cx="3688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deque: [0, 1, 7]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09483" y="3968496"/>
            <a:ext cx="868680" cy="457200"/>
          </a:xfrm>
          <a:prstGeom prst="rect">
            <a:avLst/>
          </a:prstGeom>
          <a:solidFill>
            <a:srgbClr val="F5C871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09483" y="3968496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9078163" y="3968496"/>
            <a:ext cx="868680" cy="457200"/>
          </a:xfrm>
          <a:prstGeom prst="rect">
            <a:avLst/>
          </a:prstGeom>
          <a:solidFill>
            <a:srgbClr val="F5C871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078163" y="3968496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9946843" y="3968496"/>
            <a:ext cx="868680" cy="457200"/>
          </a:xfrm>
          <a:prstGeom prst="rect">
            <a:avLst/>
          </a:prstGeom>
          <a:solidFill>
            <a:srgbClr val="F5C871"/>
          </a:solidFill>
          <a:ln w="13970">
            <a:solidFill>
              <a:srgbClr val="2D6A4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946843" y="3968496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83</a:t>
            </a:fld>
            <a:endParaRPr 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PRACTICE BANK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Q22. Priority queue, interleaved inserts and removes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61320" y="365760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1B4332"/>
          </a:solidFill>
          <a:ln w="12700">
            <a:solidFill>
              <a:srgbClr val="E9F5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53312"/>
            <a:ext cx="11109960" cy="914400"/>
          </a:xfrm>
          <a:prstGeom prst="roundRect">
            <a:avLst>
              <a:gd name="adj" fmla="val 8000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463040"/>
            <a:ext cx="10652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4305" indent="-154305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Max-priority queue, starting empty: insert(15), insert(45), remove(), insert(25), insert(5), remove(), remove().</a:t>
            </a:r>
            <a:endParaRPr lang="en-US" sz="1350" dirty="0"/>
          </a:p>
          <a:p>
            <a:pPr marL="154305" indent="-154305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each remove() return, and what is left at the end?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404872"/>
            <a:ext cx="11109960" cy="3950208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4963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graphicFrame>
        <p:nvGraphicFramePr>
          <p:cNvPr id="8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788920"/>
          <a:ext cx="703082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828800"/>
                <a:gridCol w="456194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 after (highest→lowest)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insert(15)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[15]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insert(45)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[45, 15]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remove(45)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[15]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insert(25)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[25, 15]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insert(5)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[25, 15, 5]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remove(25)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[15, 5]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remove(15)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[5]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8234172" y="2788920"/>
            <a:ext cx="31958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remove() returned, in order: 45, then 25, then 15.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34172" y="3703320"/>
            <a:ext cx="31958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Final: [5]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234172" y="4160520"/>
            <a:ext cx="31958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45 (inserted second) is removed before 15 (inserted first) — priority order, not arrival order, decides.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84</a:t>
            </a:fld>
            <a:endParaRPr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PRACTICE BANK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Q23. Binary search: successful vs unsuccessful worst case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61320" y="365760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1B4332"/>
          </a:solidFill>
          <a:ln w="12700">
            <a:solidFill>
              <a:srgbClr val="E9F5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53312"/>
            <a:ext cx="11109960" cy="914400"/>
          </a:xfrm>
          <a:prstGeom prst="roundRect">
            <a:avLst>
              <a:gd name="adj" fmla="val 8000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463040"/>
            <a:ext cx="10652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4305" indent="-154305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[2, 5, 9, 13, 18, 24, 31, 39, 48, 58, 69, 81] (12 elements). Search for 81 (present, last element) and for 4 (absent).</a:t>
            </a:r>
            <a:endParaRPr lang="en-US" sz="1350" dirty="0"/>
          </a:p>
          <a:p>
            <a:pPr marL="154305" indent="-154305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comparisons does each take, and why do both approach the same bound?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404872"/>
            <a:ext cx="11109960" cy="3950208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4963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788920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search(81): mid=5(24) → mid=8(48) → mid=10(69) → mid=11(81) → found, </a:t>
            </a: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comparisons</a:t>
            </a: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154680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search(4): mid=5(24) → mid=2(9) → mid=0(2) → mid=1(5) → not found, </a:t>
            </a: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comparisons</a:t>
            </a: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3611880"/>
            <a:ext cx="10652760" cy="1005840"/>
          </a:xfrm>
          <a:prstGeom prst="roundRect">
            <a:avLst>
              <a:gd name="adj" fmla="val 7273"/>
            </a:avLst>
          </a:prstGeom>
          <a:solidFill>
            <a:srgbClr val="FCF1DC"/>
          </a:solidFill>
          <a:ln w="12700">
            <a:solidFill>
              <a:srgbClr val="FCF1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3721608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9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3977640"/>
            <a:ext cx="10287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⌈log₂(12+1)⌉ = 4 — both a successful search that bottoms out at a leaf of the decision tree and an unsuccessful search that falls between two elements take at most this many comparisons. Binary search's worst case is governed by the </a:t>
            </a: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of the implicit decision tree</a:t>
            </a: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by whether the value is present.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85</a:t>
            </a:fld>
            <a:endParaRPr 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PRACTICE BANK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Q24. Combine two stack applications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61320" y="365760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1B4332"/>
          </a:solidFill>
          <a:ln w="12700">
            <a:solidFill>
              <a:srgbClr val="E9F5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53312"/>
            <a:ext cx="11109960" cy="731520"/>
          </a:xfrm>
          <a:prstGeom prst="roundRect">
            <a:avLst>
              <a:gd name="adj" fmla="val 10000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463040"/>
            <a:ext cx="10652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4305" indent="-154305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confirm "((8+2)*(9-3))" is balanced. Then convert "(8+2)*(9-3)" to postfix and evaluate it.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221992"/>
            <a:ext cx="11109960" cy="4133088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3134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606040"/>
            <a:ext cx="10652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check: stack empties at the end → </a:t>
            </a: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990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Postfix: 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691640" y="2935224"/>
            <a:ext cx="3657600" cy="384048"/>
          </a:xfrm>
          <a:prstGeom prst="roundRect">
            <a:avLst>
              <a:gd name="adj" fmla="val 14286"/>
            </a:avLst>
          </a:prstGeom>
          <a:solidFill>
            <a:srgbClr val="162D2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856232" y="3063240"/>
            <a:ext cx="3328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2 + 9 3 - *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474720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= </a:t>
            </a:r>
            <a:r>
              <a:rPr lang="en-US" sz="13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r>
              <a:rPr lang="en-US" sz="13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(8+2=10, 9−3=6, 10×6=60)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931920"/>
            <a:ext cx="10652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stack disciplines, same underlying mechanism: push on opening/operand, resolve on closing/operator. A compiler runs both passes over real source code.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86</a:t>
            </a:fld>
            <a:endParaRPr 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PRACTICE BANK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Q25. Why skip-list search is expected O(log n)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61320" y="365760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1B4332"/>
          </a:solidFill>
          <a:ln w="12700">
            <a:solidFill>
              <a:srgbClr val="E9F5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53312"/>
            <a:ext cx="11109960" cy="594360"/>
          </a:xfrm>
          <a:prstGeom prst="roundRect">
            <a:avLst>
              <a:gd name="adj" fmla="val 12308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463040"/>
            <a:ext cx="10652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4305" indent="-154305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level-assignment idea from Q14 to why skip-list search is O(log n) on average but O(n) in the worst case.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084832"/>
            <a:ext cx="11109960" cy="4270248"/>
          </a:xfrm>
          <a:prstGeom prst="roundRect">
            <a:avLst>
              <a:gd name="adj" fmla="val 1713"/>
            </a:avLst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1762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468880"/>
            <a:ext cx="1065276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48590" indent="-14859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key's level is chosen randomly (e.g., level 1 with probability 1/2, level 2 with probability 1/4, ...), so roughly </a:t>
            </a: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many keys appear at each level up.</a:t>
            </a:r>
            <a:endParaRPr lang="en-US" sz="1300" dirty="0"/>
          </a:p>
          <a:p>
            <a:pPr marL="148590" indent="-14859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search starts at the </a:t>
            </a: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top, sparsest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level and only drops down a level when the next node would overshoot the target — so most of the horizontal distance is covered by the fast, high-level pointers, few nodes at a time.</a:t>
            </a:r>
            <a:endParaRPr lang="en-US" sz="1300" dirty="0"/>
          </a:p>
          <a:p>
            <a:pPr marL="148590" indent="-14859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total steps ≈ O(log n) because the number of levels is itself ≈ O(log n) and each level costs O(1) expected hops before dropping down.</a:t>
            </a:r>
            <a:endParaRPr lang="en-US" sz="1300" dirty="0"/>
          </a:p>
          <a:p>
            <a:pPr marL="148590" indent="-14859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 is still </a:t>
            </a: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nothing stops an unlucky random assignment from giving every key level 1 only — then a skip list degrades to a plain linked-list scan. That worst case is just astronomically unlikely for reasonable 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87</a:t>
            </a:fld>
            <a:endParaRPr 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PRACTICE BANK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Q26. Minimum circular-queue array size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61320" y="365760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1B4332"/>
          </a:solidFill>
          <a:ln w="12700">
            <a:solidFill>
              <a:srgbClr val="E9F5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53312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463040"/>
            <a:ext cx="106527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4305" indent="-154305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sacrifice-one-slot convention (front==rear means empty), a circular queue must be able to hold at least 20 elements simultaneously. What is the minimum array size, and why?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267712"/>
            <a:ext cx="11109960" cy="4087368"/>
          </a:xfrm>
          <a:prstGeom prst="roundRect">
            <a:avLst>
              <a:gd name="adj" fmla="val 1790"/>
            </a:avLst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3591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651760"/>
            <a:ext cx="1065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this convention, a size-N array can hold at most N − 1 elements — one slot is always kept empty to distinguish "full" from "empty".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154680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hold </a:t>
            </a: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elements: N − 1 ≥ 20  ⇒  N ≥ 21  ⇒  </a:t>
            </a: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array size = 21</a:t>
            </a: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" y="3657600"/>
            <a:ext cx="10652760" cy="1005840"/>
          </a:xfrm>
          <a:prstGeom prst="roundRect">
            <a:avLst>
              <a:gd name="adj" fmla="val 7273"/>
            </a:avLst>
          </a:prstGeom>
          <a:solidFill>
            <a:srgbClr val="FCF1DC"/>
          </a:solidFill>
          <a:ln w="12700">
            <a:solidFill>
              <a:srgbClr val="FCF1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3767328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9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4023360"/>
            <a:ext cx="10287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the trade-off from Part 5: you pay one wasted slot in exchange for O(1), unambiguous full/empty detection with only two index variables. The alternative (front=−1 sentinel, seen in sim.js's circularQueueSim) avoids wasting the slot but needs a 3rd piece of state.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88</a:t>
            </a:fld>
            <a:endParaRPr 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PRACTICE BANK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Q27. Nested tag validation, and locating the exact failure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61320" y="365760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1B4332"/>
          </a:solidFill>
          <a:ln w="12700">
            <a:solidFill>
              <a:srgbClr val="E9F5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53312"/>
            <a:ext cx="11109960" cy="731520"/>
          </a:xfrm>
          <a:prstGeom prst="roundRect">
            <a:avLst>
              <a:gd name="adj" fmla="val 10000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463040"/>
            <a:ext cx="10652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4305" indent="-154305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"{()[()]}" for balance. Then check "{(})" and identify exactly where and why it fails.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221992"/>
            <a:ext cx="11109960" cy="4133088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3134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2606040"/>
            <a:ext cx="5113325" cy="2103120"/>
          </a:xfrm>
          <a:prstGeom prst="roundRect">
            <a:avLst>
              <a:gd name="adj" fmla="val 2609"/>
            </a:avLst>
          </a:prstGeom>
          <a:solidFill>
            <a:srgbClr val="162D2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2734056"/>
            <a:ext cx="4784141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'{' push [{]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'(' push [{ (]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')' pop [{]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'[' push [{ []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'(' push [{ [ (]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')' pop [{ []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']' pop [{]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'}' pop []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754880"/>
            <a:ext cx="51133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BALANCED ✓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16675" y="2606040"/>
            <a:ext cx="5113325" cy="2103120"/>
          </a:xfrm>
          <a:prstGeom prst="roundRect">
            <a:avLst>
              <a:gd name="adj" fmla="val 2609"/>
            </a:avLst>
          </a:prstGeom>
          <a:solidFill>
            <a:srgbClr val="162D2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81267" y="2734056"/>
            <a:ext cx="4784141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'{' push [{]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'(' push [{ (]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8F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'}' MISMATCH [{ (]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316675" y="4754880"/>
            <a:ext cx="51133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fails at '}' — top of stack was '(' , not '{' ✗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89</a:t>
            </a:fld>
            <a:endParaRPr 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PRACTICE BANK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Q28. Synthesis: picking the right tool under constraints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Algorithms &amp; Data Structures (CS 5102)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61320" y="365760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1B4332"/>
          </a:solidFill>
          <a:ln w="12700">
            <a:solidFill>
              <a:srgbClr val="E9F5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53312"/>
            <a:ext cx="11109960" cy="914400"/>
          </a:xfrm>
          <a:prstGeom prst="roundRect">
            <a:avLst>
              <a:gd name="adj" fmla="val 8000"/>
            </a:avLst>
          </a:prstGeom>
          <a:solidFill>
            <a:srgbClr val="F4F8F5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463040"/>
            <a:ext cx="10652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4305" indent="-154305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building a text editor's undo history (unbounded length, only ever touched at one end) and, separately, a print spooler (bounded queue of jobs, strict arrival order).</a:t>
            </a:r>
            <a:endParaRPr lang="en-US" sz="1350" dirty="0"/>
          </a:p>
          <a:p>
            <a:pPr marL="154305" indent="-154305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structure fits each, and why would the *other* choice be a poor fit?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404872"/>
            <a:ext cx="11109960" cy="3950208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4963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788920"/>
            <a:ext cx="10652760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4305" indent="-154305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history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a </a:t>
            </a: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linked-list stack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Only one end is ever touched (push a new action, pop to undo), length is unpredictable, and O(1) push/pop needs no shifting. An array stack would work too, but would need resizing logic for an unbounded history; a queue would be actively wrong — undo must reverse the *most recent* action, not the *oldest* one.</a:t>
            </a:r>
            <a:endParaRPr lang="en-US" sz="1350" dirty="0"/>
          </a:p>
          <a:p>
            <a:pPr marL="154305" indent="-154305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spooler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a </a:t>
            </a: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circular-array queue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sized to the maximum jobs you are willing to hold at once. Jobs must print in arrival order (FIFO), and a bounded, known capacity is exactly what a fixed circular array is built for — O(1) enqueue/dequeue with no per-job allocation. A stack would print the *most recently submitted* job first, which is the wrong order entirely.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90</Slides>
  <Notes>90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90</vt:i4>
      </vt:variant>
    </vt:vector>
  </HeadingPairs>
  <TitlesOfParts>
    <vt:vector size="9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Structures: from Arrays to Trees</dc:title>
  <dc:subject>PptxGenJS Presentation</dc:subject>
  <dc:creator>Generated deck</dc:creator>
  <cp:lastModifiedBy>Generated deck</cp:lastModifiedBy>
  <cp:revision>1</cp:revision>
  <dcterms:created xsi:type="dcterms:W3CDTF">2026-09-25T06:02:31Z</dcterms:created>
  <dcterms:modified xsi:type="dcterms:W3CDTF">2026-09-25T06:02:31Z</dcterms:modified>
</cp:coreProperties>
</file>