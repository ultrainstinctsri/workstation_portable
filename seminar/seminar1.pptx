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10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7840A-BDC1-4D4C-B456-3378E059A6F9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E9E43-F8A8-422B-A106-C8CB3F63BD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810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E9E43-F8A8-422B-A106-C8CB3F63BDA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241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E9E43-F8A8-422B-A106-C8CB3F63BDA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88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E9E43-F8A8-422B-A106-C8CB3F63BDA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529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E9E43-F8A8-422B-A106-C8CB3F63BDA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975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2819-39D6-0D0A-2C35-809DF9021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D8CE3D-1657-CB56-537F-B352B6C13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F45DB-4AB8-16C1-E2BC-19DC3070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8B5BC-47EE-3D46-C168-0AB6D463B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60565-9998-7FE9-F5B0-2CFA6A4B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635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F754B-E895-3C43-B7F9-112DA2B39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409FD-F180-EA1F-A6A8-BA9A66AB8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AE7BA-0C45-A3B6-A491-9B27B638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216D-3EF8-D01C-A5BE-A59338E5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30D6-5C99-BDFA-5A19-6E7A46ED9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808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3CA76-0CE4-0C7D-E728-59711929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D020C-F23F-BA86-AEB3-59C6C6383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26DC4-1DB1-B34B-AEA4-AA0BDAABE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874C7-6AA8-F734-ED84-D891A88F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2C770-5634-D510-59A2-74A6116A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007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3721F-1CB8-488B-CBED-329695A6C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D3E17-C2AE-F9B3-769F-D68FD17B2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E6BE5-6C5C-A6EE-5535-8950871FB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2F8B5-3B07-A85D-7ADD-1FA3A9FF7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F8B11-6957-77A8-EA8C-48903195F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1E38F-7907-F153-E560-09DE281E4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815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3CB49-1FC5-D133-8A5D-536754CC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08F89-5A75-6623-4988-0F3BFA774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4397A8-73AB-49F4-B1E0-94BF612C1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320FD-7673-F504-8FC8-C1D0CE0BE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060BCD-5DE1-85FB-9BEE-8C0008300E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E6B740-584E-E27C-A090-2E7A6487C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49AA3B-313D-1E42-5E7C-E8F433E85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1DFB15-6954-6B83-F0A1-BC0A2ED66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148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3941-85BB-50E4-26B3-8D6004535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9C9370-AFFD-FBA9-AF06-2837D5829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0AAC5A-719A-8D83-E5BB-F653C03C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DEB83-CA31-5486-BE9C-BEE6A60BA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10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48EC1B-4B05-3A64-69DB-8454A96D2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9844E7-8E8E-7F25-32B8-FC087A482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69FED-3C03-7D0D-96CB-7AC2136B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444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5DA67-B7C2-5635-B6CD-6FC156A88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17329-E377-D986-AE93-D4D38A167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DB980-A730-3F87-D874-6A098DE20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BDF81-4ED6-1BAE-5B95-AEF92C38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C08B4-308F-2673-C11D-79FE25214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34C98-F332-3E89-3280-C961925D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669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B977F-8B57-5134-9537-61928B47F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0A2D0A-463F-1875-C1B9-157BA4A55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D3A1F-90C1-6781-6FEE-76442ACA9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A1FA5-3689-05AB-9C67-C56872AC7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10534-757F-9EEF-C8BF-31F41E32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9F142-0DC5-64B9-A77F-A7BF9D34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04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D2D4D-AB6B-AAD7-3588-D88D5D514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ED763-74FD-4A6B-CE59-1B8581E10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20F13-D71A-F179-3823-532EDCF1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2778E-E28E-4A7B-87AB-6DEE697DC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86443-AF8D-339B-AE32-CF4C7180B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206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4CD81A-114C-7F2F-786C-C03A385182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B429E7-CD90-69D8-2EF5-664D54F42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18DC7-F63D-6EB0-F33A-B4951B1AE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5648-FB4E-4F26-B78C-344797643B8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5D315-49A7-7A7D-CACB-64BA79E8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DA274-14B8-11D5-B9F6-5DBE338CD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343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F3038E-52B0-E13A-31CF-A4F8212F3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EB316-3928-95EF-FFC5-B38523D35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8C0D2-05D3-9BFA-B5A4-4F57CA375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B5648-FB4E-4F26-B78C-344797643B8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F73B9-BE14-24FB-E34A-9BD719B69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B0069-5CD1-F444-87FE-587C576D1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005E4-E4B4-4412-9B18-B0F480635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9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68EE6-375C-CF54-CF87-753080C89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3535" y="0"/>
            <a:ext cx="6744929" cy="57011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digital image processing?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1ADC2-3AA1-D8DA-B565-D4F60034F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136" y="570118"/>
            <a:ext cx="11459496" cy="590934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l"/>
            <a:r>
              <a:rPr lang="en-IN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Image Processing (DIP) is the use of computer algorithms and mathematical techniques to process, analyze, and improve digital images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simple words: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Image Processing means using a computer to manipulate an image so that we can improve it, extract useful information from it, or understand its contents.</a:t>
            </a:r>
          </a:p>
          <a:p>
            <a:pPr algn="l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digital image is represented as a matrix of pixels, where each pixel contains numerical information about brightness or color.</a:t>
            </a:r>
          </a:p>
          <a:p>
            <a:pPr algn="l"/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Example</a:t>
            </a:r>
          </a:p>
          <a:p>
            <a:pPr algn="l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Suppose we have a dark photograph:</a:t>
            </a:r>
          </a:p>
          <a:p>
            <a:pPr algn="l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Original image → Image Processing → Brighter, clearer image</a:t>
            </a: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Do We Process Images?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Image Quality: Remove noise, blur, and poor lighting.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 Information: Detect objects, edges, shapes, and patterns.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 Tasks: Enable systems to recognize faces, read documents,                                                                                     or detect diseases.</a:t>
            </a:r>
          </a:p>
          <a:p>
            <a:pPr algn="l"/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7" name="Picture 3" descr="PPT - Digital Image Processing Chapter 3: Image Enhancement in the Spatial Domain 15 June 2007 PowerPoint Presentation - ID:5781261">
            <a:extLst>
              <a:ext uri="{FF2B5EF4-FFF2-40B4-BE49-F238E27FC236}">
                <a16:creationId xmlns:a16="http://schemas.microsoft.com/office/drawing/2014/main" id="{D945C1FE-84FD-3562-DE7C-48693D79D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4" t="10895" r="50376" b="30688"/>
          <a:stretch/>
        </p:blipFill>
        <p:spPr bwMode="auto">
          <a:xfrm>
            <a:off x="7418477" y="3490451"/>
            <a:ext cx="2049987" cy="201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37C45E-27F3-0D0F-0D7D-A95F499D614D}"/>
              </a:ext>
            </a:extLst>
          </p:cNvPr>
          <p:cNvSpPr txBox="1"/>
          <p:nvPr/>
        </p:nvSpPr>
        <p:spPr>
          <a:xfrm>
            <a:off x="7678994" y="5551832"/>
            <a:ext cx="20746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1: Original image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50E2D-653E-05CC-8CF3-25614AE75D17}"/>
              </a:ext>
            </a:extLst>
          </p:cNvPr>
          <p:cNvSpPr txBox="1"/>
          <p:nvPr/>
        </p:nvSpPr>
        <p:spPr>
          <a:xfrm>
            <a:off x="9544665" y="5537707"/>
            <a:ext cx="2074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2: Enhanced image using Gamma correction</a:t>
            </a:r>
            <a:endParaRPr lang="en-IN" sz="1200" dirty="0"/>
          </a:p>
        </p:txBody>
      </p:sp>
      <p:pic>
        <p:nvPicPr>
          <p:cNvPr id="8" name="Picture 3" descr="PPT - Digital Image Processing Chapter 3: Image Enhancement in the Spatial Domain 15 June 2007 PowerPoint Presentation - ID:5781261">
            <a:extLst>
              <a:ext uri="{FF2B5EF4-FFF2-40B4-BE49-F238E27FC236}">
                <a16:creationId xmlns:a16="http://schemas.microsoft.com/office/drawing/2014/main" id="{888B4950-0721-E705-1FD9-FF688CBD63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88" t="10895" r="5807" b="30688"/>
          <a:stretch/>
        </p:blipFill>
        <p:spPr bwMode="auto">
          <a:xfrm>
            <a:off x="9468464" y="3504576"/>
            <a:ext cx="2074606" cy="201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2817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897A2CF-89FE-89C1-0D44-58767E0FF4F3}"/>
              </a:ext>
            </a:extLst>
          </p:cNvPr>
          <p:cNvSpPr txBox="1"/>
          <p:nvPr/>
        </p:nvSpPr>
        <p:spPr>
          <a:xfrm>
            <a:off x="491613" y="1252593"/>
            <a:ext cx="6515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Milestones &amp; Early Applications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7BC577C-4C74-68ED-E3AF-266AF9B60F88}"/>
              </a:ext>
            </a:extLst>
          </p:cNvPr>
          <p:cNvSpPr txBox="1">
            <a:spLocks/>
          </p:cNvSpPr>
          <p:nvPr/>
        </p:nvSpPr>
        <p:spPr>
          <a:xfrm>
            <a:off x="491613" y="299602"/>
            <a:ext cx="11051458" cy="104496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Origins of Digital Image Processing:</a:t>
            </a:r>
            <a:endParaRPr lang="en-IN" sz="2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development of digital image processing can be traced back to the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1920s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when images were transmitted electronically over long distances.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980A7A-DDB5-FAE4-7068-3A20D6BFEA65}"/>
              </a:ext>
            </a:extLst>
          </p:cNvPr>
          <p:cNvSpPr txBox="1"/>
          <p:nvPr/>
        </p:nvSpPr>
        <p:spPr>
          <a:xfrm>
            <a:off x="3749301" y="4828824"/>
            <a:ext cx="2772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1: Milestones and applications </a:t>
            </a:r>
            <a:endParaRPr lang="en-IN" sz="12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63796FD-0E8B-A843-DB67-68A834854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037443"/>
              </p:ext>
            </p:extLst>
          </p:nvPr>
        </p:nvGraphicFramePr>
        <p:xfrm>
          <a:off x="620661" y="1673521"/>
          <a:ext cx="10793362" cy="3105192"/>
        </p:xfrm>
        <a:graphic>
          <a:graphicData uri="http://schemas.openxmlformats.org/drawingml/2006/table">
            <a:tbl>
              <a:tblPr/>
              <a:tblGrid>
                <a:gridCol w="1602101">
                  <a:extLst>
                    <a:ext uri="{9D8B030D-6E8A-4147-A177-3AD203B41FA5}">
                      <a16:colId xmlns:a16="http://schemas.microsoft.com/office/drawing/2014/main" val="1293975941"/>
                    </a:ext>
                  </a:extLst>
                </a:gridCol>
                <a:gridCol w="4390007">
                  <a:extLst>
                    <a:ext uri="{9D8B030D-6E8A-4147-A177-3AD203B41FA5}">
                      <a16:colId xmlns:a16="http://schemas.microsoft.com/office/drawing/2014/main" val="743017814"/>
                    </a:ext>
                  </a:extLst>
                </a:gridCol>
                <a:gridCol w="4801254">
                  <a:extLst>
                    <a:ext uri="{9D8B030D-6E8A-4147-A177-3AD203B41FA5}">
                      <a16:colId xmlns:a16="http://schemas.microsoft.com/office/drawing/2014/main" val="4068632757"/>
                    </a:ext>
                  </a:extLst>
                </a:gridCol>
              </a:tblGrid>
              <a:tr h="388149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Period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Example/Application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302690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1920s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Early electronic image transmission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Images transmitted through telegraph systems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476059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1950s–60s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Computers introduced for image 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 enhancement and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815894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1960s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Space exploration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NASA spacecraft images of the Moon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253814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1970s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Medical imaging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X-ray and CT image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19735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1970s–80s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Remote sensing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Satellite and aerial photographs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185465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1980s–90s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Industrial &amp; defense applications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Inspection and aerial surveillance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816743"/>
                  </a:ext>
                </a:extLst>
              </a:tr>
              <a:tr h="388149"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2000s–Present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&amp; deep learning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Face recognition, object detection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09214"/>
                  </a:ext>
                </a:extLst>
              </a:tr>
            </a:tbl>
          </a:graphicData>
        </a:graphic>
      </p:graphicFrame>
      <p:pic>
        <p:nvPicPr>
          <p:cNvPr id="25" name="Picture 4" descr="05. Project Ranger - Linda Hall Library">
            <a:extLst>
              <a:ext uri="{FF2B5EF4-FFF2-40B4-BE49-F238E27FC236}">
                <a16:creationId xmlns:a16="http://schemas.microsoft.com/office/drawing/2014/main" id="{4E94A266-87DB-C2C6-E209-EB085FE4BC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1" t="7880" r="6102" b="8417"/>
          <a:stretch/>
        </p:blipFill>
        <p:spPr bwMode="auto">
          <a:xfrm>
            <a:off x="7466097" y="5105823"/>
            <a:ext cx="1255118" cy="121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FEA9BED-E2B3-F4FE-8672-6B1755D8E432}"/>
              </a:ext>
            </a:extLst>
          </p:cNvPr>
          <p:cNvSpPr txBox="1"/>
          <p:nvPr/>
        </p:nvSpPr>
        <p:spPr>
          <a:xfrm>
            <a:off x="491613" y="5155934"/>
            <a:ext cx="65579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b="1" dirty="0"/>
              <a:t>1964</a:t>
            </a:r>
            <a:r>
              <a:rPr lang="en-US" dirty="0"/>
              <a:t>, NASA's Ranger 7 spacecraft transmitted close-up images of the Moon. Digital processing was used to improve the transmitted images and extract useful details from them.</a:t>
            </a:r>
            <a:endParaRPr lang="en-IN" dirty="0"/>
          </a:p>
        </p:txBody>
      </p:sp>
      <p:pic>
        <p:nvPicPr>
          <p:cNvPr id="2062" name="Picture 14" descr="Ranger 7: Moon Close Up - NASA Science">
            <a:extLst>
              <a:ext uri="{FF2B5EF4-FFF2-40B4-BE49-F238E27FC236}">
                <a16:creationId xmlns:a16="http://schemas.microsoft.com/office/drawing/2014/main" id="{340B23C8-CA50-87F5-3BCA-1D7B453B1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756" y="5062948"/>
            <a:ext cx="1255118" cy="1234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783A556-5B74-AFE3-DEE8-0A64B3000E9E}"/>
              </a:ext>
            </a:extLst>
          </p:cNvPr>
          <p:cNvSpPr txBox="1"/>
          <p:nvPr/>
        </p:nvSpPr>
        <p:spPr>
          <a:xfrm>
            <a:off x="7393859" y="6347321"/>
            <a:ext cx="13273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3: NASA image </a:t>
            </a:r>
            <a:endParaRPr lang="en-IN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9D18E0-A4FB-5CFC-63CE-D6E87F16FD24}"/>
              </a:ext>
            </a:extLst>
          </p:cNvPr>
          <p:cNvSpPr txBox="1"/>
          <p:nvPr/>
        </p:nvSpPr>
        <p:spPr>
          <a:xfrm>
            <a:off x="8965518" y="6313190"/>
            <a:ext cx="13273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4: NASA image 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07997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9C47166A-9A31-5186-E45F-731EAA15B91C}"/>
              </a:ext>
            </a:extLst>
          </p:cNvPr>
          <p:cNvSpPr txBox="1">
            <a:spLocks/>
          </p:cNvSpPr>
          <p:nvPr/>
        </p:nvSpPr>
        <p:spPr>
          <a:xfrm>
            <a:off x="285136" y="373217"/>
            <a:ext cx="5810864" cy="50924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Fundamental steps in Digital Image Processing: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024E8C-CD1C-BEC3-5B8D-DCE71EFD8074}"/>
              </a:ext>
            </a:extLst>
          </p:cNvPr>
          <p:cNvSpPr/>
          <p:nvPr/>
        </p:nvSpPr>
        <p:spPr>
          <a:xfrm>
            <a:off x="2206504" y="2908069"/>
            <a:ext cx="2532004" cy="29606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Knowledge Base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416426-491A-3640-ACA4-94FD50B59742}"/>
              </a:ext>
            </a:extLst>
          </p:cNvPr>
          <p:cNvSpPr/>
          <p:nvPr/>
        </p:nvSpPr>
        <p:spPr>
          <a:xfrm>
            <a:off x="611166" y="1467658"/>
            <a:ext cx="1166484" cy="11024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 Image Processing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ECE1822E-FDCD-3C85-DE86-3E1D4FEACA60}"/>
              </a:ext>
            </a:extLst>
          </p:cNvPr>
          <p:cNvSpPr/>
          <p:nvPr/>
        </p:nvSpPr>
        <p:spPr>
          <a:xfrm rot="2521400">
            <a:off x="1827066" y="2638291"/>
            <a:ext cx="423847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C4BB68-D209-22E8-6062-714BDFCCB930}"/>
              </a:ext>
            </a:extLst>
          </p:cNvPr>
          <p:cNvSpPr/>
          <p:nvPr/>
        </p:nvSpPr>
        <p:spPr>
          <a:xfrm>
            <a:off x="611166" y="2684330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Restoration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BBB8E1-2429-51CD-7736-CD4167599D0B}"/>
              </a:ext>
            </a:extLst>
          </p:cNvPr>
          <p:cNvSpPr/>
          <p:nvPr/>
        </p:nvSpPr>
        <p:spPr>
          <a:xfrm>
            <a:off x="611166" y="3767320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Enhancement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6E521E-016D-D54E-BCEE-9F1E4AEB4C7E}"/>
              </a:ext>
            </a:extLst>
          </p:cNvPr>
          <p:cNvSpPr/>
          <p:nvPr/>
        </p:nvSpPr>
        <p:spPr>
          <a:xfrm>
            <a:off x="597975" y="4879093"/>
            <a:ext cx="1248300" cy="10961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Acquisition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BB9CC5-AF39-3B8B-39F9-80ADA41E76A9}"/>
              </a:ext>
            </a:extLst>
          </p:cNvPr>
          <p:cNvSpPr/>
          <p:nvPr/>
        </p:nvSpPr>
        <p:spPr>
          <a:xfrm>
            <a:off x="2127329" y="1462095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Wavelets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Arrow: Left-Right 22">
            <a:extLst>
              <a:ext uri="{FF2B5EF4-FFF2-40B4-BE49-F238E27FC236}">
                <a16:creationId xmlns:a16="http://schemas.microsoft.com/office/drawing/2014/main" id="{9C1E5255-DAB3-40AB-317F-0DC2FC760AEF}"/>
              </a:ext>
            </a:extLst>
          </p:cNvPr>
          <p:cNvSpPr/>
          <p:nvPr/>
        </p:nvSpPr>
        <p:spPr>
          <a:xfrm>
            <a:off x="1819145" y="3220305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id="{21AD7981-EC87-3DEB-86EA-8D791E6AD2FC}"/>
              </a:ext>
            </a:extLst>
          </p:cNvPr>
          <p:cNvSpPr/>
          <p:nvPr/>
        </p:nvSpPr>
        <p:spPr>
          <a:xfrm>
            <a:off x="1847796" y="4178575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9012AC60-B95C-12BD-69E2-46F81C3F6539}"/>
              </a:ext>
            </a:extLst>
          </p:cNvPr>
          <p:cNvSpPr/>
          <p:nvPr/>
        </p:nvSpPr>
        <p:spPr>
          <a:xfrm>
            <a:off x="1847797" y="5273658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A0D9899C-99EE-CD4B-B41B-E6B462BB7DEF}"/>
              </a:ext>
            </a:extLst>
          </p:cNvPr>
          <p:cNvSpPr/>
          <p:nvPr/>
        </p:nvSpPr>
        <p:spPr>
          <a:xfrm rot="19196043">
            <a:off x="4637943" y="2622248"/>
            <a:ext cx="423847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E82C12-FA86-747B-CE91-2B2F28AD1A3F}"/>
              </a:ext>
            </a:extLst>
          </p:cNvPr>
          <p:cNvSpPr/>
          <p:nvPr/>
        </p:nvSpPr>
        <p:spPr>
          <a:xfrm>
            <a:off x="3572738" y="1475417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Compression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2AFD90-574F-D28E-EEC2-FB32B02B7603}"/>
              </a:ext>
            </a:extLst>
          </p:cNvPr>
          <p:cNvSpPr/>
          <p:nvPr/>
        </p:nvSpPr>
        <p:spPr>
          <a:xfrm>
            <a:off x="5086974" y="1474592"/>
            <a:ext cx="1215618" cy="11089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Morphological Image Processing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53765C-10BB-C4BB-4FA0-3F1F7A165BD4}"/>
              </a:ext>
            </a:extLst>
          </p:cNvPr>
          <p:cNvSpPr/>
          <p:nvPr/>
        </p:nvSpPr>
        <p:spPr>
          <a:xfrm>
            <a:off x="5113672" y="2732455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5011CE-FDF8-8F68-AF75-A6C3A8E67CCC}"/>
              </a:ext>
            </a:extLst>
          </p:cNvPr>
          <p:cNvSpPr/>
          <p:nvPr/>
        </p:nvSpPr>
        <p:spPr>
          <a:xfrm>
            <a:off x="5097215" y="3841050"/>
            <a:ext cx="1188920" cy="98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Extraction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2BEF0F7-F357-8027-4A78-8421B0E88FFD}"/>
              </a:ext>
            </a:extLst>
          </p:cNvPr>
          <p:cNvSpPr/>
          <p:nvPr/>
        </p:nvSpPr>
        <p:spPr>
          <a:xfrm>
            <a:off x="5113671" y="4927218"/>
            <a:ext cx="1199807" cy="10961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Pattern Classification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Arrow: Left-Right 32">
            <a:extLst>
              <a:ext uri="{FF2B5EF4-FFF2-40B4-BE49-F238E27FC236}">
                <a16:creationId xmlns:a16="http://schemas.microsoft.com/office/drawing/2014/main" id="{F0D63C10-3D6E-71D4-8D73-3E6AFA674BD5}"/>
              </a:ext>
            </a:extLst>
          </p:cNvPr>
          <p:cNvSpPr/>
          <p:nvPr/>
        </p:nvSpPr>
        <p:spPr>
          <a:xfrm>
            <a:off x="4725809" y="5321608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Left-Right 33">
            <a:extLst>
              <a:ext uri="{FF2B5EF4-FFF2-40B4-BE49-F238E27FC236}">
                <a16:creationId xmlns:a16="http://schemas.microsoft.com/office/drawing/2014/main" id="{15B09DDE-61D4-D6AA-1401-801CA76A0B84}"/>
              </a:ext>
            </a:extLst>
          </p:cNvPr>
          <p:cNvSpPr/>
          <p:nvPr/>
        </p:nvSpPr>
        <p:spPr>
          <a:xfrm>
            <a:off x="4737151" y="3227292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Arrow: Left-Right 34">
            <a:extLst>
              <a:ext uri="{FF2B5EF4-FFF2-40B4-BE49-F238E27FC236}">
                <a16:creationId xmlns:a16="http://schemas.microsoft.com/office/drawing/2014/main" id="{C983367F-D02D-E7FD-A13F-2BD7B38B2BD5}"/>
              </a:ext>
            </a:extLst>
          </p:cNvPr>
          <p:cNvSpPr/>
          <p:nvPr/>
        </p:nvSpPr>
        <p:spPr>
          <a:xfrm>
            <a:off x="4740030" y="4296340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Left-Right 35">
            <a:extLst>
              <a:ext uri="{FF2B5EF4-FFF2-40B4-BE49-F238E27FC236}">
                <a16:creationId xmlns:a16="http://schemas.microsoft.com/office/drawing/2014/main" id="{BCE6ADE8-0065-57FB-2055-128DF0B6F121}"/>
              </a:ext>
            </a:extLst>
          </p:cNvPr>
          <p:cNvSpPr/>
          <p:nvPr/>
        </p:nvSpPr>
        <p:spPr>
          <a:xfrm rot="16200000">
            <a:off x="2576758" y="2590081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Arrow: Left-Right 36">
            <a:extLst>
              <a:ext uri="{FF2B5EF4-FFF2-40B4-BE49-F238E27FC236}">
                <a16:creationId xmlns:a16="http://schemas.microsoft.com/office/drawing/2014/main" id="{975F5311-6908-8030-014D-C11376FC0EBE}"/>
              </a:ext>
            </a:extLst>
          </p:cNvPr>
          <p:cNvSpPr/>
          <p:nvPr/>
        </p:nvSpPr>
        <p:spPr>
          <a:xfrm rot="16200000">
            <a:off x="3968357" y="2625703"/>
            <a:ext cx="372119" cy="171459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D49D31-D8C4-0530-337D-00915DE67B80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381391" y="5415160"/>
            <a:ext cx="216584" cy="120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BEF7C23-3012-AAA4-9C33-3BC5A12837D7}"/>
              </a:ext>
            </a:extLst>
          </p:cNvPr>
          <p:cNvCxnSpPr>
            <a:cxnSpLocks/>
          </p:cNvCxnSpPr>
          <p:nvPr/>
        </p:nvCxnSpPr>
        <p:spPr>
          <a:xfrm flipH="1" flipV="1">
            <a:off x="6302592" y="5417794"/>
            <a:ext cx="274520" cy="42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C4E94BB-C480-0559-EC53-8EFF9FAE2D9C}"/>
              </a:ext>
            </a:extLst>
          </p:cNvPr>
          <p:cNvCxnSpPr>
            <a:cxnSpLocks/>
          </p:cNvCxnSpPr>
          <p:nvPr/>
        </p:nvCxnSpPr>
        <p:spPr>
          <a:xfrm flipH="1" flipV="1">
            <a:off x="6286135" y="2103159"/>
            <a:ext cx="274520" cy="42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319320E-4179-EE5F-7AD1-9BEAC76E7752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5681434" y="1239385"/>
            <a:ext cx="13349" cy="2352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AAFD25F-6EB0-E453-0054-95B874755738}"/>
              </a:ext>
            </a:extLst>
          </p:cNvPr>
          <p:cNvCxnSpPr>
            <a:cxnSpLocks/>
          </p:cNvCxnSpPr>
          <p:nvPr/>
        </p:nvCxnSpPr>
        <p:spPr>
          <a:xfrm>
            <a:off x="381391" y="1239385"/>
            <a:ext cx="0" cy="41826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36F4691-5743-71E1-B779-D3BDECD3B234}"/>
              </a:ext>
            </a:extLst>
          </p:cNvPr>
          <p:cNvCxnSpPr>
            <a:cxnSpLocks/>
          </p:cNvCxnSpPr>
          <p:nvPr/>
        </p:nvCxnSpPr>
        <p:spPr>
          <a:xfrm flipH="1" flipV="1">
            <a:off x="363402" y="1239845"/>
            <a:ext cx="5318032" cy="120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ABB82D5-3215-87A4-7DE5-4BE4467E6625}"/>
              </a:ext>
            </a:extLst>
          </p:cNvPr>
          <p:cNvCxnSpPr>
            <a:cxnSpLocks/>
          </p:cNvCxnSpPr>
          <p:nvPr/>
        </p:nvCxnSpPr>
        <p:spPr>
          <a:xfrm flipH="1">
            <a:off x="6560655" y="2103159"/>
            <a:ext cx="5269" cy="33146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7975EAE-BD1F-1749-1BCF-AEFB4B45248B}"/>
              </a:ext>
            </a:extLst>
          </p:cNvPr>
          <p:cNvSpPr txBox="1"/>
          <p:nvPr/>
        </p:nvSpPr>
        <p:spPr>
          <a:xfrm>
            <a:off x="1919145" y="876529"/>
            <a:ext cx="2201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Outputs are Images</a:t>
            </a:r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A55AE46-8EA4-B051-E639-05A51191842D}"/>
              </a:ext>
            </a:extLst>
          </p:cNvPr>
          <p:cNvSpPr txBox="1"/>
          <p:nvPr/>
        </p:nvSpPr>
        <p:spPr>
          <a:xfrm rot="5400000">
            <a:off x="5358249" y="3820784"/>
            <a:ext cx="3154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Outputs are Attributes associated with Images</a:t>
            </a:r>
            <a:endParaRPr lang="en-IN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BE07EF-5B04-8C80-ABF8-D325BC01FE7D}"/>
              </a:ext>
            </a:extLst>
          </p:cNvPr>
          <p:cNvSpPr txBox="1"/>
          <p:nvPr/>
        </p:nvSpPr>
        <p:spPr>
          <a:xfrm>
            <a:off x="2224975" y="5902731"/>
            <a:ext cx="22016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 5: Fundamental steps in DIP</a:t>
            </a:r>
            <a:endParaRPr lang="en-IN" sz="12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21432DF-7F6F-CC25-08B1-46D2023C381D}"/>
              </a:ext>
            </a:extLst>
          </p:cNvPr>
          <p:cNvSpPr txBox="1"/>
          <p:nvPr/>
        </p:nvSpPr>
        <p:spPr>
          <a:xfrm>
            <a:off x="7396856" y="739144"/>
            <a:ext cx="4551009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Image Acquisition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Capturing an image using a camera, scanner, satellite sensor,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sampling and quantization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convert the image into digital form.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Image Enhancement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the visual appearance of an image.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contrast enhancement, sharpening, brightness adjustment.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Image Restoration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Recovers an image degraded by noise, blur, or other distortions.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mathematical models of the degradation. </a:t>
            </a:r>
          </a:p>
          <a:p>
            <a:r>
              <a:rPr lang="en-US" b="1" dirty="0"/>
              <a:t>4. Color Image Processing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Processes and analyzes information related to image color.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Examples: RGB, HSV, and color enhancement.</a:t>
            </a:r>
          </a:p>
        </p:txBody>
      </p:sp>
    </p:spTree>
    <p:extLst>
      <p:ext uri="{BB962C8B-B14F-4D97-AF65-F5344CB8AC3E}">
        <p14:creationId xmlns:p14="http://schemas.microsoft.com/office/powerpoint/2010/main" val="3691710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56B370-8BBD-63C1-9F5C-3C6D99C78013}"/>
              </a:ext>
            </a:extLst>
          </p:cNvPr>
          <p:cNvSpPr txBox="1"/>
          <p:nvPr/>
        </p:nvSpPr>
        <p:spPr>
          <a:xfrm>
            <a:off x="449180" y="247355"/>
            <a:ext cx="7267074" cy="6186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Wavelets and Multiresolution Processing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Represents an image at different scales or resolutions.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Useful for image compression, analysis, and feature extraction.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Image Compression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the amount of data required to store or transmit an image.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JPEG and PNG.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Morphological Processing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 and modifies the shape and structure of objects in an image.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operations: erosion, dilation, opening, and closing.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Image Segmentation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Divides an image into meaningful regions or objects.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separating a tumor from surrounding tissue.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Representation and Description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Represents segmented objects in a suitable form and describes their characteristics.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 can include shape, boundary, area, texture, and color.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10. Object Recognition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Assigns labels or identifies objects based on their extracted features.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recognizing a face, vehicle, or character.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11. Knowledge Base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Contains prior information about the problem or image. Example: knowing the expected size, shape, or location of an object.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967E6-268C-277F-B4C6-B214A4C3A4DD}"/>
              </a:ext>
            </a:extLst>
          </p:cNvPr>
          <p:cNvSpPr txBox="1"/>
          <p:nvPr/>
        </p:nvSpPr>
        <p:spPr>
          <a:xfrm>
            <a:off x="7876675" y="172165"/>
            <a:ext cx="347078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example: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Image -&gt;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Tumor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Detection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C2DFA7-C3A3-BBD2-9647-D686D52A0AEE}"/>
              </a:ext>
            </a:extLst>
          </p:cNvPr>
          <p:cNvSpPr/>
          <p:nvPr/>
        </p:nvSpPr>
        <p:spPr>
          <a:xfrm>
            <a:off x="7876676" y="1432582"/>
            <a:ext cx="4042609" cy="5784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Wavelets: Analyze image at multiple scales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3E6130-6D29-418F-38B1-8E74068EDD53}"/>
              </a:ext>
            </a:extLst>
          </p:cNvPr>
          <p:cNvSpPr/>
          <p:nvPr/>
        </p:nvSpPr>
        <p:spPr>
          <a:xfrm>
            <a:off x="9002011" y="870384"/>
            <a:ext cx="1786238" cy="4070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Original MRI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EFA67C-1179-0E98-C774-9D48FB8F70BC}"/>
              </a:ext>
            </a:extLst>
          </p:cNvPr>
          <p:cNvSpPr/>
          <p:nvPr/>
        </p:nvSpPr>
        <p:spPr>
          <a:xfrm>
            <a:off x="7876676" y="2203302"/>
            <a:ext cx="4042609" cy="5784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Compression: Reduce unnecessary data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28AB02-A79F-030D-EDEE-72D63D662C56}"/>
              </a:ext>
            </a:extLst>
          </p:cNvPr>
          <p:cNvSpPr/>
          <p:nvPr/>
        </p:nvSpPr>
        <p:spPr>
          <a:xfrm>
            <a:off x="7876676" y="2919507"/>
            <a:ext cx="4042609" cy="4632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Morphology: Clean and refine structure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4AD320-6744-A053-4B85-3525A81C6A71}"/>
              </a:ext>
            </a:extLst>
          </p:cNvPr>
          <p:cNvSpPr/>
          <p:nvPr/>
        </p:nvSpPr>
        <p:spPr>
          <a:xfrm>
            <a:off x="8356964" y="4828282"/>
            <a:ext cx="3085714" cy="4632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Recognition: Tumor Identified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399931-7CB1-7977-4273-1119A42A1089}"/>
              </a:ext>
            </a:extLst>
          </p:cNvPr>
          <p:cNvSpPr/>
          <p:nvPr/>
        </p:nvSpPr>
        <p:spPr>
          <a:xfrm>
            <a:off x="7876675" y="4163172"/>
            <a:ext cx="4042609" cy="4632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Features: Shapes, size, Texture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C2379C-DE6A-9647-31A5-AD4DE859B514}"/>
              </a:ext>
            </a:extLst>
          </p:cNvPr>
          <p:cNvSpPr/>
          <p:nvPr/>
        </p:nvSpPr>
        <p:spPr>
          <a:xfrm>
            <a:off x="7876676" y="3546074"/>
            <a:ext cx="4042609" cy="4632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Segmentation: Separate tumor region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987B4A-2A83-26B7-46EE-0B5A35E82119}"/>
              </a:ext>
            </a:extLst>
          </p:cNvPr>
          <p:cNvSpPr/>
          <p:nvPr/>
        </p:nvSpPr>
        <p:spPr>
          <a:xfrm>
            <a:off x="7932756" y="5390681"/>
            <a:ext cx="4042609" cy="10273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Knowledge Base: Provides prior knowledge about expected tumor characteristics</a:t>
            </a:r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09BAFA-F782-6788-3B28-8A5E0677C42F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9895130" y="1277438"/>
            <a:ext cx="2851" cy="155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DDF300A-A019-9466-10FD-910C04CE74C5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9897981" y="2011069"/>
            <a:ext cx="0" cy="192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B22A25-3390-309F-7CF6-03130DE88DF2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9897981" y="2781789"/>
            <a:ext cx="0" cy="137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8E085AA-7B3C-AC2E-5902-A731C5ADD1A1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9897981" y="3382731"/>
            <a:ext cx="0" cy="163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FB4B67A-ADCB-3EA8-5AB1-4CA87897DBE8}"/>
              </a:ext>
            </a:extLst>
          </p:cNvPr>
          <p:cNvCxnSpPr>
            <a:cxnSpLocks/>
            <a:stCxn id="15" idx="2"/>
            <a:endCxn id="14" idx="0"/>
          </p:cNvCxnSpPr>
          <p:nvPr/>
        </p:nvCxnSpPr>
        <p:spPr>
          <a:xfrm flipH="1">
            <a:off x="9897980" y="4009298"/>
            <a:ext cx="1" cy="153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0A23073-67E4-42CD-A80A-8C427917DC0B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9897980" y="4626395"/>
            <a:ext cx="1841" cy="201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947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092313A-599B-9CAB-3079-5E2251D9892C}"/>
              </a:ext>
            </a:extLst>
          </p:cNvPr>
          <p:cNvSpPr txBox="1">
            <a:spLocks/>
          </p:cNvSpPr>
          <p:nvPr/>
        </p:nvSpPr>
        <p:spPr>
          <a:xfrm>
            <a:off x="366252" y="153927"/>
            <a:ext cx="11459495" cy="7669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perception – How human eyes see color and light compared to digital sensors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856F5E8-A907-FF7A-0CC6-C928AFBA51D0}"/>
              </a:ext>
            </a:extLst>
          </p:cNvPr>
          <p:cNvSpPr txBox="1">
            <a:spLocks/>
          </p:cNvSpPr>
          <p:nvPr/>
        </p:nvSpPr>
        <p:spPr>
          <a:xfrm>
            <a:off x="285136" y="966948"/>
            <a:ext cx="11459496" cy="540337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Perception: From Light to Color </a:t>
            </a:r>
          </a:p>
          <a:p>
            <a:pPr marL="0" indent="0">
              <a:buNone/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visual perception?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perception is the process of detecting light and interpreting its intensity, wavelength, and spatial information to form an image</a:t>
            </a:r>
          </a:p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Vision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 enters the eye and is focused on the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retina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Rods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detect light intensity, especially in low light.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detect different wavelength ranges and enable color vision.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brain processes these signals to create visual perception. </a:t>
            </a:r>
          </a:p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Sensor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Camera lens focuses light onto an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sensor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 elements convert light into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electrical signals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 filters separate wavelength information, commonly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R, G and B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Signals are converted into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pixel values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CCDF08-CCCD-FD12-888A-75980EC306FF}"/>
              </a:ext>
            </a:extLst>
          </p:cNvPr>
          <p:cNvSpPr/>
          <p:nvPr/>
        </p:nvSpPr>
        <p:spPr>
          <a:xfrm>
            <a:off x="8859520" y="2286000"/>
            <a:ext cx="1656080" cy="568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LIGHT FROM OBJECT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67E5E8-B210-E130-19C5-EB04AF3AAFFF}"/>
              </a:ext>
            </a:extLst>
          </p:cNvPr>
          <p:cNvSpPr/>
          <p:nvPr/>
        </p:nvSpPr>
        <p:spPr>
          <a:xfrm>
            <a:off x="7874000" y="3205480"/>
            <a:ext cx="1656080" cy="568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EYE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7D83AB-0BB0-BF60-D817-55D140892F12}"/>
              </a:ext>
            </a:extLst>
          </p:cNvPr>
          <p:cNvSpPr/>
          <p:nvPr/>
        </p:nvSpPr>
        <p:spPr>
          <a:xfrm>
            <a:off x="9814396" y="3205480"/>
            <a:ext cx="1656080" cy="568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CAMERA SENSOR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794C50-0948-F07F-D0BA-28311E3C4110}"/>
              </a:ext>
            </a:extLst>
          </p:cNvPr>
          <p:cNvSpPr/>
          <p:nvPr/>
        </p:nvSpPr>
        <p:spPr>
          <a:xfrm>
            <a:off x="7985760" y="4011450"/>
            <a:ext cx="1442720" cy="4046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Retina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C491BF-F8B6-E189-9E55-853D1C05CA0A}"/>
              </a:ext>
            </a:extLst>
          </p:cNvPr>
          <p:cNvSpPr/>
          <p:nvPr/>
        </p:nvSpPr>
        <p:spPr>
          <a:xfrm>
            <a:off x="7985760" y="4649611"/>
            <a:ext cx="1442720" cy="4046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Brain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BB81E1-4F3C-6B93-1E46-2EFDDC5C529E}"/>
              </a:ext>
            </a:extLst>
          </p:cNvPr>
          <p:cNvSpPr/>
          <p:nvPr/>
        </p:nvSpPr>
        <p:spPr>
          <a:xfrm>
            <a:off x="9814396" y="5226458"/>
            <a:ext cx="1656080" cy="5689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DIGITAL IMAGE</a:t>
            </a:r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2DB35C-E31D-9A60-EFB1-DAF9394A3786}"/>
              </a:ext>
            </a:extLst>
          </p:cNvPr>
          <p:cNvSpPr/>
          <p:nvPr/>
        </p:nvSpPr>
        <p:spPr>
          <a:xfrm>
            <a:off x="9921076" y="4649612"/>
            <a:ext cx="1442720" cy="4046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Processor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8E1A8A-04CA-A250-2969-02422F7F7581}"/>
              </a:ext>
            </a:extLst>
          </p:cNvPr>
          <p:cNvSpPr/>
          <p:nvPr/>
        </p:nvSpPr>
        <p:spPr>
          <a:xfrm>
            <a:off x="9921076" y="4011450"/>
            <a:ext cx="1442720" cy="4046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Photodiodes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D77E80-E936-99BA-6A3C-67288B130AFA}"/>
              </a:ext>
            </a:extLst>
          </p:cNvPr>
          <p:cNvSpPr/>
          <p:nvPr/>
        </p:nvSpPr>
        <p:spPr>
          <a:xfrm>
            <a:off x="7884160" y="5231506"/>
            <a:ext cx="1656080" cy="5639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PERCEPTION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45E9D25-B8D0-9BEC-5FF6-B55D93BE74D9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8702040" y="3774440"/>
            <a:ext cx="5080" cy="237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6785145-2A83-295F-505D-136D43D4FDF1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8707120" y="4416101"/>
            <a:ext cx="0" cy="233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A8F5D89-A1EB-2EE6-8949-195B4D4B864E}"/>
              </a:ext>
            </a:extLst>
          </p:cNvPr>
          <p:cNvCxnSpPr>
            <a:cxnSpLocks/>
            <a:stCxn id="22" idx="2"/>
            <a:endCxn id="26" idx="0"/>
          </p:cNvCxnSpPr>
          <p:nvPr/>
        </p:nvCxnSpPr>
        <p:spPr>
          <a:xfrm>
            <a:off x="8707120" y="5054262"/>
            <a:ext cx="5080" cy="177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02DF673-FDBE-803B-A0AC-37713C891CCF}"/>
              </a:ext>
            </a:extLst>
          </p:cNvPr>
          <p:cNvCxnSpPr>
            <a:cxnSpLocks/>
            <a:stCxn id="24" idx="2"/>
            <a:endCxn id="23" idx="0"/>
          </p:cNvCxnSpPr>
          <p:nvPr/>
        </p:nvCxnSpPr>
        <p:spPr>
          <a:xfrm>
            <a:off x="10642436" y="5054263"/>
            <a:ext cx="0" cy="172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BABF2E9-7384-2DD7-B97A-006C76147751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>
          <a:xfrm>
            <a:off x="10642436" y="4416101"/>
            <a:ext cx="0" cy="233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02F2653-D6AA-3F7F-8438-17427794F5B0}"/>
              </a:ext>
            </a:extLst>
          </p:cNvPr>
          <p:cNvCxnSpPr>
            <a:cxnSpLocks/>
            <a:stCxn id="20" idx="2"/>
            <a:endCxn id="25" idx="0"/>
          </p:cNvCxnSpPr>
          <p:nvPr/>
        </p:nvCxnSpPr>
        <p:spPr>
          <a:xfrm>
            <a:off x="10642436" y="3774440"/>
            <a:ext cx="0" cy="237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ECF4A97-98C9-8765-B48A-E6DFBBC58FD4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10642436" y="3027680"/>
            <a:ext cx="0" cy="17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6D4806F-A051-E1A3-26A8-912043E82ED7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8702040" y="3027680"/>
            <a:ext cx="0" cy="17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262B7B3-BD4A-FF7D-11CA-00218CA4BCDB}"/>
              </a:ext>
            </a:extLst>
          </p:cNvPr>
          <p:cNvCxnSpPr/>
          <p:nvPr/>
        </p:nvCxnSpPr>
        <p:spPr>
          <a:xfrm>
            <a:off x="8702040" y="3027680"/>
            <a:ext cx="19403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0244AD9-087A-C64C-DFE8-7E89FA1EE2AB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9687560" y="2854960"/>
            <a:ext cx="0" cy="1727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089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492F24-2FE1-3E8D-00DF-AEF52EFA99C0}"/>
              </a:ext>
            </a:extLst>
          </p:cNvPr>
          <p:cNvSpPr txBox="1"/>
          <p:nvPr/>
        </p:nvSpPr>
        <p:spPr>
          <a:xfrm>
            <a:off x="314960" y="216654"/>
            <a:ext cx="11460480" cy="6247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Color is Detected: Human Eye vs Digital Sensor</a:t>
            </a:r>
            <a:endParaRPr lang="en-US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eye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color perception is based mainly on the responses of  three types of cone cells: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702EB5-38F5-6C09-2FFF-5531D282C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78266"/>
              </p:ext>
            </p:extLst>
          </p:nvPr>
        </p:nvGraphicFramePr>
        <p:xfrm>
          <a:off x="561341" y="1275199"/>
          <a:ext cx="5494020" cy="1463040"/>
        </p:xfrm>
        <a:graphic>
          <a:graphicData uri="http://schemas.openxmlformats.org/drawingml/2006/table">
            <a:tbl>
              <a:tblPr/>
              <a:tblGrid>
                <a:gridCol w="1226820">
                  <a:extLst>
                    <a:ext uri="{9D8B030D-6E8A-4147-A177-3AD203B41FA5}">
                      <a16:colId xmlns:a16="http://schemas.microsoft.com/office/drawing/2014/main" val="2230904170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604661191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39366748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Receptor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Sensitivity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12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/>
                        <a:t>S-cones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/>
                        <a:t>Short wavelengths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Blue/violet 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631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/>
                        <a:t>M-cones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Medium wavelengths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/>
                        <a:t>Green 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651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/>
                        <a:t>L-cones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Long wavelengths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Yellow/red 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1540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EE6F95C-E21A-5FDF-1884-509389C8A557}"/>
              </a:ext>
            </a:extLst>
          </p:cNvPr>
          <p:cNvSpPr txBox="1"/>
          <p:nvPr/>
        </p:nvSpPr>
        <p:spPr>
          <a:xfrm>
            <a:off x="6398261" y="1549658"/>
            <a:ext cx="5069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Their responses overlap, and the brain combines their signals to perceive color.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955426-0515-7726-0B81-718D3FEE26D4}"/>
              </a:ext>
            </a:extLst>
          </p:cNvPr>
          <p:cNvSpPr txBox="1"/>
          <p:nvPr/>
        </p:nvSpPr>
        <p:spPr>
          <a:xfrm>
            <a:off x="314960" y="2865735"/>
            <a:ext cx="90830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sensor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digital camera generally uses color filter arrays (CFA) over sensor elements.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common arrangement is the Bayer pattern: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C5BA9F7-2B25-51CC-B6D6-29C5D5C57D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835173"/>
              </p:ext>
            </p:extLst>
          </p:nvPr>
        </p:nvGraphicFramePr>
        <p:xfrm>
          <a:off x="5002530" y="3644146"/>
          <a:ext cx="1531620" cy="1463040"/>
        </p:xfrm>
        <a:graphic>
          <a:graphicData uri="http://schemas.openxmlformats.org/drawingml/2006/table">
            <a:tbl>
              <a:tblPr/>
              <a:tblGrid>
                <a:gridCol w="383576">
                  <a:extLst>
                    <a:ext uri="{9D8B030D-6E8A-4147-A177-3AD203B41FA5}">
                      <a16:colId xmlns:a16="http://schemas.microsoft.com/office/drawing/2014/main" val="2230904170"/>
                    </a:ext>
                  </a:extLst>
                </a:gridCol>
                <a:gridCol w="375530">
                  <a:extLst>
                    <a:ext uri="{9D8B030D-6E8A-4147-A177-3AD203B41FA5}">
                      <a16:colId xmlns:a16="http://schemas.microsoft.com/office/drawing/2014/main" val="2604661191"/>
                    </a:ext>
                  </a:extLst>
                </a:gridCol>
                <a:gridCol w="386257">
                  <a:extLst>
                    <a:ext uri="{9D8B030D-6E8A-4147-A177-3AD203B41FA5}">
                      <a16:colId xmlns:a16="http://schemas.microsoft.com/office/drawing/2014/main" val="3936674805"/>
                    </a:ext>
                  </a:extLst>
                </a:gridCol>
                <a:gridCol w="386257">
                  <a:extLst>
                    <a:ext uri="{9D8B030D-6E8A-4147-A177-3AD203B41FA5}">
                      <a16:colId xmlns:a16="http://schemas.microsoft.com/office/drawing/2014/main" val="3515888961"/>
                    </a:ext>
                  </a:extLst>
                </a:gridCol>
              </a:tblGrid>
              <a:tr h="365641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12263"/>
                  </a:ext>
                </a:extLst>
              </a:tr>
              <a:tr h="365641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631235"/>
                  </a:ext>
                </a:extLst>
              </a:tr>
              <a:tr h="365641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651103"/>
                  </a:ext>
                </a:extLst>
              </a:tr>
              <a:tr h="365641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IN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15403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A7F2A5F2-C734-7A60-8B18-0216CB542858}"/>
              </a:ext>
            </a:extLst>
          </p:cNvPr>
          <p:cNvSpPr txBox="1"/>
          <p:nvPr/>
        </p:nvSpPr>
        <p:spPr>
          <a:xfrm>
            <a:off x="314960" y="5288617"/>
            <a:ext cx="11877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R, G and B filters allow different wavelength ranges to reach different sensor elements.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sensor element measures light intensity, not “color” directly.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camera processor combines the measurements to estimate the color of each pixel.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process is followed by operations such as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demosaicing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white balance, and color correction.</a:t>
            </a:r>
          </a:p>
        </p:txBody>
      </p:sp>
    </p:spTree>
    <p:extLst>
      <p:ext uri="{BB962C8B-B14F-4D97-AF65-F5344CB8AC3E}">
        <p14:creationId xmlns:p14="http://schemas.microsoft.com/office/powerpoint/2010/main" val="2244350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9ADC8B-393F-5D47-393E-75C15F7FF85C}"/>
              </a:ext>
            </a:extLst>
          </p:cNvPr>
          <p:cNvSpPr txBox="1"/>
          <p:nvPr/>
        </p:nvSpPr>
        <p:spPr>
          <a:xfrm>
            <a:off x="381000" y="25221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Vision vs Digital Sensor: Key Differences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45D71FF-7787-7C6E-14F5-0F2AAAD41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956513"/>
              </p:ext>
            </p:extLst>
          </p:nvPr>
        </p:nvGraphicFramePr>
        <p:xfrm>
          <a:off x="487680" y="714132"/>
          <a:ext cx="10563891" cy="4349632"/>
        </p:xfrm>
        <a:graphic>
          <a:graphicData uri="http://schemas.openxmlformats.org/drawingml/2006/table">
            <a:tbl>
              <a:tblPr/>
              <a:tblGrid>
                <a:gridCol w="2118360">
                  <a:extLst>
                    <a:ext uri="{9D8B030D-6E8A-4147-A177-3AD203B41FA5}">
                      <a16:colId xmlns:a16="http://schemas.microsoft.com/office/drawing/2014/main" val="1340102914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3497351009"/>
                    </a:ext>
                  </a:extLst>
                </a:gridCol>
                <a:gridCol w="3827811">
                  <a:extLst>
                    <a:ext uri="{9D8B030D-6E8A-4147-A177-3AD203B41FA5}">
                      <a16:colId xmlns:a16="http://schemas.microsoft.com/office/drawing/2014/main" val="248176121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Human Visual System 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 Imaging System 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76754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Light receiver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Retina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CMOS/CCD sensor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6006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Light receptors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Rods and cones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Photodiodes / sensor pixels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59064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Color sensing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S, M, L cone responses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RGB or other color filters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03545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Brightness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Neural response to light intensity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Measured electrical signal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2727"/>
                  </a:ext>
                </a:extLst>
              </a:tr>
              <a:tr h="390878"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Retina + visual cortex + brain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 signal processor + algorithms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03844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lang="en-IN" sz="18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Color</a:t>
                      </a:r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adaptation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Biological adaptation and contextual perception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White balance and color correction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43509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Output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Perceived scene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Numerical pixel values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35066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Dynamic response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Adapts to changing illumination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Limited by sensor and processing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932119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Color reproduction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Context-dependent perception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Depends on sensor, filters, calibration and algorithms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499797"/>
                  </a:ext>
                </a:extLst>
              </a:tr>
              <a:tr h="426298"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Representation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Neural signals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 values, e.g. 0–255 per </a:t>
                      </a:r>
                      <a:r>
                        <a:rPr lang="fr-FR" sz="18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channel</a:t>
                      </a:r>
                      <a:endParaRPr lang="fr-FR" sz="18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71671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3D9E2619-D2A1-4242-FABD-1291CDF701C0}"/>
              </a:ext>
            </a:extLst>
          </p:cNvPr>
          <p:cNvSpPr txBox="1"/>
          <p:nvPr/>
        </p:nvSpPr>
        <p:spPr>
          <a:xfrm>
            <a:off x="381000" y="5236231"/>
            <a:ext cx="105638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are they not exactly the same?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vision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adapts to lighting and uses context to interpret colors.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sensors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measure light and use processing algorithms such as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white balance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reproduce colors.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715A36-8545-E9D2-0912-78A8F8C2E5BD}"/>
              </a:ext>
            </a:extLst>
          </p:cNvPr>
          <p:cNvSpPr txBox="1"/>
          <p:nvPr/>
        </p:nvSpPr>
        <p:spPr>
          <a:xfrm>
            <a:off x="3894399" y="5063764"/>
            <a:ext cx="22016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2: Key Difference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747638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FD2E-66F8-8B58-6CFA-EB5D7B2CA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3925F-4D21-0AF8-F34C-124D156D1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495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C7C9C-6FBF-4CD2-D36D-A6FBC19A7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E7504-E41F-C563-5503-14DA070DD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https://photographyicon.com/color-perception-explained-how-our-eyes-and-cameras-interpret-colors-differently/</a:t>
            </a:r>
          </a:p>
        </p:txBody>
      </p:sp>
    </p:spTree>
    <p:extLst>
      <p:ext uri="{BB962C8B-B14F-4D97-AF65-F5344CB8AC3E}">
        <p14:creationId xmlns:p14="http://schemas.microsoft.com/office/powerpoint/2010/main" val="3227761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</TotalTime>
  <Words>1194</Words>
  <Application>Microsoft Office PowerPoint</Application>
  <PresentationFormat>Widescreen</PresentationFormat>
  <Paragraphs>224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What is digital image processing?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Shamim Ahmed</dc:creator>
  <cp:lastModifiedBy>Shamim Ahmed</cp:lastModifiedBy>
  <cp:revision>1</cp:revision>
  <dcterms:created xsi:type="dcterms:W3CDTF">2026-09-09T16:33:39Z</dcterms:created>
  <dcterms:modified xsi:type="dcterms:W3CDTF">2026-09-10T19:41:09Z</dcterms:modified>
</cp:coreProperties>
</file>