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2000"/>
  <p:notesSz cx="6858000" cy="9144000"/>
  <p:embeddedFontLst>
    <p:embeddedFont>
      <p:font typeface="Quattrocento Sans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QuattrocentoSans-bold.fntdata"/><Relationship Id="rId16" Type="http://schemas.openxmlformats.org/officeDocument/2006/relationships/font" Target="fonts/QuattrocentoSans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QuattrocentoSans-boldItalic.fntdata"/><Relationship Id="rId6" Type="http://schemas.openxmlformats.org/officeDocument/2006/relationships/slide" Target="slides/slide1.xml"/><Relationship Id="rId18" Type="http://schemas.openxmlformats.org/officeDocument/2006/relationships/font" Target="fonts/QuattrocentoSans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11.png"/><Relationship Id="rId6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1095375"/>
            <a:ext cx="11430000" cy="5381625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90500" y="285750"/>
            <a:ext cx="118110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Introduction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535430" y="3063180"/>
            <a:ext cx="9121140" cy="828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Image Sensing &amp; Digitization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3990975" y="4082355"/>
            <a:ext cx="421005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From Photons to Digital Pixels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1095375"/>
            <a:ext cx="11430000" cy="5381625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190500" y="285750"/>
            <a:ext cx="118110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Image Acquisition Fundamentals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771525" y="1390650"/>
            <a:ext cx="59817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Definition: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771525" y="1853505"/>
            <a:ext cx="5981700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Image sensing detects information that constitutes an image using specialized physical sensors.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771525" y="2636341"/>
            <a:ext cx="59817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 simple words: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771525" y="4750593"/>
            <a:ext cx="59817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Sensor Material: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771525" y="5213449"/>
            <a:ext cx="5981700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most common sensor material used for capturing light is the silicon photodiode.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8058150" y="5632102"/>
            <a:ext cx="243840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Fig 1: Light entering a camera lens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1066800" y="3097291"/>
            <a:ext cx="8572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1152525" y="3099196"/>
            <a:ext cx="5600700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725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It converts continuous physical phenomena (like reflected light) into an analog electrical signal.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1066800" y="3851552"/>
            <a:ext cx="8572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1152525" y="3853457"/>
            <a:ext cx="5600700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725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process requires an illumination source, object reflection or absorption, and a sensing mechanism.</a:t>
            </a:r>
            <a:endParaRPr/>
          </a:p>
        </p:txBody>
      </p:sp>
      <p:pic>
        <p:nvPicPr>
          <p:cNvPr descr="image.png" id="104" name="Google Shape;10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97042" y="1726852"/>
            <a:ext cx="3960465" cy="3809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9" name="Google Shape;10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1095375"/>
            <a:ext cx="11430000" cy="5381625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/>
        </p:nvSpPr>
        <p:spPr>
          <a:xfrm>
            <a:off x="190500" y="285750"/>
            <a:ext cx="118110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Sensor Arrangements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771525" y="1390650"/>
            <a:ext cx="1064895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Images can be acquired using different sensor configurations depending on the application: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771525" y="1901130"/>
            <a:ext cx="1064895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 Single Sensor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771525" y="2221110"/>
            <a:ext cx="10648950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Generates 2D images by mechanical scanning in both x and y directions. It is highly precise but generally a slower method.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771525" y="3051571"/>
            <a:ext cx="1064895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 Line Sensor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771525" y="3371552"/>
            <a:ext cx="10648950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Senses a full strip in one direction while mechanical motion operates in the perpendicular direction (e.g., flatbed scanners).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771525" y="4202013"/>
            <a:ext cx="1064895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3. Sensor Array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771525" y="4521993"/>
            <a:ext cx="10648950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 2D arrangement that captures the entire image area at once, eliminating the need for complex mechanical motion.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2" name="Google Shape;12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1095375"/>
            <a:ext cx="11430000" cy="5381625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/>
        </p:nvSpPr>
        <p:spPr>
          <a:xfrm>
            <a:off x="190500" y="285750"/>
            <a:ext cx="118110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2D Sensor Arrays (Cameras)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771525" y="1390650"/>
            <a:ext cx="59817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How they work: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771525" y="3504902"/>
            <a:ext cx="59817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Signal Generation: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8310562" y="4848671"/>
            <a:ext cx="193357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Fig 2: 2D Sensor Array Chip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1066800" y="1851600"/>
            <a:ext cx="8572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1152525" y="1853505"/>
            <a:ext cx="5600700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725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Sensor arrays eliminate the need for mechanical motion to capture a dynamic 2D scene.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1066800" y="2605861"/>
            <a:ext cx="8572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1152525" y="2607766"/>
            <a:ext cx="5600700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725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Common technologies include CCD (Charge-Coupled Device) and CMOS arrays found in digital cameras.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1066800" y="3965852"/>
            <a:ext cx="8572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1152525" y="3967757"/>
            <a:ext cx="5600700" cy="959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725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Each array element responds to incident light by accumulating an electrical charge proportional to the energy.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1066800" y="5040094"/>
            <a:ext cx="8572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1152525" y="5041999"/>
            <a:ext cx="5600700" cy="959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725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array acts as the focal plane, generating a continuous analog voltage output for the entire scene.</a:t>
            </a:r>
            <a:endParaRPr/>
          </a:p>
        </p:txBody>
      </p:sp>
      <p:pic>
        <p:nvPicPr>
          <p:cNvPr descr="image.png" id="135" name="Google Shape;13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34225" y="2510283"/>
            <a:ext cx="4286250" cy="22431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0" name="Google Shape;14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1095375"/>
            <a:ext cx="11430000" cy="5381625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>
            <a:off x="190500" y="285750"/>
            <a:ext cx="118110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Need for Digitization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771525" y="1390650"/>
            <a:ext cx="1064895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To process images on a computer, the analog signal from sensors must be digitized in two ways: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771525" y="1901130"/>
            <a:ext cx="1064895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Spatial Digitization (Sampling)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771525" y="2221110"/>
            <a:ext cx="10648950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output of a sensor array is spatially continuous. We must convert this continuous physical plane into a discrete grid structure suitable for computer processing and storage.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771525" y="3051571"/>
            <a:ext cx="1064895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Amplitude Digitization (Quantization)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771525" y="3371552"/>
            <a:ext cx="10648950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voltage values representing brightness are analog and continuous. These continuous waveforms must be mathematically mapped to discrete, finite digital steps.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1" name="Google Shape;15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1095375"/>
            <a:ext cx="11430000" cy="5381625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8"/>
          <p:cNvSpPr txBox="1"/>
          <p:nvPr/>
        </p:nvSpPr>
        <p:spPr>
          <a:xfrm>
            <a:off x="190500" y="285750"/>
            <a:ext cx="118110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Sampling: Defining the Pixels</a:t>
            </a:r>
            <a:endParaRPr/>
          </a:p>
        </p:txBody>
      </p:sp>
      <p:sp>
        <p:nvSpPr>
          <p:cNvPr id="153" name="Google Shape;153;p18"/>
          <p:cNvSpPr txBox="1"/>
          <p:nvPr/>
        </p:nvSpPr>
        <p:spPr>
          <a:xfrm>
            <a:off x="771525" y="1390650"/>
            <a:ext cx="59817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Process:</a:t>
            </a:r>
            <a:endParaRPr/>
          </a:p>
        </p:txBody>
      </p:sp>
      <p:sp>
        <p:nvSpPr>
          <p:cNvPr id="154" name="Google Shape;154;p18"/>
          <p:cNvSpPr txBox="1"/>
          <p:nvPr/>
        </p:nvSpPr>
        <p:spPr>
          <a:xfrm>
            <a:off x="771525" y="3504902"/>
            <a:ext cx="59817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Impact on Quality:</a:t>
            </a:r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7658100" y="4948535"/>
            <a:ext cx="323850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Fig 3: Continuous image mapped to pixel grid</a:t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1066800" y="1851600"/>
            <a:ext cx="8572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1152525" y="1853505"/>
            <a:ext cx="5600700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725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Sampling involves discretizing the spatial coordinates (x, y) of the continuous image scene.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1066800" y="2605861"/>
            <a:ext cx="8572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</a:t>
            </a:r>
            <a:endParaRPr/>
          </a:p>
        </p:txBody>
      </p:sp>
      <p:sp>
        <p:nvSpPr>
          <p:cNvPr id="159" name="Google Shape;159;p18"/>
          <p:cNvSpPr txBox="1"/>
          <p:nvPr/>
        </p:nvSpPr>
        <p:spPr>
          <a:xfrm>
            <a:off x="1152525" y="2607766"/>
            <a:ext cx="5600700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725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It transforms a continuous visual field into a grid of discrete picture elements, known as </a:t>
            </a:r>
            <a:r>
              <a:rPr b="1" i="0" lang="en-US" sz="18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"pixels"</a:t>
            </a:r>
            <a:r>
              <a:rPr b="0" i="0" lang="en-US" sz="18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</a:t>
            </a:r>
            <a:endParaRPr/>
          </a:p>
        </p:txBody>
      </p:sp>
      <p:sp>
        <p:nvSpPr>
          <p:cNvPr id="160" name="Google Shape;160;p18"/>
          <p:cNvSpPr txBox="1"/>
          <p:nvPr/>
        </p:nvSpPr>
        <p:spPr>
          <a:xfrm>
            <a:off x="1066800" y="3965852"/>
            <a:ext cx="8572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</a:t>
            </a:r>
            <a:endParaRPr/>
          </a:p>
        </p:txBody>
      </p:sp>
      <p:sp>
        <p:nvSpPr>
          <p:cNvPr id="161" name="Google Shape;161;p18"/>
          <p:cNvSpPr txBox="1"/>
          <p:nvPr/>
        </p:nvSpPr>
        <p:spPr>
          <a:xfrm>
            <a:off x="1152525" y="3967757"/>
            <a:ext cx="5600700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725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density of this grid determines the image's overall spatial resolution and level of detail.</a:t>
            </a:r>
            <a:endParaRPr/>
          </a:p>
        </p:txBody>
      </p:sp>
      <p:sp>
        <p:nvSpPr>
          <p:cNvPr id="162" name="Google Shape;162;p18"/>
          <p:cNvSpPr txBox="1"/>
          <p:nvPr/>
        </p:nvSpPr>
        <p:spPr>
          <a:xfrm>
            <a:off x="1066800" y="4720113"/>
            <a:ext cx="8572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</a:t>
            </a:r>
            <a:endParaRPr/>
          </a:p>
        </p:txBody>
      </p:sp>
      <p:sp>
        <p:nvSpPr>
          <p:cNvPr id="163" name="Google Shape;163;p18"/>
          <p:cNvSpPr txBox="1"/>
          <p:nvPr/>
        </p:nvSpPr>
        <p:spPr>
          <a:xfrm>
            <a:off x="1152525" y="4722018"/>
            <a:ext cx="5600700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725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Higher sampling rates capture finer variations but significantly increase file size and required storage.</a:t>
            </a:r>
            <a:endParaRPr/>
          </a:p>
        </p:txBody>
      </p:sp>
      <p:pic>
        <p:nvPicPr>
          <p:cNvPr descr="image.png" id="164" name="Google Shape;16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34225" y="2410420"/>
            <a:ext cx="4286101" cy="24427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9" name="Google Shape;16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1095375"/>
            <a:ext cx="11430000" cy="5381625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9"/>
          <p:cNvSpPr txBox="1"/>
          <p:nvPr/>
        </p:nvSpPr>
        <p:spPr>
          <a:xfrm>
            <a:off x="190500" y="285750"/>
            <a:ext cx="118110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Quantization: Assigning Values</a:t>
            </a:r>
            <a:endParaRPr/>
          </a:p>
        </p:txBody>
      </p:sp>
      <p:sp>
        <p:nvSpPr>
          <p:cNvPr id="171" name="Google Shape;171;p19"/>
          <p:cNvSpPr txBox="1"/>
          <p:nvPr/>
        </p:nvSpPr>
        <p:spPr>
          <a:xfrm>
            <a:off x="771525" y="1390650"/>
            <a:ext cx="59817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Process:</a:t>
            </a:r>
            <a:endParaRPr/>
          </a:p>
        </p:txBody>
      </p:sp>
      <p:sp>
        <p:nvSpPr>
          <p:cNvPr id="172" name="Google Shape;172;p19"/>
          <p:cNvSpPr txBox="1"/>
          <p:nvPr/>
        </p:nvSpPr>
        <p:spPr>
          <a:xfrm>
            <a:off x="771525" y="3824882"/>
            <a:ext cx="59817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Impact on Quality:</a:t>
            </a:r>
            <a:endParaRPr/>
          </a:p>
        </p:txBody>
      </p:sp>
      <p:sp>
        <p:nvSpPr>
          <p:cNvPr id="173" name="Google Shape;173;p19"/>
          <p:cNvSpPr txBox="1"/>
          <p:nvPr/>
        </p:nvSpPr>
        <p:spPr>
          <a:xfrm>
            <a:off x="7648575" y="5632102"/>
            <a:ext cx="325755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Fig 4: Mapping analog wave to discrete values</a:t>
            </a:r>
            <a:endParaRPr/>
          </a:p>
        </p:txBody>
      </p:sp>
      <p:sp>
        <p:nvSpPr>
          <p:cNvPr id="174" name="Google Shape;174;p19"/>
          <p:cNvSpPr txBox="1"/>
          <p:nvPr/>
        </p:nvSpPr>
        <p:spPr>
          <a:xfrm>
            <a:off x="1066800" y="1851600"/>
            <a:ext cx="8572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</a:t>
            </a:r>
            <a:endParaRPr/>
          </a:p>
        </p:txBody>
      </p:sp>
      <p:sp>
        <p:nvSpPr>
          <p:cNvPr id="175" name="Google Shape;175;p19"/>
          <p:cNvSpPr txBox="1"/>
          <p:nvPr/>
        </p:nvSpPr>
        <p:spPr>
          <a:xfrm>
            <a:off x="1152525" y="1853505"/>
            <a:ext cx="5600700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725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Quantization converts continuous amplitude (voltage) from each pixel into a discrete digital value.</a:t>
            </a:r>
            <a:endParaRPr/>
          </a:p>
        </p:txBody>
      </p:sp>
      <p:sp>
        <p:nvSpPr>
          <p:cNvPr id="176" name="Google Shape;176;p19"/>
          <p:cNvSpPr txBox="1"/>
          <p:nvPr/>
        </p:nvSpPr>
        <p:spPr>
          <a:xfrm>
            <a:off x="1066800" y="2605861"/>
            <a:ext cx="8572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</a:t>
            </a:r>
            <a:endParaRPr/>
          </a:p>
        </p:txBody>
      </p:sp>
      <p:sp>
        <p:nvSpPr>
          <p:cNvPr id="177" name="Google Shape;177;p19"/>
          <p:cNvSpPr txBox="1"/>
          <p:nvPr/>
        </p:nvSpPr>
        <p:spPr>
          <a:xfrm>
            <a:off x="1152525" y="2607766"/>
            <a:ext cx="5600700" cy="959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725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Each pixel's intensity is mapped to the nearest integer within a defined scale (e.g., 0 to 255 for 8-bit).</a:t>
            </a:r>
            <a:endParaRPr/>
          </a:p>
        </p:txBody>
      </p:sp>
      <p:sp>
        <p:nvSpPr>
          <p:cNvPr id="178" name="Google Shape;178;p19"/>
          <p:cNvSpPr txBox="1"/>
          <p:nvPr/>
        </p:nvSpPr>
        <p:spPr>
          <a:xfrm>
            <a:off x="1066800" y="4285833"/>
            <a:ext cx="8572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</a:t>
            </a:r>
            <a:endParaRPr/>
          </a:p>
        </p:txBody>
      </p:sp>
      <p:sp>
        <p:nvSpPr>
          <p:cNvPr id="179" name="Google Shape;179;p19"/>
          <p:cNvSpPr txBox="1"/>
          <p:nvPr/>
        </p:nvSpPr>
        <p:spPr>
          <a:xfrm>
            <a:off x="1152525" y="4287738"/>
            <a:ext cx="5600700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725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This critical step establishes the grayscale depth or color resolution of the final digital image.</a:t>
            </a:r>
            <a:endParaRPr/>
          </a:p>
        </p:txBody>
      </p:sp>
      <p:sp>
        <p:nvSpPr>
          <p:cNvPr id="180" name="Google Shape;180;p19"/>
          <p:cNvSpPr txBox="1"/>
          <p:nvPr/>
        </p:nvSpPr>
        <p:spPr>
          <a:xfrm>
            <a:off x="1066800" y="5040094"/>
            <a:ext cx="8572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</a:t>
            </a:r>
            <a:endParaRPr/>
          </a:p>
        </p:txBody>
      </p:sp>
      <p:sp>
        <p:nvSpPr>
          <p:cNvPr id="181" name="Google Shape;181;p19"/>
          <p:cNvSpPr txBox="1"/>
          <p:nvPr/>
        </p:nvSpPr>
        <p:spPr>
          <a:xfrm>
            <a:off x="1152525" y="5041999"/>
            <a:ext cx="5600700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725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Using limited quantization levels can cause visible artifacts, such as false contouring or banding.</a:t>
            </a:r>
            <a:endParaRPr/>
          </a:p>
        </p:txBody>
      </p:sp>
      <p:pic>
        <p:nvPicPr>
          <p:cNvPr descr="image.png" id="182" name="Google Shape;18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72350" y="1726852"/>
            <a:ext cx="3810000" cy="381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7" name="Google Shape;18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1095375"/>
            <a:ext cx="11430000" cy="5473898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0"/>
          <p:cNvSpPr txBox="1"/>
          <p:nvPr/>
        </p:nvSpPr>
        <p:spPr>
          <a:xfrm>
            <a:off x="190500" y="285750"/>
            <a:ext cx="118110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Image Processing Pipeline</a:t>
            </a:r>
            <a:endParaRPr/>
          </a:p>
        </p:txBody>
      </p:sp>
      <p:sp>
        <p:nvSpPr>
          <p:cNvPr id="189" name="Google Shape;189;p20"/>
          <p:cNvSpPr txBox="1"/>
          <p:nvPr/>
        </p:nvSpPr>
        <p:spPr>
          <a:xfrm>
            <a:off x="4981575" y="1390650"/>
            <a:ext cx="2228850" cy="37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Continuous Scene</a:t>
            </a:r>
            <a:endParaRPr/>
          </a:p>
        </p:txBody>
      </p:sp>
      <p:sp>
        <p:nvSpPr>
          <p:cNvPr id="190" name="Google Shape;190;p20"/>
          <p:cNvSpPr txBox="1"/>
          <p:nvPr/>
        </p:nvSpPr>
        <p:spPr>
          <a:xfrm>
            <a:off x="6029325" y="1954410"/>
            <a:ext cx="133350" cy="37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↓</a:t>
            </a:r>
            <a:endParaRPr/>
          </a:p>
        </p:txBody>
      </p:sp>
      <p:sp>
        <p:nvSpPr>
          <p:cNvPr id="191" name="Google Shape;191;p20"/>
          <p:cNvSpPr txBox="1"/>
          <p:nvPr/>
        </p:nvSpPr>
        <p:spPr>
          <a:xfrm>
            <a:off x="5305425" y="2518171"/>
            <a:ext cx="1581150" cy="37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Sensor Array</a:t>
            </a:r>
            <a:endParaRPr/>
          </a:p>
        </p:txBody>
      </p:sp>
      <p:sp>
        <p:nvSpPr>
          <p:cNvPr id="192" name="Google Shape;192;p20"/>
          <p:cNvSpPr txBox="1"/>
          <p:nvPr/>
        </p:nvSpPr>
        <p:spPr>
          <a:xfrm>
            <a:off x="6029325" y="3081932"/>
            <a:ext cx="133350" cy="37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↓</a:t>
            </a:r>
            <a:endParaRPr/>
          </a:p>
        </p:txBody>
      </p:sp>
      <p:sp>
        <p:nvSpPr>
          <p:cNvPr id="193" name="Google Shape;193;p20"/>
          <p:cNvSpPr txBox="1"/>
          <p:nvPr/>
        </p:nvSpPr>
        <p:spPr>
          <a:xfrm>
            <a:off x="5267325" y="3645693"/>
            <a:ext cx="1657350" cy="37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Analog Signal</a:t>
            </a:r>
            <a:endParaRPr/>
          </a:p>
        </p:txBody>
      </p:sp>
      <p:sp>
        <p:nvSpPr>
          <p:cNvPr id="194" name="Google Shape;194;p20"/>
          <p:cNvSpPr txBox="1"/>
          <p:nvPr/>
        </p:nvSpPr>
        <p:spPr>
          <a:xfrm>
            <a:off x="6029325" y="4209454"/>
            <a:ext cx="133350" cy="37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↓</a:t>
            </a:r>
            <a:endParaRPr/>
          </a:p>
        </p:txBody>
      </p:sp>
      <p:sp>
        <p:nvSpPr>
          <p:cNvPr id="195" name="Google Shape;195;p20"/>
          <p:cNvSpPr txBox="1"/>
          <p:nvPr/>
        </p:nvSpPr>
        <p:spPr>
          <a:xfrm>
            <a:off x="4438650" y="4773215"/>
            <a:ext cx="3314700" cy="37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Sampling &amp; Quantization</a:t>
            </a:r>
            <a:endParaRPr/>
          </a:p>
        </p:txBody>
      </p:sp>
      <p:sp>
        <p:nvSpPr>
          <p:cNvPr id="196" name="Google Shape;196;p20"/>
          <p:cNvSpPr txBox="1"/>
          <p:nvPr/>
        </p:nvSpPr>
        <p:spPr>
          <a:xfrm>
            <a:off x="6029325" y="5336976"/>
            <a:ext cx="133350" cy="37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↓</a:t>
            </a:r>
            <a:endParaRPr/>
          </a:p>
        </p:txBody>
      </p:sp>
      <p:sp>
        <p:nvSpPr>
          <p:cNvPr id="197" name="Google Shape;197;p20"/>
          <p:cNvSpPr txBox="1"/>
          <p:nvPr/>
        </p:nvSpPr>
        <p:spPr>
          <a:xfrm>
            <a:off x="5224462" y="5900737"/>
            <a:ext cx="1743075" cy="37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Digital Pixels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2" name="Google Shape;20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1095375"/>
            <a:ext cx="11430000" cy="5381625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1"/>
          <p:cNvSpPr txBox="1"/>
          <p:nvPr/>
        </p:nvSpPr>
        <p:spPr>
          <a:xfrm>
            <a:off x="190500" y="285750"/>
            <a:ext cx="118110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Image Sources</a:t>
            </a:r>
            <a:endParaRPr/>
          </a:p>
        </p:txBody>
      </p:sp>
      <p:sp>
        <p:nvSpPr>
          <p:cNvPr id="204" name="Google Shape;204;p21"/>
          <p:cNvSpPr/>
          <p:nvPr/>
        </p:nvSpPr>
        <p:spPr>
          <a:xfrm>
            <a:off x="1152525" y="1390650"/>
            <a:ext cx="102679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1"/>
          <p:cNvSpPr/>
          <p:nvPr/>
        </p:nvSpPr>
        <p:spPr>
          <a:xfrm>
            <a:off x="1152525" y="2162175"/>
            <a:ext cx="102679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1"/>
          <p:cNvSpPr/>
          <p:nvPr/>
        </p:nvSpPr>
        <p:spPr>
          <a:xfrm>
            <a:off x="1152525" y="2933700"/>
            <a:ext cx="102679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1"/>
          <p:cNvSpPr/>
          <p:nvPr/>
        </p:nvSpPr>
        <p:spPr>
          <a:xfrm>
            <a:off x="1152525" y="2152650"/>
            <a:ext cx="10267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1"/>
          <p:cNvSpPr/>
          <p:nvPr/>
        </p:nvSpPr>
        <p:spPr>
          <a:xfrm>
            <a:off x="1152525" y="2152650"/>
            <a:ext cx="10267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1"/>
          <p:cNvSpPr/>
          <p:nvPr/>
        </p:nvSpPr>
        <p:spPr>
          <a:xfrm>
            <a:off x="1152525" y="2924175"/>
            <a:ext cx="10267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1"/>
          <p:cNvSpPr/>
          <p:nvPr/>
        </p:nvSpPr>
        <p:spPr>
          <a:xfrm>
            <a:off x="1152525" y="2924175"/>
            <a:ext cx="10267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1"/>
          <p:cNvSpPr/>
          <p:nvPr/>
        </p:nvSpPr>
        <p:spPr>
          <a:xfrm>
            <a:off x="1152525" y="3695700"/>
            <a:ext cx="10267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1"/>
          <p:cNvSpPr/>
          <p:nvPr/>
        </p:nvSpPr>
        <p:spPr>
          <a:xfrm>
            <a:off x="1152525" y="3695700"/>
            <a:ext cx="10267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13" name="Google Shape;213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52525" y="153352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1"/>
          <p:cNvSpPr txBox="1"/>
          <p:nvPr/>
        </p:nvSpPr>
        <p:spPr>
          <a:xfrm>
            <a:off x="2247900" y="1554509"/>
            <a:ext cx="9172575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https://www.picturecorrect.com/fujifilm-finepix-s4000-s3200-and-s2950/fujifilm-s2950/</a:t>
            </a:r>
            <a:endParaRPr/>
          </a:p>
        </p:txBody>
      </p:sp>
      <p:sp>
        <p:nvSpPr>
          <p:cNvPr id="215" name="Google Shape;215;p21"/>
          <p:cNvSpPr txBox="1"/>
          <p:nvPr/>
        </p:nvSpPr>
        <p:spPr>
          <a:xfrm>
            <a:off x="2247900" y="1775370"/>
            <a:ext cx="917257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www.picturecorrect.com</a:t>
            </a:r>
            <a:endParaRPr/>
          </a:p>
        </p:txBody>
      </p:sp>
      <p:pic>
        <p:nvPicPr>
          <p:cNvPr descr="image.png" id="216" name="Google Shape;216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52525" y="230505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1"/>
          <p:cNvSpPr txBox="1"/>
          <p:nvPr/>
        </p:nvSpPr>
        <p:spPr>
          <a:xfrm>
            <a:off x="2247900" y="2326034"/>
            <a:ext cx="9172575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https://www.teledynevisionsolutions.com/globalassets/tvs/learn/dalsa/ccd-vs-cmos/thumb-screenshot-2023-10-24-104441.jpg</a:t>
            </a:r>
            <a:endParaRPr/>
          </a:p>
        </p:txBody>
      </p:sp>
      <p:sp>
        <p:nvSpPr>
          <p:cNvPr id="218" name="Google Shape;218;p21"/>
          <p:cNvSpPr txBox="1"/>
          <p:nvPr/>
        </p:nvSpPr>
        <p:spPr>
          <a:xfrm>
            <a:off x="2247900" y="2546895"/>
            <a:ext cx="917257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www.teledynevisionsolutions.com</a:t>
            </a:r>
            <a:endParaRPr/>
          </a:p>
        </p:txBody>
      </p:sp>
      <p:pic>
        <p:nvPicPr>
          <p:cNvPr descr="image.png" id="219" name="Google Shape;21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52525" y="307657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1"/>
          <p:cNvSpPr txBox="1"/>
          <p:nvPr/>
        </p:nvSpPr>
        <p:spPr>
          <a:xfrm>
            <a:off x="2247900" y="3097559"/>
            <a:ext cx="9172575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https://sigmoidal.ai/wp-content/uploads/2025/06/Sampling-and-Quantization-1.png</a:t>
            </a:r>
            <a:endParaRPr/>
          </a:p>
        </p:txBody>
      </p:sp>
      <p:sp>
        <p:nvSpPr>
          <p:cNvPr id="221" name="Google Shape;221;p21"/>
          <p:cNvSpPr txBox="1"/>
          <p:nvPr/>
        </p:nvSpPr>
        <p:spPr>
          <a:xfrm>
            <a:off x="2247900" y="3318420"/>
            <a:ext cx="917257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sigmoidal.ai</a:t>
            </a:r>
            <a:endParaRPr/>
          </a:p>
        </p:txBody>
      </p:sp>
      <p:pic>
        <p:nvPicPr>
          <p:cNvPr descr="image.png" id="222" name="Google Shape;222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52525" y="384810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1"/>
          <p:cNvSpPr txBox="1"/>
          <p:nvPr/>
        </p:nvSpPr>
        <p:spPr>
          <a:xfrm>
            <a:off x="2247900" y="3869084"/>
            <a:ext cx="9172575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https://zeroinstrument.com/wp-content/uploads/2026/02/Understanding-Sampling-and-Signal-Conversion-From-Analog-to-Digital-768x768.png</a:t>
            </a:r>
            <a:endParaRPr/>
          </a:p>
        </p:txBody>
      </p:sp>
      <p:sp>
        <p:nvSpPr>
          <p:cNvPr id="224" name="Google Shape;224;p21"/>
          <p:cNvSpPr txBox="1"/>
          <p:nvPr/>
        </p:nvSpPr>
        <p:spPr>
          <a:xfrm>
            <a:off x="2247900" y="4089945"/>
            <a:ext cx="917257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zeroinstrument.com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2"/>
          <p:cNvSpPr txBox="1"/>
          <p:nvPr/>
        </p:nvSpPr>
        <p:spPr>
          <a:xfrm>
            <a:off x="190500" y="285750"/>
            <a:ext cx="118110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Image Sources</a:t>
            </a:r>
            <a:endParaRPr/>
          </a:p>
        </p:txBody>
      </p:sp>
      <p:sp>
        <p:nvSpPr>
          <p:cNvPr id="230" name="Google Shape;230;p22"/>
          <p:cNvSpPr/>
          <p:nvPr/>
        </p:nvSpPr>
        <p:spPr>
          <a:xfrm>
            <a:off x="762000" y="1095375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2"/>
          <p:cNvSpPr/>
          <p:nvPr/>
        </p:nvSpPr>
        <p:spPr>
          <a:xfrm>
            <a:off x="762000" y="1866900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2"/>
          <p:cNvSpPr/>
          <p:nvPr/>
        </p:nvSpPr>
        <p:spPr>
          <a:xfrm>
            <a:off x="762000" y="2638425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2"/>
          <p:cNvSpPr/>
          <p:nvPr/>
        </p:nvSpPr>
        <p:spPr>
          <a:xfrm>
            <a:off x="762000" y="18573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2"/>
          <p:cNvSpPr/>
          <p:nvPr/>
        </p:nvSpPr>
        <p:spPr>
          <a:xfrm>
            <a:off x="762000" y="18573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2"/>
          <p:cNvSpPr/>
          <p:nvPr/>
        </p:nvSpPr>
        <p:spPr>
          <a:xfrm>
            <a:off x="762000" y="26289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2"/>
          <p:cNvSpPr/>
          <p:nvPr/>
        </p:nvSpPr>
        <p:spPr>
          <a:xfrm>
            <a:off x="762000" y="26289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2"/>
          <p:cNvSpPr/>
          <p:nvPr/>
        </p:nvSpPr>
        <p:spPr>
          <a:xfrm>
            <a:off x="762000" y="34004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2"/>
          <p:cNvSpPr/>
          <p:nvPr/>
        </p:nvSpPr>
        <p:spPr>
          <a:xfrm>
            <a:off x="762000" y="34004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39" name="Google Shape;23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123825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2"/>
          <p:cNvSpPr txBox="1"/>
          <p:nvPr/>
        </p:nvSpPr>
        <p:spPr>
          <a:xfrm>
            <a:off x="1857375" y="1259234"/>
            <a:ext cx="9953625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https://www.picturecorrect.com/fujifilm-finepix-s4000-s3200-and-s2950/fujifilm-s2950/</a:t>
            </a:r>
            <a:endParaRPr/>
          </a:p>
        </p:txBody>
      </p:sp>
      <p:sp>
        <p:nvSpPr>
          <p:cNvPr id="241" name="Google Shape;241;p22"/>
          <p:cNvSpPr txBox="1"/>
          <p:nvPr/>
        </p:nvSpPr>
        <p:spPr>
          <a:xfrm>
            <a:off x="1857375" y="1480095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www.picturecorrect.com</a:t>
            </a:r>
            <a:endParaRPr/>
          </a:p>
        </p:txBody>
      </p:sp>
      <p:pic>
        <p:nvPicPr>
          <p:cNvPr descr="image.png" id="242" name="Google Shape;242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00977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2"/>
          <p:cNvSpPr txBox="1"/>
          <p:nvPr/>
        </p:nvSpPr>
        <p:spPr>
          <a:xfrm>
            <a:off x="1857375" y="2030759"/>
            <a:ext cx="9953625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https://www.teledynevisionsolutions.com/globalassets/tvs/learn/dalsa/ccd-vs-cmos/thumb-screenshot-2023-10-24-104441.jpg</a:t>
            </a:r>
            <a:endParaRPr/>
          </a:p>
        </p:txBody>
      </p:sp>
      <p:sp>
        <p:nvSpPr>
          <p:cNvPr id="244" name="Google Shape;244;p22"/>
          <p:cNvSpPr txBox="1"/>
          <p:nvPr/>
        </p:nvSpPr>
        <p:spPr>
          <a:xfrm>
            <a:off x="1857375" y="2251620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www.teledynevisionsolutions.com</a:t>
            </a:r>
            <a:endParaRPr/>
          </a:p>
        </p:txBody>
      </p:sp>
      <p:pic>
        <p:nvPicPr>
          <p:cNvPr descr="image.png" id="245" name="Google Shape;245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278130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2"/>
          <p:cNvSpPr txBox="1"/>
          <p:nvPr/>
        </p:nvSpPr>
        <p:spPr>
          <a:xfrm>
            <a:off x="1857375" y="2802284"/>
            <a:ext cx="9953625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https://sigmoidal.ai/wp-content/uploads/2025/06/Sampling-and-Quantization-1.png</a:t>
            </a:r>
            <a:endParaRPr/>
          </a:p>
        </p:txBody>
      </p:sp>
      <p:sp>
        <p:nvSpPr>
          <p:cNvPr id="247" name="Google Shape;247;p22"/>
          <p:cNvSpPr txBox="1"/>
          <p:nvPr/>
        </p:nvSpPr>
        <p:spPr>
          <a:xfrm>
            <a:off x="1857375" y="3023145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sigmoidal.ai</a:t>
            </a:r>
            <a:endParaRPr/>
          </a:p>
        </p:txBody>
      </p:sp>
      <p:pic>
        <p:nvPicPr>
          <p:cNvPr descr="image.png" id="248" name="Google Shape;248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355282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2"/>
          <p:cNvSpPr txBox="1"/>
          <p:nvPr/>
        </p:nvSpPr>
        <p:spPr>
          <a:xfrm>
            <a:off x="1857375" y="3573809"/>
            <a:ext cx="9953625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https://zeroinstrument.com/wp-content/uploads/2026/02/Understanding-Sampling-and-Signal-Conversion-From-Analog-to-Digital-768x768.png</a:t>
            </a:r>
            <a:endParaRPr/>
          </a:p>
        </p:txBody>
      </p:sp>
      <p:sp>
        <p:nvSpPr>
          <p:cNvPr id="250" name="Google Shape;250;p22"/>
          <p:cNvSpPr txBox="1"/>
          <p:nvPr/>
        </p:nvSpPr>
        <p:spPr>
          <a:xfrm>
            <a:off x="1857375" y="3794670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zeroinstrument.com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