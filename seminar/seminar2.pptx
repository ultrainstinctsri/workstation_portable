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75" r:id="rId10"/>
    <p:sldId id="276" r:id="rId11"/>
    <p:sldId id="277" r:id="rId12"/>
    <p:sldId id="278" r:id="rId13"/>
    <p:sldId id="279" r:id="rId14"/>
    <p:sldId id="262" r:id="rId15"/>
    <p:sldId id="280" r:id="rId16"/>
    <p:sldId id="281" r:id="rId17"/>
    <p:sldId id="282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3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840A-BDC1-4D4C-B456-3378E059A6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E9E43-F8A8-422B-A106-C8CB3F63B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1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a9561a5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a9561a5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24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4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8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52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75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245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382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6107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603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832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512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545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8923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866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68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74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52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35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12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21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6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77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74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6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2819-39D6-0D0A-2C35-809DF90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8CE3D-1657-CB56-537F-B352B6C13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F45DB-4AB8-16C1-E2BC-19DC3070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8B5BC-47EE-3D46-C168-0AB6D463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60565-9998-7FE9-F5B0-2CFA6A4B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3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754B-E895-3C43-B7F9-112DA2B3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409FD-F180-EA1F-A6A8-BA9A66AB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AE7BA-0C45-A3B6-A491-9B27B638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216D-3EF8-D01C-A5BE-A59338E5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30D6-5C99-BDFA-5A19-6E7A46ED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0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CA76-0CE4-0C7D-E728-59711929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D020C-F23F-BA86-AEB3-59C6C638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6DC4-1DB1-B34B-AEA4-AA0BDAAB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874C7-6AA8-F734-ED84-D891A88F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2C770-5634-D510-59A2-74A6116A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00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721F-1CB8-488B-CBED-329695A6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3E17-C2AE-F9B3-769F-D68FD17B2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E6BE5-6C5C-A6EE-5535-8950871FB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2F8B5-3B07-A85D-7ADD-1FA3A9FF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F8B11-6957-77A8-EA8C-48903195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1E38F-7907-F153-E560-09DE281E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81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CB49-1FC5-D133-8A5D-536754C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08F89-5A75-6623-4988-0F3BFA774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397A8-73AB-49F4-B1E0-94BF612C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320FD-7673-F504-8FC8-C1D0CE0BE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60BCD-5DE1-85FB-9BEE-8C0008300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6B740-584E-E27C-A090-2E7A6487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9AA3B-313D-1E42-5E7C-E8F433E8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DFB15-6954-6B83-F0A1-BC0A2ED6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4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3941-85BB-50E4-26B3-8D600453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9C9370-AFFD-FBA9-AF06-2837D582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AAC5A-719A-8D83-E5BB-F653C03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DEB83-CA31-5486-BE9C-BEE6A60B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10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8EC1B-4B05-3A64-69DB-8454A96D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844E7-8E8E-7F25-32B8-FC087A48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9FED-3C03-7D0D-96CB-7AC2136B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4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DA67-B7C2-5635-B6CD-6FC156A8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7329-E377-D986-AE93-D4D38A16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DB980-A730-3F87-D874-6A098DE20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BDF81-4ED6-1BAE-5B95-AEF92C38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C08B4-308F-2673-C11D-79FE2521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4C98-F332-3E89-3280-C961925D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6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977F-8B57-5134-9537-61928B47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A2D0A-463F-1875-C1B9-157BA4A5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D3A1F-90C1-6781-6FEE-76442ACA9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A1FA5-3689-05AB-9C67-C56872AC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10534-757F-9EEF-C8BF-31F41E32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9F142-0DC5-64B9-A77F-A7BF9D34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4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2D4D-AB6B-AAD7-3588-D88D5D51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ED763-74FD-4A6B-CE59-1B8581E10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20F13-D71A-F179-3823-532EDCF1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2778E-E28E-4A7B-87AB-6DEE697D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86443-AF8D-339B-AE32-CF4C7180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0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CD81A-114C-7F2F-786C-C03A38518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429E7-CD90-69D8-2EF5-664D54F42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8DC7-F63D-6EB0-F33A-B4951B1A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5D315-49A7-7A7D-CACB-64BA79E8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DA274-14B8-11D5-B9F6-5DBE338C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43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873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>
            <a:spLocks noGrp="1"/>
          </p:cNvSpPr>
          <p:nvPr>
            <p:ph type="pic" idx="2"/>
          </p:nvPr>
        </p:nvSpPr>
        <p:spPr>
          <a:xfrm>
            <a:off x="6116967" y="-11667"/>
            <a:ext cx="6096000" cy="68696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482633" y="1231367"/>
            <a:ext cx="51468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subTitle" idx="1"/>
          </p:nvPr>
        </p:nvSpPr>
        <p:spPr>
          <a:xfrm>
            <a:off x="482633" y="340711"/>
            <a:ext cx="5146800" cy="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730100" y="4450396"/>
            <a:ext cx="4656800" cy="17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38945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1219170" lvl="1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828754" lvl="2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2438339" lvl="3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3047924" lvl="4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3657509" lvl="5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4267093" lvl="6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4876678" lvl="7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5486263" lvl="8" indent="-389457" algn="ctr"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068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3038E-52B0-E13A-31CF-A4F8212F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EB316-3928-95EF-FFC5-B38523D35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8C0D2-05D3-9BFA-B5A4-4F57CA375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73B9-BE14-24FB-E34A-9BD719B69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0069-5CD1-F444-87FE-587C576D1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69" descr="A close-up of a modern glass structure. "/>
          <p:cNvPicPr preferRelativeResize="0"/>
          <p:nvPr/>
        </p:nvPicPr>
        <p:blipFill rotWithShape="1">
          <a:blip r:embed="rId3">
            <a:alphaModFix/>
          </a:blip>
          <a:srcRect l="21737" r="19116" b="80"/>
          <a:stretch/>
        </p:blipFill>
        <p:spPr>
          <a:xfrm>
            <a:off x="6116968" y="-11667"/>
            <a:ext cx="6096001" cy="686409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9"/>
          <p:cNvSpPr txBox="1">
            <a:spLocks noGrp="1"/>
          </p:cNvSpPr>
          <p:nvPr>
            <p:ph type="title"/>
          </p:nvPr>
        </p:nvSpPr>
        <p:spPr>
          <a:xfrm>
            <a:off x="482633" y="2527200"/>
            <a:ext cx="5146800" cy="219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Introduction To</a:t>
            </a:r>
            <a:endParaRPr/>
          </a:p>
          <a:p>
            <a:r>
              <a:rPr lang="en"/>
              <a:t>Digital Image Fundamentals</a:t>
            </a:r>
            <a:endParaRPr/>
          </a:p>
        </p:txBody>
      </p:sp>
      <p:sp>
        <p:nvSpPr>
          <p:cNvPr id="522" name="Google Shape;522;p69"/>
          <p:cNvSpPr txBox="1">
            <a:spLocks noGrp="1"/>
          </p:cNvSpPr>
          <p:nvPr>
            <p:ph type="subTitle" idx="1"/>
          </p:nvPr>
        </p:nvSpPr>
        <p:spPr>
          <a:xfrm>
            <a:off x="482633" y="340711"/>
            <a:ext cx="5146800" cy="50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1600"/>
              <a:t>Seminar Presentation</a:t>
            </a:r>
            <a:endParaRPr sz="1600"/>
          </a:p>
        </p:txBody>
      </p:sp>
      <p:pic>
        <p:nvPicPr>
          <p:cNvPr id="523" name="Google Shape;523;p69" title="Artificial-Intelligence-and-Machine-Learning-based-Image-Processing-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"/>
            <a:ext cx="6095997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18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8EE6-375C-CF54-CF87-753080C89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3535" y="0"/>
            <a:ext cx="6744929" cy="57011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digital image processing?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1ADC2-3AA1-D8DA-B565-D4F60034F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36" y="570118"/>
            <a:ext cx="11459496" cy="590934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l"/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Image Processing (DIP) is the use of computer algorithms and mathematical techniques to process, analyze, and improve digital images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simple words: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Image Processing means using a computer to manipulate an image so that we can improve it, extract useful information from it, or understand its contents.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image is represented as a matrix of pixels, where each pixel contains numerical information about brightness or color.</a:t>
            </a:r>
          </a:p>
          <a:p>
            <a:pPr algn="l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Example</a:t>
            </a:r>
          </a:p>
          <a:p>
            <a:pPr algn="l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Suppose we have a dark photograph:</a:t>
            </a:r>
          </a:p>
          <a:p>
            <a:pPr algn="l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image → Image Processing → Brighter, clearer image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Process Images?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Image Quality: Remove noise, blur, and poor lighting.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Information: Detect objects, edges, shapes, and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Tasks: Enable systems to recognize faces, read documents,                                                                                     or detect diseases.</a:t>
            </a:r>
          </a:p>
          <a:p>
            <a:pPr algn="l"/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7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D945C1FE-84FD-3562-DE7C-48693D79D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t="10895" r="50376" b="30688"/>
          <a:stretch/>
        </p:blipFill>
        <p:spPr bwMode="auto">
          <a:xfrm>
            <a:off x="7418477" y="3490451"/>
            <a:ext cx="2049987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7C45E-27F3-0D0F-0D7D-A95F499D614D}"/>
              </a:ext>
            </a:extLst>
          </p:cNvPr>
          <p:cNvSpPr txBox="1"/>
          <p:nvPr/>
        </p:nvSpPr>
        <p:spPr>
          <a:xfrm>
            <a:off x="7678994" y="5551832"/>
            <a:ext cx="20746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1: Original image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50E2D-653E-05CC-8CF3-25614AE75D17}"/>
              </a:ext>
            </a:extLst>
          </p:cNvPr>
          <p:cNvSpPr txBox="1"/>
          <p:nvPr/>
        </p:nvSpPr>
        <p:spPr>
          <a:xfrm>
            <a:off x="9544665" y="5537707"/>
            <a:ext cx="2074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2: Enhanced image using Gamma correction</a:t>
            </a:r>
            <a:endParaRPr lang="en-IN" sz="1200" dirty="0"/>
          </a:p>
        </p:txBody>
      </p:sp>
      <p:pic>
        <p:nvPicPr>
          <p:cNvPr id="8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888B4950-0721-E705-1FD9-FF688CBD6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88" t="10895" r="5807" b="30688"/>
          <a:stretch/>
        </p:blipFill>
        <p:spPr bwMode="auto">
          <a:xfrm>
            <a:off x="9468464" y="3504576"/>
            <a:ext cx="2074606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81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97A2CF-89FE-89C1-0D44-58767E0FF4F3}"/>
              </a:ext>
            </a:extLst>
          </p:cNvPr>
          <p:cNvSpPr txBox="1"/>
          <p:nvPr/>
        </p:nvSpPr>
        <p:spPr>
          <a:xfrm>
            <a:off x="491613" y="1252593"/>
            <a:ext cx="6515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Milestones &amp; Early Applications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7BC577C-4C74-68ED-E3AF-266AF9B60F88}"/>
              </a:ext>
            </a:extLst>
          </p:cNvPr>
          <p:cNvSpPr txBox="1">
            <a:spLocks/>
          </p:cNvSpPr>
          <p:nvPr/>
        </p:nvSpPr>
        <p:spPr>
          <a:xfrm>
            <a:off x="491613" y="299602"/>
            <a:ext cx="11051458" cy="104496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Origins of Digital Image Processing:</a:t>
            </a:r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development of digital image processing can be traced back to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1920s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when images were transmitted electronically over long distances.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980A7A-DDB5-FAE4-7068-3A20D6BFEA65}"/>
              </a:ext>
            </a:extLst>
          </p:cNvPr>
          <p:cNvSpPr txBox="1"/>
          <p:nvPr/>
        </p:nvSpPr>
        <p:spPr>
          <a:xfrm>
            <a:off x="3749301" y="4828824"/>
            <a:ext cx="2772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1: Milestones and applications </a:t>
            </a:r>
            <a:endParaRPr lang="en-IN" sz="12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63796FD-0E8B-A843-DB67-68A834854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037443"/>
              </p:ext>
            </p:extLst>
          </p:nvPr>
        </p:nvGraphicFramePr>
        <p:xfrm>
          <a:off x="620661" y="1673521"/>
          <a:ext cx="10793362" cy="3105192"/>
        </p:xfrm>
        <a:graphic>
          <a:graphicData uri="http://schemas.openxmlformats.org/drawingml/2006/table">
            <a:tbl>
              <a:tblPr/>
              <a:tblGrid>
                <a:gridCol w="1602101">
                  <a:extLst>
                    <a:ext uri="{9D8B030D-6E8A-4147-A177-3AD203B41FA5}">
                      <a16:colId xmlns:a16="http://schemas.microsoft.com/office/drawing/2014/main" val="1293975941"/>
                    </a:ext>
                  </a:extLst>
                </a:gridCol>
                <a:gridCol w="4390007">
                  <a:extLst>
                    <a:ext uri="{9D8B030D-6E8A-4147-A177-3AD203B41FA5}">
                      <a16:colId xmlns:a16="http://schemas.microsoft.com/office/drawing/2014/main" val="743017814"/>
                    </a:ext>
                  </a:extLst>
                </a:gridCol>
                <a:gridCol w="4801254">
                  <a:extLst>
                    <a:ext uri="{9D8B030D-6E8A-4147-A177-3AD203B41FA5}">
                      <a16:colId xmlns:a16="http://schemas.microsoft.com/office/drawing/2014/main" val="4068632757"/>
                    </a:ext>
                  </a:extLst>
                </a:gridCol>
              </a:tblGrid>
              <a:tr h="388149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Period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Example/Application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302690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1920s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Early electronic image transmission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Images transmitted through telegraph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476059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1950s–60s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Computers introduced for image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enhancement and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81589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Space exploration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NASA spacecraft images of the Moon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25381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imaging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X-ray and CT image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1973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1970s–80s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Remote sensing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Satellite and aerial photographs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8546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1980s–90s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Industrial &amp; defense applications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Inspection and aerial surveillance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16743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2000s–Present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&amp; deep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Face recognition, object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09214"/>
                  </a:ext>
                </a:extLst>
              </a:tr>
            </a:tbl>
          </a:graphicData>
        </a:graphic>
      </p:graphicFrame>
      <p:pic>
        <p:nvPicPr>
          <p:cNvPr id="25" name="Picture 4" descr="05. Project Ranger - Linda Hall Library">
            <a:extLst>
              <a:ext uri="{FF2B5EF4-FFF2-40B4-BE49-F238E27FC236}">
                <a16:creationId xmlns:a16="http://schemas.microsoft.com/office/drawing/2014/main" id="{4E94A266-87DB-C2C6-E209-EB085FE4B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1" t="7880" r="6102" b="8417"/>
          <a:stretch/>
        </p:blipFill>
        <p:spPr bwMode="auto">
          <a:xfrm>
            <a:off x="7466097" y="5105823"/>
            <a:ext cx="1255118" cy="121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EA9BED-E2B3-F4FE-8672-6B1755D8E432}"/>
              </a:ext>
            </a:extLst>
          </p:cNvPr>
          <p:cNvSpPr txBox="1"/>
          <p:nvPr/>
        </p:nvSpPr>
        <p:spPr>
          <a:xfrm>
            <a:off x="491613" y="5155934"/>
            <a:ext cx="65579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1964</a:t>
            </a:r>
            <a:r>
              <a:rPr lang="en-US" dirty="0"/>
              <a:t>, NASA's Ranger 7 spacecraft transmitted close-up images of the Moon. Digital processing was used to improve the transmitted images and extract useful details from them.</a:t>
            </a:r>
            <a:endParaRPr lang="en-IN" dirty="0"/>
          </a:p>
        </p:txBody>
      </p:sp>
      <p:pic>
        <p:nvPicPr>
          <p:cNvPr id="2062" name="Picture 14" descr="Ranger 7: Moon Close Up - NASA Science">
            <a:extLst>
              <a:ext uri="{FF2B5EF4-FFF2-40B4-BE49-F238E27FC236}">
                <a16:creationId xmlns:a16="http://schemas.microsoft.com/office/drawing/2014/main" id="{340B23C8-CA50-87F5-3BCA-1D7B453B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756" y="5062948"/>
            <a:ext cx="1255118" cy="123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783A556-5B74-AFE3-DEE8-0A64B3000E9E}"/>
              </a:ext>
            </a:extLst>
          </p:cNvPr>
          <p:cNvSpPr txBox="1"/>
          <p:nvPr/>
        </p:nvSpPr>
        <p:spPr>
          <a:xfrm>
            <a:off x="7393859" y="6347321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3: NASA image </a:t>
            </a:r>
            <a:endParaRPr lang="en-IN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9D18E0-A4FB-5CFC-63CE-D6E87F16FD24}"/>
              </a:ext>
            </a:extLst>
          </p:cNvPr>
          <p:cNvSpPr txBox="1"/>
          <p:nvPr/>
        </p:nvSpPr>
        <p:spPr>
          <a:xfrm>
            <a:off x="8965518" y="6313190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4: NASA image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7997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9C47166A-9A31-5186-E45F-731EAA15B91C}"/>
              </a:ext>
            </a:extLst>
          </p:cNvPr>
          <p:cNvSpPr txBox="1">
            <a:spLocks/>
          </p:cNvSpPr>
          <p:nvPr/>
        </p:nvSpPr>
        <p:spPr>
          <a:xfrm>
            <a:off x="285136" y="373217"/>
            <a:ext cx="5810864" cy="5092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 steps in Digital Image Processing: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24E8C-CD1C-BEC3-5B8D-DCE71EFD8074}"/>
              </a:ext>
            </a:extLst>
          </p:cNvPr>
          <p:cNvSpPr/>
          <p:nvPr/>
        </p:nvSpPr>
        <p:spPr>
          <a:xfrm>
            <a:off x="2206504" y="2908069"/>
            <a:ext cx="2532004" cy="2960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Knowledge Base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416426-491A-3640-ACA4-94FD50B59742}"/>
              </a:ext>
            </a:extLst>
          </p:cNvPr>
          <p:cNvSpPr/>
          <p:nvPr/>
        </p:nvSpPr>
        <p:spPr>
          <a:xfrm>
            <a:off x="611166" y="1467658"/>
            <a:ext cx="1166484" cy="1102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Image Processing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ECE1822E-FDCD-3C85-DE86-3E1D4FEACA60}"/>
              </a:ext>
            </a:extLst>
          </p:cNvPr>
          <p:cNvSpPr/>
          <p:nvPr/>
        </p:nvSpPr>
        <p:spPr>
          <a:xfrm rot="2521400">
            <a:off x="1827066" y="2638291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4BB68-D209-22E8-6062-714BDFCCB930}"/>
              </a:ext>
            </a:extLst>
          </p:cNvPr>
          <p:cNvSpPr/>
          <p:nvPr/>
        </p:nvSpPr>
        <p:spPr>
          <a:xfrm>
            <a:off x="611166" y="268433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Restoration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BBB8E1-2429-51CD-7736-CD4167599D0B}"/>
              </a:ext>
            </a:extLst>
          </p:cNvPr>
          <p:cNvSpPr/>
          <p:nvPr/>
        </p:nvSpPr>
        <p:spPr>
          <a:xfrm>
            <a:off x="611166" y="376732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Enhancement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E521E-016D-D54E-BCEE-9F1E4AEB4C7E}"/>
              </a:ext>
            </a:extLst>
          </p:cNvPr>
          <p:cNvSpPr/>
          <p:nvPr/>
        </p:nvSpPr>
        <p:spPr>
          <a:xfrm>
            <a:off x="597975" y="4879093"/>
            <a:ext cx="1248300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Acquisition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BB9CC5-AF39-3B8B-39F9-80ADA41E76A9}"/>
              </a:ext>
            </a:extLst>
          </p:cNvPr>
          <p:cNvSpPr/>
          <p:nvPr/>
        </p:nvSpPr>
        <p:spPr>
          <a:xfrm>
            <a:off x="2127329" y="146209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Wavelets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9C1E5255-DAB3-40AB-317F-0DC2FC760AEF}"/>
              </a:ext>
            </a:extLst>
          </p:cNvPr>
          <p:cNvSpPr/>
          <p:nvPr/>
        </p:nvSpPr>
        <p:spPr>
          <a:xfrm>
            <a:off x="1819145" y="322030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21AD7981-EC87-3DEB-86EA-8D791E6AD2FC}"/>
              </a:ext>
            </a:extLst>
          </p:cNvPr>
          <p:cNvSpPr/>
          <p:nvPr/>
        </p:nvSpPr>
        <p:spPr>
          <a:xfrm>
            <a:off x="1847796" y="417857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9012AC60-B95C-12BD-69E2-46F81C3F6539}"/>
              </a:ext>
            </a:extLst>
          </p:cNvPr>
          <p:cNvSpPr/>
          <p:nvPr/>
        </p:nvSpPr>
        <p:spPr>
          <a:xfrm>
            <a:off x="1847797" y="527365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A0D9899C-99EE-CD4B-B41B-E6B462BB7DEF}"/>
              </a:ext>
            </a:extLst>
          </p:cNvPr>
          <p:cNvSpPr/>
          <p:nvPr/>
        </p:nvSpPr>
        <p:spPr>
          <a:xfrm rot="19196043">
            <a:off x="4637943" y="2622248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82C12-FA86-747B-CE91-2B2F28AD1A3F}"/>
              </a:ext>
            </a:extLst>
          </p:cNvPr>
          <p:cNvSpPr/>
          <p:nvPr/>
        </p:nvSpPr>
        <p:spPr>
          <a:xfrm>
            <a:off x="3572738" y="1475417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Compression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2AFD90-574F-D28E-EEC2-FB32B02B7603}"/>
              </a:ext>
            </a:extLst>
          </p:cNvPr>
          <p:cNvSpPr/>
          <p:nvPr/>
        </p:nvSpPr>
        <p:spPr>
          <a:xfrm>
            <a:off x="5086974" y="1474592"/>
            <a:ext cx="1215618" cy="11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Morphological Image Processing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53765C-10BB-C4BB-4FA0-3F1F7A165BD4}"/>
              </a:ext>
            </a:extLst>
          </p:cNvPr>
          <p:cNvSpPr/>
          <p:nvPr/>
        </p:nvSpPr>
        <p:spPr>
          <a:xfrm>
            <a:off x="5113672" y="273245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5011CE-FDF8-8F68-AF75-A6C3A8E67CCC}"/>
              </a:ext>
            </a:extLst>
          </p:cNvPr>
          <p:cNvSpPr/>
          <p:nvPr/>
        </p:nvSpPr>
        <p:spPr>
          <a:xfrm>
            <a:off x="5097215" y="384105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BEF0F7-F357-8027-4A78-8421B0E88FFD}"/>
              </a:ext>
            </a:extLst>
          </p:cNvPr>
          <p:cNvSpPr/>
          <p:nvPr/>
        </p:nvSpPr>
        <p:spPr>
          <a:xfrm>
            <a:off x="5113671" y="4927218"/>
            <a:ext cx="1199807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Pattern Classification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F0D63C10-3D6E-71D4-8D73-3E6AFA674BD5}"/>
              </a:ext>
            </a:extLst>
          </p:cNvPr>
          <p:cNvSpPr/>
          <p:nvPr/>
        </p:nvSpPr>
        <p:spPr>
          <a:xfrm>
            <a:off x="4725809" y="532160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15B09DDE-61D4-D6AA-1401-801CA76A0B84}"/>
              </a:ext>
            </a:extLst>
          </p:cNvPr>
          <p:cNvSpPr/>
          <p:nvPr/>
        </p:nvSpPr>
        <p:spPr>
          <a:xfrm>
            <a:off x="4737151" y="3227292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C983367F-D02D-E7FD-A13F-2BD7B38B2BD5}"/>
              </a:ext>
            </a:extLst>
          </p:cNvPr>
          <p:cNvSpPr/>
          <p:nvPr/>
        </p:nvSpPr>
        <p:spPr>
          <a:xfrm>
            <a:off x="4740030" y="4296340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BCE6ADE8-0065-57FB-2055-128DF0B6F121}"/>
              </a:ext>
            </a:extLst>
          </p:cNvPr>
          <p:cNvSpPr/>
          <p:nvPr/>
        </p:nvSpPr>
        <p:spPr>
          <a:xfrm rot="16200000">
            <a:off x="2576758" y="2590081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975F5311-6908-8030-014D-C11376FC0EBE}"/>
              </a:ext>
            </a:extLst>
          </p:cNvPr>
          <p:cNvSpPr/>
          <p:nvPr/>
        </p:nvSpPr>
        <p:spPr>
          <a:xfrm rot="16200000">
            <a:off x="3968357" y="2625703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D49D31-D8C4-0530-337D-00915DE67B80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81391" y="5415160"/>
            <a:ext cx="216584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BEF7C23-3012-AAA4-9C33-3BC5A12837D7}"/>
              </a:ext>
            </a:extLst>
          </p:cNvPr>
          <p:cNvCxnSpPr>
            <a:cxnSpLocks/>
          </p:cNvCxnSpPr>
          <p:nvPr/>
        </p:nvCxnSpPr>
        <p:spPr>
          <a:xfrm flipH="1" flipV="1">
            <a:off x="6302592" y="5417794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4E94BB-C480-0559-EC53-8EFF9FAE2D9C}"/>
              </a:ext>
            </a:extLst>
          </p:cNvPr>
          <p:cNvCxnSpPr>
            <a:cxnSpLocks/>
          </p:cNvCxnSpPr>
          <p:nvPr/>
        </p:nvCxnSpPr>
        <p:spPr>
          <a:xfrm flipH="1" flipV="1">
            <a:off x="6286135" y="2103159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319320E-4179-EE5F-7AD1-9BEAC76E775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5681434" y="1239385"/>
            <a:ext cx="13349" cy="235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AAFD25F-6EB0-E453-0054-95B874755738}"/>
              </a:ext>
            </a:extLst>
          </p:cNvPr>
          <p:cNvCxnSpPr>
            <a:cxnSpLocks/>
          </p:cNvCxnSpPr>
          <p:nvPr/>
        </p:nvCxnSpPr>
        <p:spPr>
          <a:xfrm>
            <a:off x="381391" y="1239385"/>
            <a:ext cx="0" cy="41826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36F4691-5743-71E1-B779-D3BDECD3B234}"/>
              </a:ext>
            </a:extLst>
          </p:cNvPr>
          <p:cNvCxnSpPr>
            <a:cxnSpLocks/>
          </p:cNvCxnSpPr>
          <p:nvPr/>
        </p:nvCxnSpPr>
        <p:spPr>
          <a:xfrm flipH="1" flipV="1">
            <a:off x="363402" y="1239845"/>
            <a:ext cx="5318032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BB82D5-3215-87A4-7DE5-4BE4467E6625}"/>
              </a:ext>
            </a:extLst>
          </p:cNvPr>
          <p:cNvCxnSpPr>
            <a:cxnSpLocks/>
          </p:cNvCxnSpPr>
          <p:nvPr/>
        </p:nvCxnSpPr>
        <p:spPr>
          <a:xfrm flipH="1">
            <a:off x="6560655" y="2103159"/>
            <a:ext cx="5269" cy="33146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7975EAE-BD1F-1749-1BCF-AEFB4B45248B}"/>
              </a:ext>
            </a:extLst>
          </p:cNvPr>
          <p:cNvSpPr txBox="1"/>
          <p:nvPr/>
        </p:nvSpPr>
        <p:spPr>
          <a:xfrm>
            <a:off x="1919145" y="876529"/>
            <a:ext cx="2201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Images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55AE46-8EA4-B051-E639-05A51191842D}"/>
              </a:ext>
            </a:extLst>
          </p:cNvPr>
          <p:cNvSpPr txBox="1"/>
          <p:nvPr/>
        </p:nvSpPr>
        <p:spPr>
          <a:xfrm rot="5400000">
            <a:off x="5358249" y="3820784"/>
            <a:ext cx="3154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Attributes associated with Images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BE07EF-5B04-8C80-ABF8-D325BC01FE7D}"/>
              </a:ext>
            </a:extLst>
          </p:cNvPr>
          <p:cNvSpPr txBox="1"/>
          <p:nvPr/>
        </p:nvSpPr>
        <p:spPr>
          <a:xfrm>
            <a:off x="2224975" y="5902731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5: Fundamental steps in DIP</a:t>
            </a:r>
            <a:endParaRPr lang="en-IN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1432DF-7F6F-CC25-08B1-46D2023C381D}"/>
              </a:ext>
            </a:extLst>
          </p:cNvPr>
          <p:cNvSpPr txBox="1"/>
          <p:nvPr/>
        </p:nvSpPr>
        <p:spPr>
          <a:xfrm>
            <a:off x="7396856" y="739144"/>
            <a:ext cx="4551009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Image Acquisition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Capturing an image using a camera, scanner, satellite sensor,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 and quantization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convert the image into digital form.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Image Enhancement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the visual appearance of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contrast enhancement, sharpening, brightness adjustment.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Image Restoration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Recovers an image degraded by noise, blur, or other distortions.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mathematical models of the degradation. </a:t>
            </a:r>
          </a:p>
          <a:p>
            <a:r>
              <a:rPr lang="en-US" b="1" dirty="0"/>
              <a:t>4. Color Image Processing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Processes and analyzes information related to image color.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Examples: RGB, HSV, and color enhancement.</a:t>
            </a:r>
          </a:p>
        </p:txBody>
      </p:sp>
    </p:spTree>
    <p:extLst>
      <p:ext uri="{BB962C8B-B14F-4D97-AF65-F5344CB8AC3E}">
        <p14:creationId xmlns:p14="http://schemas.microsoft.com/office/powerpoint/2010/main" val="369171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56B370-8BBD-63C1-9F5C-3C6D99C78013}"/>
              </a:ext>
            </a:extLst>
          </p:cNvPr>
          <p:cNvSpPr txBox="1"/>
          <p:nvPr/>
        </p:nvSpPr>
        <p:spPr>
          <a:xfrm>
            <a:off x="449180" y="247355"/>
            <a:ext cx="7267074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Wavelets and Multiresolution Processing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an image at different scales or resolutions.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image compression, analysis, and feature extraction.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Image Compression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the amount of data required to store or transmit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JPEG and PNG.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Morphological Processing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and modifies the shape and structure of objects in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operations: erosion, dilation, opening, and closing.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Image Segmentation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Divides an image into meaningful regions or objects.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separating a tumor from surrounding tissue.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Representation and Description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segmented objects in a suitable form and describes their characteristics.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can include shape, boundary, area, texture, and color.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Object Recognition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Assigns labels or identifies objects based on their extracted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recognizing a face, vehicle, or character.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Knowledge Base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prior information about the problem or image. Example: knowing the expected size, shape, or location of an object.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67E6-268C-277F-B4C6-B214A4C3A4DD}"/>
              </a:ext>
            </a:extLst>
          </p:cNvPr>
          <p:cNvSpPr txBox="1"/>
          <p:nvPr/>
        </p:nvSpPr>
        <p:spPr>
          <a:xfrm>
            <a:off x="7876675" y="172165"/>
            <a:ext cx="347078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example: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Image -&gt;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C2DFA7-C3A3-BBD2-9647-D686D52A0AEE}"/>
              </a:ext>
            </a:extLst>
          </p:cNvPr>
          <p:cNvSpPr/>
          <p:nvPr/>
        </p:nvSpPr>
        <p:spPr>
          <a:xfrm>
            <a:off x="7876676" y="143258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Wavelets: Analyze image at multiple scales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E6130-6D29-418F-38B1-8E74068EDD53}"/>
              </a:ext>
            </a:extLst>
          </p:cNvPr>
          <p:cNvSpPr/>
          <p:nvPr/>
        </p:nvSpPr>
        <p:spPr>
          <a:xfrm>
            <a:off x="9002011" y="870384"/>
            <a:ext cx="1786238" cy="407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Original MRI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FA67C-1179-0E98-C774-9D48FB8F70BC}"/>
              </a:ext>
            </a:extLst>
          </p:cNvPr>
          <p:cNvSpPr/>
          <p:nvPr/>
        </p:nvSpPr>
        <p:spPr>
          <a:xfrm>
            <a:off x="7876676" y="220330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Compression: Reduce unnecessary data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8AB02-A79F-030D-EDEE-72D63D662C56}"/>
              </a:ext>
            </a:extLst>
          </p:cNvPr>
          <p:cNvSpPr/>
          <p:nvPr/>
        </p:nvSpPr>
        <p:spPr>
          <a:xfrm>
            <a:off x="7876676" y="2919507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Morphology: Clean and refine structure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4AD320-6744-A053-4B85-3525A81C6A71}"/>
              </a:ext>
            </a:extLst>
          </p:cNvPr>
          <p:cNvSpPr/>
          <p:nvPr/>
        </p:nvSpPr>
        <p:spPr>
          <a:xfrm>
            <a:off x="8356964" y="4828282"/>
            <a:ext cx="3085714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Recognition: Tumor Identified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99931-7CB1-7977-4273-1119A42A1089}"/>
              </a:ext>
            </a:extLst>
          </p:cNvPr>
          <p:cNvSpPr/>
          <p:nvPr/>
        </p:nvSpPr>
        <p:spPr>
          <a:xfrm>
            <a:off x="7876675" y="4163172"/>
            <a:ext cx="4042609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Features: Shapes, size, Texture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C2379C-DE6A-9647-31A5-AD4DE859B514}"/>
              </a:ext>
            </a:extLst>
          </p:cNvPr>
          <p:cNvSpPr/>
          <p:nvPr/>
        </p:nvSpPr>
        <p:spPr>
          <a:xfrm>
            <a:off x="7876676" y="3546074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Segmentation: Separate tumor region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87B4A-2A83-26B7-46EE-0B5A35E82119}"/>
              </a:ext>
            </a:extLst>
          </p:cNvPr>
          <p:cNvSpPr/>
          <p:nvPr/>
        </p:nvSpPr>
        <p:spPr>
          <a:xfrm>
            <a:off x="7932756" y="5390681"/>
            <a:ext cx="4042609" cy="1027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Knowledge Base: Provides prior knowledge about expected tumor characteristics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9BAFA-F782-6788-3B28-8A5E0677C42F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9895130" y="1277438"/>
            <a:ext cx="2851" cy="15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DF300A-A019-9466-10FD-910C04CE74C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897981" y="2011069"/>
            <a:ext cx="0" cy="19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B22A25-3390-309F-7CF6-03130DE88DF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897981" y="2781789"/>
            <a:ext cx="0" cy="13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E085AA-7B3C-AC2E-5902-A731C5ADD1A1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9897981" y="3382731"/>
            <a:ext cx="0" cy="16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B4B67A-ADCB-3EA8-5AB1-4CA87897DBE8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9897980" y="4009298"/>
            <a:ext cx="1" cy="15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A23073-67E4-42CD-A80A-8C427917DC0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9897980" y="4626395"/>
            <a:ext cx="1841" cy="201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94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92313A-599B-9CAB-3079-5E2251D9892C}"/>
              </a:ext>
            </a:extLst>
          </p:cNvPr>
          <p:cNvSpPr txBox="1">
            <a:spLocks/>
          </p:cNvSpPr>
          <p:nvPr/>
        </p:nvSpPr>
        <p:spPr>
          <a:xfrm>
            <a:off x="366252" y="153927"/>
            <a:ext cx="11459495" cy="766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 – How human eyes see color and light compared to digital sensors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856F5E8-A907-FF7A-0CC6-C928AFBA51D0}"/>
              </a:ext>
            </a:extLst>
          </p:cNvPr>
          <p:cNvSpPr txBox="1">
            <a:spLocks/>
          </p:cNvSpPr>
          <p:nvPr/>
        </p:nvSpPr>
        <p:spPr>
          <a:xfrm>
            <a:off x="285136" y="966948"/>
            <a:ext cx="11459496" cy="54033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Perception: From Light to Color </a:t>
            </a:r>
          </a:p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visual perception?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 is the process of detecting light and interpreting its intensity, wavelength, and spatial information to form an image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 enters the eye and is focused on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retina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Rods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 light intensity, especially in low light.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 different wavelength ranges and enable color vision.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brain processes these signals to create visual perception. 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 lens focuses light onto an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sensor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elements convert light into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signals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filters separate wavelength information, commonly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 G and 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Signals are converted into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pixel values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CCDF08-CCCD-FD12-888A-75980EC306FF}"/>
              </a:ext>
            </a:extLst>
          </p:cNvPr>
          <p:cNvSpPr/>
          <p:nvPr/>
        </p:nvSpPr>
        <p:spPr>
          <a:xfrm>
            <a:off x="8859520" y="228600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LIGHT FROM OBJECT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67E5E8-B210-E130-19C5-EB04AF3AAFFF}"/>
              </a:ext>
            </a:extLst>
          </p:cNvPr>
          <p:cNvSpPr/>
          <p:nvPr/>
        </p:nvSpPr>
        <p:spPr>
          <a:xfrm>
            <a:off x="7874000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EYE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7D83AB-0BB0-BF60-D817-55D140892F12}"/>
              </a:ext>
            </a:extLst>
          </p:cNvPr>
          <p:cNvSpPr/>
          <p:nvPr/>
        </p:nvSpPr>
        <p:spPr>
          <a:xfrm>
            <a:off x="9814396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CAMERA SENSOR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94C50-0948-F07F-D0BA-28311E3C4110}"/>
              </a:ext>
            </a:extLst>
          </p:cNvPr>
          <p:cNvSpPr/>
          <p:nvPr/>
        </p:nvSpPr>
        <p:spPr>
          <a:xfrm>
            <a:off x="7985760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Retina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491BF-F8B6-E189-9E55-853D1C05CA0A}"/>
              </a:ext>
            </a:extLst>
          </p:cNvPr>
          <p:cNvSpPr/>
          <p:nvPr/>
        </p:nvSpPr>
        <p:spPr>
          <a:xfrm>
            <a:off x="7985760" y="4649611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Brain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BB81E1-4F3C-6B93-1E46-2EFDDC5C529E}"/>
              </a:ext>
            </a:extLst>
          </p:cNvPr>
          <p:cNvSpPr/>
          <p:nvPr/>
        </p:nvSpPr>
        <p:spPr>
          <a:xfrm>
            <a:off x="9814396" y="5226458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IMAGE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2DB35C-E31D-9A60-EFB1-DAF9394A3786}"/>
              </a:ext>
            </a:extLst>
          </p:cNvPr>
          <p:cNvSpPr/>
          <p:nvPr/>
        </p:nvSpPr>
        <p:spPr>
          <a:xfrm>
            <a:off x="9921076" y="4649612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Processor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8E1A8A-04CA-A250-2969-02422F7F7581}"/>
              </a:ext>
            </a:extLst>
          </p:cNvPr>
          <p:cNvSpPr/>
          <p:nvPr/>
        </p:nvSpPr>
        <p:spPr>
          <a:xfrm>
            <a:off x="9921076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Photodiodes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D77E80-E936-99BA-6A3C-67288B130AFA}"/>
              </a:ext>
            </a:extLst>
          </p:cNvPr>
          <p:cNvSpPr/>
          <p:nvPr/>
        </p:nvSpPr>
        <p:spPr>
          <a:xfrm>
            <a:off x="7884160" y="5231506"/>
            <a:ext cx="1656080" cy="5639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PERCEPTION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5E9D25-B8D0-9BEC-5FF6-B55D93BE74D9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8702040" y="3774440"/>
            <a:ext cx="508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785145-2A83-295F-505D-136D43D4FDF1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707120" y="4416101"/>
            <a:ext cx="0" cy="233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8F5D89-A1EB-2EE6-8949-195B4D4B864E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8707120" y="5054262"/>
            <a:ext cx="5080" cy="177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2DF673-FDBE-803B-A0AC-37713C891CCF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10642436" y="5054263"/>
            <a:ext cx="0" cy="17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BABF2E9-7384-2DD7-B97A-006C76147751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10642436" y="4416101"/>
            <a:ext cx="0" cy="233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2F2653-D6AA-3F7F-8438-17427794F5B0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>
            <a:off x="10642436" y="3774440"/>
            <a:ext cx="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CF4A97-98C9-8765-B48A-E6DFBBC58FD4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0642436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D4806F-A051-E1A3-26A8-912043E82ED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702040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62B7B3-BD4A-FF7D-11CA-00218CA4BCDB}"/>
              </a:ext>
            </a:extLst>
          </p:cNvPr>
          <p:cNvCxnSpPr/>
          <p:nvPr/>
        </p:nvCxnSpPr>
        <p:spPr>
          <a:xfrm>
            <a:off x="8702040" y="3027680"/>
            <a:ext cx="19403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244AD9-087A-C64C-DFE8-7E89FA1EE2AB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9687560" y="2854960"/>
            <a:ext cx="0" cy="1727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08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92F24-2FE1-3E8D-00DF-AEF52EFA99C0}"/>
              </a:ext>
            </a:extLst>
          </p:cNvPr>
          <p:cNvSpPr txBox="1"/>
          <p:nvPr/>
        </p:nvSpPr>
        <p:spPr>
          <a:xfrm>
            <a:off x="314960" y="216654"/>
            <a:ext cx="11460480" cy="6247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Color is Detected: Human Eye vs Digital Sensor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eye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color perception is based mainly on the responses of  three types of cone cells: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702EB5-38F5-6C09-2FFF-5531D282C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8266"/>
              </p:ext>
            </p:extLst>
          </p:nvPr>
        </p:nvGraphicFramePr>
        <p:xfrm>
          <a:off x="561341" y="1275199"/>
          <a:ext cx="5494020" cy="1463040"/>
        </p:xfrm>
        <a:graphic>
          <a:graphicData uri="http://schemas.openxmlformats.org/drawingml/2006/table">
            <a:tbl>
              <a:tblPr/>
              <a:tblGrid>
                <a:gridCol w="1226820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Receptor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/>
                        <a:t>S-cones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/>
                        <a:t>Short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Blue/violet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/>
                        <a:t>M-cones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Medium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/>
                        <a:t>Green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/>
                        <a:t>L-cones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Long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Yellow/red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E6F95C-E21A-5FDF-1884-509389C8A557}"/>
              </a:ext>
            </a:extLst>
          </p:cNvPr>
          <p:cNvSpPr txBox="1"/>
          <p:nvPr/>
        </p:nvSpPr>
        <p:spPr>
          <a:xfrm>
            <a:off x="6398261" y="1549658"/>
            <a:ext cx="5069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responses overlap, and the brain combines their signals to perceive color.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955426-0515-7726-0B81-718D3FEE26D4}"/>
              </a:ext>
            </a:extLst>
          </p:cNvPr>
          <p:cNvSpPr txBox="1"/>
          <p:nvPr/>
        </p:nvSpPr>
        <p:spPr>
          <a:xfrm>
            <a:off x="314960" y="2865735"/>
            <a:ext cx="9083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camera generally uses color filter arrays (CFA) over sensor elements.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common arrangement is the Bayer pattern: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C5BA9F7-2B25-51CC-B6D6-29C5D5C57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35173"/>
              </p:ext>
            </p:extLst>
          </p:nvPr>
        </p:nvGraphicFramePr>
        <p:xfrm>
          <a:off x="5002530" y="3644146"/>
          <a:ext cx="1531620" cy="1463040"/>
        </p:xfrm>
        <a:graphic>
          <a:graphicData uri="http://schemas.openxmlformats.org/drawingml/2006/table">
            <a:tbl>
              <a:tblPr/>
              <a:tblGrid>
                <a:gridCol w="383576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37553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515888961"/>
                    </a:ext>
                  </a:extLst>
                </a:gridCol>
              </a:tblGrid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7F2A5F2-C734-7A60-8B18-0216CB542858}"/>
              </a:ext>
            </a:extLst>
          </p:cNvPr>
          <p:cNvSpPr txBox="1"/>
          <p:nvPr/>
        </p:nvSpPr>
        <p:spPr>
          <a:xfrm>
            <a:off x="314960" y="5288617"/>
            <a:ext cx="11877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 G and B filters allow different wavelength ranges to reach different sensor elements.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sensor element measures light intensity, not “color” directly.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camera processor combines the measurements to estimate the color of each pixel.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process is followed by operations such 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demosaicing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white balance, and color correction.</a:t>
            </a:r>
          </a:p>
        </p:txBody>
      </p:sp>
    </p:spTree>
    <p:extLst>
      <p:ext uri="{BB962C8B-B14F-4D97-AF65-F5344CB8AC3E}">
        <p14:creationId xmlns:p14="http://schemas.microsoft.com/office/powerpoint/2010/main" val="224435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9ADC8B-393F-5D47-393E-75C15F7FF85C}"/>
              </a:ext>
            </a:extLst>
          </p:cNvPr>
          <p:cNvSpPr txBox="1"/>
          <p:nvPr/>
        </p:nvSpPr>
        <p:spPr>
          <a:xfrm>
            <a:off x="381000" y="2522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 vs Digital Sensor: Key Differences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45D71FF-7787-7C6E-14F5-0F2AAAD41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56513"/>
              </p:ext>
            </p:extLst>
          </p:nvPr>
        </p:nvGraphicFramePr>
        <p:xfrm>
          <a:off x="487680" y="714132"/>
          <a:ext cx="10563891" cy="4349632"/>
        </p:xfrm>
        <a:graphic>
          <a:graphicData uri="http://schemas.openxmlformats.org/drawingml/2006/table">
            <a:tbl>
              <a:tblPr/>
              <a:tblGrid>
                <a:gridCol w="2118360">
                  <a:extLst>
                    <a:ext uri="{9D8B030D-6E8A-4147-A177-3AD203B41FA5}">
                      <a16:colId xmlns:a16="http://schemas.microsoft.com/office/drawing/2014/main" val="1340102914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3497351009"/>
                    </a:ext>
                  </a:extLst>
                </a:gridCol>
                <a:gridCol w="3827811">
                  <a:extLst>
                    <a:ext uri="{9D8B030D-6E8A-4147-A177-3AD203B41FA5}">
                      <a16:colId xmlns:a16="http://schemas.microsoft.com/office/drawing/2014/main" val="248176121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Human Visual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Imaging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7675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receiver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CMOS/CCD sensor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6006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receptors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Rods and cones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Photodiodes / sensor pixels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9064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sensing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S, M, L cone responses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RGB or other color filters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03545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Brightness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response to light intensity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Measured electrical signal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2727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 + visual cortex + brain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signal processor +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03844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lang="en-IN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</a:t>
                      </a: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adaptation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Biological adaptation and contextual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White balance and color correction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3509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Perceived scene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 pixel values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35066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Dynamic response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Adapts to changing illumination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by sensor and 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93211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reproduction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Context-dependent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Depends on sensor, filters, calibration and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499797"/>
                  </a:ext>
                </a:extLst>
              </a:tr>
              <a:tr h="426298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Representation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signals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values, e.g. 0–255 per </a:t>
                      </a:r>
                      <a:r>
                        <a:rPr lang="fr-FR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</a:t>
                      </a:r>
                      <a:endParaRPr lang="fr-FR" sz="1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71671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D9E2619-D2A1-4242-FABD-1291CDF701C0}"/>
              </a:ext>
            </a:extLst>
          </p:cNvPr>
          <p:cNvSpPr txBox="1"/>
          <p:nvPr/>
        </p:nvSpPr>
        <p:spPr>
          <a:xfrm>
            <a:off x="381000" y="5236231"/>
            <a:ext cx="10563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are they not exactly the same?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adapts to lighting and uses context to interpret colors.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measure light and use processing algorithms such as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 balance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reproduce colors.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715A36-8545-E9D2-0912-78A8F8C2E5BD}"/>
              </a:ext>
            </a:extLst>
          </p:cNvPr>
          <p:cNvSpPr txBox="1"/>
          <p:nvPr/>
        </p:nvSpPr>
        <p:spPr>
          <a:xfrm>
            <a:off x="3894399" y="5063764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2: Key Difference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4763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Acquisition Fundamentals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Definition: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71525" y="1853505"/>
            <a:ext cx="5981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sensing detects information that constitutes an image using specialized physical sensors.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771525" y="2636341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simple words: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4750593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Material: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213449"/>
            <a:ext cx="5981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most common sensor material used for capturing light is the silicon photodiode.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58150" y="5632102"/>
            <a:ext cx="2438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1: Light entering a camera lens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66800" y="309729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52525" y="309919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converts continuous physical phenomena (like reflected light) into an analog electrical signal.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38515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3853457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process requires an illumination source, object reflection or absorption, and a sensing mechanism.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7042" y="1726852"/>
            <a:ext cx="3960465" cy="3809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168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Arrangements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Images can be acquired using different sensor configurations depending on the application: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190113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Single Sensor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71525" y="222111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Generates 2D images by mechanical scanning in both x and y directions. It is highly precise but generally a slower method.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051571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Line Sensor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3371552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Senses a full strip in one direction while mechanical motion operates in the perpendicular direction (e.g., flatbed scanners).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4202013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Sensor Array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4521993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2D arrangement that captures the entire image area at once, eliminating the need for complex mechanical motion.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521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 Sensor Arrays (Cameras)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they work: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71525" y="3504902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Signal Generation: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10562" y="4848671"/>
            <a:ext cx="1933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2: 2D Sensor Array Chip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52525" y="1853505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arrays eliminate the need for mechanical motion to capture a dynamic 2D scene.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52525" y="260776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technologies include CCD (Charge-Coupled Device) and CMOS arrays found in digital cameras.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66800" y="39658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52525" y="3967757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array element responds to incident light by accumulating an electrical charge proportional to the energy.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66800" y="504009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52525" y="5041999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array acts as the focal plane, generating a continuous analog voltage output for the entire scene.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4225" y="2510283"/>
            <a:ext cx="4286250" cy="2243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7528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Need for Digitization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process images on a computer, the analog signal from sensors must be digitized in two ways: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71525" y="190113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Spatial Digitization (Sampling)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222111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output of a sensor array is spatially continuous. We must convert this continuous physical plane into a discrete grid structure suitable for computer processing and storage.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3051571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Amplitude Digitization (Quantization)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71525" y="3371552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voltage values representing brightness are analog and continuous. These continuous waveforms must be mathematically mapped to discrete, finite digital steps.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396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Sampling: Defining the Pixels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3504902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58100" y="4948535"/>
            <a:ext cx="3238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3: Continuous image mapped to pixel grid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52525" y="1853505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involves discretizing the spatial coordinates (x, y) of the continuous image scene.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52525" y="260776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transforms a continuous visual field into a grid of discrete picture elements, known as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"pixels"</a:t>
            </a: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66800" y="39658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52525" y="3967757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density of this grid determines the image's overall spatial resolution and level of detail.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66800" y="472011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52525" y="4722018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sampling rates capture finer variations but significantly increase file size and required storage.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4225" y="2410420"/>
            <a:ext cx="4286101" cy="2442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313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Quantization: Assigning Values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3824882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48575" y="5632102"/>
            <a:ext cx="32575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4: Mapping analog wave to discrete values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152525" y="1853505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Quantization converts continuous amplitude (voltage) from each pixel into a discrete digital value.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152525" y="2607766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pixel's intensity is mapped to the nearest integer within a defined scale (e.g., 0 to 255 for 8-bit).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66800" y="428583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52525" y="4287738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critical step establishes the grayscale depth or color resolution of the final digital image.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66800" y="504009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152525" y="5041999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limited quantization levels can cause visible artifacts, such as false contouring or banding.</a:t>
            </a:r>
            <a:endParaRPr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2350" y="1726852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469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47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Image Processing Pipeline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81575" y="1390650"/>
            <a:ext cx="22288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Scene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029325" y="1954410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305425" y="2518171"/>
            <a:ext cx="15811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Array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029325" y="3081932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267325" y="3645693"/>
            <a:ext cx="1657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Analog Signal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029325" y="4209454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438650" y="4773215"/>
            <a:ext cx="33147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&amp; Quantization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029325" y="5336976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224462" y="5900737"/>
            <a:ext cx="174307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Pixels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1970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152525" y="139065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152525" y="2162175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152525" y="293370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1533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2247900" y="155450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2247900" y="177537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2305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2247900" y="232603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2247900" y="254689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3076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2247900" y="309755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2247900" y="331842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3848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2247900" y="386908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2247900" y="408994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5681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62000" y="10953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762000" y="18669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62000" y="26384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238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857375" y="12592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857375" y="14800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09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1857375" y="20307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857375" y="22516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id="245" name="Google Shape;24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781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1857375" y="28022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857375" y="30231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52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857375" y="35738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57375" y="37946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390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Relationships – Neighbors, Connectivity, Paths, and Distance Measures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90372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65379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2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modeled as a discrete function f(x,y) sampled on an integer grid ℤ². Each coordinate is a sensor element; each value is a quantized brightness.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space (ℝ²) has no built-in “next to.” Digital grids need explicit, combinatorial rules for which pixels count as neighbors — and how far apart two pixels really are.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tracing, region segmentation, morphological filtering, and distance transforms all rest on how a pixel relates to its spatial neighbors.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rules wrong and: filters leak through corners, connected-component labeling fragments one object into many, contour tracing loops forever, and distance maps come out distorted.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800600"/>
            <a:ext cx="6537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Seminar Is Built Around Four Pillars: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0428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5020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9612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5138928"/>
            <a:ext cx="1325880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5138928"/>
            <a:ext cx="3803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The eight neighbors of pixel p(x,y) on the grid</a:t>
            </a:r>
            <a:endParaRPr lang="en-US" sz="10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4-neighbors: N, S, E, W   •   Diagonal neighbors: NE, NW, SE, SW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3292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Neighborhood Geometry on the Pixel Grid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626364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Definitions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orthogonal neighbors at unit distance: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(x+1,y), (x−1,y), (x,y+1), (x,y−1) }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diagonal (corner) neighbors, √2 away: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(x+1,y+1), (x+1,y−1), (x−1,y+1), (x−1,y−1) }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union of both sets: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N₈(p) = N₄(p) ∪ Nᴰ(p)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Translation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sits on a uniform square grid. It communicates with 4 compass neighbors (N, S, E, W) and 4 diagonal corner neighbors (NE, NW, SE, SW); together these form the 8-neighborhood.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(x−1,y−1)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(x,y−1)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(x+1,y−1)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(x−1,y)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(x+1,y)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(x−1,y+1)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(x,y+1)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(x+1,y+1)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49440" y="52578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Spatial coordinate layout of pixel neighborhoods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140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Truncation and Image Border Conditions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M×N image with row indices x ∈ [0, M−1] and column indices y ∈ [0, N−1], pixels on the perimeter cannot support a complete neighborhood — if (x±1, y±1) falls outside that range, the point is undefined.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691640"/>
          <a:ext cx="1124712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N₄(p)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Nᴰ(p)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N₈(p)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coordinates remain inside the array bounds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(non-corner)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x = 0, the coordinate (x−1, y) is undefined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(0,0), only (0,1), (1,0), and (1,1) exist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11247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Extension Strategies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zero-padding — clamp any out-of-range coordinate to zero.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replication — repeat the nearest boundary value.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extension — wrap around the opposite edge (toroidal).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reflection — mirror values back across the boundary.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9370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Criteria and Mixed (m-) Connectivity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309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594360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Adjacency Classes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 V be the set of intensity values used to define similarity, e.g. V = {1} for binary images.)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4-Adjacency: p and q are 4-adjacent if q ∈ N₄(p) and both values lie in V.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8-Adjacency: p and q are 8-adjacent if q ∈ N₈(p) and both values lie in V.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m-Adjacency: p and q are m-adjacent if (1) q ∈ N₄(p), or (2) q ∈ Nᴰ(p) and N₄(p) ∩ N₄(q) contains no pixel with a value in V.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m-Adjacency?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8-adjacency lets two pixels connect two ways at once — directly across a shared corner, and indirectly through a shared orthogonal neighbor. m-adjacency keeps only one route, removing the ambiguous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48006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(q)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35935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binary patch, V = {1}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251960"/>
            <a:ext cx="44805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p(1,1) and q(0,1) are 4-adjacent — both values are in V.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its diagonal neighbor s(0,2) share orthogonal neighbor r=(0,1), which holds a 1.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8-connectivity, p–s connect both directly (diagonal) and via p→q→s — an ambiguous closed loop.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m-connectivity, the diagonal link p–s is dropped; only the path p→q→s remains.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69971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Jordan Curve Paradox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Rosenfeld's Connectivity Paradox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continuous ℝ², the Jordan Curve Theorem says a simple closed curve always separates the plane into a bounded interior and an unbounded exterior. Applying one connectivity rule uniformly to both foreground and background on a discrete grid breaks this property.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94360" y="2423160"/>
          <a:ext cx="10881360" cy="233172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8-Connectivity (Diagonal Leakage)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4-Connectivity (Background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8-connected foreground curve forms a closed loop, but an 8-connected background can step diagonally through the same corner gap — interior and exterior merge.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4-connected foreground curve encloses an interior pixel, but the surrounding 4-connected background cannot cross the object's corners — it splits into disconnected pieces.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the boundary no longer separates interior from exterior.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one closed object appears to create several background regions.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48920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Dual Connectivity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opposite rules on foreground and background: (k, k̄) ∈ {(4,8), (8,4)}. A 4-connected boundary is paired with an 8-connected background, or vice-versa.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Alternatively, apply m-connectivity to both sets — it removes the intersecting diagonal paths directly.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540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Paths, Connected Components, and Two-Pass Labeling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path from p to q is a sequence of distinct, pairwise-adjacent pixels; paths are classified as 4-, 8-, or m-paths depending on the adjacency rule enforced.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pixels in a set S are connected if a path between them lies entirely inside S. All pixels connected to p form one connected component of 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2103120"/>
          <a:ext cx="11247120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1: Scan &amp; Label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Raster-scan each foreground pixel. If its causal (already-visited) neighbors carry different labels, assign the minimum of them and record the labels as equivalent.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every recorded equivalence using a union-find (disjoint-set) structure, so each label chain reduces to one root label.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2: Remap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each pixel's provisional label with its final resolved root label, producing the finished component map.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Suzuki–Abe Border Following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labeling dense interiors, this algorithm scans line by line and, on each unvisited 0→1 (outer) or 1→0 (hole) transition, walks the boundary contour back to its start — directly producing a hierarchy of nested outer and hole boundaries, with no separate fill step.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17179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Metrics: Euclidean, City-Block, and Chessboard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630936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Coordinate Distance Metrics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 D</a:t>
            </a:r>
            <a:r>
              <a:rPr lang="en-US" sz="125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√[(x−s)²+(y−t)²]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straight-line distance. The locus Dₑ ≤ r is a circular disk. Rotationally invariant, but needs a square root.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 D</a:t>
            </a:r>
            <a:r>
              <a:rPr lang="en-US" sz="125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|x−s| + |y−t|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restricted to 4-neighbor steps. The locus D₄ ≤ r is a diamond (a square rotated 45°).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 D</a:t>
            </a:r>
            <a:r>
              <a:rPr lang="en-US" sz="125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max(|x−s|, |y−t|)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neighbor steps cost the same unit. The locus D₈ ≤ r is an axis-aligned square.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Contours (r = 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27355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D₄: diamond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98280" y="327355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D₈: square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35204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grows a circle from p — the closest thing to “true” distance, but costly to compute.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only credits orthogonal steps, so its unit disk is a diamond.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credits diagonal steps equally, so its unit disk is a full square.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196985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Approximation and the Non-Metric Mixed Distance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5257800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Distance Transform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Euclidean distance needs floating-point square roots across every pixel. Borgefors approximated it with small integer kernels — e.g. the 3-4 mask and the larger 5-7-11 mask.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two raster passes: a forward pass (top-left → bottom-right) and a backward pass (bottom-right → top-left), each propagating the minimum local distance to the nearest background pixel.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Space Axioms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Non-negativity: D(p,q) ≥ 0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D(p,q) = 0 ⇔ p = q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Symmetry: D(p,q) = D(q,p)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inequality: D(p,z) ≤ D(p,q) + D(q,z)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0584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 Can Break the Triangle Inequality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508760"/>
            <a:ext cx="5257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active pixels (value 1, V = {1}):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p(0,0),  q(1,1) — diagonal neighbors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r(0,1) — the shared orthogonal neighbor of p and q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z(1,2) — an orthogonal neighbor of q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r = 1 ∈ V, m-connectivity blocks the direct diagonal p–q; the path must detour: p → r → q, so Dₘ(p,q) = 2.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Dₘ(q,z) = 1 directly, so Dₘ(p,q) + Dₘ(q,z) = 3.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direct route from p to z can be shorter than 3 — because Dₘ depends on neighboring pixel values, not coordinates alone, it does not satisfy the triangle inequality and is not a true metric.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766964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Practice: Two Production Pipelines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neighborhood, adjacency, and distance rules power very different production vision systems: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94360" y="1691640"/>
          <a:ext cx="10881360" cy="4297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Histopathology Cell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 Defect 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thresholding isolates cellular regions from brightfield scans.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/ contrast thresholding isolates conductive circuit traces.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Transform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3-4 Chamfer map; cell centers form local intensity maxima.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5-7-11 Chamfer map (≈ 2% max error) encodes distance from trace edges.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Marker-controlled watershed with (8,4) dual connectivity separates touching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m-connectivity thinning extracts a single-pixel-wide medial-axis skeleton.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/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Suzuki–Abe border following + two-pass CCL → labeled, classified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N₈ neighbor-count audit → flags open-circuit breaks and short-circuit bridges.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1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One Idea Per Pillar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grids don't inherit continuous geometry automatically — N₄, Nᴰ, and N₈ give every pixel an explicit, chosen set of neighbors.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connectivity, (4,8) or (8,4), preserves the digital Jordan Curve Theorem; m-connectivity removes redundant diagonal paths within a single set.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of pairwise-adjacent pixels define connected components; two-pass labeling with union-find turns that idea into a fast, production-ready algorithm.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Measures: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Euclidean, City-Block, and Chessboard metrics — and their integer Chamfer approximations — make distance transforms fast enough for real pipelines, from pathology slides to semiconductor wafers.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the Jordan Curve Theorem in Digital Topology — Rosenfeld's connectivity paradox and dual connectivity.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Borgefors, G. — “Digital Distance Geometry: A Survey,” Sadhana, Indian Academy of Sciences.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Suzuki, S. &amp; Abe, K. — “Topological Structural Analysis of Digitized Binary Images by Border Following.”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“Connected-Component Labeling,” Wikipedia — two-pass algorithm and union-find equivalence resolution.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0986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4163</Words>
  <Application>Microsoft Office PowerPoint</Application>
  <PresentationFormat>Widescreen</PresentationFormat>
  <Paragraphs>522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DM Sans Light</vt:lpstr>
      <vt:lpstr>Newsreader</vt:lpstr>
      <vt:lpstr>Quattrocento Sans</vt:lpstr>
      <vt:lpstr>Office Theme</vt:lpstr>
      <vt:lpstr>Introduction To Digital Image Fundamentals</vt:lpstr>
      <vt:lpstr>What is digital image processing?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Shamim Ahmed</dc:creator>
  <cp:lastModifiedBy>034 Srijan Majumder</cp:lastModifiedBy>
  <cp:revision>3</cp:revision>
  <dcterms:created xsi:type="dcterms:W3CDTF">2026-09-09T16:33:39Z</dcterms:created>
  <dcterms:modified xsi:type="dcterms:W3CDTF">2026-09-12T06:09:07Z</dcterms:modified>
</cp:coreProperties>
</file>