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83" r:id="rId2"/>
    <p:sldId id="256" r:id="rId3"/>
    <p:sldId id="257" r:id="rId4"/>
    <p:sldId id="258" r:id="rId5"/>
    <p:sldId id="259" r:id="rId6"/>
    <p:sldId id="260" r:id="rId7"/>
    <p:sldId id="261" r:id="rId8"/>
    <p:sldId id="263" r:id="rId9"/>
    <p:sldId id="275" r:id="rId10"/>
    <p:sldId id="276" r:id="rId11"/>
    <p:sldId id="277" r:id="rId12"/>
    <p:sldId id="278" r:id="rId13"/>
    <p:sldId id="279" r:id="rId14"/>
    <p:sldId id="262" r:id="rId15"/>
    <p:sldId id="280" r:id="rId16"/>
    <p:sldId id="281" r:id="rId17"/>
    <p:sldId id="282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132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77840A-BDC1-4D4C-B456-3378E059A6F9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0E9E43-F8A8-422B-A106-C8CB3F63BD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810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fa9561a56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fa9561a56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0247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E9E43-F8A8-422B-A106-C8CB3F63BDA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241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E9E43-F8A8-422B-A106-C8CB3F63BDA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88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E9E43-F8A8-422B-A106-C8CB3F63BDA9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5291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E9E43-F8A8-422B-A106-C8CB3F63BDA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975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2459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93822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61074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36035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8323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615128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05459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89233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28664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3680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9749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4520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0358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4123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2217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168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9770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5748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06971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52819-39D6-0D0A-2C35-809DF90214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D8CE3D-1657-CB56-537F-B352B6C131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F45DB-4AB8-16C1-E2BC-19DC3070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8B5BC-47EE-3D46-C168-0AB6D463B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60565-9998-7FE9-F5B0-2CFA6A4B7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635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F754B-E895-3C43-B7F9-112DA2B39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409FD-F180-EA1F-A6A8-BA9A66AB8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AE7BA-0C45-A3B6-A491-9B27B638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216D-3EF8-D01C-A5BE-A59338E59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930D6-5C99-BDFA-5A19-6E7A46ED9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808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3CA76-0CE4-0C7D-E728-59711929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7D020C-F23F-BA86-AEB3-59C6C6383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26DC4-1DB1-B34B-AEA4-AA0BDAABE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874C7-6AA8-F734-ED84-D891A88F0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2C770-5634-D510-59A2-74A6116A0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007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3721F-1CB8-488B-CBED-329695A6C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D3E17-C2AE-F9B3-769F-D68FD17B2D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E6BE5-6C5C-A6EE-5535-8950871FB7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02F8B5-3B07-A85D-7ADD-1FA3A9FF7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F8B11-6957-77A8-EA8C-48903195F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31E38F-7907-F153-E560-09DE281E4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8815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3CB49-1FC5-D133-8A5D-536754CC8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C08F89-5A75-6623-4988-0F3BFA774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4397A8-73AB-49F4-B1E0-94BF612C17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320FD-7673-F504-8FC8-C1D0CE0BEB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060BCD-5DE1-85FB-9BEE-8C0008300E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E6B740-584E-E27C-A090-2E7A6487C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49AA3B-313D-1E42-5E7C-E8F433E85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1DFB15-6954-6B83-F0A1-BC0A2ED66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5148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3941-85BB-50E4-26B3-8D6004535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9C9370-AFFD-FBA9-AF06-2837D5829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0AAC5A-719A-8D83-E5BB-F653C03C9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CDEB83-CA31-5486-BE9C-BEE6A60BA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10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48EC1B-4B05-3A64-69DB-8454A96D2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9844E7-8E8E-7F25-32B8-FC087A482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69FED-3C03-7D0D-96CB-7AC2136BE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444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5DA67-B7C2-5635-B6CD-6FC156A88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17329-E377-D986-AE93-D4D38A167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DB980-A730-3F87-D874-6A098DE20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BDF81-4ED6-1BAE-5B95-AEF92C38B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C08B4-308F-2673-C11D-79FE25214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34C98-F332-3E89-3280-C961925DF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669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B977F-8B57-5134-9537-61928B47F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0A2D0A-463F-1875-C1B9-157BA4A553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4D3A1F-90C1-6781-6FEE-76442ACA9D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CA1FA5-3689-05AB-9C67-C56872AC7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10534-757F-9EEF-C8BF-31F41E325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9F142-0DC5-64B9-A77F-A7BF9D34C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043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D2D4D-AB6B-AAD7-3588-D88D5D514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0ED763-74FD-4A6B-CE59-1B8581E10E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20F13-D71A-F179-3823-532EDCF1C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2778E-E28E-4A7B-87AB-6DEE697DC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86443-AF8D-339B-AE32-CF4C7180B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206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4CD81A-114C-7F2F-786C-C03A385182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B429E7-CD90-69D8-2EF5-664D54F428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18DC7-F63D-6EB0-F33A-B4951B1AE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5D315-49A7-7A7D-CACB-64BA79E82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DA274-14B8-11D5-B9F6-5DBE338CD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343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8733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bg>
      <p:bgPr>
        <a:solidFill>
          <a:schemeClr val="lt1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>
            <a:spLocks noGrp="1"/>
          </p:cNvSpPr>
          <p:nvPr>
            <p:ph type="pic" idx="2"/>
          </p:nvPr>
        </p:nvSpPr>
        <p:spPr>
          <a:xfrm>
            <a:off x="6116967" y="-11667"/>
            <a:ext cx="6096000" cy="68696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26"/>
          <p:cNvSpPr txBox="1">
            <a:spLocks noGrp="1"/>
          </p:cNvSpPr>
          <p:nvPr>
            <p:ph type="title"/>
          </p:nvPr>
        </p:nvSpPr>
        <p:spPr>
          <a:xfrm>
            <a:off x="482633" y="1231367"/>
            <a:ext cx="5146800" cy="7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p26"/>
          <p:cNvSpPr txBox="1">
            <a:spLocks noGrp="1"/>
          </p:cNvSpPr>
          <p:nvPr>
            <p:ph type="subTitle" idx="1"/>
          </p:nvPr>
        </p:nvSpPr>
        <p:spPr>
          <a:xfrm>
            <a:off x="482633" y="340711"/>
            <a:ext cx="5146800" cy="5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12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0" name="Google Shape;170;p26"/>
          <p:cNvSpPr txBox="1">
            <a:spLocks noGrp="1"/>
          </p:cNvSpPr>
          <p:nvPr>
            <p:ph type="body" idx="3"/>
          </p:nvPr>
        </p:nvSpPr>
        <p:spPr>
          <a:xfrm>
            <a:off x="730100" y="4450396"/>
            <a:ext cx="4656800" cy="17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609585" lvl="0" indent="-38945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33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1219170" lvl="1" indent="-389457" algn="ctr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33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828754" lvl="2" indent="-389457" algn="ctr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33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2438339" lvl="3" indent="-389457" algn="ctr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33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3047924" lvl="4" indent="-389457" algn="ctr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33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3657509" lvl="5" indent="-389457" algn="ctr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33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4267093" lvl="6" indent="-389457" algn="ctr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33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4876678" lvl="7" indent="-389457" algn="ctr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33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5486263" lvl="8" indent="-389457" algn="ctr">
              <a:spcBef>
                <a:spcPts val="1067"/>
              </a:spcBef>
              <a:spcAft>
                <a:spcPts val="1067"/>
              </a:spcAft>
              <a:buClr>
                <a:schemeClr val="dk1"/>
              </a:buClr>
              <a:buSzPts val="1000"/>
              <a:buFont typeface="DM Sans Light"/>
              <a:buChar char="■"/>
              <a:defRPr sz="1333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068484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F3038E-52B0-E13A-31CF-A4F8212F3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EB316-3928-95EF-FFC5-B38523D35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8C0D2-05D3-9BFA-B5A4-4F57CA375F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DB5648-FB4E-4F26-B78C-344797643B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F73B9-BE14-24FB-E34A-9BD719B69E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B0069-5CD1-F444-87FE-587C576D1E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9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eg"/><Relationship Id="rId4" Type="http://schemas.openxmlformats.org/officeDocument/2006/relationships/image" Target="../media/image5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Google Shape;520;p69" descr="A close-up of a modern glass structure. "/>
          <p:cNvPicPr preferRelativeResize="0"/>
          <p:nvPr/>
        </p:nvPicPr>
        <p:blipFill rotWithShape="1">
          <a:blip r:embed="rId3">
            <a:alphaModFix/>
          </a:blip>
          <a:srcRect l="21737" r="19116" b="80"/>
          <a:stretch/>
        </p:blipFill>
        <p:spPr>
          <a:xfrm>
            <a:off x="6116968" y="-11667"/>
            <a:ext cx="6096001" cy="6864099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69"/>
          <p:cNvSpPr txBox="1">
            <a:spLocks noGrp="1"/>
          </p:cNvSpPr>
          <p:nvPr>
            <p:ph type="title"/>
          </p:nvPr>
        </p:nvSpPr>
        <p:spPr>
          <a:xfrm>
            <a:off x="482633" y="2527200"/>
            <a:ext cx="5146800" cy="2197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sz="3800" b="1"/>
              <a:t>Introduction To</a:t>
            </a:r>
            <a:endParaRPr/>
          </a:p>
          <a:p>
            <a:r>
              <a:rPr lang="en" sz="3800" b="1"/>
              <a:t>Digital Image Fundamentals</a:t>
            </a:r>
            <a:endParaRPr/>
          </a:p>
        </p:txBody>
      </p:sp>
      <p:sp>
        <p:nvSpPr>
          <p:cNvPr id="522" name="Google Shape;522;p69"/>
          <p:cNvSpPr txBox="1">
            <a:spLocks noGrp="1"/>
          </p:cNvSpPr>
          <p:nvPr>
            <p:ph type="subTitle" idx="1"/>
          </p:nvPr>
        </p:nvSpPr>
        <p:spPr>
          <a:xfrm>
            <a:off x="482633" y="340711"/>
            <a:ext cx="5146800" cy="50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" sz="2300" b="0"/>
              <a:t>Seminar Presentation</a:t>
            </a:r>
            <a:endParaRPr sz="1600"/>
          </a:p>
        </p:txBody>
      </p:sp>
      <p:pic>
        <p:nvPicPr>
          <p:cNvPr id="523" name="Google Shape;523;p69" title="Artificial-Intelligence-and-Machine-Learning-based-Image-Processing-0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0" y="1"/>
            <a:ext cx="6095997" cy="68579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188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68EE6-375C-CF54-CF87-753080C89D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3535" y="0"/>
            <a:ext cx="6744929" cy="570118"/>
          </a:xfrm>
        </p:spPr>
        <p:txBody>
          <a:bodyPr>
            <a:normAutofit/>
          </a:bodyPr>
          <a:lstStyle/>
          <a:p>
            <a:r>
              <a:rPr lang="en-US" sz="3200" dirty="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digital image processing?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1ADC2-3AA1-D8DA-B565-D4F60034F0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464" y="566928"/>
            <a:ext cx="6903720" cy="6144768"/>
          </a:xfrm>
          <a:ln>
            <a:solidFill>
              <a:schemeClr val="tx1"/>
            </a:solidFill>
          </a:ln>
        </p:spPr>
        <p:txBody>
          <a:bodyPr lIns="36576" rIns="36576" tIns="36576" bIns="36576" wrap="square" anchor="t">
            <a:noAutofit/>
          </a:bodyPr>
          <a:lstStyle/>
          <a:p>
            <a:pPr algn="l">
              <a:spcAft>
                <a:spcPts val="0"/>
              </a:spcAft>
              <a:buNone/>
              <a:lnSpc>
                <a:spcPct val="96000"/>
              </a:lnSpc>
            </a:pPr>
            <a:r>
              <a:rPr sz="2200" b="1">
                <a:latin typeface="Aptos"/>
              </a:rPr>
              <a:t>Definition:</a:t>
            </a:r>
          </a:p>
          <a:p>
            <a:pPr algn="l">
              <a:lnSpc>
                <a:spcPct val="96000"/>
              </a:lnSpc>
              <a:spcAft>
                <a:spcPts val="0"/>
              </a:spcAft>
              <a:buNone/>
            </a:pPr>
            <a:r>
              <a:rPr sz="1800" b="0">
                <a:latin typeface="Aptos"/>
              </a:rPr>
              <a:t>DIP uses computer algorithms to process, analyze, and improve digital images.</a:t>
            </a:r>
          </a:p>
          <a:p>
            <a:pPr algn="l">
              <a:lnSpc>
                <a:spcPct val="96000"/>
              </a:lnSpc>
              <a:spcAft>
                <a:spcPts val="0"/>
              </a:spcAft>
              <a:buNone/>
            </a:pPr>
            <a:r>
              <a:rPr sz="2200" b="1">
                <a:latin typeface="Aptos"/>
              </a:rPr>
              <a:t>In simple words:</a:t>
            </a:r>
          </a:p>
          <a:p>
            <a:pPr algn="l">
              <a:lnSpc>
                <a:spcPct val="96000"/>
              </a:lnSpc>
              <a:spcAft>
                <a:spcPts val="0"/>
              </a:spcAft>
              <a:buNone/>
            </a:pPr>
            <a:r>
              <a:rPr sz="1800" b="0">
                <a:latin typeface="Aptos"/>
              </a:rPr>
              <a:t>• Use a computer to improve an image, extract information, or understand its contents.</a:t>
            </a:r>
          </a:p>
          <a:p>
            <a:pPr algn="l">
              <a:lnSpc>
                <a:spcPct val="96000"/>
              </a:lnSpc>
              <a:spcAft>
                <a:spcPts val="0"/>
              </a:spcAft>
              <a:buNone/>
            </a:pPr>
            <a:r>
              <a:rPr sz="1800" b="0">
                <a:latin typeface="Aptos"/>
              </a:rPr>
              <a:t>• A digital image is a matrix of pixels containing brightness or color values.</a:t>
            </a:r>
          </a:p>
          <a:p>
            <a:pPr algn="l">
              <a:lnSpc>
                <a:spcPct val="96000"/>
              </a:lnSpc>
              <a:spcAft>
                <a:spcPts val="0"/>
              </a:spcAft>
              <a:buNone/>
            </a:pPr>
            <a:r>
              <a:rPr sz="2200" b="1">
                <a:latin typeface="Aptos"/>
              </a:rPr>
              <a:t>Simple Example</a:t>
            </a:r>
          </a:p>
          <a:p>
            <a:pPr algn="l">
              <a:lnSpc>
                <a:spcPct val="96000"/>
              </a:lnSpc>
              <a:spcAft>
                <a:spcPts val="0"/>
              </a:spcAft>
              <a:buNone/>
            </a:pPr>
            <a:r>
              <a:rPr sz="1800" b="0">
                <a:latin typeface="Aptos"/>
              </a:rPr>
              <a:t>Dark photograph → Image Processing → Brighter, clearer image</a:t>
            </a:r>
          </a:p>
          <a:p>
            <a:pPr algn="l">
              <a:lnSpc>
                <a:spcPct val="96000"/>
              </a:lnSpc>
              <a:spcAft>
                <a:spcPts val="0"/>
              </a:spcAft>
              <a:buNone/>
            </a:pPr>
            <a:r>
              <a:rPr sz="2200" b="1">
                <a:latin typeface="Aptos"/>
              </a:rPr>
              <a:t>Why Do We Process Images?</a:t>
            </a:r>
          </a:p>
          <a:p>
            <a:pPr algn="l">
              <a:lnSpc>
                <a:spcPct val="96000"/>
              </a:lnSpc>
              <a:spcAft>
                <a:spcPts val="0"/>
              </a:spcAft>
              <a:buNone/>
            </a:pPr>
            <a:r>
              <a:rPr sz="1800" b="0">
                <a:latin typeface="Aptos"/>
              </a:rPr>
              <a:t>• Improve quality: remove noise, blur, and poor lighting.</a:t>
            </a:r>
          </a:p>
          <a:p>
            <a:pPr algn="l">
              <a:lnSpc>
                <a:spcPct val="96000"/>
              </a:lnSpc>
              <a:spcAft>
                <a:spcPts val="0"/>
              </a:spcAft>
              <a:buNone/>
            </a:pPr>
            <a:r>
              <a:rPr sz="1800" b="0">
                <a:latin typeface="Aptos"/>
              </a:rPr>
              <a:t>• Extract information and automate tasks: detect objects, edges, patterns, and recognize faces.</a:t>
            </a:r>
          </a:p>
        </p:txBody>
      </p:sp>
      <p:pic>
        <p:nvPicPr>
          <p:cNvPr id="1027" name="Picture 3" descr="PPT - Digital Image Processing Chapter 3: Image Enhancement in the Spatial Domain 15 June 2007 PowerPoint Presentation - ID:5781261">
            <a:extLst>
              <a:ext uri="{FF2B5EF4-FFF2-40B4-BE49-F238E27FC236}">
                <a16:creationId xmlns:a16="http://schemas.microsoft.com/office/drawing/2014/main" id="{D945C1FE-84FD-3562-DE7C-48693D79D8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4" t="10895" r="50376" b="30688"/>
          <a:stretch/>
        </p:blipFill>
        <p:spPr bwMode="auto">
          <a:xfrm>
            <a:off x="7418477" y="3490451"/>
            <a:ext cx="2049987" cy="2015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37C45E-27F3-0D0F-0D7D-A95F499D614D}"/>
              </a:ext>
            </a:extLst>
          </p:cNvPr>
          <p:cNvSpPr txBox="1"/>
          <p:nvPr/>
        </p:nvSpPr>
        <p:spPr>
          <a:xfrm>
            <a:off x="7678994" y="5551832"/>
            <a:ext cx="20746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 1: Original image</a:t>
            </a:r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D50E2D-653E-05CC-8CF3-25614AE75D17}"/>
              </a:ext>
            </a:extLst>
          </p:cNvPr>
          <p:cNvSpPr txBox="1"/>
          <p:nvPr/>
        </p:nvSpPr>
        <p:spPr>
          <a:xfrm>
            <a:off x="9544665" y="5537707"/>
            <a:ext cx="20746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 2: Enhanced image using Gamma correction</a:t>
            </a:r>
            <a:endParaRPr lang="en-IN" sz="1200" dirty="0"/>
          </a:p>
        </p:txBody>
      </p:sp>
      <p:pic>
        <p:nvPicPr>
          <p:cNvPr id="8" name="Picture 3" descr="PPT - Digital Image Processing Chapter 3: Image Enhancement in the Spatial Domain 15 June 2007 PowerPoint Presentation - ID:5781261">
            <a:extLst>
              <a:ext uri="{FF2B5EF4-FFF2-40B4-BE49-F238E27FC236}">
                <a16:creationId xmlns:a16="http://schemas.microsoft.com/office/drawing/2014/main" id="{888B4950-0721-E705-1FD9-FF688CBD63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88" t="10895" r="5807" b="30688"/>
          <a:stretch/>
        </p:blipFill>
        <p:spPr bwMode="auto">
          <a:xfrm>
            <a:off x="9468464" y="3504576"/>
            <a:ext cx="2074606" cy="2015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2817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897A2CF-89FE-89C1-0D44-58767E0FF4F3}"/>
              </a:ext>
            </a:extLst>
          </p:cNvPr>
          <p:cNvSpPr txBox="1"/>
          <p:nvPr/>
        </p:nvSpPr>
        <p:spPr>
          <a:xfrm>
            <a:off x="493776" y="256032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buNone/>
              <a:lnSpc>
                <a:spcPct val="105000"/>
              </a:lnSpc>
              <a:spcAft>
                <a:spcPts val="0"/>
              </a:spcAft>
            </a:pPr>
            <a:r>
              <a:rPr sz="3200" b="1">
                <a:latin typeface="Aptos"/>
              </a:rPr>
              <a:t>Key Milestones &amp; Early Applications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97BC577C-4C74-68ED-E3AF-266AF9B60F88}"/>
              </a:ext>
            </a:extLst>
          </p:cNvPr>
          <p:cNvSpPr txBox="1">
            <a:spLocks/>
          </p:cNvSpPr>
          <p:nvPr/>
        </p:nvSpPr>
        <p:spPr>
          <a:xfrm>
            <a:off x="493776" y="841248"/>
            <a:ext cx="10972800" cy="640080"/>
          </a:xfrm>
          <a:prstGeom prst="rect">
            <a:avLst/>
          </a:prstGeom>
          <a:ln>
            <a:noFill/>
          </a:ln>
        </p:spPr>
        <p:txBody>
          <a:bodyPr vert="horz" lIns="18288" tIns="18288" rIns="18288" bIns="18288" rtlCol="0" wrap="square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  <a:lnSpc>
                <a:spcPct val="100000"/>
              </a:lnSpc>
              <a:spcAft>
                <a:spcPts val="0"/>
              </a:spcAft>
            </a:pPr>
            <a:r>
              <a:rPr sz="2200" b="1">
                <a:latin typeface="Aptos"/>
              </a:rPr>
              <a:t>Origins of Digital Image Processing:</a:t>
            </a:r>
            <a:endParaRPr lang="en-IN" sz="20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None/>
              <a:lnSpc>
                <a:spcPct val="100000"/>
              </a:lnSpc>
              <a:spcAft>
                <a:spcPts val="0"/>
              </a:spcAft>
            </a:pPr>
            <a:r>
              <a:rPr sz="1800" b="0">
                <a:latin typeface="Aptos"/>
              </a:rPr>
              <a:t>The field traces back to the 1920s, when images were transmitted electronically over long distances.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980A7A-DDB5-FAE4-7068-3A20D6BFEA65}"/>
              </a:ext>
            </a:extLst>
          </p:cNvPr>
          <p:cNvSpPr txBox="1"/>
          <p:nvPr/>
        </p:nvSpPr>
        <p:spPr>
          <a:xfrm>
            <a:off x="3749301" y="4828824"/>
            <a:ext cx="27726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 1: Milestones and applications </a:t>
            </a:r>
            <a:endParaRPr lang="en-IN" sz="1200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A63796FD-0E8B-A843-DB67-68A8348545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037443"/>
              </p:ext>
            </p:extLst>
          </p:nvPr>
        </p:nvGraphicFramePr>
        <p:xfrm>
          <a:off x="620661" y="1673521"/>
          <a:ext cx="10793362" cy="3105192"/>
        </p:xfrm>
        <a:graphic>
          <a:graphicData uri="http://schemas.openxmlformats.org/drawingml/2006/table">
            <a:tbl>
              <a:tblPr/>
              <a:tblGrid>
                <a:gridCol w="1602101">
                  <a:extLst>
                    <a:ext uri="{9D8B030D-6E8A-4147-A177-3AD203B41FA5}">
                      <a16:colId xmlns:a16="http://schemas.microsoft.com/office/drawing/2014/main" val="1293975941"/>
                    </a:ext>
                  </a:extLst>
                </a:gridCol>
                <a:gridCol w="4390007">
                  <a:extLst>
                    <a:ext uri="{9D8B030D-6E8A-4147-A177-3AD203B41FA5}">
                      <a16:colId xmlns:a16="http://schemas.microsoft.com/office/drawing/2014/main" val="743017814"/>
                    </a:ext>
                  </a:extLst>
                </a:gridCol>
                <a:gridCol w="4801254">
                  <a:extLst>
                    <a:ext uri="{9D8B030D-6E8A-4147-A177-3AD203B41FA5}">
                      <a16:colId xmlns:a16="http://schemas.microsoft.com/office/drawing/2014/main" val="4068632757"/>
                    </a:ext>
                  </a:extLst>
                </a:gridCol>
              </a:tblGrid>
              <a:tr h="3881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1" dirty="0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Period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1" dirty="0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Development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1" dirty="0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Example/Application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4302690"/>
                  </a:ext>
                </a:extLst>
              </a:tr>
              <a:tr h="3881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1920s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dirty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Early electronic image transmission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Images transmitted through telegraph systems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476059"/>
                  </a:ext>
                </a:extLst>
              </a:tr>
              <a:tr h="3881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1950s–60s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Computers introduced for image processing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Image enhancement and analysis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2815894"/>
                  </a:ext>
                </a:extLst>
              </a:tr>
              <a:tr h="3881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dirty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1960s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dirty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Space exploration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NASA spacecraft images of the Moon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6253814"/>
                  </a:ext>
                </a:extLst>
              </a:tr>
              <a:tr h="3881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1970s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Medical imaging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X-ray and CT image analysis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19735"/>
                  </a:ext>
                </a:extLst>
              </a:tr>
              <a:tr h="3881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1970s–80s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Remote sensing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Satellite and aerial photographs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6185465"/>
                  </a:ext>
                </a:extLst>
              </a:tr>
              <a:tr h="3881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1980s–90s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Industrial &amp; defense applications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Inspection and aerial surveillance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816743"/>
                  </a:ext>
                </a:extLst>
              </a:tr>
              <a:tr h="3881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2000s–Present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dirty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&amp; deep learning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dirty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Face recognition, object detection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09214"/>
                  </a:ext>
                </a:extLst>
              </a:tr>
            </a:tbl>
          </a:graphicData>
        </a:graphic>
      </p:graphicFrame>
      <p:pic>
        <p:nvPicPr>
          <p:cNvPr id="25" name="Picture 4" descr="05. Project Ranger - Linda Hall Library">
            <a:extLst>
              <a:ext uri="{FF2B5EF4-FFF2-40B4-BE49-F238E27FC236}">
                <a16:creationId xmlns:a16="http://schemas.microsoft.com/office/drawing/2014/main" id="{4E94A266-87DB-C2C6-E209-EB085FE4BC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1" t="7880" r="6102" b="8417"/>
          <a:stretch/>
        </p:blipFill>
        <p:spPr bwMode="auto">
          <a:xfrm>
            <a:off x="7466097" y="5105823"/>
            <a:ext cx="1255118" cy="1212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FEA9BED-E2B3-F4FE-8672-6B1755D8E432}"/>
              </a:ext>
            </a:extLst>
          </p:cNvPr>
          <p:cNvSpPr txBox="1"/>
          <p:nvPr/>
        </p:nvSpPr>
        <p:spPr>
          <a:xfrm>
            <a:off x="493776" y="5230368"/>
            <a:ext cx="644652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marL="285750" indent="-285750"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latin typeface="Aptos"/>
              </a:rPr>
              <a:t>In 1964, NASA's Ranger 7 transmitted close-up Moon images. Digital processing improved the images and revealed useful details.</a:t>
            </a:r>
            <a:endParaRPr lang="en-IN" dirty="0"/>
          </a:p>
        </p:txBody>
      </p:sp>
      <p:pic>
        <p:nvPicPr>
          <p:cNvPr id="2062" name="Picture 14" descr="Ranger 7: Moon Close Up - NASA Science">
            <a:extLst>
              <a:ext uri="{FF2B5EF4-FFF2-40B4-BE49-F238E27FC236}">
                <a16:creationId xmlns:a16="http://schemas.microsoft.com/office/drawing/2014/main" id="{340B23C8-CA50-87F5-3BCA-1D7B453B1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7756" y="5062948"/>
            <a:ext cx="1255118" cy="1234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783A556-5B74-AFE3-DEE8-0A64B3000E9E}"/>
              </a:ext>
            </a:extLst>
          </p:cNvPr>
          <p:cNvSpPr txBox="1"/>
          <p:nvPr/>
        </p:nvSpPr>
        <p:spPr>
          <a:xfrm>
            <a:off x="7393859" y="6347321"/>
            <a:ext cx="13273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 3: NASA image </a:t>
            </a:r>
            <a:endParaRPr lang="en-IN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9D18E0-A4FB-5CFC-63CE-D6E87F16FD24}"/>
              </a:ext>
            </a:extLst>
          </p:cNvPr>
          <p:cNvSpPr txBox="1"/>
          <p:nvPr/>
        </p:nvSpPr>
        <p:spPr>
          <a:xfrm>
            <a:off x="8965518" y="6313190"/>
            <a:ext cx="13273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 4: NASA image 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07997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9C47166A-9A31-5186-E45F-731EAA15B91C}"/>
              </a:ext>
            </a:extLst>
          </p:cNvPr>
          <p:cNvSpPr txBox="1">
            <a:spLocks/>
          </p:cNvSpPr>
          <p:nvPr/>
        </p:nvSpPr>
        <p:spPr>
          <a:xfrm>
            <a:off x="283464" y="310896"/>
            <a:ext cx="7040880" cy="566928"/>
          </a:xfrm>
          <a:prstGeom prst="rect">
            <a:avLst/>
          </a:prstGeom>
          <a:ln>
            <a:noFill/>
          </a:ln>
        </p:spPr>
        <p:txBody>
          <a:bodyPr vert="horz" lIns="9144" tIns="9144" rIns="9144" bIns="9144" rtlCol="0" wrap="square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  <a:spcAft>
                <a:spcPts val="0"/>
              </a:spcAft>
              <a:lnSpc>
                <a:spcPct val="100000"/>
              </a:lnSpc>
            </a:pPr>
            <a:r>
              <a:rPr sz="3200" b="1">
                <a:latin typeface="Aptos"/>
              </a:rPr>
              <a:t>Fundamental Steps in DIP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024E8C-CD1C-BEC3-5B8D-DCE71EFD8074}"/>
              </a:ext>
            </a:extLst>
          </p:cNvPr>
          <p:cNvSpPr/>
          <p:nvPr/>
        </p:nvSpPr>
        <p:spPr>
          <a:xfrm>
            <a:off x="2206504" y="2908069"/>
            <a:ext cx="2532004" cy="29606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wrap="square" lIns="18288" rIns="18288"/>
          <a:lstStyle/>
          <a:p>
            <a:pPr algn="ctr">
              <a:buNone/>
            </a:pPr>
            <a:r>
              <a:rPr sz="1800" b="1">
                <a:latin typeface="Aptos"/>
              </a:rPr>
              <a:t>Knowledge Base</a:t>
            </a:r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416426-491A-3640-ACA4-94FD50B59742}"/>
              </a:ext>
            </a:extLst>
          </p:cNvPr>
          <p:cNvSpPr/>
          <p:nvPr/>
        </p:nvSpPr>
        <p:spPr>
          <a:xfrm>
            <a:off x="611166" y="1467658"/>
            <a:ext cx="1166484" cy="11024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wrap="square" lIns="18288" rIns="18288"/>
          <a:lstStyle/>
          <a:p>
            <a:pPr algn="ctr">
              <a:buNone/>
            </a:pPr>
            <a:r>
              <a:rPr sz="1800" b="1">
                <a:latin typeface="Aptos"/>
              </a:rPr>
              <a:t>Color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Arrow: Left-Right 16">
            <a:extLst>
              <a:ext uri="{FF2B5EF4-FFF2-40B4-BE49-F238E27FC236}">
                <a16:creationId xmlns:a16="http://schemas.microsoft.com/office/drawing/2014/main" id="{ECE1822E-FDCD-3C85-DE86-3E1D4FEACA60}"/>
              </a:ext>
            </a:extLst>
          </p:cNvPr>
          <p:cNvSpPr/>
          <p:nvPr/>
        </p:nvSpPr>
        <p:spPr>
          <a:xfrm rot="2521400">
            <a:off x="1827066" y="2638291"/>
            <a:ext cx="423847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C4BB68-D209-22E8-6062-714BDFCCB930}"/>
              </a:ext>
            </a:extLst>
          </p:cNvPr>
          <p:cNvSpPr/>
          <p:nvPr/>
        </p:nvSpPr>
        <p:spPr>
          <a:xfrm>
            <a:off x="611166" y="2684330"/>
            <a:ext cx="1188920" cy="9896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wrap="square" lIns="18288" rIns="18288"/>
          <a:lstStyle/>
          <a:p>
            <a:pPr algn="ctr">
              <a:buNone/>
            </a:pPr>
            <a:r>
              <a:rPr sz="1800" b="1">
                <a:latin typeface="Aptos"/>
              </a:rPr>
              <a:t>Restore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BBB8E1-2429-51CD-7736-CD4167599D0B}"/>
              </a:ext>
            </a:extLst>
          </p:cNvPr>
          <p:cNvSpPr/>
          <p:nvPr/>
        </p:nvSpPr>
        <p:spPr>
          <a:xfrm>
            <a:off x="611166" y="3767320"/>
            <a:ext cx="1188920" cy="9896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wrap="square" lIns="18288" rIns="18288"/>
          <a:lstStyle/>
          <a:p>
            <a:pPr algn="ctr">
              <a:buNone/>
            </a:pPr>
            <a:r>
              <a:rPr sz="1800" b="1">
                <a:latin typeface="Aptos"/>
              </a:rPr>
              <a:t>Enhance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6E521E-016D-D54E-BCEE-9F1E4AEB4C7E}"/>
              </a:ext>
            </a:extLst>
          </p:cNvPr>
          <p:cNvSpPr/>
          <p:nvPr/>
        </p:nvSpPr>
        <p:spPr>
          <a:xfrm>
            <a:off x="597975" y="4879093"/>
            <a:ext cx="1248300" cy="10961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wrap="square" lIns="18288" rIns="18288"/>
          <a:lstStyle/>
          <a:p>
            <a:pPr algn="ctr">
              <a:buNone/>
            </a:pPr>
            <a:r>
              <a:rPr sz="1800" b="1">
                <a:latin typeface="Aptos"/>
              </a:rPr>
              <a:t>Acquire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BB9CC5-AF39-3B8B-39F9-80ADA41E76A9}"/>
              </a:ext>
            </a:extLst>
          </p:cNvPr>
          <p:cNvSpPr/>
          <p:nvPr/>
        </p:nvSpPr>
        <p:spPr>
          <a:xfrm>
            <a:off x="2127329" y="1462095"/>
            <a:ext cx="1188920" cy="9896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wrap="square" lIns="18288" rIns="18288"/>
          <a:lstStyle/>
          <a:p>
            <a:pPr algn="ctr">
              <a:buNone/>
            </a:pPr>
            <a:r>
              <a:rPr sz="1800" b="1">
                <a:latin typeface="Aptos"/>
              </a:rPr>
              <a:t>Wavelets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Arrow: Left-Right 22">
            <a:extLst>
              <a:ext uri="{FF2B5EF4-FFF2-40B4-BE49-F238E27FC236}">
                <a16:creationId xmlns:a16="http://schemas.microsoft.com/office/drawing/2014/main" id="{9C1E5255-DAB3-40AB-317F-0DC2FC760AEF}"/>
              </a:ext>
            </a:extLst>
          </p:cNvPr>
          <p:cNvSpPr/>
          <p:nvPr/>
        </p:nvSpPr>
        <p:spPr>
          <a:xfrm>
            <a:off x="1819145" y="3220305"/>
            <a:ext cx="372119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Left-Right 24">
            <a:extLst>
              <a:ext uri="{FF2B5EF4-FFF2-40B4-BE49-F238E27FC236}">
                <a16:creationId xmlns:a16="http://schemas.microsoft.com/office/drawing/2014/main" id="{21AD7981-EC87-3DEB-86EA-8D791E6AD2FC}"/>
              </a:ext>
            </a:extLst>
          </p:cNvPr>
          <p:cNvSpPr/>
          <p:nvPr/>
        </p:nvSpPr>
        <p:spPr>
          <a:xfrm>
            <a:off x="1847796" y="4178575"/>
            <a:ext cx="372119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Left-Right 25">
            <a:extLst>
              <a:ext uri="{FF2B5EF4-FFF2-40B4-BE49-F238E27FC236}">
                <a16:creationId xmlns:a16="http://schemas.microsoft.com/office/drawing/2014/main" id="{9012AC60-B95C-12BD-69E2-46F81C3F6539}"/>
              </a:ext>
            </a:extLst>
          </p:cNvPr>
          <p:cNvSpPr/>
          <p:nvPr/>
        </p:nvSpPr>
        <p:spPr>
          <a:xfrm>
            <a:off x="1847797" y="5273658"/>
            <a:ext cx="372119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Left-Right 26">
            <a:extLst>
              <a:ext uri="{FF2B5EF4-FFF2-40B4-BE49-F238E27FC236}">
                <a16:creationId xmlns:a16="http://schemas.microsoft.com/office/drawing/2014/main" id="{A0D9899C-99EE-CD4B-B41B-E6B462BB7DEF}"/>
              </a:ext>
            </a:extLst>
          </p:cNvPr>
          <p:cNvSpPr/>
          <p:nvPr/>
        </p:nvSpPr>
        <p:spPr>
          <a:xfrm rot="19196043">
            <a:off x="4637943" y="2622248"/>
            <a:ext cx="423847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E82C12-FA86-747B-CE91-2B2F28AD1A3F}"/>
              </a:ext>
            </a:extLst>
          </p:cNvPr>
          <p:cNvSpPr/>
          <p:nvPr/>
        </p:nvSpPr>
        <p:spPr>
          <a:xfrm>
            <a:off x="3572738" y="1475417"/>
            <a:ext cx="1188920" cy="9896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wrap="square" lIns="18288" rIns="18288"/>
          <a:lstStyle/>
          <a:p>
            <a:pPr algn="ctr">
              <a:buNone/>
            </a:pPr>
            <a:r>
              <a:rPr sz="1800" b="1">
                <a:latin typeface="Aptos"/>
              </a:rPr>
              <a:t>Compress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2AFD90-574F-D28E-EEC2-FB32B02B7603}"/>
              </a:ext>
            </a:extLst>
          </p:cNvPr>
          <p:cNvSpPr/>
          <p:nvPr/>
        </p:nvSpPr>
        <p:spPr>
          <a:xfrm>
            <a:off x="5086974" y="1474592"/>
            <a:ext cx="1215618" cy="11089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wrap="square" lIns="18288" rIns="18288"/>
          <a:lstStyle/>
          <a:p>
            <a:pPr algn="ctr">
              <a:buNone/>
            </a:pPr>
            <a:r>
              <a:rPr sz="1800" b="1">
                <a:latin typeface="Aptos"/>
              </a:rPr>
              <a:t>Morph.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853765C-10BB-C4BB-4FA0-3F1F7A165BD4}"/>
              </a:ext>
            </a:extLst>
          </p:cNvPr>
          <p:cNvSpPr/>
          <p:nvPr/>
        </p:nvSpPr>
        <p:spPr>
          <a:xfrm>
            <a:off x="5113672" y="2732455"/>
            <a:ext cx="1188920" cy="9896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wrap="square" lIns="18288" rIns="18288"/>
          <a:lstStyle/>
          <a:p>
            <a:pPr algn="ctr">
              <a:buNone/>
            </a:pPr>
            <a:r>
              <a:rPr sz="1800" b="1">
                <a:latin typeface="Aptos"/>
              </a:rPr>
              <a:t>Segment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65011CE-FDF8-8F68-AF75-A6C3A8E67CCC}"/>
              </a:ext>
            </a:extLst>
          </p:cNvPr>
          <p:cNvSpPr/>
          <p:nvPr/>
        </p:nvSpPr>
        <p:spPr>
          <a:xfrm>
            <a:off x="5097215" y="3841050"/>
            <a:ext cx="1188920" cy="9896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wrap="square" lIns="18288" rIns="18288"/>
          <a:lstStyle/>
          <a:p>
            <a:pPr algn="ctr">
              <a:buNone/>
            </a:pPr>
            <a:r>
              <a:rPr sz="1800" b="1">
                <a:latin typeface="Aptos"/>
              </a:rPr>
              <a:t>Features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2BEF0F7-F357-8027-4A78-8421B0E88FFD}"/>
              </a:ext>
            </a:extLst>
          </p:cNvPr>
          <p:cNvSpPr/>
          <p:nvPr/>
        </p:nvSpPr>
        <p:spPr>
          <a:xfrm>
            <a:off x="5113671" y="4927218"/>
            <a:ext cx="1199807" cy="10961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wrap="square" lIns="18288" rIns="18288"/>
          <a:lstStyle/>
          <a:p>
            <a:pPr algn="ctr">
              <a:buNone/>
            </a:pPr>
            <a:r>
              <a:rPr sz="1800" b="1">
                <a:latin typeface="Aptos"/>
              </a:rPr>
              <a:t>Classify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Arrow: Left-Right 32">
            <a:extLst>
              <a:ext uri="{FF2B5EF4-FFF2-40B4-BE49-F238E27FC236}">
                <a16:creationId xmlns:a16="http://schemas.microsoft.com/office/drawing/2014/main" id="{F0D63C10-3D6E-71D4-8D73-3E6AFA674BD5}"/>
              </a:ext>
            </a:extLst>
          </p:cNvPr>
          <p:cNvSpPr/>
          <p:nvPr/>
        </p:nvSpPr>
        <p:spPr>
          <a:xfrm>
            <a:off x="4725809" y="5321608"/>
            <a:ext cx="372119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Arrow: Left-Right 33">
            <a:extLst>
              <a:ext uri="{FF2B5EF4-FFF2-40B4-BE49-F238E27FC236}">
                <a16:creationId xmlns:a16="http://schemas.microsoft.com/office/drawing/2014/main" id="{15B09DDE-61D4-D6AA-1401-801CA76A0B84}"/>
              </a:ext>
            </a:extLst>
          </p:cNvPr>
          <p:cNvSpPr/>
          <p:nvPr/>
        </p:nvSpPr>
        <p:spPr>
          <a:xfrm>
            <a:off x="4737151" y="3227292"/>
            <a:ext cx="372119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Arrow: Left-Right 34">
            <a:extLst>
              <a:ext uri="{FF2B5EF4-FFF2-40B4-BE49-F238E27FC236}">
                <a16:creationId xmlns:a16="http://schemas.microsoft.com/office/drawing/2014/main" id="{C983367F-D02D-E7FD-A13F-2BD7B38B2BD5}"/>
              </a:ext>
            </a:extLst>
          </p:cNvPr>
          <p:cNvSpPr/>
          <p:nvPr/>
        </p:nvSpPr>
        <p:spPr>
          <a:xfrm>
            <a:off x="4740030" y="4296340"/>
            <a:ext cx="372119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Arrow: Left-Right 35">
            <a:extLst>
              <a:ext uri="{FF2B5EF4-FFF2-40B4-BE49-F238E27FC236}">
                <a16:creationId xmlns:a16="http://schemas.microsoft.com/office/drawing/2014/main" id="{BCE6ADE8-0065-57FB-2055-128DF0B6F121}"/>
              </a:ext>
            </a:extLst>
          </p:cNvPr>
          <p:cNvSpPr/>
          <p:nvPr/>
        </p:nvSpPr>
        <p:spPr>
          <a:xfrm rot="16200000">
            <a:off x="2576758" y="2590081"/>
            <a:ext cx="372119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Arrow: Left-Right 36">
            <a:extLst>
              <a:ext uri="{FF2B5EF4-FFF2-40B4-BE49-F238E27FC236}">
                <a16:creationId xmlns:a16="http://schemas.microsoft.com/office/drawing/2014/main" id="{975F5311-6908-8030-014D-C11376FC0EBE}"/>
              </a:ext>
            </a:extLst>
          </p:cNvPr>
          <p:cNvSpPr/>
          <p:nvPr/>
        </p:nvSpPr>
        <p:spPr>
          <a:xfrm rot="16200000">
            <a:off x="3968357" y="2625703"/>
            <a:ext cx="372119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6D49D31-D8C4-0530-337D-00915DE67B80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381391" y="5415160"/>
            <a:ext cx="216584" cy="120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BEF7C23-3012-AAA4-9C33-3BC5A12837D7}"/>
              </a:ext>
            </a:extLst>
          </p:cNvPr>
          <p:cNvCxnSpPr>
            <a:cxnSpLocks/>
          </p:cNvCxnSpPr>
          <p:nvPr/>
        </p:nvCxnSpPr>
        <p:spPr>
          <a:xfrm flipH="1" flipV="1">
            <a:off x="6302592" y="5417794"/>
            <a:ext cx="274520" cy="42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C4E94BB-C480-0559-EC53-8EFF9FAE2D9C}"/>
              </a:ext>
            </a:extLst>
          </p:cNvPr>
          <p:cNvCxnSpPr>
            <a:cxnSpLocks/>
          </p:cNvCxnSpPr>
          <p:nvPr/>
        </p:nvCxnSpPr>
        <p:spPr>
          <a:xfrm flipH="1" flipV="1">
            <a:off x="6286135" y="2103159"/>
            <a:ext cx="274520" cy="42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319320E-4179-EE5F-7AD1-9BEAC76E7752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5681434" y="1239385"/>
            <a:ext cx="13349" cy="2352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AAFD25F-6EB0-E453-0054-95B874755738}"/>
              </a:ext>
            </a:extLst>
          </p:cNvPr>
          <p:cNvCxnSpPr>
            <a:cxnSpLocks/>
          </p:cNvCxnSpPr>
          <p:nvPr/>
        </p:nvCxnSpPr>
        <p:spPr>
          <a:xfrm>
            <a:off x="381391" y="1239385"/>
            <a:ext cx="0" cy="41826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36F4691-5743-71E1-B779-D3BDECD3B234}"/>
              </a:ext>
            </a:extLst>
          </p:cNvPr>
          <p:cNvCxnSpPr>
            <a:cxnSpLocks/>
          </p:cNvCxnSpPr>
          <p:nvPr/>
        </p:nvCxnSpPr>
        <p:spPr>
          <a:xfrm flipH="1" flipV="1">
            <a:off x="363402" y="1239845"/>
            <a:ext cx="5318032" cy="120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ABB82D5-3215-87A4-7DE5-4BE4467E6625}"/>
              </a:ext>
            </a:extLst>
          </p:cNvPr>
          <p:cNvCxnSpPr>
            <a:cxnSpLocks/>
          </p:cNvCxnSpPr>
          <p:nvPr/>
        </p:nvCxnSpPr>
        <p:spPr>
          <a:xfrm flipH="1">
            <a:off x="6560655" y="2103159"/>
            <a:ext cx="5269" cy="33146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7975EAE-BD1F-1749-1BCF-AEFB4B45248B}"/>
              </a:ext>
            </a:extLst>
          </p:cNvPr>
          <p:cNvSpPr txBox="1"/>
          <p:nvPr/>
        </p:nvSpPr>
        <p:spPr>
          <a:xfrm>
            <a:off x="1919145" y="932688"/>
            <a:ext cx="220160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Outputs are Images</a:t>
            </a:r>
            <a:endParaRPr lang="en-IN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A55AE46-8EA4-B051-E639-05A51191842D}"/>
              </a:ext>
            </a:extLst>
          </p:cNvPr>
          <p:cNvSpPr txBox="1"/>
          <p:nvPr/>
        </p:nvSpPr>
        <p:spPr>
          <a:xfrm rot="5400000">
            <a:off x="5358249" y="3820784"/>
            <a:ext cx="31547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Outputs are Attributes associated with Images</a:t>
            </a:r>
            <a:endParaRPr lang="en-IN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9BE07EF-5B04-8C80-ABF8-D325BC01FE7D}"/>
              </a:ext>
            </a:extLst>
          </p:cNvPr>
          <p:cNvSpPr txBox="1"/>
          <p:nvPr/>
        </p:nvSpPr>
        <p:spPr>
          <a:xfrm>
            <a:off x="2224975" y="5902731"/>
            <a:ext cx="22016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 5: Fundamental steps in DIP</a:t>
            </a:r>
            <a:endParaRPr lang="en-IN" sz="12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21432DF-7F6F-CC25-08B1-46D2023C381D}"/>
              </a:ext>
            </a:extLst>
          </p:cNvPr>
          <p:cNvSpPr txBox="1"/>
          <p:nvPr/>
        </p:nvSpPr>
        <p:spPr>
          <a:xfrm>
            <a:off x="7397496" y="740664"/>
            <a:ext cx="4553712" cy="56327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800" b="1">
                <a:latin typeface="Aptos"/>
              </a:rPr>
              <a:t>1. Image Acquisition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800" b="0">
                <a:latin typeface="Aptos"/>
              </a:rPr>
              <a:t>• Capture an image using a camera, scanner, or satellite sensor.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800" b="0">
                <a:latin typeface="Aptos"/>
              </a:rPr>
              <a:t>• Includes sampling and quantization.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800" b="1">
                <a:latin typeface="Aptos"/>
              </a:rPr>
              <a:t>2. Image Enhancement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800" b="0">
                <a:latin typeface="Aptos"/>
              </a:rPr>
              <a:t>• Improves visual appearance: contrast, sharpness, and brightness.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800" b="1">
                <a:latin typeface="Aptos"/>
              </a:rPr>
              <a:t>3. Image Restoration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800" b="0">
                <a:latin typeface="Aptos"/>
              </a:rPr>
              <a:t>• Recovers images degraded by noise, blur, or distortion.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800" b="1">
                <a:latin typeface="Aptos"/>
              </a:rPr>
              <a:t>4. Color Image Processing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800" b="0">
                <a:latin typeface="Aptos"/>
              </a:rPr>
              <a:t>• Processes color information such as RGB and HSV.</a:t>
            </a:r>
          </a:p>
        </p:txBody>
      </p:sp>
    </p:spTree>
    <p:extLst>
      <p:ext uri="{BB962C8B-B14F-4D97-AF65-F5344CB8AC3E}">
        <p14:creationId xmlns:p14="http://schemas.microsoft.com/office/powerpoint/2010/main" val="3691710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56B370-8BBD-63C1-9F5C-3C6D99C78013}"/>
              </a:ext>
            </a:extLst>
          </p:cNvPr>
          <p:cNvSpPr txBox="1"/>
          <p:nvPr/>
        </p:nvSpPr>
        <p:spPr>
          <a:xfrm>
            <a:off x="449180" y="247355"/>
            <a:ext cx="7267074" cy="61863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Wavelets and Multiresolution Processing</a:t>
            </a: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Represents an image at different scales or resolutions.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Useful for image compression, analysis, and feature extraction. </a:t>
            </a:r>
          </a:p>
          <a:p>
            <a:r>
              <a:rPr lang="en-US" b="1" dirty="0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Image Compression</a:t>
            </a: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Reduces the amount of data required to store or transmit an image.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Examples: JPEG and PNG. </a:t>
            </a:r>
          </a:p>
          <a:p>
            <a:r>
              <a:rPr lang="en-US" b="1" dirty="0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Morphological Processing</a:t>
            </a: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Analyzes and modifies the shape and structure of objects in an image.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operations: erosion, dilation, opening, and closing. </a:t>
            </a:r>
          </a:p>
          <a:p>
            <a:r>
              <a:rPr lang="en-US" b="1" dirty="0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 Image Segmentation</a:t>
            </a: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Divides an image into meaningful regions or objects.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separating a tumor from surrounding tissue. </a:t>
            </a:r>
          </a:p>
          <a:p>
            <a:r>
              <a:rPr lang="en-US" b="1" dirty="0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9. Representation and Description</a:t>
            </a: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Represents segmented objects in a suitable form and describes their characteristics.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 can include shape, boundary, area, texture, and color. </a:t>
            </a:r>
          </a:p>
          <a:p>
            <a:r>
              <a:rPr lang="en-US" b="1" dirty="0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10. Object Recognition</a:t>
            </a: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Assigns labels or identifies objects based on their extracted features.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recognizing a face, vehicle, or character. </a:t>
            </a:r>
          </a:p>
          <a:p>
            <a:r>
              <a:rPr lang="en-US" b="1" dirty="0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11. Knowledge Base</a:t>
            </a: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Contains prior information about the problem or image. Example: knowing the expected size, shape, or location of an object.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0967E6-268C-277F-B4C6-B214A4C3A4DD}"/>
              </a:ext>
            </a:extLst>
          </p:cNvPr>
          <p:cNvSpPr txBox="1"/>
          <p:nvPr/>
        </p:nvSpPr>
        <p:spPr>
          <a:xfrm>
            <a:off x="7876675" y="172165"/>
            <a:ext cx="347078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example: </a:t>
            </a:r>
          </a:p>
          <a:p>
            <a:pPr>
              <a:lnSpc>
                <a:spcPct val="100000"/>
              </a:lnSpc>
            </a:pPr>
            <a:r>
              <a:rPr lang="en-IN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Medical Image -&gt;</a:t>
            </a:r>
            <a:r>
              <a:rPr lang="en-IN" dirty="0" err="1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Tumor</a:t>
            </a:r>
            <a:r>
              <a:rPr lang="en-IN" dirty="0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Detection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C2DFA7-C3A3-BBD2-9647-D686D52A0AEE}"/>
              </a:ext>
            </a:extLst>
          </p:cNvPr>
          <p:cNvSpPr/>
          <p:nvPr/>
        </p:nvSpPr>
        <p:spPr>
          <a:xfrm>
            <a:off x="7876676" y="1432582"/>
            <a:ext cx="4042609" cy="5784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800" b="1"/>
              <a:t>Wavelets: Analyze image at multiple scales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3E6130-6D29-418F-38B1-8E74068EDD53}"/>
              </a:ext>
            </a:extLst>
          </p:cNvPr>
          <p:cNvSpPr/>
          <p:nvPr/>
        </p:nvSpPr>
        <p:spPr>
          <a:xfrm>
            <a:off x="9002011" y="870384"/>
            <a:ext cx="1786238" cy="4070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800" b="1"/>
              <a:t>Original MRI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EFA67C-1179-0E98-C774-9D48FB8F70BC}"/>
              </a:ext>
            </a:extLst>
          </p:cNvPr>
          <p:cNvSpPr/>
          <p:nvPr/>
        </p:nvSpPr>
        <p:spPr>
          <a:xfrm>
            <a:off x="7876676" y="2203302"/>
            <a:ext cx="4042609" cy="5784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800" b="1"/>
              <a:t>Compression: Reduce unnecessary data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28AB02-A79F-030D-EDEE-72D63D662C56}"/>
              </a:ext>
            </a:extLst>
          </p:cNvPr>
          <p:cNvSpPr/>
          <p:nvPr/>
        </p:nvSpPr>
        <p:spPr>
          <a:xfrm>
            <a:off x="7876676" y="2919507"/>
            <a:ext cx="4042609" cy="4632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800" b="1"/>
              <a:t>Morphology: Clean and refine structure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4AD320-6744-A053-4B85-3525A81C6A71}"/>
              </a:ext>
            </a:extLst>
          </p:cNvPr>
          <p:cNvSpPr/>
          <p:nvPr/>
        </p:nvSpPr>
        <p:spPr>
          <a:xfrm>
            <a:off x="8356964" y="4828282"/>
            <a:ext cx="3085714" cy="4632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800" b="1"/>
              <a:t>Recognition: Tumor Identified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399931-7CB1-7977-4273-1119A42A1089}"/>
              </a:ext>
            </a:extLst>
          </p:cNvPr>
          <p:cNvSpPr/>
          <p:nvPr/>
        </p:nvSpPr>
        <p:spPr>
          <a:xfrm>
            <a:off x="7876675" y="4163172"/>
            <a:ext cx="4042609" cy="4632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800" b="1"/>
              <a:t>Features: Shapes, size, Texture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C2379C-DE6A-9647-31A5-AD4DE859B514}"/>
              </a:ext>
            </a:extLst>
          </p:cNvPr>
          <p:cNvSpPr/>
          <p:nvPr/>
        </p:nvSpPr>
        <p:spPr>
          <a:xfrm>
            <a:off x="7876676" y="3546074"/>
            <a:ext cx="4042609" cy="4632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800" b="1"/>
              <a:t>Segmentation: Separate tumor region</a:t>
            </a:r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987B4A-2A83-26B7-46EE-0B5A35E82119}"/>
              </a:ext>
            </a:extLst>
          </p:cNvPr>
          <p:cNvSpPr/>
          <p:nvPr/>
        </p:nvSpPr>
        <p:spPr>
          <a:xfrm>
            <a:off x="7932756" y="5390681"/>
            <a:ext cx="4042609" cy="10273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800" b="1">
                <a:solidFill>
                  <a:srgbClr val="FF0000"/>
                </a:solidFill>
              </a:rPr>
              <a:t>Knowledge Base: Provides prior knowledge about expected tumor characteristics</a:t>
            </a:r>
            <a:endParaRPr lang="en-IN" dirty="0">
              <a:solidFill>
                <a:srgbClr val="FF000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109BAFA-F782-6788-3B28-8A5E0677C42F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>
            <a:off x="9895130" y="1277438"/>
            <a:ext cx="2851" cy="1551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DDF300A-A019-9466-10FD-910C04CE74C5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9897981" y="2011069"/>
            <a:ext cx="0" cy="1922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FB22A25-3390-309F-7CF6-03130DE88DF2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9897981" y="2781789"/>
            <a:ext cx="0" cy="1377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8E085AA-7B3C-AC2E-5902-A731C5ADD1A1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9897981" y="3382731"/>
            <a:ext cx="0" cy="163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FB4B67A-ADCB-3EA8-5AB1-4CA87897DBE8}"/>
              </a:ext>
            </a:extLst>
          </p:cNvPr>
          <p:cNvCxnSpPr>
            <a:cxnSpLocks/>
            <a:stCxn id="15" idx="2"/>
            <a:endCxn id="14" idx="0"/>
          </p:cNvCxnSpPr>
          <p:nvPr/>
        </p:nvCxnSpPr>
        <p:spPr>
          <a:xfrm flipH="1">
            <a:off x="9897980" y="4009298"/>
            <a:ext cx="1" cy="1538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0A23073-67E4-42CD-A80A-8C427917DC0B}"/>
              </a:ext>
            </a:extLst>
          </p:cNvPr>
          <p:cNvCxnSpPr>
            <a:cxnSpLocks/>
            <a:stCxn id="14" idx="2"/>
            <a:endCxn id="13" idx="0"/>
          </p:cNvCxnSpPr>
          <p:nvPr/>
        </p:nvCxnSpPr>
        <p:spPr>
          <a:xfrm>
            <a:off x="9897980" y="4626395"/>
            <a:ext cx="1841" cy="2018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7947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092313A-599B-9CAB-3079-5E2251D9892C}"/>
              </a:ext>
            </a:extLst>
          </p:cNvPr>
          <p:cNvSpPr txBox="1">
            <a:spLocks/>
          </p:cNvSpPr>
          <p:nvPr/>
        </p:nvSpPr>
        <p:spPr>
          <a:xfrm>
            <a:off x="365760" y="155448"/>
            <a:ext cx="11457432" cy="621792"/>
          </a:xfrm>
          <a:prstGeom prst="rect">
            <a:avLst/>
          </a:prstGeom>
        </p:spPr>
        <p:txBody>
          <a:bodyPr vert="horz" lIns="18288" tIns="18288" rIns="18288" bIns="18288" rtlCol="0" anchor="t" wrap="square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>
                <a:latin typeface="Aptos"/>
              </a:rPr>
              <a:t>Visual Perception: Human Eye vs Digital Sensor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8856F5E8-A907-FF7A-0CC6-C928AFBA51D0}"/>
              </a:ext>
            </a:extLst>
          </p:cNvPr>
          <p:cNvSpPr txBox="1">
            <a:spLocks/>
          </p:cNvSpPr>
          <p:nvPr/>
        </p:nvSpPr>
        <p:spPr>
          <a:xfrm>
            <a:off x="283464" y="969264"/>
            <a:ext cx="7132320" cy="53949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27432" tIns="27432" rIns="27432" bIns="27432" rtlCol="0" wrap="square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spcAft>
                <a:spcPts val="0"/>
              </a:spcAft>
              <a:buNone/>
              <a:lnSpc>
                <a:spcPct val="94000"/>
              </a:lnSpc>
            </a:pPr>
            <a:r>
              <a:rPr sz="2200" b="1">
                <a:latin typeface="Aptos"/>
              </a:rPr>
              <a:t>Visual Perception: From Light to Color</a:t>
            </a:r>
          </a:p>
          <a:p>
            <a:pPr algn="l">
              <a:lnSpc>
                <a:spcPct val="94000"/>
              </a:lnSpc>
              <a:spcAft>
                <a:spcPts val="0"/>
              </a:spcAft>
              <a:buNone/>
            </a:pPr>
            <a:r>
              <a:rPr sz="2200" b="1">
                <a:latin typeface="Aptos"/>
              </a:rPr>
              <a:t>What is visual perception?</a:t>
            </a:r>
          </a:p>
          <a:p>
            <a:pPr algn="l">
              <a:lnSpc>
                <a:spcPct val="94000"/>
              </a:lnSpc>
              <a:spcAft>
                <a:spcPts val="0"/>
              </a:spcAft>
              <a:buNone/>
            </a:pPr>
            <a:r>
              <a:rPr sz="1800" b="0">
                <a:latin typeface="Aptos"/>
              </a:rPr>
              <a:t>It detects light intensity, wavelength, and spatial information to form an image.</a:t>
            </a:r>
          </a:p>
          <a:p>
            <a:pPr algn="l">
              <a:lnSpc>
                <a:spcPct val="94000"/>
              </a:lnSpc>
              <a:spcAft>
                <a:spcPts val="0"/>
              </a:spcAft>
              <a:buNone/>
            </a:pPr>
            <a:r>
              <a:rPr sz="2200" b="1">
                <a:latin typeface="Aptos"/>
              </a:rPr>
              <a:t>Human Vision</a:t>
            </a:r>
          </a:p>
          <a:p>
            <a:pPr algn="l">
              <a:lnSpc>
                <a:spcPct val="94000"/>
              </a:lnSpc>
              <a:spcAft>
                <a:spcPts val="0"/>
              </a:spcAft>
              <a:buNone/>
            </a:pPr>
            <a:r>
              <a:rPr sz="1800" b="0">
                <a:latin typeface="Aptos"/>
              </a:rPr>
              <a:t>– Light enters the eye and is focused on the retina.</a:t>
            </a:r>
          </a:p>
          <a:p>
            <a:pPr algn="l">
              <a:lnSpc>
                <a:spcPct val="94000"/>
              </a:lnSpc>
              <a:spcAft>
                <a:spcPts val="0"/>
              </a:spcAft>
              <a:buNone/>
            </a:pPr>
            <a:r>
              <a:rPr sz="1800" b="0">
                <a:latin typeface="Aptos"/>
              </a:rPr>
              <a:t>– Rods detect intensity; cones enable color vision.</a:t>
            </a:r>
          </a:p>
          <a:p>
            <a:pPr algn="l">
              <a:lnSpc>
                <a:spcPct val="94000"/>
              </a:lnSpc>
              <a:spcAft>
                <a:spcPts val="0"/>
              </a:spcAft>
              <a:buNone/>
            </a:pPr>
            <a:r>
              <a:rPr sz="1800" b="0">
                <a:latin typeface="Aptos"/>
              </a:rPr>
              <a:t>– The brain combines these signals into visual perception.</a:t>
            </a:r>
          </a:p>
          <a:p>
            <a:pPr algn="l">
              <a:lnSpc>
                <a:spcPct val="94000"/>
              </a:lnSpc>
              <a:spcAft>
                <a:spcPts val="0"/>
              </a:spcAft>
              <a:buNone/>
            </a:pPr>
            <a:r>
              <a:rPr sz="2200" b="1">
                <a:latin typeface="Aptos"/>
              </a:rPr>
              <a:t>Digital Sensor</a:t>
            </a:r>
          </a:p>
          <a:p>
            <a:pPr algn="l">
              <a:lnSpc>
                <a:spcPct val="94000"/>
              </a:lnSpc>
              <a:spcAft>
                <a:spcPts val="0"/>
              </a:spcAft>
              <a:buNone/>
            </a:pPr>
            <a:r>
              <a:rPr sz="1800" b="0">
                <a:latin typeface="Aptos"/>
              </a:rPr>
              <a:t>– A camera lens focuses light onto the sensor.</a:t>
            </a:r>
          </a:p>
          <a:p>
            <a:pPr algn="l">
              <a:lnSpc>
                <a:spcPct val="94000"/>
              </a:lnSpc>
              <a:spcAft>
                <a:spcPts val="0"/>
              </a:spcAft>
              <a:buNone/>
            </a:pPr>
            <a:r>
              <a:rPr sz="1800" b="0">
                <a:latin typeface="Aptos"/>
              </a:rPr>
              <a:t>– Sensor elements convert light into electrical signals.</a:t>
            </a:r>
          </a:p>
          <a:p>
            <a:pPr algn="l">
              <a:lnSpc>
                <a:spcPct val="94000"/>
              </a:lnSpc>
              <a:spcAft>
                <a:spcPts val="0"/>
              </a:spcAft>
              <a:buNone/>
            </a:pPr>
            <a:r>
              <a:rPr sz="1800" b="0">
                <a:latin typeface="Aptos"/>
              </a:rPr>
              <a:t>– Color filters separate wavelength information (R, G, B).</a:t>
            </a:r>
          </a:p>
          <a:p>
            <a:pPr algn="l">
              <a:lnSpc>
                <a:spcPct val="94000"/>
              </a:lnSpc>
              <a:spcAft>
                <a:spcPts val="0"/>
              </a:spcAft>
              <a:buNone/>
            </a:pPr>
            <a:r>
              <a:rPr sz="1800" b="0">
                <a:latin typeface="Aptos"/>
              </a:rPr>
              <a:t>– Signals become digital pixel values.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CCDF08-CCCD-FD12-888A-75980EC306FF}"/>
              </a:ext>
            </a:extLst>
          </p:cNvPr>
          <p:cNvSpPr/>
          <p:nvPr/>
        </p:nvSpPr>
        <p:spPr>
          <a:xfrm>
            <a:off x="8859520" y="2286000"/>
            <a:ext cx="1656080" cy="5689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lIns="18288" rIns="18288" tIns="18288" bIns="18288"/>
          <a:lstStyle/>
          <a:p>
            <a:pPr algn="ctr"/>
            <a:r>
              <a:rPr lang="en-US" dirty="0" sz="1800" b="1"/>
              <a:t>LIGHT FROM OBJECT</a:t>
            </a:r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F67E5E8-B210-E130-19C5-EB04AF3AAFFF}"/>
              </a:ext>
            </a:extLst>
          </p:cNvPr>
          <p:cNvSpPr/>
          <p:nvPr/>
        </p:nvSpPr>
        <p:spPr>
          <a:xfrm>
            <a:off x="7874000" y="3205480"/>
            <a:ext cx="1656080" cy="5689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lIns="18288" rIns="18288" tIns="18288" bIns="18288"/>
          <a:lstStyle/>
          <a:p>
            <a:pPr algn="ctr"/>
            <a:r>
              <a:rPr lang="en-US" dirty="0" sz="1800" b="1"/>
              <a:t>HUMAN EYE</a:t>
            </a:r>
            <a:endParaRPr lang="en-I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7D83AB-0BB0-BF60-D817-55D140892F12}"/>
              </a:ext>
            </a:extLst>
          </p:cNvPr>
          <p:cNvSpPr/>
          <p:nvPr/>
        </p:nvSpPr>
        <p:spPr>
          <a:xfrm>
            <a:off x="9814396" y="3205480"/>
            <a:ext cx="1656080" cy="5689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lIns="18288" rIns="18288" tIns="18288" bIns="18288"/>
          <a:lstStyle/>
          <a:p>
            <a:pPr algn="ctr"/>
            <a:r>
              <a:rPr lang="en-US" dirty="0" sz="1800" b="1"/>
              <a:t>CAMERA SENSOR</a:t>
            </a:r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794C50-0948-F07F-D0BA-28311E3C4110}"/>
              </a:ext>
            </a:extLst>
          </p:cNvPr>
          <p:cNvSpPr/>
          <p:nvPr/>
        </p:nvSpPr>
        <p:spPr>
          <a:xfrm>
            <a:off x="7985760" y="4011450"/>
            <a:ext cx="1442720" cy="4046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lIns="18288" rIns="18288" tIns="18288" bIns="18288"/>
          <a:lstStyle/>
          <a:p>
            <a:pPr algn="ctr"/>
            <a:r>
              <a:rPr lang="en-US" dirty="0" sz="1800" b="1"/>
              <a:t>Retina</a:t>
            </a:r>
            <a:endParaRPr lang="en-I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C491BF-F8B6-E189-9E55-853D1C05CA0A}"/>
              </a:ext>
            </a:extLst>
          </p:cNvPr>
          <p:cNvSpPr/>
          <p:nvPr/>
        </p:nvSpPr>
        <p:spPr>
          <a:xfrm>
            <a:off x="7985760" y="4649611"/>
            <a:ext cx="1442720" cy="4046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lIns="18288" rIns="18288" tIns="18288" bIns="18288"/>
          <a:lstStyle/>
          <a:p>
            <a:pPr algn="ctr"/>
            <a:r>
              <a:rPr lang="en-US" dirty="0" sz="1800" b="1"/>
              <a:t>Brain</a:t>
            </a:r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BB81E1-4F3C-6B93-1E46-2EFDDC5C529E}"/>
              </a:ext>
            </a:extLst>
          </p:cNvPr>
          <p:cNvSpPr/>
          <p:nvPr/>
        </p:nvSpPr>
        <p:spPr>
          <a:xfrm>
            <a:off x="9814396" y="5226458"/>
            <a:ext cx="1656080" cy="5689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lIns="18288" rIns="18288" tIns="18288" bIns="18288"/>
          <a:lstStyle/>
          <a:p>
            <a:pPr algn="ctr"/>
            <a:r>
              <a:rPr lang="en-US" dirty="0" sz="1800" b="1"/>
              <a:t>DIGITAL IMAGE</a:t>
            </a:r>
            <a:endParaRPr lang="en-I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D2DB35C-E31D-9A60-EFB1-DAF9394A3786}"/>
              </a:ext>
            </a:extLst>
          </p:cNvPr>
          <p:cNvSpPr/>
          <p:nvPr/>
        </p:nvSpPr>
        <p:spPr>
          <a:xfrm>
            <a:off x="9921076" y="4649612"/>
            <a:ext cx="1442720" cy="4046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lIns="18288" rIns="18288" tIns="18288" bIns="18288"/>
          <a:lstStyle/>
          <a:p>
            <a:pPr algn="ctr"/>
            <a:r>
              <a:rPr lang="en-US" dirty="0" sz="1800" b="1"/>
              <a:t>Processor</a:t>
            </a:r>
            <a:endParaRPr lang="en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E8E1A8A-04CA-A250-2969-02422F7F7581}"/>
              </a:ext>
            </a:extLst>
          </p:cNvPr>
          <p:cNvSpPr/>
          <p:nvPr/>
        </p:nvSpPr>
        <p:spPr>
          <a:xfrm>
            <a:off x="9921076" y="4011450"/>
            <a:ext cx="1442720" cy="4046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lIns="18288" rIns="18288" tIns="18288" bIns="18288" wrap="square"/>
          <a:lstStyle/>
          <a:p>
            <a:pPr algn="ctr">
              <a:buNone/>
            </a:pPr>
            <a:r>
              <a:rPr sz="1800" b="1">
                <a:latin typeface="Aptos"/>
              </a:rPr>
              <a:t>Photodiode</a:t>
            </a:r>
            <a:endParaRPr lang="en-IN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4D77E80-E936-99BA-6A3C-67288B130AFA}"/>
              </a:ext>
            </a:extLst>
          </p:cNvPr>
          <p:cNvSpPr/>
          <p:nvPr/>
        </p:nvSpPr>
        <p:spPr>
          <a:xfrm>
            <a:off x="7884160" y="5231506"/>
            <a:ext cx="1656080" cy="5639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lIns="18288" rIns="18288" tIns="18288" bIns="18288"/>
          <a:lstStyle/>
          <a:p>
            <a:pPr algn="ctr"/>
            <a:r>
              <a:rPr lang="en-US" dirty="0" sz="1800" b="1"/>
              <a:t>PERCEPTION</a:t>
            </a:r>
            <a:endParaRPr lang="en-IN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45E9D25-B8D0-9BEC-5FF6-B55D93BE74D9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>
            <a:off x="8702040" y="3774440"/>
            <a:ext cx="5080" cy="2370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6785145-2A83-295F-505D-136D43D4FDF1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8707120" y="4416101"/>
            <a:ext cx="0" cy="2335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A8F5D89-A1EB-2EE6-8949-195B4D4B864E}"/>
              </a:ext>
            </a:extLst>
          </p:cNvPr>
          <p:cNvCxnSpPr>
            <a:cxnSpLocks/>
            <a:stCxn id="22" idx="2"/>
            <a:endCxn id="26" idx="0"/>
          </p:cNvCxnSpPr>
          <p:nvPr/>
        </p:nvCxnSpPr>
        <p:spPr>
          <a:xfrm>
            <a:off x="8707120" y="5054262"/>
            <a:ext cx="5080" cy="1772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02DF673-FDBE-803B-A0AC-37713C891CCF}"/>
              </a:ext>
            </a:extLst>
          </p:cNvPr>
          <p:cNvCxnSpPr>
            <a:cxnSpLocks/>
            <a:stCxn id="24" idx="2"/>
            <a:endCxn id="23" idx="0"/>
          </p:cNvCxnSpPr>
          <p:nvPr/>
        </p:nvCxnSpPr>
        <p:spPr>
          <a:xfrm>
            <a:off x="10642436" y="5054263"/>
            <a:ext cx="0" cy="1721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BABF2E9-7384-2DD7-B97A-006C76147751}"/>
              </a:ext>
            </a:extLst>
          </p:cNvPr>
          <p:cNvCxnSpPr>
            <a:cxnSpLocks/>
            <a:stCxn id="25" idx="2"/>
            <a:endCxn id="24" idx="0"/>
          </p:cNvCxnSpPr>
          <p:nvPr/>
        </p:nvCxnSpPr>
        <p:spPr>
          <a:xfrm>
            <a:off x="10642436" y="4416101"/>
            <a:ext cx="0" cy="2335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02F2653-D6AA-3F7F-8438-17427794F5B0}"/>
              </a:ext>
            </a:extLst>
          </p:cNvPr>
          <p:cNvCxnSpPr>
            <a:cxnSpLocks/>
            <a:stCxn id="20" idx="2"/>
            <a:endCxn id="25" idx="0"/>
          </p:cNvCxnSpPr>
          <p:nvPr/>
        </p:nvCxnSpPr>
        <p:spPr>
          <a:xfrm>
            <a:off x="10642436" y="3774440"/>
            <a:ext cx="0" cy="2370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ECF4A97-98C9-8765-B48A-E6DFBBC58FD4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10642436" y="3027680"/>
            <a:ext cx="0" cy="177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6D4806F-A051-E1A3-26A8-912043E82ED7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8702040" y="3027680"/>
            <a:ext cx="0" cy="177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262B7B3-BD4A-FF7D-11CA-00218CA4BCDB}"/>
              </a:ext>
            </a:extLst>
          </p:cNvPr>
          <p:cNvCxnSpPr/>
          <p:nvPr/>
        </p:nvCxnSpPr>
        <p:spPr>
          <a:xfrm>
            <a:off x="8702040" y="3027680"/>
            <a:ext cx="194039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0244AD9-087A-C64C-DFE8-7E89FA1EE2AB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9687560" y="2854960"/>
            <a:ext cx="0" cy="1727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1089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492F24-2FE1-3E8D-00DF-AEF52EFA99C0}"/>
              </a:ext>
            </a:extLst>
          </p:cNvPr>
          <p:cNvSpPr txBox="1"/>
          <p:nvPr/>
        </p:nvSpPr>
        <p:spPr>
          <a:xfrm>
            <a:off x="310896" y="219456"/>
            <a:ext cx="11457432" cy="5669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buNone/>
              <a:lnSpc>
                <a:spcPct val="100000"/>
              </a:lnSpc>
            </a:pPr>
            <a:r>
              <a:rPr sz="3200" b="1">
                <a:latin typeface="Aptos"/>
              </a:rPr>
              <a:t>How Color is Detected: Human Eye vs Digital Sensor</a:t>
            </a:r>
            <a:endParaRPr lang="en-US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0702EB5-38F5-6C09-2FFF-5531D282C9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78266"/>
              </p:ext>
            </p:extLst>
          </p:nvPr>
        </p:nvGraphicFramePr>
        <p:xfrm>
          <a:off x="561341" y="1417320"/>
          <a:ext cx="5494020" cy="2240280"/>
        </p:xfrm>
        <a:graphic>
          <a:graphicData uri="http://schemas.openxmlformats.org/drawingml/2006/table">
            <a:tbl>
              <a:tblPr/>
              <a:tblGrid>
                <a:gridCol w="1226820">
                  <a:extLst>
                    <a:ext uri="{9D8B030D-6E8A-4147-A177-3AD203B41FA5}">
                      <a16:colId xmlns:a16="http://schemas.microsoft.com/office/drawing/2014/main" val="2230904170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2604661191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39366748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1" dirty="0" sz="2000"/>
                        <a:t>Receptor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1" sz="2000"/>
                        <a:t>Sensitivity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1" dirty="0" sz="2000"/>
                        <a:t>Role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412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dirty="0" sz="1800"/>
                        <a:t>S-cones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sz="1800"/>
                        <a:t>Short wavelengths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dirty="0" sz="1800"/>
                        <a:t>Blue/violet region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631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sz="1800"/>
                        <a:t>M-cones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dirty="0" sz="1800"/>
                        <a:t>Medium wavelengths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sz="1800"/>
                        <a:t>Green region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9651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dirty="0" sz="1800"/>
                        <a:t>L-cones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dirty="0" sz="1800"/>
                        <a:t>Long wavelengths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b="0" dirty="0" sz="1800"/>
                        <a:t>Yellow/red region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15403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EE6F95C-E21A-5FDF-1884-509389C8A557}"/>
              </a:ext>
            </a:extLst>
          </p:cNvPr>
          <p:cNvSpPr txBox="1"/>
          <p:nvPr/>
        </p:nvSpPr>
        <p:spPr>
          <a:xfrm>
            <a:off x="6400800" y="1508760"/>
            <a:ext cx="484632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marL="285750" indent="-285750" algn="l">
              <a:spcAft>
                <a:spcPts val="0"/>
              </a:spcAft>
              <a:buNone/>
              <a:lnSpc>
                <a:spcPct val="100000"/>
              </a:lnSpc>
            </a:pPr>
            <a:r>
              <a:rPr sz="1800" b="0">
                <a:latin typeface="Aptos"/>
              </a:rPr>
              <a:t>Their responses overlap; the brain combines the signals to perceive color.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955426-0515-7726-0B81-718D3FEE26D4}"/>
              </a:ext>
            </a:extLst>
          </p:cNvPr>
          <p:cNvSpPr txBox="1"/>
          <p:nvPr/>
        </p:nvSpPr>
        <p:spPr>
          <a:xfrm>
            <a:off x="310896" y="3886200"/>
            <a:ext cx="754380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buNone/>
              <a:spcAft>
                <a:spcPts val="0"/>
              </a:spcAft>
              <a:lnSpc>
                <a:spcPct val="100000"/>
              </a:lnSpc>
            </a:pPr>
            <a:r>
              <a:rPr sz="2200" b="1">
                <a:latin typeface="Aptos"/>
              </a:rPr>
              <a:t>Digital sensor</a:t>
            </a:r>
          </a:p>
          <a:p>
            <a:pPr algn="l"/>
            <a:r>
              <a:rPr sz="1800">
                <a:latin typeface="Aptos"/>
              </a:rPr>
              <a:t>A digital camera uses a color filter array (CFA), commonly the Bayer pattern.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C5BA9F7-2B25-51CC-B6D6-29C5D5C57D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835173"/>
              </p:ext>
            </p:extLst>
          </p:nvPr>
        </p:nvGraphicFramePr>
        <p:xfrm>
          <a:off x="8229600" y="3794760"/>
          <a:ext cx="1531620" cy="1463040"/>
        </p:xfrm>
        <a:graphic>
          <a:graphicData uri="http://schemas.openxmlformats.org/drawingml/2006/table">
            <a:tbl>
              <a:tblPr/>
              <a:tblGrid>
                <a:gridCol w="383576">
                  <a:extLst>
                    <a:ext uri="{9D8B030D-6E8A-4147-A177-3AD203B41FA5}">
                      <a16:colId xmlns:a16="http://schemas.microsoft.com/office/drawing/2014/main" val="2230904170"/>
                    </a:ext>
                  </a:extLst>
                </a:gridCol>
                <a:gridCol w="375530">
                  <a:extLst>
                    <a:ext uri="{9D8B030D-6E8A-4147-A177-3AD203B41FA5}">
                      <a16:colId xmlns:a16="http://schemas.microsoft.com/office/drawing/2014/main" val="2604661191"/>
                    </a:ext>
                  </a:extLst>
                </a:gridCol>
                <a:gridCol w="386257">
                  <a:extLst>
                    <a:ext uri="{9D8B030D-6E8A-4147-A177-3AD203B41FA5}">
                      <a16:colId xmlns:a16="http://schemas.microsoft.com/office/drawing/2014/main" val="3936674805"/>
                    </a:ext>
                  </a:extLst>
                </a:gridCol>
                <a:gridCol w="386257">
                  <a:extLst>
                    <a:ext uri="{9D8B030D-6E8A-4147-A177-3AD203B41FA5}">
                      <a16:colId xmlns:a16="http://schemas.microsoft.com/office/drawing/2014/main" val="3515888961"/>
                    </a:ext>
                  </a:extLst>
                </a:gridCol>
              </a:tblGrid>
              <a:tr h="3656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1" dirty="0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1" dirty="0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1" dirty="0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1" dirty="0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412263"/>
                  </a:ext>
                </a:extLst>
              </a:tr>
              <a:tr h="3656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631235"/>
                  </a:ext>
                </a:extLst>
              </a:tr>
              <a:tr h="3656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9651103"/>
                  </a:ext>
                </a:extLst>
              </a:tr>
              <a:tr h="3656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0" dirty="0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15403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A7F2A5F2-C734-7A60-8B18-0216CB542858}"/>
              </a:ext>
            </a:extLst>
          </p:cNvPr>
          <p:cNvSpPr txBox="1"/>
          <p:nvPr/>
        </p:nvSpPr>
        <p:spPr>
          <a:xfrm>
            <a:off x="310896" y="5468112"/>
            <a:ext cx="1115568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marL="285750" indent="-285750" algn="l">
              <a:spcAft>
                <a:spcPts val="0"/>
              </a:spcAft>
              <a:buNone/>
              <a:lnSpc>
                <a:spcPct val="96000"/>
              </a:lnSpc>
            </a:pPr>
            <a:r>
              <a:rPr sz="1800" b="0">
                <a:latin typeface="Aptos"/>
              </a:rPr>
              <a:t>– R, G and B filters pass different wavelength ranges to sensor elements.</a:t>
            </a:r>
          </a:p>
          <a:p>
            <a:pPr algn="l">
              <a:lnSpc>
                <a:spcPct val="96000"/>
              </a:lnSpc>
              <a:spcAft>
                <a:spcPts val="0"/>
              </a:spcAft>
              <a:buNone/>
            </a:pPr>
            <a:r>
              <a:rPr sz="1800" b="0">
                <a:latin typeface="Aptos"/>
              </a:rPr>
              <a:t>– Each sensor element measures light intensity, not color directly.</a:t>
            </a:r>
          </a:p>
          <a:p>
            <a:pPr algn="l">
              <a:lnSpc>
                <a:spcPct val="96000"/>
              </a:lnSpc>
              <a:spcAft>
                <a:spcPts val="0"/>
              </a:spcAft>
              <a:buNone/>
            </a:pPr>
            <a:r>
              <a:rPr sz="1800" b="0">
                <a:latin typeface="Aptos"/>
              </a:rPr>
              <a:t>– The processor estimates pixel color; demosaicing and color correction follow.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" y="822960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latin typeface="Aptos"/>
              </a:rPr>
              <a:t>Human eye</a:t>
            </a:r>
          </a:p>
        </p:txBody>
      </p:sp>
    </p:spTree>
    <p:extLst>
      <p:ext uri="{BB962C8B-B14F-4D97-AF65-F5344CB8AC3E}">
        <p14:creationId xmlns:p14="http://schemas.microsoft.com/office/powerpoint/2010/main" val="2244350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9ADC8B-393F-5D47-393E-75C15F7FF85C}"/>
              </a:ext>
            </a:extLst>
          </p:cNvPr>
          <p:cNvSpPr txBox="1"/>
          <p:nvPr/>
        </p:nvSpPr>
        <p:spPr>
          <a:xfrm>
            <a:off x="381000" y="252214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Vision vs Digital Sensor: Key Differences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045D71FF-7787-7C6E-14F5-0F2AAAD41C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956513"/>
              </p:ext>
            </p:extLst>
          </p:nvPr>
        </p:nvGraphicFramePr>
        <p:xfrm>
          <a:off x="487680" y="960120"/>
          <a:ext cx="10563891" cy="4349632"/>
        </p:xfrm>
        <a:graphic>
          <a:graphicData uri="http://schemas.openxmlformats.org/drawingml/2006/table">
            <a:tbl>
              <a:tblPr/>
              <a:tblGrid>
                <a:gridCol w="2118360">
                  <a:extLst>
                    <a:ext uri="{9D8B030D-6E8A-4147-A177-3AD203B41FA5}">
                      <a16:colId xmlns:a16="http://schemas.microsoft.com/office/drawing/2014/main" val="1340102914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3497351009"/>
                    </a:ext>
                  </a:extLst>
                </a:gridCol>
                <a:gridCol w="3827811">
                  <a:extLst>
                    <a:ext uri="{9D8B030D-6E8A-4147-A177-3AD203B41FA5}">
                      <a16:colId xmlns:a16="http://schemas.microsoft.com/office/drawing/2014/main" val="248176121"/>
                    </a:ext>
                  </a:extLst>
                </a:gridCol>
              </a:tblGrid>
              <a:tr h="310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Feature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Human Visual System 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Digital Imaging System 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76754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Light receiver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Retina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CMOS/CCD sensor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6006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Light receptors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Rods and cones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Photodiodes / sensor pixels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590640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Color sensing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S, M, L cone responses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RGB or other color filters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035454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Brightness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Neural response to light intensity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Measured electrical signal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2727"/>
                  </a:ext>
                </a:extLst>
              </a:tr>
              <a:tr h="39087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Processing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Retina + visual cortex + brain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Image signal processor + algorithms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038447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Color</a:t>
                      </a:r>
                      <a:r>
                        <a:rPr lang="en-IN" sz="1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adaptation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Biological adaptation and contextual perception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White balance and color correction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3435099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Output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Perceived scene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Numerical pixel values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4350663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Dynamic response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Adapts to changing illumination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Limited by sensor and processing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6932119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Color reproduction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Context-dependent perception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Depends on sensor, filters, calibration and algorithms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6499797"/>
                  </a:ext>
                </a:extLst>
              </a:tr>
              <a:tr h="4262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Representation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Neural signals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Digital values, e.g. 0–255 per </a:t>
                      </a:r>
                      <a:r>
                        <a:rPr lang="fr-FR" sz="1800" b="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channel</a:t>
                      </a:r>
                      <a:endParaRPr lang="fr-FR" sz="1800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6716717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3D9E2619-D2A1-4242-FABD-1291CDF701C0}"/>
              </a:ext>
            </a:extLst>
          </p:cNvPr>
          <p:cNvSpPr txBox="1"/>
          <p:nvPr/>
        </p:nvSpPr>
        <p:spPr>
          <a:xfrm>
            <a:off x="381000" y="5532120"/>
            <a:ext cx="10563891" cy="92333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b="1" dirty="0" sz="19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are they not exactly the same?</a:t>
            </a:r>
          </a:p>
          <a:p>
            <a:pPr>
              <a:lnSpc>
                <a:spcPct val="100000"/>
              </a:lnSpc>
            </a:pPr>
            <a:r>
              <a:rPr lang="en-US" b="0" dirty="0" sz="19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vision</a:t>
            </a:r>
            <a:r>
              <a:rPr lang="en-US" dirty="0" sz="19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adapts to lighting and uses context to interpret colors.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dirty="0" sz="19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sensors</a:t>
            </a:r>
            <a:r>
              <a:rPr lang="en-US" dirty="0" sz="19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measure light and use processing algorithms such as </a:t>
            </a:r>
            <a:r>
              <a:rPr lang="en-US" b="0" dirty="0" sz="19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white balance</a:t>
            </a:r>
            <a:r>
              <a:rPr lang="en-US" dirty="0" sz="19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reproduce colors.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6715A36-8545-E9D2-0912-78A8F8C2E5BD}"/>
              </a:ext>
            </a:extLst>
          </p:cNvPr>
          <p:cNvSpPr txBox="1"/>
          <p:nvPr/>
        </p:nvSpPr>
        <p:spPr>
          <a:xfrm>
            <a:off x="3894399" y="5376672"/>
            <a:ext cx="22016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 2: Key Difference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747638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095375"/>
            <a:ext cx="11430000" cy="53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192024" y="283464"/>
            <a:ext cx="11814048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18288" rIns="18288" bIns="18288" anchor="t" anchorCtr="0">
            <a:spAutoFit/>
          </a:bodyPr>
          <a:lstStyle/>
          <a:p>
            <a:pPr marL="0" marR="0" lvl="0" indent="0" algn="ctr" rtl="0">
              <a:spcAft>
                <a:spcPts val="0"/>
              </a:spcAft>
              <a:buNone/>
              <a:lnSpc>
                <a:spcPct val="100000"/>
              </a:lnSpc>
            </a:pPr>
            <a:r>
              <a:rPr sz="3200" b="1">
                <a:latin typeface="Aptos"/>
              </a:rPr>
              <a:t>Image Acquisition Fundamentals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768096" y="1389888"/>
            <a:ext cx="598017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18288" rIns="18288" bIns="18288" anchor="t" anchorCtr="0">
            <a:spAutoFit/>
          </a:bodyPr>
          <a:lstStyle/>
          <a:p>
            <a:pPr marL="0" marR="0" lvl="0" indent="0" algn="l" rtl="0">
              <a:buNone/>
              <a:lnSpc>
                <a:spcPct val="105000"/>
              </a:lnSpc>
              <a:spcAft>
                <a:spcPts val="0"/>
              </a:spcAft>
            </a:pPr>
            <a:r>
              <a:rPr sz="2200" b="1">
                <a:latin typeface="Aptos"/>
              </a:rPr>
              <a:t>Definition: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768096" y="1828800"/>
            <a:ext cx="598017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18288" rIns="18288" bIns="18288" anchor="t" anchorCtr="0">
            <a:spAutoFit/>
          </a:bodyPr>
          <a:lstStyle/>
          <a:p>
            <a:pPr marL="0" marR="0" lvl="0" indent="0" algn="l" rtl="0">
              <a:buNone/>
              <a:lnSpc>
                <a:spcPct val="105000"/>
              </a:lnSpc>
              <a:spcAft>
                <a:spcPts val="0"/>
              </a:spcAft>
            </a:pPr>
            <a:r>
              <a:rPr sz="1800">
                <a:latin typeface="Aptos"/>
              </a:rPr>
              <a:t>Image sensing captures scene information using physical sensors.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768096" y="2542032"/>
            <a:ext cx="598017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18288" rIns="18288" bIns="18288" anchor="t" anchorCtr="0">
            <a:spAutoFit/>
          </a:bodyPr>
          <a:lstStyle/>
          <a:p>
            <a:pPr marL="0" marR="0" lvl="0" indent="0" algn="l" rtl="0">
              <a:buNone/>
              <a:lnSpc>
                <a:spcPct val="105000"/>
              </a:lnSpc>
              <a:spcAft>
                <a:spcPts val="0"/>
              </a:spcAft>
            </a:pPr>
            <a:r>
              <a:rPr sz="2200" b="1">
                <a:latin typeface="Aptos"/>
              </a:rPr>
              <a:t>In simple words: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68096" y="4590288"/>
            <a:ext cx="598017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18288" rIns="18288" bIns="18288" anchor="t" anchorCtr="0">
            <a:spAutoFit/>
          </a:bodyPr>
          <a:lstStyle/>
          <a:p>
            <a:pPr marL="0" marR="0" lvl="0" indent="0" algn="l" rtl="0">
              <a:buNone/>
              <a:lnSpc>
                <a:spcPct val="105000"/>
              </a:lnSpc>
              <a:spcAft>
                <a:spcPts val="0"/>
              </a:spcAft>
            </a:pPr>
            <a:r>
              <a:rPr sz="2200" b="1">
                <a:latin typeface="Aptos"/>
              </a:rPr>
              <a:t>Sensor Material: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68096" y="5047488"/>
            <a:ext cx="598017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18288" rIns="18288" bIns="18288" anchor="t" anchorCtr="0">
            <a:spAutoFit/>
          </a:bodyPr>
          <a:lstStyle/>
          <a:p>
            <a:pPr marL="0" marR="0" lvl="0" indent="0" algn="l" rtl="0">
              <a:buNone/>
              <a:lnSpc>
                <a:spcPct val="105000"/>
              </a:lnSpc>
              <a:spcAft>
                <a:spcPts val="0"/>
              </a:spcAft>
            </a:pPr>
            <a:r>
              <a:rPr sz="1800">
                <a:latin typeface="Aptos"/>
              </a:rPr>
              <a:t>Silicon photodiodes are commonly used to capture light.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058150" y="5632102"/>
            <a:ext cx="24384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 1: Light entering a camera lens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66800" y="3097291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152144" y="2999232"/>
            <a:ext cx="55961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18288" rIns="18288" bIns="18288" anchor="t" anchorCtr="0">
            <a:spAutoFit/>
          </a:bodyPr>
          <a:lstStyle/>
          <a:p>
            <a:pPr marL="0" marR="0" lvl="0" indent="0" algn="l" rtl="0">
              <a:buNone/>
              <a:lnSpc>
                <a:spcPct val="105000"/>
              </a:lnSpc>
              <a:spcAft>
                <a:spcPts val="0"/>
              </a:spcAft>
            </a:pPr>
            <a:r>
              <a:rPr sz="1800">
                <a:latin typeface="Aptos"/>
              </a:rPr>
              <a:t>It converts reflected light into an analog electrical signal.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66800" y="3851552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152144" y="3703320"/>
            <a:ext cx="5596128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18288" rIns="18288" bIns="18288" anchor="t" anchorCtr="0">
            <a:spAutoFit/>
          </a:bodyPr>
          <a:lstStyle/>
          <a:p>
            <a:pPr marL="0" marR="0" lvl="0" indent="0" algn="l" rtl="0">
              <a:buNone/>
              <a:lnSpc>
                <a:spcPct val="105000"/>
              </a:lnSpc>
              <a:spcAft>
                <a:spcPts val="0"/>
              </a:spcAft>
            </a:pPr>
            <a:r>
              <a:rPr sz="1800">
                <a:latin typeface="Aptos"/>
              </a:rPr>
              <a:t>The process needs illumination, reflected light, and a sensing mechanism.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97042" y="1726852"/>
            <a:ext cx="3960465" cy="38098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1681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095375"/>
            <a:ext cx="11430000" cy="53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190500" y="285750"/>
            <a:ext cx="11811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Sensor Arrangements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771525" y="1390650"/>
            <a:ext cx="106489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Images can be acquired using different sensor configurations depending on the application: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771525" y="1901130"/>
            <a:ext cx="106489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Single Sensor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71525" y="2221110"/>
            <a:ext cx="106489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Generates 2D images by mechanical scanning in both x and y directions. It is highly precise but generally a slower method.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771525" y="3051571"/>
            <a:ext cx="106489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Line Sensor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771525" y="3371552"/>
            <a:ext cx="106489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Senses a full strip in one direction while mechanical motion operates in the perpendicular direction (e.g., flatbed scanners).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771525" y="4202013"/>
            <a:ext cx="106489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Sensor Array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71525" y="4521993"/>
            <a:ext cx="106489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2D arrangement that captures the entire image area at once, eliminating the need for complex mechanical motion.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25216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095375"/>
            <a:ext cx="11430000" cy="53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190500" y="285750"/>
            <a:ext cx="11811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2D Sensor Arrays (Cameras)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768096" y="1389888"/>
            <a:ext cx="598017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18288" rIns="18288" bIns="18288" anchor="t" anchorCtr="0">
            <a:spAutoFit/>
          </a:bodyPr>
          <a:lstStyle/>
          <a:p>
            <a:pPr marL="0" marR="0" lvl="0" indent="0" algn="l" rtl="0">
              <a:buNone/>
              <a:lnSpc>
                <a:spcPct val="105000"/>
              </a:lnSpc>
              <a:spcAft>
                <a:spcPts val="0"/>
              </a:spcAft>
            </a:pPr>
            <a:r>
              <a:rPr sz="2200" b="1">
                <a:latin typeface="Aptos"/>
              </a:rPr>
              <a:t>How they work: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768096" y="3401568"/>
            <a:ext cx="598017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18288" rIns="18288" bIns="18288" anchor="t" anchorCtr="0">
            <a:spAutoFit/>
          </a:bodyPr>
          <a:lstStyle/>
          <a:p>
            <a:pPr marL="0" marR="0" lvl="0" indent="0" algn="l" rtl="0">
              <a:buNone/>
              <a:lnSpc>
                <a:spcPct val="105000"/>
              </a:lnSpc>
              <a:spcAft>
                <a:spcPts val="0"/>
              </a:spcAft>
            </a:pPr>
            <a:r>
              <a:rPr sz="2200" b="1">
                <a:latin typeface="Aptos"/>
              </a:rPr>
              <a:t>Signal Generation: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310562" y="4848671"/>
            <a:ext cx="19335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 2: 2D Sensor Array Chip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1066800" y="1851600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1152144" y="1856231"/>
            <a:ext cx="559612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18288" rIns="18288" bIns="18288" anchor="t" anchorCtr="0">
            <a:spAutoFit/>
          </a:bodyPr>
          <a:lstStyle/>
          <a:p>
            <a:pPr marL="0" marR="0" lvl="0" indent="0" algn="l" rtl="0">
              <a:spcAft>
                <a:spcPts val="0"/>
              </a:spcAft>
              <a:buNone/>
              <a:lnSpc>
                <a:spcPct val="100000"/>
              </a:lnSpc>
            </a:pPr>
            <a:r>
              <a:rPr sz="1800" b="0">
                <a:latin typeface="Aptos"/>
              </a:rPr>
              <a:t>– Sensor arrays capture a dynamic 2D scene without mechanical motion.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066800" y="2605861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1152144" y="2542032"/>
            <a:ext cx="55961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18288" rIns="18288" bIns="18288" anchor="t" anchorCtr="0">
            <a:spAutoFit/>
          </a:bodyPr>
          <a:lstStyle/>
          <a:p>
            <a:pPr marL="0" marR="0" lvl="0" indent="0" algn="l" rtl="0">
              <a:spcAft>
                <a:spcPts val="0"/>
              </a:spcAft>
              <a:buNone/>
              <a:lnSpc>
                <a:spcPct val="100000"/>
              </a:lnSpc>
            </a:pPr>
            <a:r>
              <a:rPr sz="1800" b="0">
                <a:latin typeface="Aptos"/>
              </a:rPr>
              <a:t>– CCD and CMOS are common sensor technologies used in digital cameras.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1066800" y="3965852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1152144" y="3886200"/>
            <a:ext cx="5596128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18288" rIns="18288" bIns="18288" anchor="t" anchorCtr="0">
            <a:spAutoFit/>
          </a:bodyPr>
          <a:lstStyle/>
          <a:p>
            <a:pPr marL="0" marR="0" lvl="0" indent="0" algn="l" rtl="0">
              <a:spcAft>
                <a:spcPts val="0"/>
              </a:spcAft>
              <a:buNone/>
              <a:lnSpc>
                <a:spcPct val="100000"/>
              </a:lnSpc>
            </a:pPr>
            <a:r>
              <a:rPr sz="1800" b="0">
                <a:latin typeface="Aptos"/>
              </a:rPr>
              <a:t>– Each element converts incident light into charge proportional to energy.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1066800" y="5040094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152144" y="4773168"/>
            <a:ext cx="5596128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18288" rIns="18288" bIns="18288" anchor="t" anchorCtr="0">
            <a:spAutoFit/>
          </a:bodyPr>
          <a:lstStyle/>
          <a:p>
            <a:pPr marL="0" marR="0" lvl="0" indent="0" algn="l" rtl="0">
              <a:spcAft>
                <a:spcPts val="0"/>
              </a:spcAft>
              <a:buNone/>
              <a:lnSpc>
                <a:spcPct val="100000"/>
              </a:lnSpc>
            </a:pPr>
            <a:r>
              <a:rPr sz="1800" b="0">
                <a:latin typeface="Aptos"/>
              </a:rPr>
              <a:t>– The array forms the focal plane and produces an analog signal.</a:t>
            </a:r>
            <a:endParaRPr/>
          </a:p>
        </p:txBody>
      </p:sp>
      <p:pic>
        <p:nvPicPr>
          <p:cNvPr id="135" name="Google Shape;13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34225" y="2510283"/>
            <a:ext cx="4286250" cy="2243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7528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095375"/>
            <a:ext cx="11430000" cy="53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190500" y="285750"/>
            <a:ext cx="11811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Need for Digitization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771525" y="1390650"/>
            <a:ext cx="106489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 process images on a computer, the analog signal from sensors must be digitized in two ways: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771525" y="1993392"/>
            <a:ext cx="106489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Spatial Digitization (Sampling)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771525" y="2395728"/>
            <a:ext cx="106489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output of a sensor array is spatially continuous. We must convert this continuous physical plane into a discrete grid structure suitable for computer processing and storage.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771525" y="3246120"/>
            <a:ext cx="106489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Amplitude Digitization (Quantization)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771525" y="3657600"/>
            <a:ext cx="106489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voltage values representing brightness are analog and continuous. These continuous waveforms must be mathematically mapped to discrete, finite digital steps.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73967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095375"/>
            <a:ext cx="11430000" cy="53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190500" y="285750"/>
            <a:ext cx="11811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Sampling: Defining the Pixels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771525" y="1389888"/>
            <a:ext cx="59817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Process: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771525" y="3931920"/>
            <a:ext cx="59817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Impact on Quality: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7658100" y="4948535"/>
            <a:ext cx="32385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 3: Continuous image mapped to pixel grid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1066800" y="1851600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1152144" y="1901952"/>
            <a:ext cx="559612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18288" rIns="18288" bIns="18288" anchor="t" anchorCtr="0">
            <a:spAutoFit/>
          </a:bodyPr>
          <a:lstStyle/>
          <a:p>
            <a:pPr marL="0" marR="0" lvl="0" indent="0" algn="l" rtl="0">
              <a:spcAft>
                <a:spcPts val="0"/>
              </a:spcAft>
              <a:buNone/>
              <a:lnSpc>
                <a:spcPct val="100000"/>
              </a:lnSpc>
            </a:pPr>
            <a:r>
              <a:rPr sz="1800" b="0">
                <a:latin typeface="Aptos"/>
              </a:rPr>
              <a:t>– Discretizes the spatial coordinates (x, y) of the image.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1066800" y="2605861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1152144" y="2651760"/>
            <a:ext cx="559612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18288" rIns="18288" bIns="18288" anchor="t" anchorCtr="0">
            <a:spAutoFit/>
          </a:bodyPr>
          <a:lstStyle/>
          <a:p>
            <a:pPr marL="0" marR="0" lvl="0" indent="0" algn="l" rtl="0">
              <a:spcAft>
                <a:spcPts val="0"/>
              </a:spcAft>
              <a:buNone/>
              <a:lnSpc>
                <a:spcPct val="100000"/>
              </a:lnSpc>
            </a:pPr>
            <a:r>
              <a:rPr sz="1800" b="0">
                <a:latin typeface="Aptos"/>
              </a:rPr>
              <a:t>– Converts the continuous visual field into a grid of pixels.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1066800" y="4343400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1152144" y="4370832"/>
            <a:ext cx="5596128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18288" rIns="18288" bIns="18288" anchor="t" anchorCtr="0">
            <a:spAutoFit/>
          </a:bodyPr>
          <a:lstStyle/>
          <a:p>
            <a:pPr marL="0" marR="0" lvl="0" indent="0" algn="l" rtl="0">
              <a:spcAft>
                <a:spcPts val="0"/>
              </a:spcAft>
              <a:buNone/>
              <a:lnSpc>
                <a:spcPct val="100000"/>
              </a:lnSpc>
            </a:pPr>
            <a:r>
              <a:rPr sz="1800" b="0">
                <a:latin typeface="Aptos"/>
              </a:rPr>
              <a:t>– Grid density controls spatial resolution and detail.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1066800" y="5166360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1152144" y="5138928"/>
            <a:ext cx="5596128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18288" rIns="18288" bIns="18288" anchor="t" anchorCtr="0">
            <a:spAutoFit/>
          </a:bodyPr>
          <a:lstStyle/>
          <a:p>
            <a:pPr marL="0" marR="0" lvl="0" indent="0" algn="l" rtl="0">
              <a:spcAft>
                <a:spcPts val="0"/>
              </a:spcAft>
              <a:buNone/>
              <a:lnSpc>
                <a:spcPct val="100000"/>
              </a:lnSpc>
            </a:pPr>
            <a:r>
              <a:rPr sz="1800" b="0">
                <a:latin typeface="Aptos"/>
              </a:rPr>
              <a:t>– Higher sampling captures finer detail but increases storage.</a:t>
            </a:r>
            <a:endParaRPr/>
          </a:p>
        </p:txBody>
      </p:sp>
      <p:pic>
        <p:nvPicPr>
          <p:cNvPr id="164" name="Google Shape;16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34225" y="2410420"/>
            <a:ext cx="4286101" cy="24427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3137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095375"/>
            <a:ext cx="11430000" cy="53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190500" y="285750"/>
            <a:ext cx="11811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Quantization: Assigning Values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771525" y="1389888"/>
            <a:ext cx="59817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Process: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771525" y="3931920"/>
            <a:ext cx="59817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Impact on Quality: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7648575" y="5632102"/>
            <a:ext cx="32575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 4: Mapping analog wave to discrete values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1066800" y="1851600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1152144" y="1901952"/>
            <a:ext cx="559612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18288" rIns="18288" bIns="18288" anchor="t" anchorCtr="0">
            <a:spAutoFit/>
          </a:bodyPr>
          <a:lstStyle/>
          <a:p>
            <a:pPr marL="0" marR="0" lvl="0" indent="0" algn="l" rtl="0">
              <a:spcAft>
                <a:spcPts val="0"/>
              </a:spcAft>
              <a:buNone/>
              <a:lnSpc>
                <a:spcPct val="100000"/>
              </a:lnSpc>
            </a:pPr>
            <a:r>
              <a:rPr sz="1800" b="0">
                <a:latin typeface="Aptos"/>
              </a:rPr>
              <a:t>– Converts continuous pixel amplitude (voltage) to digital values.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1066800" y="2605861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1152144" y="2651760"/>
            <a:ext cx="559612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18288" rIns="18288" bIns="18288" anchor="t" anchorCtr="0">
            <a:spAutoFit/>
          </a:bodyPr>
          <a:lstStyle/>
          <a:p>
            <a:pPr marL="0" marR="0" lvl="0" indent="0" algn="l" rtl="0">
              <a:spcAft>
                <a:spcPts val="0"/>
              </a:spcAft>
              <a:buNone/>
              <a:lnSpc>
                <a:spcPct val="100000"/>
              </a:lnSpc>
            </a:pPr>
            <a:r>
              <a:rPr sz="1800" b="0">
                <a:latin typeface="Aptos"/>
              </a:rPr>
              <a:t>– Maps each intensity to the nearest level, e.g. 0–255 for 8-bit.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1066800" y="4343400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1152144" y="4370832"/>
            <a:ext cx="5596128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18288" rIns="18288" bIns="18288" anchor="t" anchorCtr="0">
            <a:spAutoFit/>
          </a:bodyPr>
          <a:lstStyle/>
          <a:p>
            <a:pPr marL="0" marR="0" lvl="0" indent="0" algn="l" rtl="0">
              <a:spcAft>
                <a:spcPts val="0"/>
              </a:spcAft>
              <a:buNone/>
              <a:lnSpc>
                <a:spcPct val="100000"/>
              </a:lnSpc>
            </a:pPr>
            <a:r>
              <a:rPr sz="1800" b="0">
                <a:latin typeface="Aptos"/>
              </a:rPr>
              <a:t>– Determines grayscale depth or color resolution.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1066800" y="5166360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8" tIns="27432" rIns="64008" bIns="2743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1152144" y="5138928"/>
            <a:ext cx="5596128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18288" rIns="18288" bIns="18288" anchor="t" anchorCtr="0">
            <a:spAutoFit/>
          </a:bodyPr>
          <a:lstStyle/>
          <a:p>
            <a:pPr marL="0" marR="0" lvl="0" indent="0" algn="l" rtl="0">
              <a:spcAft>
                <a:spcPts val="0"/>
              </a:spcAft>
              <a:buNone/>
              <a:lnSpc>
                <a:spcPct val="100000"/>
              </a:lnSpc>
            </a:pPr>
            <a:r>
              <a:rPr sz="1800" b="0">
                <a:latin typeface="Aptos"/>
              </a:rPr>
              <a:t>– Too few levels can cause false contouring or banding.</a:t>
            </a:r>
            <a:endParaRPr/>
          </a:p>
        </p:txBody>
      </p:sp>
      <p:pic>
        <p:nvPicPr>
          <p:cNvPr id="182" name="Google Shape;18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72350" y="1726852"/>
            <a:ext cx="3810000" cy="381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4696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095375"/>
            <a:ext cx="11430000" cy="547389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190500" y="285750"/>
            <a:ext cx="11811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Image Processing Pipeline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4981575" y="1390650"/>
            <a:ext cx="22288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Continuous Scene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029325" y="1954410"/>
            <a:ext cx="1333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↓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5305425" y="2518171"/>
            <a:ext cx="15811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Sensor Array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6029325" y="3081932"/>
            <a:ext cx="1333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↓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5267325" y="3645693"/>
            <a:ext cx="16573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Analog Signal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6029325" y="4209454"/>
            <a:ext cx="1333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↓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4438650" y="4773215"/>
            <a:ext cx="33147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Sampling &amp; Quantization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6029325" y="5336976"/>
            <a:ext cx="1333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↓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5224462" y="5900737"/>
            <a:ext cx="1743075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Digital Pixels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21970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095375"/>
            <a:ext cx="11430000" cy="53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190500" y="285750"/>
            <a:ext cx="11811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Image Sources</a:t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1152525" y="1390650"/>
            <a:ext cx="10267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1152525" y="2162175"/>
            <a:ext cx="10267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1152525" y="2933700"/>
            <a:ext cx="10267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1152525" y="2152650"/>
            <a:ext cx="10267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1152525" y="2152650"/>
            <a:ext cx="10267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1152525" y="2924175"/>
            <a:ext cx="10267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1152525" y="2924175"/>
            <a:ext cx="10267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1152525" y="3695700"/>
            <a:ext cx="10267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1152525" y="3695700"/>
            <a:ext cx="10267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2525" y="15335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 txBox="1"/>
          <p:nvPr/>
        </p:nvSpPr>
        <p:spPr>
          <a:xfrm>
            <a:off x="2247900" y="1554509"/>
            <a:ext cx="917257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https://www.picturecorrect.com/fujifilm-finepix-s4000-s3200-and-s2950/fujifilm-s2950/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2247900" y="1775370"/>
            <a:ext cx="91725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</a:t>
            </a:r>
            <a:r>
              <a:rPr lang="en-US" sz="1400" b="0" i="0" u="none" strike="noStrike" cap="none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www.picturecorrect.com</a:t>
            </a:r>
            <a:endParaRPr/>
          </a:p>
        </p:txBody>
      </p:sp>
      <p:pic>
        <p:nvPicPr>
          <p:cNvPr id="216" name="Google Shape;21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2525" y="23050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2247900" y="2326034"/>
            <a:ext cx="917257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https://www.teledynevisionsolutions.com/globalassets/tvs/learn/dalsa/ccd-vs-cmos/thumb-screenshot-2023-10-24-104441.jpg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2247900" y="2546895"/>
            <a:ext cx="91725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</a:t>
            </a:r>
            <a:r>
              <a:rPr lang="en-US" sz="1400" b="0" i="0" u="none" strike="noStrike" cap="none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www.teledynevisionsolutions.com</a:t>
            </a:r>
            <a:endParaRPr/>
          </a:p>
        </p:txBody>
      </p:sp>
      <p:pic>
        <p:nvPicPr>
          <p:cNvPr id="219" name="Google Shape;21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2525" y="30765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2247900" y="3097559"/>
            <a:ext cx="917257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https://sigmoidal.ai/wp-content/uploads/2025/06/Sampling-and-Quantization-1.png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2247900" y="3318420"/>
            <a:ext cx="91725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</a:t>
            </a:r>
            <a:r>
              <a:rPr lang="en-US" sz="1400" b="0" i="0" u="none" strike="noStrike" cap="none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sigmoidal.ai</a:t>
            </a:r>
            <a:endParaRPr/>
          </a:p>
        </p:txBody>
      </p:sp>
      <p:pic>
        <p:nvPicPr>
          <p:cNvPr id="222" name="Google Shape;22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2525" y="38481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2247900" y="3869084"/>
            <a:ext cx="917257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https://zeroinstrument.com/wp-content/uploads/2026/02/Understanding-Sampling-and-Signal-Conversion-From-Analog-to-Digital-768x768.png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2247900" y="4089945"/>
            <a:ext cx="91725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</a:t>
            </a:r>
            <a:r>
              <a:rPr lang="en-US" sz="1400" b="0" i="0" u="none" strike="noStrike" cap="none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zeroinstrument.com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65681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"/>
          <p:cNvSpPr txBox="1"/>
          <p:nvPr/>
        </p:nvSpPr>
        <p:spPr>
          <a:xfrm>
            <a:off x="190500" y="285750"/>
            <a:ext cx="11811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Image Sources</a:t>
            </a: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762000" y="10953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762000" y="18669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762000" y="26384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762000" y="18573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762000" y="18573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762000" y="26289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762000" y="26289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762000" y="34004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762000" y="34004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2382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1857375" y="1259234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https://www.picturecorrect.com/fujifilm-finepix-s4000-s3200-and-s2950/fujifilm-s2950/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1857375" y="148009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</a:t>
            </a:r>
            <a:r>
              <a:rPr lang="en-US" sz="1400" b="0" i="0" u="none" strike="noStrike" cap="none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www.picturecorrect.com</a:t>
            </a:r>
            <a:endParaRPr/>
          </a:p>
        </p:txBody>
      </p:sp>
      <p:pic>
        <p:nvPicPr>
          <p:cNvPr id="242" name="Google Shape;24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0097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1857375" y="2030759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https://www.teledynevisionsolutions.com/globalassets/tvs/learn/dalsa/ccd-vs-cmos/thumb-screenshot-2023-10-24-104441.jpg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1857375" y="2251620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</a:t>
            </a:r>
            <a:r>
              <a:rPr lang="en-US" sz="1400" b="0" i="0" u="none" strike="noStrike" cap="none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www.teledynevisionsolutions.com</a:t>
            </a:r>
            <a:endParaRPr/>
          </a:p>
        </p:txBody>
      </p:sp>
      <p:pic>
        <p:nvPicPr>
          <p:cNvPr id="245" name="Google Shape;24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7813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2"/>
          <p:cNvSpPr txBox="1"/>
          <p:nvPr/>
        </p:nvSpPr>
        <p:spPr>
          <a:xfrm>
            <a:off x="1857375" y="2802284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https://sigmoidal.ai/wp-content/uploads/2025/06/Sampling-and-Quantization-1.png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1857375" y="302314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</a:t>
            </a:r>
            <a:r>
              <a:rPr lang="en-US" sz="1400" b="0" i="0" u="none" strike="noStrike" cap="none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sigmoidal.ai</a:t>
            </a:r>
            <a:endParaRPr/>
          </a:p>
        </p:txBody>
      </p:sp>
      <p:pic>
        <p:nvPicPr>
          <p:cNvPr id="248" name="Google Shape;248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5528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 txBox="1"/>
          <p:nvPr/>
        </p:nvSpPr>
        <p:spPr>
          <a:xfrm>
            <a:off x="1857375" y="3573809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https://zeroinstrument.com/wp-content/uploads/2026/02/Understanding-Sampling-and-Signal-Conversion-From-Analog-to-Digital-768x768.png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1857375" y="3794670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</a:t>
            </a:r>
            <a:r>
              <a:rPr lang="en-US" sz="1400" b="0" i="0" u="none" strike="noStrike" cap="none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zeroinstrument.com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139063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t" lIns="18288" rIns="18288" tIns="18288" bIns="18288"/>
          <a:lstStyle/>
          <a:p>
            <a:pPr marL="0" indent="0" algn="ctr">
              <a:spcAft>
                <a:spcPts val="0"/>
              </a:spcAft>
              <a:buNone/>
              <a:lnSpc>
                <a:spcPct val="100000"/>
              </a:lnSpc>
            </a:pPr>
            <a:r>
              <a:rPr sz="3200" b="1">
                <a:latin typeface="Aptos"/>
              </a:rPr>
              <a:t>Pixel Relationships: Neighbors, Connectivity &amp; Distance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690372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1417320"/>
            <a:ext cx="6537960" cy="3063240"/>
          </a:xfrm>
          <a:prstGeom prst="rect">
            <a:avLst/>
          </a:prstGeom>
          <a:noFill/>
          <a:ln/>
        </p:spPr>
        <p:txBody>
          <a:bodyPr wrap="square" rtlCol="0" anchor="t" lIns="36576" rIns="36576" tIns="36576" bIns="36576"/>
          <a:lstStyle/>
          <a:p>
            <a:pPr marL="0" indent="0" algn="l">
              <a:spcAft>
                <a:spcPts val="0"/>
              </a:spcAft>
              <a:buNone/>
              <a:lnSpc>
                <a:spcPct val="98000"/>
              </a:lnSpc>
            </a:pPr>
            <a:r>
              <a:rPr sz="2200" b="1">
                <a:latin typeface="Aptos"/>
              </a:rPr>
              <a:t>Definition:</a:t>
            </a:r>
            <a:endParaRPr lang="en-US" sz="2000" dirty="0"/>
          </a:p>
          <a:p>
            <a:pPr algn="l">
              <a:lnSpc>
                <a:spcPct val="98000"/>
              </a:lnSpc>
              <a:spcAft>
                <a:spcPts val="0"/>
              </a:spcAft>
              <a:buNone/>
            </a:pPr>
            <a:r>
              <a:rPr sz="1800" b="0">
                <a:latin typeface="Aptos"/>
              </a:rPr>
              <a:t>An image is a discrete function f(x,y) on an integer grid. Each coordinate is a sensor element; each value is a quantized brightness.</a:t>
            </a:r>
          </a:p>
          <a:p>
            <a:pPr algn="l">
              <a:lnSpc>
                <a:spcPct val="98000"/>
              </a:lnSpc>
              <a:spcAft>
                <a:spcPts val="0"/>
              </a:spcAft>
              <a:buNone/>
            </a:pPr>
            <a:r>
              <a:rPr sz="2000" b="1">
                <a:latin typeface="Aptos"/>
              </a:rPr>
              <a:t>In Simple Words:</a:t>
            </a:r>
          </a:p>
          <a:p>
            <a:pPr algn="l">
              <a:lnSpc>
                <a:spcPct val="98000"/>
              </a:lnSpc>
              <a:spcAft>
                <a:spcPts val="0"/>
              </a:spcAft>
              <a:buNone/>
            </a:pPr>
            <a:r>
              <a:rPr sz="1800" b="0">
                <a:latin typeface="Aptos"/>
              </a:rPr>
              <a:t>– Digital grids need explicit rules for which pixels count as neighbors.</a:t>
            </a:r>
          </a:p>
          <a:p>
            <a:pPr algn="l">
              <a:lnSpc>
                <a:spcPct val="98000"/>
              </a:lnSpc>
              <a:spcAft>
                <a:spcPts val="0"/>
              </a:spcAft>
              <a:buNone/>
            </a:pPr>
            <a:r>
              <a:rPr sz="2000" b="1">
                <a:latin typeface="Aptos"/>
              </a:rPr>
              <a:t>Why This Matters</a:t>
            </a:r>
          </a:p>
          <a:p>
            <a:pPr algn="l">
              <a:lnSpc>
                <a:spcPct val="98000"/>
              </a:lnSpc>
              <a:spcAft>
                <a:spcPts val="0"/>
              </a:spcAft>
              <a:buNone/>
            </a:pPr>
            <a:r>
              <a:rPr sz="1800" b="0">
                <a:latin typeface="Aptos"/>
              </a:rPr>
              <a:t>– Neighbor rules affect edge tracing, segmentation, morphology, and distance transforms.</a:t>
            </a:r>
          </a:p>
          <a:p>
            <a:pPr algn="l">
              <a:lnSpc>
                <a:spcPct val="98000"/>
              </a:lnSpc>
              <a:spcAft>
                <a:spcPts val="0"/>
              </a:spcAft>
              <a:buNone/>
            </a:pPr>
            <a:r>
              <a:rPr sz="1800" b="0">
                <a:latin typeface="Aptos"/>
              </a:rPr>
              <a:t>– Wrong rules can cause diagonal leakage, broken components, or distorted distances.</a:t>
            </a:r>
          </a:p>
        </p:txBody>
      </p:sp>
      <p:sp>
        <p:nvSpPr>
          <p:cNvPr id="6" name="Text 4"/>
          <p:cNvSpPr/>
          <p:nvPr/>
        </p:nvSpPr>
        <p:spPr>
          <a:xfrm>
            <a:off x="658368" y="5010912"/>
            <a:ext cx="6537960" cy="9144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4846320"/>
            <a:ext cx="13258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8368" y="4983480"/>
            <a:ext cx="1325880" cy="749808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Neighbors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011680" y="5573268"/>
            <a:ext cx="128016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304288" y="4846320"/>
            <a:ext cx="13258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304288" y="4983480"/>
            <a:ext cx="1325880" cy="749808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Connectivity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0" y="5573268"/>
            <a:ext cx="128016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950208" y="4846320"/>
            <a:ext cx="13258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950208" y="4983480"/>
            <a:ext cx="1325880" cy="749808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Paths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03520" y="5573268"/>
            <a:ext cx="128016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596128" y="4846320"/>
            <a:ext cx="13258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596128" y="4983480"/>
            <a:ext cx="1325880" cy="749808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Distance Measures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35240" y="1417320"/>
            <a:ext cx="11704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635240" y="1417320"/>
            <a:ext cx="1170432" cy="1170432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NW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860536" y="1417320"/>
            <a:ext cx="11704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860536" y="1417320"/>
            <a:ext cx="1170432" cy="1170432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085832" y="1417320"/>
            <a:ext cx="11704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085832" y="1417320"/>
            <a:ext cx="1170432" cy="1170432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35240" y="2642616"/>
            <a:ext cx="11704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635240" y="2642616"/>
            <a:ext cx="1170432" cy="1170432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860536" y="2642616"/>
            <a:ext cx="11704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860536" y="2642616"/>
            <a:ext cx="1170432" cy="1170432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p(x,y)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10085832" y="2642616"/>
            <a:ext cx="11704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0085832" y="2642616"/>
            <a:ext cx="1170432" cy="1170432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635240" y="3867912"/>
            <a:ext cx="11704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635240" y="3867912"/>
            <a:ext cx="1170432" cy="1170432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SW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860536" y="3867912"/>
            <a:ext cx="11704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860536" y="3867912"/>
            <a:ext cx="1170432" cy="1170432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085832" y="3867912"/>
            <a:ext cx="11704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0085832" y="3867912"/>
            <a:ext cx="1170432" cy="1170432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543800" y="5138928"/>
            <a:ext cx="3803904" cy="54864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400" dirty="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1: The eight neighbors of pixel p(x,y) on the grid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dirty="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4-neighbors: N, S, E, W   •   Diagonal neighbors: NE, NW, SE, SW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32921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Neighborhood Geometry on the Pixel Grid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1457432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188720"/>
            <a:ext cx="6263640" cy="534924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b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Definitions</a:t>
            </a:r>
            <a:endParaRPr lang="en-US" sz="16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800" baseline="-400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(p) = the 4 orthogonal neighbors at unit distance:</a:t>
            </a:r>
            <a:endParaRPr lang="en-US" sz="1600" dirty="0"/>
          </a:p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(x+1,y), (x−1,y), (x,y+1), (x,y−1) }</a:t>
            </a:r>
            <a:endParaRPr lang="en-US" sz="16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800" baseline="-400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(p) = the 4 diagonal (corner) neighbors, √2 away:</a:t>
            </a:r>
            <a:endParaRPr lang="en-US" sz="1600" dirty="0"/>
          </a:p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(x+1,y+1), (x+1,y−1), (x−1,y+1), (x−1,y−1) }</a:t>
            </a:r>
            <a:endParaRPr lang="en-US" sz="16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800" baseline="-400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(p) = the union of both sets:</a:t>
            </a:r>
            <a:endParaRPr lang="en-US" sz="1600" dirty="0"/>
          </a:p>
          <a:p>
            <a:pPr marL="0" indent="0">
              <a:lnSpc>
                <a:spcPct val="100000"/>
              </a:lnSpc>
              <a:spcAft>
                <a:spcPts val="1400"/>
              </a:spcAft>
              <a:buNone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N₈(p) = N₄(p) ∪ Nᴰ(p)</a:t>
            </a:r>
            <a:endParaRPr lang="en-US" sz="1600" dirty="0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800" b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Translation</a:t>
            </a:r>
            <a:endParaRPr lang="en-US" sz="16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pixel sits on a uniform square grid. It communicates with 4 compass neighbors (N, S, E, W) and 4 diagonal corner neighbors (NE, NW, SE, SW); together these form the 8-neighborhood.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086600" y="1554480"/>
            <a:ext cx="1508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086600" y="1554480"/>
            <a:ext cx="1508760" cy="109728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(x−1,y−1)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0" y="1554480"/>
            <a:ext cx="1508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0" y="1554480"/>
            <a:ext cx="1508760" cy="109728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(x,y−1)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87000" y="1554480"/>
            <a:ext cx="1508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287000" y="1554480"/>
            <a:ext cx="1508760" cy="109728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(x+1,y−1)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086600" y="2743200"/>
            <a:ext cx="1508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086600" y="2743200"/>
            <a:ext cx="1508760" cy="109728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(x−1,y)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0" y="2743200"/>
            <a:ext cx="1508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0" y="2743200"/>
            <a:ext cx="1508760" cy="109728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p(x,y)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287000" y="2743200"/>
            <a:ext cx="1508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287000" y="2743200"/>
            <a:ext cx="1508760" cy="109728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(x+1,y)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086600" y="3931920"/>
            <a:ext cx="1508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086600" y="3931920"/>
            <a:ext cx="1508760" cy="109728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(x−1,y+1)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686800" y="3931920"/>
            <a:ext cx="1508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86800" y="3931920"/>
            <a:ext cx="1508760" cy="109728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(x,y+1)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0287000" y="3931920"/>
            <a:ext cx="1508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287000" y="3931920"/>
            <a:ext cx="1508760" cy="109728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(x+1,y+1)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949440" y="525780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2: Spatial coordinate layout of pixel neighborhoods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614026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Truncation and Image Border Conditions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 M×N image with row indices x ∈ [0, M−1] and column indices y ∈ [0, N−1], pixels on the perimeter cannot support a complete neighborhood — if (x±1, y±1) falls outside that range, the point is undefined.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57200" y="1691640"/>
          <a:ext cx="11247120" cy="21031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Pixel Location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N₄(p)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Nᴰ(p)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N₈(p)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Interior element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coordinates remain inside the array bounds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(non-corner)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x = 0, the coordinate (x−1, y) is undefined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Corner element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(0,0), only (0,1), (1,0), and (1,1) exist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977640"/>
            <a:ext cx="11247120" cy="246888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800" b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Extension Strategies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zero-padding — clamp any out-of-range coordinate to zero.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replication — repeat the nearest boundary value.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extension — wrap around the opposite edge (toroidal).</a:t>
            </a:r>
            <a:endParaRPr lang="en-US" sz="13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reflection — mirror values back across the boundary.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393701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Criteria and Mixed (m-) Connectivity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630936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051560"/>
            <a:ext cx="5943600" cy="5257800"/>
          </a:xfrm>
          <a:prstGeom prst="rect">
            <a:avLst/>
          </a:prstGeom>
          <a:noFill/>
          <a:ln/>
        </p:spPr>
        <p:txBody>
          <a:bodyPr wrap="square" rtlCol="0" anchor="t" lIns="36576" rIns="36576" tIns="36576" bIns="36576"/>
          <a:lstStyle/>
          <a:p>
            <a:pPr marL="0" indent="0" algn="l">
              <a:spcAft>
                <a:spcPts val="200"/>
              </a:spcAft>
              <a:buNone/>
              <a:lnSpc>
                <a:spcPct val="100000"/>
              </a:lnSpc>
            </a:pPr>
            <a:r>
              <a:rPr sz="2000" b="1">
                <a:latin typeface="Aptos"/>
              </a:rPr>
              <a:t>Three Adjacency Classes</a:t>
            </a:r>
            <a:endParaRPr lang="en-US" sz="1300" dirty="0"/>
          </a:p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1800" b="0">
                <a:latin typeface="Aptos"/>
              </a:rPr>
              <a:t>(Let V be the intensity values defining similarity, e.g. V={1}.)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1800" b="0">
                <a:latin typeface="Aptos"/>
              </a:rPr>
              <a:t>– 4-adjacency: q ∈ N₄(p) and both values lie in V.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1800" b="0">
                <a:latin typeface="Aptos"/>
              </a:rPr>
              <a:t>– 8-adjacency: q ∈ N₈(p) and both values lie in V.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1800" b="0">
                <a:latin typeface="Aptos"/>
              </a:rPr>
              <a:t>– m-adjacency: q is 4-adjacent, or diagonal with no shared 4-neighbor in V.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2000" b="1">
                <a:latin typeface="Aptos"/>
              </a:rPr>
              <a:t>Why m-Adjacency?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1800" b="0">
                <a:latin typeface="Aptos"/>
              </a:rPr>
              <a:t>– 8-adjacency can create two routes around a corner. m-adjacency keeps one route and removes the ambiguity.</a:t>
            </a:r>
          </a:p>
        </p:txBody>
      </p:sp>
      <p:sp>
        <p:nvSpPr>
          <p:cNvPr id="6" name="Shape 4"/>
          <p:cNvSpPr/>
          <p:nvPr/>
        </p:nvSpPr>
        <p:spPr>
          <a:xfrm>
            <a:off x="6949440" y="914400"/>
            <a:ext cx="480060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0" y="1005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35240" y="1463040"/>
            <a:ext cx="777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35240" y="1463040"/>
            <a:ext cx="777240" cy="658368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458200" y="1463040"/>
            <a:ext cx="777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458200" y="1463040"/>
            <a:ext cx="777240" cy="658368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(q)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281160" y="1463040"/>
            <a:ext cx="777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281160" y="1463040"/>
            <a:ext cx="777240" cy="658368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35240" y="2167128"/>
            <a:ext cx="777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635240" y="2167128"/>
            <a:ext cx="777240" cy="658368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58200" y="2167128"/>
            <a:ext cx="777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458200" y="2167128"/>
            <a:ext cx="777240" cy="658368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(p)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281160" y="2167128"/>
            <a:ext cx="777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281160" y="2167128"/>
            <a:ext cx="777240" cy="658368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35240" y="2871216"/>
            <a:ext cx="777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635240" y="2871216"/>
            <a:ext cx="777240" cy="658368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458200" y="2871216"/>
            <a:ext cx="777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458200" y="2871216"/>
            <a:ext cx="777240" cy="658368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281160" y="2871216"/>
            <a:ext cx="777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281160" y="2871216"/>
            <a:ext cx="777240" cy="658368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43800" y="359359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binary patch, V = {1}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0" y="4224528"/>
            <a:ext cx="4480560" cy="2057400"/>
          </a:xfrm>
          <a:prstGeom prst="rect">
            <a:avLst/>
          </a:prstGeom>
          <a:noFill/>
          <a:ln/>
        </p:spPr>
        <p:txBody>
          <a:bodyPr wrap="square" rtlCol="0" anchor="t" lIns="36576" rIns="36576" tIns="36576" bIns="36576"/>
          <a:lstStyle/>
          <a:p>
            <a:pPr marL="342900" indent="-342900" algn="l">
              <a:spcAft>
                <a:spcPts val="200"/>
              </a:spcAft>
              <a:buNone/>
              <a:lnSpc>
                <a:spcPct val="98000"/>
              </a:lnSpc>
            </a:pPr>
            <a:r>
              <a:rPr sz="1800" b="0">
                <a:latin typeface="Aptos"/>
              </a:rPr>
              <a:t>– p(1,1) and q(0,1) are 4-adjacent.</a:t>
            </a:r>
            <a:endParaRPr lang="en-US" sz="1100" dirty="0"/>
          </a:p>
          <a:p>
            <a:pPr algn="l">
              <a:lnSpc>
                <a:spcPct val="98000"/>
              </a:lnSpc>
              <a:spcAft>
                <a:spcPts val="200"/>
              </a:spcAft>
              <a:buNone/>
            </a:pPr>
            <a:r>
              <a:rPr sz="1800" b="0">
                <a:latin typeface="Aptos"/>
              </a:rPr>
              <a:t>– p and diagonal s(0,2) share r(0,1)=1.</a:t>
            </a:r>
          </a:p>
          <a:p>
            <a:pPr algn="l">
              <a:lnSpc>
                <a:spcPct val="98000"/>
              </a:lnSpc>
              <a:spcAft>
                <a:spcPts val="200"/>
              </a:spcAft>
              <a:buNone/>
            </a:pPr>
            <a:r>
              <a:rPr sz="1800" b="0">
                <a:latin typeface="Aptos"/>
              </a:rPr>
              <a:t>– 8-connectivity creates two routes: direct p–s and p→q→s.</a:t>
            </a:r>
          </a:p>
          <a:p>
            <a:pPr algn="l">
              <a:lnSpc>
                <a:spcPct val="98000"/>
              </a:lnSpc>
              <a:spcAft>
                <a:spcPts val="200"/>
              </a:spcAft>
              <a:buNone/>
            </a:pPr>
            <a:r>
              <a:rPr sz="1800" b="0">
                <a:latin typeface="Aptos"/>
              </a:rPr>
              <a:t>– m-connectivity removes the diagonal link; only p→q→s remains.</a:t>
            </a:r>
          </a:p>
        </p:txBody>
      </p:sp>
    </p:spTree>
    <p:extLst>
      <p:ext uri="{BB962C8B-B14F-4D97-AF65-F5344CB8AC3E}">
        <p14:creationId xmlns:p14="http://schemas.microsoft.com/office/powerpoint/2010/main" val="30699715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Jordan Curve Paradox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1457432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14300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b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Rosenfeld's Connectivity Paradox</a:t>
            </a:r>
            <a:endParaRPr lang="en-US" sz="15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continuous ℝ², the Jordan Curve Theorem says a simple closed curve always separates the plane into a bounded interior and an unbounded exterior. Applying one connectivity rule uniformly to both foreground and background on a discrete grid breaks this property.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94360" y="2423160"/>
          <a:ext cx="10881360" cy="2331720"/>
        </p:xfrm>
        <a:graphic>
          <a:graphicData uri="http://schemas.openxmlformats.org/drawingml/2006/table">
            <a:tbl>
              <a:tblPr/>
              <a:tblGrid>
                <a:gridCol w="544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8-Connectivity (Diagonal Leakage)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4-Connectivity (Background Split)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8-connected foreground curve forms a closed loop, but an 8-connected background can step diagonally through the same corner gap — interior and exterior merge.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4-connected foreground curve encloses an interior pixel, but the surrounding 4-connected background cannot cross the object's corners — it splits into disconnected pieces.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i="1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Failure: the boundary no longer separates interior from exterior.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i="1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Failure: one closed object appears to create several background regions.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94360" y="5230368"/>
            <a:ext cx="10881360" cy="114300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800" b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— Dual Connectivity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opposite rules on foreground and background: (k, k̄) ∈ {(4,8), (8,4)}. A 4-connected boundary is paired with an 8-connected background, or vice-versa.</a:t>
            </a:r>
            <a:endParaRPr lang="en-US" sz="13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Alternatively, apply m-connectivity to both sets — it removes the intersecting diagonal paths directly.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985403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Paths, Connected Components, and Two-Pass Labeling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path from p to q is a sequence of distinct, pairwise-adjacent pixels; paths are classified as 4-, 8-, or m-paths depending on the adjacency rule enforced.</a:t>
            </a:r>
            <a:endParaRPr lang="en-US" sz="12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pixels in a set S are connected if a path between them lies entirely inside S. All pixels connected to p form one connected component of S.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57200" y="2103120"/>
          <a:ext cx="11247120" cy="23317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Processing Stage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1: Scan &amp; Label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Raster-scan each foreground pixel. If its causal (already-visited) neighbors carry different labels, assign the minimum of them and record the labels as equivalent.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every recorded equivalence using a union-find (disjoint-set) structure, so each label chain reduces to one root label.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2: Remap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each pixel's provisional label with its final resolved root label, producing the finished component map.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709160"/>
            <a:ext cx="11247120" cy="173736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b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Suzuki–Abe Border Following</a:t>
            </a:r>
            <a:endParaRPr lang="en-US" sz="15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labeling dense interiors, this algorithm scans line by line and, on each unvisited 0→1 (outer) or 1→0 (hole) transition, walks the boundary contour back to its start — directly producing a hierarchy of nested outer and hole boundaries, with no separate fill step.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0171798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Metrics: Euclidean, City-Block, and Chessboard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1457432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143000"/>
            <a:ext cx="6309360" cy="534924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b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Coordinate Distance Metrics</a:t>
            </a:r>
            <a:endParaRPr lang="en-US" sz="15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 D</a:t>
            </a:r>
            <a:r>
              <a:rPr lang="en-US" sz="1800" baseline="-400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(p,q) = √[(x−s)²+(y−t)²]</a:t>
            </a:r>
            <a:endParaRPr lang="en-US" sz="1500" dirty="0"/>
          </a:p>
          <a:p>
            <a:pPr marL="0" indent="0">
              <a:lnSpc>
                <a:spcPct val="100000"/>
              </a:lnSpc>
              <a:spcAft>
                <a:spcPts val="900"/>
              </a:spcAft>
              <a:buNone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straight-line distance. The locus Dₑ ≤ r is a circular disk. Rotationally invariant, but needs a square root.</a:t>
            </a:r>
            <a:endParaRPr lang="en-US" sz="15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City-Block  D</a:t>
            </a:r>
            <a:r>
              <a:rPr lang="en-US" sz="1800" baseline="-400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(p,q) = |x−s| + |y−t|</a:t>
            </a:r>
            <a:endParaRPr lang="en-US" sz="1500" dirty="0"/>
          </a:p>
          <a:p>
            <a:pPr marL="0" indent="0">
              <a:lnSpc>
                <a:spcPct val="100000"/>
              </a:lnSpc>
              <a:spcAft>
                <a:spcPts val="900"/>
              </a:spcAft>
              <a:buNone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restricted to 4-neighbor steps. The locus D₄ ≤ r is a diamond (a square rotated 45°).</a:t>
            </a:r>
            <a:endParaRPr lang="en-US" sz="15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Chessboard  D</a:t>
            </a:r>
            <a:r>
              <a:rPr lang="en-US" sz="1800" baseline="-400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(p,q) = max(|x−s|, |y−t|)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neighbor steps cost the same unit. The locus D₈ ≤ r is an axis-aligned square.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0" y="1143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Contours (r = 1)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60920" y="1600200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60920" y="1600200"/>
            <a:ext cx="566928" cy="5029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64424" y="1600200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964424" y="1600200"/>
            <a:ext cx="566928" cy="5029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67928" y="1600200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567928" y="1600200"/>
            <a:ext cx="566928" cy="5029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60920" y="2139696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360920" y="2139696"/>
            <a:ext cx="566928" cy="5029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64424" y="2139696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964424" y="2139696"/>
            <a:ext cx="566928" cy="5029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67928" y="2139696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567928" y="2139696"/>
            <a:ext cx="566928" cy="5029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60920" y="2679192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360920" y="2679192"/>
            <a:ext cx="566928" cy="5029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64424" y="2679192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964424" y="2679192"/>
            <a:ext cx="566928" cy="5029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67928" y="2679192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567928" y="2679192"/>
            <a:ext cx="566928" cy="5029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dirty="0" b="1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78040" y="3255264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City-Block D₄: diamond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281160" y="1600200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281160" y="1600200"/>
            <a:ext cx="566928" cy="5029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884664" y="1600200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884664" y="1600200"/>
            <a:ext cx="566928" cy="5029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488168" y="1600200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488168" y="1600200"/>
            <a:ext cx="566928" cy="5029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281160" y="2139696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281160" y="2139696"/>
            <a:ext cx="566928" cy="5029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884664" y="2139696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9884664" y="2139696"/>
            <a:ext cx="566928" cy="5029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488168" y="2139696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0488168" y="2139696"/>
            <a:ext cx="566928" cy="5029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281160" y="2679192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9281160" y="2679192"/>
            <a:ext cx="566928" cy="5029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884664" y="2679192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9884664" y="2679192"/>
            <a:ext cx="566928" cy="5029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0488168" y="2679192"/>
            <a:ext cx="56692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0488168" y="2679192"/>
            <a:ext cx="566928" cy="5029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098280" y="3255264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Chessboard D₈: square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315200" y="3977639"/>
            <a:ext cx="4023360" cy="2103120"/>
          </a:xfrm>
          <a:prstGeom prst="rect">
            <a:avLst/>
          </a:prstGeom>
          <a:noFill/>
          <a:ln/>
        </p:spPr>
        <p:txBody>
          <a:bodyPr wrap="square" rtlCol="0" anchor="t" lIns="27432" rIns="27432" tIns="27432" bIns="27432"/>
          <a:lstStyle/>
          <a:p>
            <a:pPr marL="342900" indent="-342900" algn="l">
              <a:spcAft>
                <a:spcPts val="400"/>
              </a:spcAft>
              <a:buNone/>
              <a:lnSpc>
                <a:spcPct val="103000"/>
              </a:lnSpc>
            </a:pPr>
            <a:r>
              <a:rPr sz="1800" b="0">
                <a:latin typeface="Aptos"/>
              </a:rPr>
              <a:t>– Euclidean grows a circle — closest to true distance, but needs a square root.</a:t>
            </a:r>
            <a:endParaRPr lang="en-US" sz="1150" dirty="0"/>
          </a:p>
          <a:p>
            <a:pPr algn="l">
              <a:lnSpc>
                <a:spcPct val="103000"/>
              </a:lnSpc>
              <a:spcAft>
                <a:spcPts val="400"/>
              </a:spcAft>
              <a:buNone/>
            </a:pPr>
            <a:r>
              <a:rPr sz="1800" b="0">
                <a:latin typeface="Aptos"/>
              </a:rPr>
              <a:t>– City-Block uses orthogonal steps; its unit disk is a diamond.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  <a:buNone/>
            </a:pPr>
            <a:r>
              <a:rPr sz="1800" b="0">
                <a:latin typeface="Aptos"/>
              </a:rPr>
              <a:t>– Chessboard counts diagonal steps equally; its unit disk is a square.</a:t>
            </a:r>
          </a:p>
        </p:txBody>
      </p:sp>
    </p:spTree>
    <p:extLst>
      <p:ext uri="{BB962C8B-B14F-4D97-AF65-F5344CB8AC3E}">
        <p14:creationId xmlns:p14="http://schemas.microsoft.com/office/powerpoint/2010/main" val="21969851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Chamfer Approximation and the Non-Metric Mixed Distance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57784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051560"/>
            <a:ext cx="5257800" cy="534924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800" b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Chamfer Distance Transform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Euclidean distance needs floating-point square roots across every pixel. Borgefors approximated it with small integer kernels — e.g. the 3-4 mask and the larger 5-7-11 mask.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in two raster passes: a forward pass (top-left → bottom-right) and a backward pass (bottom-right → top-left), each propagating the minimum local distance to the nearest background pixel.</a:t>
            </a:r>
            <a:endParaRPr lang="en-US" sz="1300" dirty="0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800" b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Space Axioms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Non-negativity: D(p,q) ≥ 0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Identity: D(p,q) = 0 ⇔ p = q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Symmetry: D(p,q) = D(q,p)</a:t>
            </a:r>
            <a:endParaRPr lang="en-US" sz="13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inequality: D(p,z) ≤ D(p,q) + D(q,z)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2200" y="914400"/>
            <a:ext cx="557784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355080" y="1005840"/>
            <a:ext cx="5257800" cy="41148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Dₘ Can Break the Triangle Inequality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55080" y="1508760"/>
            <a:ext cx="5257800" cy="484632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active pixels (value 1, V = {1}):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p(0,0),  q(1,1) — diagonal neighbors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r(0,1) — the shared orthogonal neighbor of p and q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z(1,2) — an orthogonal neighbor of q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r = 1 ∈ V, m-connectivity blocks the direct diagonal p–q; the path must detour: p → r → q, so Dₘ(p,q) = 2.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Dₘ(q,z) = 1 directly, so Dₘ(p,q) + Dₘ(q,z) = 3.</a:t>
            </a:r>
            <a:endParaRPr lang="en-US" sz="115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 direct route from p to z can be shorter than 3 — because Dₘ depends on neighboring pixel values, not coordinates alone, it does not satisfy the triangle inequality and is not a true metric.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7669644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Theory to Practice: Two Production Pipelines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1457432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188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t" lIns="45720" rIns="45720" tIns="22860" bIns="22860"/>
          <a:lstStyle/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neighborhood, adjacency, and distance rules power very different production vision systems: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94360" y="1691640"/>
          <a:ext cx="10881360" cy="42976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9536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Histopathology Cell Segmentation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Semiconductor Defect Inspection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Otsu thresholding isolates cellular regions from brightfield scans.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Otsu / contrast thresholding isolates conductive circuit traces.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Transform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Borgefors 3-4 Chamfer map; cell centers form local intensity maxima.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Borgefors 5-7-11 Chamfer map (≈ 2% max error) encodes distance from trace edges.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/ Segmentation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Marker-controlled watershed with (8,4) dual connectivity separates touching cells.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m-connectivity thinning extracts a single-pixel-wide medial-axis skeleton.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/ Output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Suzuki–Abe border following + two-pass CCL → labeled, classified cells.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b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N₈ neighbor-count audit → flags open-circuit breaks and short-circuit bridges.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413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t" lIns="45720" rIns="45720" tIns="18288" bIns="18288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References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2651760"/>
          </a:xfrm>
          <a:prstGeom prst="rect">
            <a:avLst/>
          </a:prstGeom>
          <a:noFill/>
          <a:ln/>
        </p:spPr>
        <p:txBody>
          <a:bodyPr wrap="square" rtlCol="0" anchor="t" lIns="45720" rIns="45720" tIns="18288" bIns="18288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— One Idea Per Pillar</a:t>
            </a:r>
            <a:endParaRPr lang="en-US" sz="15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b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Neighbors:  </a:t>
            </a: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grids don't inherit continuous geometry automatically — N₄, Nᴰ, and N₈ give every pixel an explicit, chosen set of neighbors.</a:t>
            </a:r>
            <a:endParaRPr lang="en-US" sz="15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b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Connectivity:  </a:t>
            </a: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connectivity, (4,8) or (8,4), preserves the digital Jordan Curve Theorem; m-connectivity removes redundant diagonal paths within a single set.</a:t>
            </a:r>
            <a:endParaRPr lang="en-US" sz="15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b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Paths:  </a:t>
            </a: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of pairwise-adjacent pixels define connected components; two-pass labeling with union-find turns that idea into a fast, production-ready algorithm.</a:t>
            </a:r>
            <a:endParaRPr lang="en-US" sz="15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b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Distance Measures:  </a:t>
            </a:r>
            <a:r>
              <a:rPr lang="en-US" sz="18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Euclidean, City-Block, and Chessboard metrics — and their integer Chamfer approximations — make distance transforms fast enough for real pipelines, from pathology slides to semiconductor wafers.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794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t" lIns="45720" rIns="45720" tIns="18288" bIns="18288"/>
          <a:lstStyle/>
          <a:p>
            <a:pPr marL="0" indent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1247120" cy="2194560"/>
          </a:xfrm>
          <a:prstGeom prst="rect">
            <a:avLst/>
          </a:prstGeom>
          <a:noFill/>
          <a:ln/>
        </p:spPr>
        <p:txBody>
          <a:bodyPr wrap="square" rtlCol="0" anchor="t" lIns="45720" rIns="45720" tIns="18288" bIns="18288"/>
          <a:lstStyle/>
          <a:p>
            <a:pPr>
              <a:lnSpc>
                <a:spcPct val="100000"/>
              </a:lnSpc>
              <a:spcAft>
                <a:spcPts val="500"/>
              </a:spcAft>
              <a:buSzPct val="100000"/>
            </a:pP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of the Jordan Curve Theorem in Digital Topology — Rosenfeld's connectivity paradox and dual connectivity.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Borgefors, G. — “Digital Distance Geometry: A Survey,” Sadhana, Indian Academy of Sciences.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Suzuki, S. &amp; Abe, K. — “Topological Structural Analysis of Digitized Binary Images by Border Following.”</a:t>
            </a:r>
            <a:endParaRPr lang="en-US" sz="11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400" dirty="0" b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“Connected-Component Labeling,” Wikipedia — two-pass algorithm and union-find equivalence resolution.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209864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1687</TotalTime>
  <Words>4163</Words>
  <Application>Microsoft Office PowerPoint</Application>
  <PresentationFormat>Widescreen</PresentationFormat>
  <Paragraphs>522</Paragraphs>
  <Slides>27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Aptos</vt:lpstr>
      <vt:lpstr>Aptos Display</vt:lpstr>
      <vt:lpstr>Arial</vt:lpstr>
      <vt:lpstr>Calibri</vt:lpstr>
      <vt:lpstr>DM Sans Light</vt:lpstr>
      <vt:lpstr>Newsreader</vt:lpstr>
      <vt:lpstr>Quattrocento Sans</vt:lpstr>
      <vt:lpstr>Office Theme</vt:lpstr>
      <vt:lpstr>Introduction To Digital Image Fundamentals</vt:lpstr>
      <vt:lpstr>What is digital image processing?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Shamim Ahmed</dc:creator>
  <cp:lastModifiedBy>034 Srijan Majumder</cp:lastModifiedBy>
  <cp:revision>3</cp:revision>
  <dcterms:created xsi:type="dcterms:W3CDTF">2026-09-09T16:33:39Z</dcterms:created>
  <dcterms:modified xsi:type="dcterms:W3CDTF">2026-09-12T06:09:07Z</dcterms:modified>
</cp:coreProperties>
</file>