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panel. Introduce the topic in one line: this seminar is about how computers capture, process, and understand images, starting from the basics and building up to how pixels relate to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DIP in plain terms: using a computer to work with pictures. Point out the pixel grid idea and the before/after example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reasons quickly: quality, information, automation. Mention it is not a new field, it just keeps growing.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one or two history highlights out loud (telegraph images, NASA Moon photos) and let the timeline carry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five steps left to right, one short phrase each. Keep pace brisk, this is an overview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Reuse the exact same five ideas from the last slide, but now applied to a concrete case, an MRI scan. This shows the pipeline in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flow: light hits the eye, retina senses it, brain interprets it. Briefly mention rods vs cones.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 the eye slide: light, lens, sensor, digital numbers. Point at the pixelated apple in the diagram as the payoff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table row by row if helpful, or simply say: same job, different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three sensor types and point to the CCD/CMOS photo as the real-world example of an array sensor.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sampling as space (the grid) and quantization as brightness (the numbers). Point to the two visuals.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five-node pipeline; this slide ties every earlier idea together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start of the seminar's core topic. Explain that computers need explicit neighbor rules, then point to N4 vs N8 on the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light: connectivity keeps shapes solid, and there are three ways to measure distance between pixels, shown as three shapes.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pillars in one sentence each, then thank the panel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title_fa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0"/>
            <a:ext cx="56537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09360" y="0"/>
            <a:ext cx="457200" cy="6858000"/>
          </a:xfrm>
          <a:prstGeom prst="rect">
            <a:avLst/>
          </a:prstGeom>
          <a:solidFill>
            <a:srgbClr val="0B1E3D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PRESENTATION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514600"/>
            <a:ext cx="5577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Image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0080" y="4343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how computers capture, process, and understand images.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5349240"/>
            <a:ext cx="457200" cy="457200"/>
          </a:xfrm>
          <a:prstGeom prst="ellipse">
            <a:avLst/>
          </a:prstGeom>
          <a:solidFill>
            <a:srgbClr val="00B8D4"/>
          </a:solidFill>
          <a:ln/>
        </p:spPr>
      </p:sp>
      <p:pic>
        <p:nvPicPr>
          <p:cNvPr id="8" name="Image 1" descr="/home/claude/work/icons/imag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545211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5349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Digital Image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Digital Image Processing?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2000"/>
              </a:spcAft>
              <a:buSzPct val="100000"/>
              <a:buChar char="●"/>
            </a:pPr>
            <a:r>
              <a:rPr lang="en-US" sz="16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works with pictures, the way a person would</a:t>
            </a:r>
            <a:endParaRPr lang="en-US" sz="1650" dirty="0"/>
          </a:p>
          <a:p>
            <a:pPr algn="l" marL="228600" indent="-228600">
              <a:spcAft>
                <a:spcPts val="2000"/>
              </a:spcAft>
              <a:buSzPct val="100000"/>
              <a:buChar char="●"/>
            </a:pPr>
            <a:r>
              <a:rPr lang="en-US" sz="16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improve an image, clean it up, or study it</a:t>
            </a:r>
            <a:endParaRPr lang="en-US" sz="1650" dirty="0"/>
          </a:p>
          <a:p>
            <a:pPr algn="l" marL="228600" indent="-228600">
              <a:spcAft>
                <a:spcPts val="2000"/>
              </a:spcAft>
              <a:buSzPct val="100000"/>
              <a:buChar char="●"/>
            </a:pPr>
            <a:r>
              <a:rPr lang="en-US" sz="16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is really a grid of tiny dots called pixels</a:t>
            </a:r>
            <a:endParaRPr lang="en-US" sz="1650" dirty="0"/>
          </a:p>
          <a:p>
            <a:pPr algn="l" marL="228600" indent="-228600">
              <a:spcAft>
                <a:spcPts val="2000"/>
              </a:spcAft>
              <a:buSzPct val="100000"/>
              <a:buChar char="●"/>
            </a:pPr>
            <a:r>
              <a:rPr lang="en-US" sz="16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just stores a number for brightness and color</a:t>
            </a:r>
            <a:endParaRPr lang="en-US" sz="1650" dirty="0"/>
          </a:p>
        </p:txBody>
      </p:sp>
      <p:pic>
        <p:nvPicPr>
          <p:cNvPr id="5" name="Image 0" descr="/home/claude/work/assets/original_aeri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874520"/>
            <a:ext cx="2331720" cy="2331720"/>
          </a:xfrm>
          <a:prstGeom prst="rect">
            <a:avLst/>
          </a:prstGeom>
        </p:spPr>
      </p:pic>
      <p:pic>
        <p:nvPicPr>
          <p:cNvPr id="6" name="Image 1" descr="/home/claude/work/assets/enhanced_aeria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64040" y="1874520"/>
            <a:ext cx="2331720" cy="2331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851392" y="3040380"/>
            <a:ext cx="539496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8" name="Text 4"/>
          <p:cNvSpPr/>
          <p:nvPr/>
        </p:nvSpPr>
        <p:spPr>
          <a:xfrm>
            <a:off x="6446520" y="4297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464040" y="4297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46520" y="47091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example: cleaning up and sharpening an aerial photo.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Fundamentals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Process Images?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01568" cy="3246120"/>
          </a:xfrm>
          <a:prstGeom prst="roundRect">
            <a:avLst>
              <a:gd name="adj" fmla="val 3380"/>
            </a:avLst>
          </a:prstGeom>
          <a:solidFill>
            <a:srgbClr val="EAF4FB"/>
          </a:solidFill>
          <a:ln/>
          <a:effectLst>
            <a:outerShdw sx="100000" sy="100000" kx="0" ky="0" algn="bl" rotWithShape="0" blurRad="76200" dist="25400" dir="5400000">
              <a:srgbClr val="9AAFC7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37944" y="2148840"/>
            <a:ext cx="822960" cy="82296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6" name="Image 0" descr="/home/claude/work/icons/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454" y="23463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00400"/>
            <a:ext cx="2944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Quality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27614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noise, blur, and poor lighting so images look clear.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70248" y="1783080"/>
            <a:ext cx="3401568" cy="3246120"/>
          </a:xfrm>
          <a:prstGeom prst="roundRect">
            <a:avLst>
              <a:gd name="adj" fmla="val 3380"/>
            </a:avLst>
          </a:prstGeom>
          <a:solidFill>
            <a:srgbClr val="EAF4FB"/>
          </a:solidFill>
          <a:ln/>
          <a:effectLst>
            <a:outerShdw sx="100000" sy="100000" kx="0" ky="0" algn="bl" rotWithShape="0" blurRad="76200" dist="25400" dir="5400000">
              <a:srgbClr val="9AAFC7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59552" y="2148840"/>
            <a:ext cx="822960" cy="82296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1" name="Image 1" descr="/home/claude/work/icons/magnif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062" y="23463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8848" y="3200400"/>
            <a:ext cx="2944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Information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657600"/>
            <a:ext cx="27614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edges, shapes, and objects hidden in the data.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91856" y="1783080"/>
            <a:ext cx="3401568" cy="3246120"/>
          </a:xfrm>
          <a:prstGeom prst="roundRect">
            <a:avLst>
              <a:gd name="adj" fmla="val 3380"/>
            </a:avLst>
          </a:prstGeom>
          <a:solidFill>
            <a:srgbClr val="EAF4FB"/>
          </a:solidFill>
          <a:ln/>
          <a:effectLst>
            <a:outerShdw sx="100000" sy="100000" kx="0" ky="0" algn="bl" rotWithShape="0" blurRad="76200" dist="25400" dir="5400000">
              <a:srgbClr val="9AAFC7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81160" y="2148840"/>
            <a:ext cx="822960" cy="82296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6" name="Image 2" descr="/home/claude/work/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670" y="234635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0456" y="3200400"/>
            <a:ext cx="2944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Tasks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11896" y="3657600"/>
            <a:ext cx="27614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computers recognize faces, read text, or spot disease.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use since the 1920s — and still evolving with AI today.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Fundamentals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 Look at History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02336" cy="402336"/>
          </a:xfrm>
          <a:prstGeom prst="ellipse">
            <a:avLst/>
          </a:prstGeom>
          <a:solidFill>
            <a:srgbClr val="00B8D4"/>
          </a:solidFill>
          <a:ln/>
        </p:spPr>
      </p:sp>
      <p:pic>
        <p:nvPicPr>
          <p:cNvPr id="5" name="Image 0" descr="/home/claude/work/icons/locati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66" y="1782166"/>
            <a:ext cx="221285" cy="2212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66420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606040" y="166420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images sent electronically, over telegraph lines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478024"/>
            <a:ext cx="402336" cy="402336"/>
          </a:xfrm>
          <a:prstGeom prst="ellipse">
            <a:avLst/>
          </a:prstGeom>
          <a:solidFill>
            <a:srgbClr val="00B8D4"/>
          </a:solidFill>
          <a:ln/>
        </p:spPr>
      </p:sp>
      <p:pic>
        <p:nvPicPr>
          <p:cNvPr id="9" name="Image 1" descr="/home/claude/work/icons/locati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6" y="2568550"/>
            <a:ext cx="221285" cy="2212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4505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606040" y="245059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uses it to study close-up photos of the Moon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264408"/>
            <a:ext cx="402336" cy="402336"/>
          </a:xfrm>
          <a:prstGeom prst="ellipse">
            <a:avLst/>
          </a:prstGeom>
          <a:solidFill>
            <a:srgbClr val="00B8D4"/>
          </a:solidFill>
          <a:ln/>
        </p:spPr>
      </p:sp>
      <p:pic>
        <p:nvPicPr>
          <p:cNvPr id="13" name="Image 2" descr="/home/claude/work/icons/locatio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6" y="3354934"/>
            <a:ext cx="221285" cy="22128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323697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606040" y="323697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use it to read X-rays and CT scans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050792"/>
            <a:ext cx="402336" cy="402336"/>
          </a:xfrm>
          <a:prstGeom prst="ellipse">
            <a:avLst/>
          </a:prstGeom>
          <a:solidFill>
            <a:srgbClr val="00B8D4"/>
          </a:solidFill>
          <a:ln/>
        </p:spPr>
      </p:sp>
      <p:pic>
        <p:nvPicPr>
          <p:cNvPr id="17" name="Image 3" descr="/home/claude/work/icons/location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6" y="4141318"/>
            <a:ext cx="221285" cy="22128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15568" y="4023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1980s–90s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2606040" y="40233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use it for automatic inspection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837176"/>
            <a:ext cx="402336" cy="402336"/>
          </a:xfrm>
          <a:prstGeom prst="ellipse">
            <a:avLst/>
          </a:prstGeom>
          <a:solidFill>
            <a:srgbClr val="00B8D4"/>
          </a:solidFill>
          <a:ln/>
        </p:spPr>
      </p:sp>
      <p:pic>
        <p:nvPicPr>
          <p:cNvPr id="21" name="Image 4" descr="/home/claude/work/icons/location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6" y="4927702"/>
            <a:ext cx="221285" cy="22128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15568" y="480974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2606040" y="4809744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face recognition, self-driving cars, and AI</a:t>
            </a:r>
            <a:endParaRPr lang="en-US" sz="1250" dirty="0"/>
          </a:p>
        </p:txBody>
      </p:sp>
      <p:pic>
        <p:nvPicPr>
          <p:cNvPr id="24" name="Image 5" descr="/home/claude/work/assets/moon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360920" y="1691640"/>
            <a:ext cx="4160520" cy="41605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60920" y="596188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1964 — NASA's Ranger 7 Moon image, made clearer with digital processing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Fundamentals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Steps in Digital Image Processing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200882" y="1965960"/>
            <a:ext cx="914400" cy="91440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5" name="Image 0" descr="/home/claude/work/icons/camer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0338" y="21854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008376"/>
            <a:ext cx="21274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8368" y="3319272"/>
            <a:ext cx="1999427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image with a camera or sensor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188434" y="2423160"/>
            <a:ext cx="1158179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419765" y="1965960"/>
            <a:ext cx="914400" cy="91440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0" name="Image 1" descr="/home/claude/work/icons/slid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221" y="2185416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13243" y="3008376"/>
            <a:ext cx="21274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877251" y="3319272"/>
            <a:ext cx="1999427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contrast, sharpness, brightness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407317" y="2423160"/>
            <a:ext cx="1158179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638648" y="1965960"/>
            <a:ext cx="914400" cy="91440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5" name="Image 2" descr="/home/claude/work/icons/wren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2185416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32126" y="3008376"/>
            <a:ext cx="21274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096134" y="3319272"/>
            <a:ext cx="1999427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noise, blur, or damage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626200" y="2423160"/>
            <a:ext cx="1158179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857531" y="1965960"/>
            <a:ext cx="914400" cy="91440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0" name="Image 3" descr="/home/claude/work/icons/targ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987" y="2185416"/>
            <a:ext cx="475488" cy="4754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51009" y="3008376"/>
            <a:ext cx="21274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315017" y="3319272"/>
            <a:ext cx="1999427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object from the background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845083" y="2423160"/>
            <a:ext cx="1158179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10076414" y="1965960"/>
            <a:ext cx="914400" cy="91440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5" name="Image 4" descr="/home/claude/work/icons/ta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5870" y="2185416"/>
            <a:ext cx="475488" cy="4754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469892" y="3008376"/>
            <a:ext cx="21274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533900" y="3319272"/>
            <a:ext cx="1999427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or identify what was found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48640" y="525780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EAF4FB"/>
          </a:solidFill>
          <a:ln/>
        </p:spPr>
      </p:sp>
      <p:sp>
        <p:nvSpPr>
          <p:cNvPr id="29" name="Text 22"/>
          <p:cNvSpPr/>
          <p:nvPr/>
        </p:nvSpPr>
        <p:spPr>
          <a:xfrm>
            <a:off x="822960" y="52578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pictures go in one end; useful, meaningful information comes out the other.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Fundamentals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It In Action: Finding a Tumor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455382" y="1965960"/>
            <a:ext cx="960120" cy="96012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5" name="Image 0" descr="/home/claude/work/icons/ima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811" y="219638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054096"/>
            <a:ext cx="26821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MRI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8368" y="3364992"/>
            <a:ext cx="25541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 with noise and unclear regions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488654" y="2446020"/>
            <a:ext cx="1667180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228986" y="1965960"/>
            <a:ext cx="960120" cy="96012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0" name="Image 1" descr="/home/claude/work/icons/wre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415" y="2196389"/>
            <a:ext cx="499262" cy="4992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67964" y="3054096"/>
            <a:ext cx="26821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31972" y="3364992"/>
            <a:ext cx="25541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noise, sharpen structures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262258" y="2446020"/>
            <a:ext cx="1667180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7002590" y="1965960"/>
            <a:ext cx="960120" cy="96012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5" name="Image 2" descr="/home/claude/work/icons/targ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018" y="2196389"/>
            <a:ext cx="499262" cy="4992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41568" y="3054096"/>
            <a:ext cx="26821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205576" y="3364992"/>
            <a:ext cx="25541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tumor from healthy tissue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035862" y="2446020"/>
            <a:ext cx="1667180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9776193" y="1965960"/>
            <a:ext cx="960120" cy="96012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0" name="Image 3" descr="/home/claude/wor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6622" y="2196389"/>
            <a:ext cx="499262" cy="4992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15171" y="3054096"/>
            <a:ext cx="26821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979179" y="3364992"/>
            <a:ext cx="25541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and label the result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525780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EAF4FB"/>
          </a:solidFill>
          <a:ln/>
        </p:spPr>
      </p:sp>
      <p:sp>
        <p:nvSpPr>
          <p:cNvPr id="24" name="Text 18"/>
          <p:cNvSpPr/>
          <p:nvPr/>
        </p:nvSpPr>
        <p:spPr>
          <a:xfrm>
            <a:off x="822960" y="52578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steps from the last slide — just applied to a real medical image.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Fundamentals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Human Eyes See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237689" y="1828800"/>
            <a:ext cx="1051560" cy="105156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5" name="Image 0" descr="/home/claude/work/icons/light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0064" y="208117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3008376"/>
            <a:ext cx="32409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07008" y="3319272"/>
            <a:ext cx="311292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off an object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62401" y="2354580"/>
            <a:ext cx="2134514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570068" y="1828800"/>
            <a:ext cx="1051560" cy="105156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0" name="Image 1" descr="/home/claude/work/icons/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442" y="2081174"/>
            <a:ext cx="546811" cy="54681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75378" y="3008376"/>
            <a:ext cx="32409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539386" y="3319272"/>
            <a:ext cx="311292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Rods &amp; cones sense it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694780" y="2354580"/>
            <a:ext cx="2134514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8902446" y="1828800"/>
            <a:ext cx="1051560" cy="105156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5" name="Image 2" descr="/home/claude/work/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4820" y="2081174"/>
            <a:ext cx="546811" cy="5468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807757" y="3008376"/>
            <a:ext cx="32409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871765" y="3319272"/>
            <a:ext cx="311292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signals into sight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48640" y="4206240"/>
            <a:ext cx="1109441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Rods sense brightness — especially useful in low light</a:t>
            </a:r>
            <a:endParaRPr lang="en-US" sz="1550" dirty="0"/>
          </a:p>
          <a:p>
            <a:pPr algn="l"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Cones sense color, across red, green, and blue-ish ranges</a:t>
            </a:r>
            <a:endParaRPr lang="en-US" sz="1550" dirty="0"/>
          </a:p>
          <a:p>
            <a:pPr algn="l" marL="228600" indent="-228600"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combines these signals into what we actually "see"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Fundamentals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Digital Camera "Sees"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577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passes through a lens onto a sensor</a:t>
            </a:r>
            <a:endParaRPr lang="en-US" sz="1600" dirty="0"/>
          </a:p>
          <a:p>
            <a:pPr algn="l" marL="228600" indent="-2286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sensor turns light into electrical signals</a:t>
            </a:r>
            <a:endParaRPr lang="en-US" sz="1600" dirty="0"/>
          </a:p>
          <a:p>
            <a:pPr algn="l" marL="228600" indent="-2286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filters (Red, Green, Blue) separate the colors</a:t>
            </a:r>
            <a:endParaRPr lang="en-US" sz="1600" dirty="0"/>
          </a:p>
          <a:p>
            <a:pPr algn="l" marL="228600" indent="-2286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become numbers — a digital image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5080" y="1874520"/>
            <a:ext cx="5486400" cy="3328416"/>
          </a:xfrm>
          <a:prstGeom prst="roundRect">
            <a:avLst>
              <a:gd name="adj" fmla="val 3297"/>
            </a:avLst>
          </a:prstGeom>
          <a:solidFill>
            <a:srgbClr val="EAF4FB"/>
          </a:solidFill>
          <a:ln/>
          <a:effectLst>
            <a:outerShdw sx="100000" sy="100000" kx="0" ky="0" algn="bl" rotWithShape="0" blurRad="76200" dist="25400" dir="5400000">
              <a:srgbClr val="9AAFC7">
                <a:alpha val="35000"/>
              </a:srgbClr>
            </a:outerShdw>
          </a:effectLst>
        </p:spPr>
      </p:sp>
      <p:pic>
        <p:nvPicPr>
          <p:cNvPr id="6" name="Image 0" descr="/home/claude/work/assets/len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103120"/>
            <a:ext cx="5029200" cy="2871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55080" y="526694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→ lens → sensor → a pixelated digital image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Fundamentals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Eye vs. Camera: Quick Comparison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3749040"/>
        </p:xfrm>
        <a:graphic>
          <a:graphicData uri="http://schemas.openxmlformats.org/drawingml/2006/table">
            <a:tbl>
              <a:tblPr/>
              <a:tblGrid>
                <a:gridCol w="2926080"/>
                <a:gridCol w="4448556"/>
                <a:gridCol w="4448556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Eye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Camera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Receiver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Retina (rods &amp; cones)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sensor (CCD / CMOS)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 Sensing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cone types (S, M, 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/ Green / Blue filters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&amp; visual cortex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 image processor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perceive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Numbers, e.g. 0–255 per pixel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systems turn light into meaning — just with very different hardware.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Fundamentals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Capturing Images: Types of Sensors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01568" cy="1965960"/>
          </a:xfrm>
          <a:prstGeom prst="roundRect">
            <a:avLst>
              <a:gd name="adj" fmla="val 5581"/>
            </a:avLst>
          </a:prstGeom>
          <a:solidFill>
            <a:srgbClr val="EAF4FB"/>
          </a:solidFill>
          <a:ln/>
          <a:effectLst>
            <a:outerShdw sx="100000" sy="100000" kx="0" ky="0" algn="bl" rotWithShape="0" blurRad="76200" dist="25400" dir="5400000">
              <a:srgbClr val="9AAFC7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658368" cy="658368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6" name="Image 0" descr="/home/claude/work/icons/compre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248" y="207824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Sensor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29443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point-by-point across the scene. Precise, but slow.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70248" y="1691640"/>
            <a:ext cx="3401568" cy="1965960"/>
          </a:xfrm>
          <a:prstGeom prst="roundRect">
            <a:avLst>
              <a:gd name="adj" fmla="val 5581"/>
            </a:avLst>
          </a:prstGeom>
          <a:solidFill>
            <a:srgbClr val="EAF4FB"/>
          </a:solidFill>
          <a:ln/>
          <a:effectLst>
            <a:outerShdw sx="100000" sy="100000" kx="0" ky="0" algn="bl" rotWithShape="0" blurRad="76200" dist="25400" dir="5400000">
              <a:srgbClr val="9AAFC7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8848" y="1920240"/>
            <a:ext cx="658368" cy="658368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1" name="Image 1" descr="/home/claude/work/icons/rulerHoriz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856" y="207824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194767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Sensor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98848" y="2606040"/>
            <a:ext cx="29443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one strip at a time — e.g., flatbed scanners.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91856" y="1691640"/>
            <a:ext cx="3401568" cy="1965960"/>
          </a:xfrm>
          <a:prstGeom prst="roundRect">
            <a:avLst>
              <a:gd name="adj" fmla="val 5581"/>
            </a:avLst>
          </a:prstGeom>
          <a:solidFill>
            <a:srgbClr val="EAF4FB"/>
          </a:solidFill>
          <a:ln/>
          <a:effectLst>
            <a:outerShdw sx="100000" sy="100000" kx="0" ky="0" algn="bl" rotWithShape="0" blurRad="76200" dist="25400" dir="5400000">
              <a:srgbClr val="9AAFC7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0456" y="1920240"/>
            <a:ext cx="658368" cy="658368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6" name="Image 2" descr="/home/claude/work/icons/gri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464" y="207824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97696" y="194767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Sensor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0456" y="2606040"/>
            <a:ext cx="29443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whole image at once. Used in modern cameras.</a:t>
            </a:r>
            <a:endParaRPr lang="en-US" sz="1150" dirty="0"/>
          </a:p>
        </p:txBody>
      </p:sp>
      <p:pic>
        <p:nvPicPr>
          <p:cNvPr id="19" name="Image 3" descr="/home/claude/work/assets/ccd_cmo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168" y="3977640"/>
            <a:ext cx="4023360" cy="21214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most common array-sensor chips found inside cameras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Fundamentals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Light to Numbers: Sampling &amp; Quantization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AF4FB"/>
          </a:solidFill>
          <a:ln/>
          <a:effectLst>
            <a:outerShdw sx="100000" sy="100000" kx="0" ky="0" algn="bl" rotWithShape="0" blurRad="76200" dist="25400" dir="5400000">
              <a:srgbClr val="9AAFC7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6" name="Image 0" descr="/home/claude/work/icons/gri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677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continuous scene into a fixed grid of picture elements — pixels.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244852" y="3840480"/>
            <a:ext cx="283464" cy="283464"/>
          </a:xfrm>
          <a:prstGeom prst="rect">
            <a:avLst/>
          </a:prstGeom>
          <a:solidFill>
            <a:srgbClr val="0B1E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55748" y="3840480"/>
            <a:ext cx="283464" cy="283464"/>
          </a:xfrm>
          <a:prstGeom prst="rect">
            <a:avLst/>
          </a:prstGeom>
          <a:solidFill>
            <a:srgbClr val="4E7F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66644" y="3840480"/>
            <a:ext cx="283464" cy="283464"/>
          </a:xfrm>
          <a:prstGeom prst="rect">
            <a:avLst/>
          </a:prstGeom>
          <a:solidFill>
            <a:srgbClr val="9FC6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77540" y="3840480"/>
            <a:ext cx="283464" cy="283464"/>
          </a:xfrm>
          <a:prstGeom prst="rect">
            <a:avLst/>
          </a:prstGeom>
          <a:solidFill>
            <a:srgbClr val="0B1E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88436" y="3840480"/>
            <a:ext cx="283464" cy="283464"/>
          </a:xfrm>
          <a:prstGeom prst="rect">
            <a:avLst/>
          </a:prstGeom>
          <a:solidFill>
            <a:srgbClr val="4E7F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99332" y="3840480"/>
            <a:ext cx="283464" cy="283464"/>
          </a:xfrm>
          <a:prstGeom prst="rect">
            <a:avLst/>
          </a:prstGeom>
          <a:solidFill>
            <a:srgbClr val="9FC6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44852" y="4151376"/>
            <a:ext cx="283464" cy="283464"/>
          </a:xfrm>
          <a:prstGeom prst="rect">
            <a:avLst/>
          </a:prstGeom>
          <a:solidFill>
            <a:srgbClr val="4E7F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55748" y="4151376"/>
            <a:ext cx="283464" cy="283464"/>
          </a:xfrm>
          <a:prstGeom prst="rect">
            <a:avLst/>
          </a:prstGeom>
          <a:solidFill>
            <a:srgbClr val="9FC6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66644" y="4151376"/>
            <a:ext cx="283464" cy="283464"/>
          </a:xfrm>
          <a:prstGeom prst="rect">
            <a:avLst/>
          </a:prstGeom>
          <a:solidFill>
            <a:srgbClr val="0B1E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177540" y="4151376"/>
            <a:ext cx="283464" cy="283464"/>
          </a:xfrm>
          <a:prstGeom prst="rect">
            <a:avLst/>
          </a:prstGeom>
          <a:solidFill>
            <a:srgbClr val="4E7F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88436" y="4151376"/>
            <a:ext cx="283464" cy="283464"/>
          </a:xfrm>
          <a:prstGeom prst="rect">
            <a:avLst/>
          </a:prstGeom>
          <a:solidFill>
            <a:srgbClr val="9FC6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99332" y="4151376"/>
            <a:ext cx="283464" cy="283464"/>
          </a:xfrm>
          <a:prstGeom prst="rect">
            <a:avLst/>
          </a:prstGeom>
          <a:solidFill>
            <a:srgbClr val="0B1E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244852" y="4462272"/>
            <a:ext cx="283464" cy="283464"/>
          </a:xfrm>
          <a:prstGeom prst="rect">
            <a:avLst/>
          </a:prstGeom>
          <a:solidFill>
            <a:srgbClr val="9FC6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55748" y="4462272"/>
            <a:ext cx="283464" cy="283464"/>
          </a:xfrm>
          <a:prstGeom prst="rect">
            <a:avLst/>
          </a:prstGeom>
          <a:solidFill>
            <a:srgbClr val="0B1E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866644" y="4462272"/>
            <a:ext cx="283464" cy="283464"/>
          </a:xfrm>
          <a:prstGeom prst="rect">
            <a:avLst/>
          </a:prstGeom>
          <a:solidFill>
            <a:srgbClr val="4E7F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77540" y="4462272"/>
            <a:ext cx="283464" cy="283464"/>
          </a:xfrm>
          <a:prstGeom prst="rect">
            <a:avLst/>
          </a:prstGeom>
          <a:solidFill>
            <a:srgbClr val="9FC6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488436" y="4462272"/>
            <a:ext cx="283464" cy="283464"/>
          </a:xfrm>
          <a:prstGeom prst="rect">
            <a:avLst/>
          </a:prstGeom>
          <a:solidFill>
            <a:srgbClr val="0B1E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99332" y="4462272"/>
            <a:ext cx="283464" cy="283464"/>
          </a:xfrm>
          <a:prstGeom prst="rect">
            <a:avLst/>
          </a:prstGeom>
          <a:solidFill>
            <a:srgbClr val="4E7F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244852" y="4773168"/>
            <a:ext cx="283464" cy="283464"/>
          </a:xfrm>
          <a:prstGeom prst="rect">
            <a:avLst/>
          </a:prstGeom>
          <a:solidFill>
            <a:srgbClr val="0B1E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55748" y="4773168"/>
            <a:ext cx="283464" cy="283464"/>
          </a:xfrm>
          <a:prstGeom prst="rect">
            <a:avLst/>
          </a:prstGeom>
          <a:solidFill>
            <a:srgbClr val="4E7F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866644" y="4773168"/>
            <a:ext cx="283464" cy="283464"/>
          </a:xfrm>
          <a:prstGeom prst="rect">
            <a:avLst/>
          </a:prstGeom>
          <a:solidFill>
            <a:srgbClr val="9FC6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177540" y="4773168"/>
            <a:ext cx="283464" cy="283464"/>
          </a:xfrm>
          <a:prstGeom prst="rect">
            <a:avLst/>
          </a:prstGeom>
          <a:solidFill>
            <a:srgbClr val="0B1E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88436" y="4773168"/>
            <a:ext cx="283464" cy="283464"/>
          </a:xfrm>
          <a:prstGeom prst="rect">
            <a:avLst/>
          </a:prstGeom>
          <a:solidFill>
            <a:srgbClr val="4E7F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799332" y="4773168"/>
            <a:ext cx="283464" cy="283464"/>
          </a:xfrm>
          <a:prstGeom prst="rect">
            <a:avLst/>
          </a:prstGeom>
          <a:solidFill>
            <a:srgbClr val="9FC6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244852" y="5084064"/>
            <a:ext cx="283464" cy="283464"/>
          </a:xfrm>
          <a:prstGeom prst="rect">
            <a:avLst/>
          </a:prstGeom>
          <a:solidFill>
            <a:srgbClr val="4E7F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555748" y="5084064"/>
            <a:ext cx="283464" cy="283464"/>
          </a:xfrm>
          <a:prstGeom prst="rect">
            <a:avLst/>
          </a:prstGeom>
          <a:solidFill>
            <a:srgbClr val="9FC6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866644" y="5084064"/>
            <a:ext cx="283464" cy="283464"/>
          </a:xfrm>
          <a:prstGeom prst="rect">
            <a:avLst/>
          </a:prstGeom>
          <a:solidFill>
            <a:srgbClr val="0B1E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177540" y="5084064"/>
            <a:ext cx="283464" cy="283464"/>
          </a:xfrm>
          <a:prstGeom prst="rect">
            <a:avLst/>
          </a:prstGeom>
          <a:solidFill>
            <a:srgbClr val="4E7F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488436" y="5084064"/>
            <a:ext cx="283464" cy="283464"/>
          </a:xfrm>
          <a:prstGeom prst="rect">
            <a:avLst/>
          </a:prstGeom>
          <a:solidFill>
            <a:srgbClr val="9FC6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799332" y="5084064"/>
            <a:ext cx="283464" cy="283464"/>
          </a:xfrm>
          <a:prstGeom prst="rect">
            <a:avLst/>
          </a:prstGeom>
          <a:solidFill>
            <a:srgbClr val="0B1E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244852" y="5394960"/>
            <a:ext cx="283464" cy="283464"/>
          </a:xfrm>
          <a:prstGeom prst="rect">
            <a:avLst/>
          </a:prstGeom>
          <a:solidFill>
            <a:srgbClr val="9FC6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555748" y="5394960"/>
            <a:ext cx="283464" cy="283464"/>
          </a:xfrm>
          <a:prstGeom prst="rect">
            <a:avLst/>
          </a:prstGeom>
          <a:solidFill>
            <a:srgbClr val="0B1E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866644" y="5394960"/>
            <a:ext cx="283464" cy="283464"/>
          </a:xfrm>
          <a:prstGeom prst="rect">
            <a:avLst/>
          </a:prstGeom>
          <a:solidFill>
            <a:srgbClr val="4E7F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177540" y="5394960"/>
            <a:ext cx="283464" cy="283464"/>
          </a:xfrm>
          <a:prstGeom prst="rect">
            <a:avLst/>
          </a:prstGeom>
          <a:solidFill>
            <a:srgbClr val="9FC6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488436" y="5394960"/>
            <a:ext cx="283464" cy="283464"/>
          </a:xfrm>
          <a:prstGeom prst="rect">
            <a:avLst/>
          </a:prstGeom>
          <a:solidFill>
            <a:srgbClr val="0B1E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799332" y="5394960"/>
            <a:ext cx="283464" cy="283464"/>
          </a:xfrm>
          <a:prstGeom prst="rect">
            <a:avLst/>
          </a:prstGeom>
          <a:solidFill>
            <a:srgbClr val="4E7F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217920" y="178308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AF4FB"/>
          </a:solidFill>
          <a:ln/>
          <a:effectLst>
            <a:outerShdw sx="100000" sy="100000" kx="0" ky="0" algn="bl" rotWithShape="0" blurRad="76200" dist="25400" dir="5400000">
              <a:srgbClr val="9AAFC7">
                <a:alpha val="35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537960" y="2103120"/>
            <a:ext cx="685800" cy="68580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47" name="Image 1" descr="/home/claude/work/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267712"/>
            <a:ext cx="356616" cy="356616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7360920" y="21305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800" dirty="0"/>
          </a:p>
        </p:txBody>
      </p:sp>
      <p:sp>
        <p:nvSpPr>
          <p:cNvPr id="49" name="Text 45"/>
          <p:cNvSpPr/>
          <p:nvPr/>
        </p:nvSpPr>
        <p:spPr>
          <a:xfrm>
            <a:off x="6537960" y="292608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each pixel's brightness into a number — for example, 0 to 255.</a:t>
            </a:r>
            <a:endParaRPr lang="en-US" sz="1250" dirty="0"/>
          </a:p>
        </p:txBody>
      </p:sp>
      <p:sp>
        <p:nvSpPr>
          <p:cNvPr id="50" name="Shape 46"/>
          <p:cNvSpPr/>
          <p:nvPr/>
        </p:nvSpPr>
        <p:spPr>
          <a:xfrm>
            <a:off x="6583680" y="5120640"/>
            <a:ext cx="647700" cy="228600"/>
          </a:xfrm>
          <a:prstGeom prst="rect">
            <a:avLst/>
          </a:prstGeom>
          <a:solidFill>
            <a:srgbClr val="4E7FB5"/>
          </a:solidFill>
          <a:ln/>
        </p:spPr>
      </p:sp>
      <p:sp>
        <p:nvSpPr>
          <p:cNvPr id="51" name="Shape 47"/>
          <p:cNvSpPr/>
          <p:nvPr/>
        </p:nvSpPr>
        <p:spPr>
          <a:xfrm>
            <a:off x="7359396" y="4892040"/>
            <a:ext cx="647700" cy="457200"/>
          </a:xfrm>
          <a:prstGeom prst="rect">
            <a:avLst/>
          </a:prstGeom>
          <a:solidFill>
            <a:srgbClr val="4E7FB5"/>
          </a:solidFill>
          <a:ln/>
        </p:spPr>
      </p:sp>
      <p:sp>
        <p:nvSpPr>
          <p:cNvPr id="52" name="Shape 48"/>
          <p:cNvSpPr/>
          <p:nvPr/>
        </p:nvSpPr>
        <p:spPr>
          <a:xfrm>
            <a:off x="8135112" y="4663440"/>
            <a:ext cx="647700" cy="685800"/>
          </a:xfrm>
          <a:prstGeom prst="rect">
            <a:avLst/>
          </a:prstGeom>
          <a:solidFill>
            <a:srgbClr val="4E7FB5"/>
          </a:solidFill>
          <a:ln/>
        </p:spPr>
      </p:sp>
      <p:sp>
        <p:nvSpPr>
          <p:cNvPr id="53" name="Shape 49"/>
          <p:cNvSpPr/>
          <p:nvPr/>
        </p:nvSpPr>
        <p:spPr>
          <a:xfrm>
            <a:off x="8910828" y="4434840"/>
            <a:ext cx="647700" cy="914400"/>
          </a:xfrm>
          <a:prstGeom prst="rect">
            <a:avLst/>
          </a:prstGeom>
          <a:solidFill>
            <a:srgbClr val="4E7FB5"/>
          </a:solidFill>
          <a:ln/>
        </p:spPr>
      </p:sp>
      <p:sp>
        <p:nvSpPr>
          <p:cNvPr id="54" name="Shape 50"/>
          <p:cNvSpPr/>
          <p:nvPr/>
        </p:nvSpPr>
        <p:spPr>
          <a:xfrm>
            <a:off x="9686544" y="4206240"/>
            <a:ext cx="647700" cy="1143000"/>
          </a:xfrm>
          <a:prstGeom prst="rect">
            <a:avLst/>
          </a:prstGeom>
          <a:solidFill>
            <a:srgbClr val="4E7FB5"/>
          </a:solidFill>
          <a:ln/>
        </p:spPr>
      </p:sp>
      <p:sp>
        <p:nvSpPr>
          <p:cNvPr id="55" name="Shape 51"/>
          <p:cNvSpPr/>
          <p:nvPr/>
        </p:nvSpPr>
        <p:spPr>
          <a:xfrm>
            <a:off x="10462260" y="3977640"/>
            <a:ext cx="647700" cy="1371600"/>
          </a:xfrm>
          <a:prstGeom prst="rect">
            <a:avLst/>
          </a:prstGeom>
          <a:solidFill>
            <a:srgbClr val="00B8D4"/>
          </a:solidFill>
          <a:ln/>
        </p:spPr>
      </p:sp>
      <p:sp>
        <p:nvSpPr>
          <p:cNvPr id="56" name="Text 5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Fundamentals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Digital Imaging Pipeline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78022" y="2377440"/>
            <a:ext cx="960120" cy="96012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5" name="Image 0" descr="/home/claude/work/icons/ima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450" y="260786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465576"/>
            <a:ext cx="21274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2211294" y="2857500"/>
            <a:ext cx="1112459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396905" y="2377440"/>
            <a:ext cx="960120" cy="96012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9" name="Image 1" descr="/home/claude/work/icons/chi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333" y="2607869"/>
            <a:ext cx="499262" cy="4992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13243" y="3465576"/>
            <a:ext cx="21274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430177" y="2857500"/>
            <a:ext cx="1112459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615788" y="2377440"/>
            <a:ext cx="960120" cy="96012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3" name="Image 2" descr="/home/claude/work/icons/wavefor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216" y="2607869"/>
            <a:ext cx="499262" cy="4992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32126" y="3465576"/>
            <a:ext cx="21274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Signal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649060" y="2857500"/>
            <a:ext cx="1112459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7834671" y="2377440"/>
            <a:ext cx="960120" cy="96012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7" name="Image 3" descr="/home/claude/work/icons/slid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99" y="2607869"/>
            <a:ext cx="499262" cy="4992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51009" y="3465576"/>
            <a:ext cx="21274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&amp;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8867943" y="2857500"/>
            <a:ext cx="1112459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10053554" y="2377440"/>
            <a:ext cx="960120" cy="96012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21" name="Image 4" descr="/home/claude/work/icons/gri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3982" y="2607869"/>
            <a:ext cx="499262" cy="49926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69892" y="3465576"/>
            <a:ext cx="212744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Pixels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548640" y="493776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EAF4FB"/>
          </a:solidFill>
          <a:ln/>
        </p:spPr>
      </p:sp>
      <p:sp>
        <p:nvSpPr>
          <p:cNvPr id="24" name="Text 17"/>
          <p:cNvSpPr/>
          <p:nvPr/>
        </p:nvSpPr>
        <p:spPr>
          <a:xfrm>
            <a:off x="914400" y="493776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before this turns light into a signal. Everything after this point is just math on numbers.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Fundamentals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RELATIONSHIPS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 Neighbors: What's Next to a Pixel?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800"/>
              </a:spcAft>
              <a:buSzPct val="100000"/>
              <a:buChar char="●"/>
            </a:pPr>
            <a:r>
              <a:rPr lang="en-US" sz="15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need clear rules for "next to"</a:t>
            </a:r>
            <a:endParaRPr lang="en-US" sz="1550" dirty="0"/>
          </a:p>
          <a:p>
            <a:pPr algn="l" marL="228600" indent="-228600">
              <a:spcAft>
                <a:spcPts val="1800"/>
              </a:spcAft>
              <a:buSzPct val="100000"/>
              <a:buChar char="●"/>
            </a:pPr>
            <a:r>
              <a:rPr lang="en-US" sz="15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neighbors (N4): up, down, left, right</a:t>
            </a:r>
            <a:endParaRPr lang="en-US" sz="1550" dirty="0"/>
          </a:p>
          <a:p>
            <a:pPr algn="l" marL="228600" indent="-228600">
              <a:spcAft>
                <a:spcPts val="1800"/>
              </a:spcAft>
              <a:buSzPct val="100000"/>
              <a:buChar char="●"/>
            </a:pPr>
            <a:r>
              <a:rPr lang="en-US" sz="15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4 corners too, and you get N8</a:t>
            </a:r>
            <a:endParaRPr lang="en-US" sz="1550" dirty="0"/>
          </a:p>
          <a:p>
            <a:pPr algn="l" marL="228600" indent="-228600">
              <a:spcAft>
                <a:spcPts val="1800"/>
              </a:spcAft>
              <a:buSzPct val="100000"/>
              <a:buChar char="●"/>
            </a:pPr>
            <a:r>
              <a:rPr lang="en-US" sz="15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for tracing edges and finding shapes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40880" y="1783080"/>
            <a:ext cx="905256" cy="905256"/>
          </a:xfrm>
          <a:prstGeom prst="rect">
            <a:avLst/>
          </a:prstGeom>
          <a:solidFill>
            <a:srgbClr val="D9EA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1783080"/>
            <a:ext cx="90525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01000" y="1783080"/>
            <a:ext cx="905256" cy="905256"/>
          </a:xfrm>
          <a:prstGeom prst="rect">
            <a:avLst/>
          </a:prstGeom>
          <a:solidFill>
            <a:srgbClr val="9FC6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01000" y="1783080"/>
            <a:ext cx="90525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61120" y="1783080"/>
            <a:ext cx="905256" cy="905256"/>
          </a:xfrm>
          <a:prstGeom prst="rect">
            <a:avLst/>
          </a:prstGeom>
          <a:solidFill>
            <a:srgbClr val="D9EA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0" y="1783080"/>
            <a:ext cx="90525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40880" y="2743200"/>
            <a:ext cx="905256" cy="905256"/>
          </a:xfrm>
          <a:prstGeom prst="rect">
            <a:avLst/>
          </a:prstGeom>
          <a:solidFill>
            <a:srgbClr val="9FC6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2743200"/>
            <a:ext cx="90525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01000" y="2743200"/>
            <a:ext cx="905256" cy="905256"/>
          </a:xfrm>
          <a:prstGeom prst="rect">
            <a:avLst/>
          </a:prstGeom>
          <a:solidFill>
            <a:srgbClr val="0B1E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2743200"/>
            <a:ext cx="90525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61120" y="2743200"/>
            <a:ext cx="905256" cy="905256"/>
          </a:xfrm>
          <a:prstGeom prst="rect">
            <a:avLst/>
          </a:prstGeom>
          <a:solidFill>
            <a:srgbClr val="9FC6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2743200"/>
            <a:ext cx="90525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40880" y="3703320"/>
            <a:ext cx="905256" cy="905256"/>
          </a:xfrm>
          <a:prstGeom prst="rect">
            <a:avLst/>
          </a:prstGeom>
          <a:solidFill>
            <a:srgbClr val="D9EA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3703320"/>
            <a:ext cx="90525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01000" y="3703320"/>
            <a:ext cx="905256" cy="905256"/>
          </a:xfrm>
          <a:prstGeom prst="rect">
            <a:avLst/>
          </a:prstGeom>
          <a:solidFill>
            <a:srgbClr val="9FC6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3703320"/>
            <a:ext cx="90525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61120" y="3703320"/>
            <a:ext cx="905256" cy="905256"/>
          </a:xfrm>
          <a:prstGeom prst="rect">
            <a:avLst/>
          </a:prstGeom>
          <a:solidFill>
            <a:srgbClr val="D9EA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0" y="3703320"/>
            <a:ext cx="90525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40880" y="4937760"/>
            <a:ext cx="274320" cy="274320"/>
          </a:xfrm>
          <a:prstGeom prst="rect">
            <a:avLst/>
          </a:prstGeom>
          <a:solidFill>
            <a:srgbClr val="9FC6E8"/>
          </a:solidFill>
          <a:ln/>
        </p:spPr>
      </p:sp>
      <p:sp>
        <p:nvSpPr>
          <p:cNvPr id="24" name="Text 22"/>
          <p:cNvSpPr/>
          <p:nvPr/>
        </p:nvSpPr>
        <p:spPr>
          <a:xfrm>
            <a:off x="7424928" y="4892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straight neighbors — N4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40880" y="5321808"/>
            <a:ext cx="274320" cy="274320"/>
          </a:xfrm>
          <a:prstGeom prst="rect">
            <a:avLst/>
          </a:prstGeom>
          <a:solidFill>
            <a:srgbClr val="D9EAF6"/>
          </a:solidFill>
          <a:ln/>
        </p:spPr>
      </p:sp>
      <p:sp>
        <p:nvSpPr>
          <p:cNvPr id="26" name="Text 24"/>
          <p:cNvSpPr/>
          <p:nvPr/>
        </p:nvSpPr>
        <p:spPr>
          <a:xfrm>
            <a:off x="7424928" y="52760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corners = 8 neighbors — N8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Fundamentals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RELATIONSHIPS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 &amp; Distance: Linking Pixels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link into shapes when they’re neighbors and match in value</a:t>
            </a:r>
            <a:endParaRPr lang="en-US" sz="1500" dirty="0"/>
          </a:p>
          <a:p>
            <a:pPr algn="l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two rules together (e.g. 4 &amp; 8) keeps shapes solid — no gaps, no leaks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Measure "How Far"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752448" y="3383280"/>
            <a:ext cx="1188720" cy="1188720"/>
          </a:xfrm>
          <a:prstGeom prst="ellipse">
            <a:avLst/>
          </a:prstGeom>
          <a:solidFill>
            <a:srgbClr val="0B1E3D"/>
          </a:solidFill>
          <a:ln/>
        </p:spPr>
      </p:sp>
      <p:sp>
        <p:nvSpPr>
          <p:cNvPr id="7" name="Text 5"/>
          <p:cNvSpPr/>
          <p:nvPr/>
        </p:nvSpPr>
        <p:spPr>
          <a:xfrm>
            <a:off x="700888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0888" y="50474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straight-line distance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01488" y="3383280"/>
            <a:ext cx="1188720" cy="1188720"/>
          </a:xfrm>
          <a:prstGeom prst="diamond">
            <a:avLst/>
          </a:prstGeom>
          <a:solidFill>
            <a:srgbClr val="00B8D4"/>
          </a:solidFill>
          <a:ln/>
        </p:spPr>
      </p:sp>
      <p:sp>
        <p:nvSpPr>
          <p:cNvPr id="10" name="Text 8"/>
          <p:cNvSpPr/>
          <p:nvPr/>
        </p:nvSpPr>
        <p:spPr>
          <a:xfrm>
            <a:off x="4449928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City-Block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49928" y="50474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straight steps count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250528" y="3383280"/>
            <a:ext cx="1188720" cy="1188720"/>
          </a:xfrm>
          <a:prstGeom prst="rect">
            <a:avLst/>
          </a:prstGeom>
          <a:solidFill>
            <a:srgbClr val="4E7FB5"/>
          </a:solidFill>
          <a:ln/>
        </p:spPr>
      </p:sp>
      <p:sp>
        <p:nvSpPr>
          <p:cNvPr id="13" name="Text 11"/>
          <p:cNvSpPr/>
          <p:nvPr/>
        </p:nvSpPr>
        <p:spPr>
          <a:xfrm>
            <a:off x="8198968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Chessboard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98968" y="50474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steps count the same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Fundamentals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00B8D4"/>
          </a:solidFill>
          <a:ln/>
        </p:spPr>
      </p:sp>
      <p:pic>
        <p:nvPicPr>
          <p:cNvPr id="5" name="Image 0" descr="/home/claude/work/icons/circleNode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91914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830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749040" y="178308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needs clearly defined neighbors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rgbClr val="00B8D4"/>
          </a:solidFill>
          <a:ln/>
        </p:spPr>
      </p:sp>
      <p:pic>
        <p:nvPicPr>
          <p:cNvPr id="9" name="Image 1" descr="/home/claude/work/icons/lin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269638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5603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749040" y="256032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rules link pixels into objects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337560"/>
            <a:ext cx="566928" cy="566928"/>
          </a:xfrm>
          <a:prstGeom prst="ellipse">
            <a:avLst/>
          </a:prstGeom>
          <a:solidFill>
            <a:srgbClr val="00B8D4"/>
          </a:solidFill>
          <a:ln/>
        </p:spPr>
      </p:sp>
      <p:pic>
        <p:nvPicPr>
          <p:cNvPr id="13" name="Image 2" descr="/home/claude/work/icons/rout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47362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3375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749040" y="333756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pixels form traceable shapes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114800"/>
            <a:ext cx="566928" cy="566928"/>
          </a:xfrm>
          <a:prstGeom prst="ellipse">
            <a:avLst/>
          </a:prstGeom>
          <a:solidFill>
            <a:srgbClr val="00B8D4"/>
          </a:solidFill>
          <a:ln/>
        </p:spPr>
      </p:sp>
      <p:pic>
        <p:nvPicPr>
          <p:cNvPr id="17" name="Image 3" descr="/home/claude/work/icons/rule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4250863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1148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749040" y="411480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metrics measure "how far" differently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5166360"/>
            <a:ext cx="11094415" cy="18288"/>
          </a:xfrm>
          <a:prstGeom prst="rect">
            <a:avLst/>
          </a:prstGeom>
          <a:solidFill>
            <a:srgbClr val="2A3E5C"/>
          </a:solidFill>
          <a:ln/>
        </p:spPr>
      </p:sp>
      <p:sp>
        <p:nvSpPr>
          <p:cNvPr id="21" name="Text 15"/>
          <p:cNvSpPr/>
          <p:nvPr/>
        </p:nvSpPr>
        <p:spPr>
          <a:xfrm>
            <a:off x="0" y="544068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0" y="60807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2026-09-22T06:42:36Z</dcterms:created>
  <dcterms:modified xsi:type="dcterms:W3CDTF">2026-09-22T06:42:36Z</dcterms:modified>
</cp:coreProperties>
</file>