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18B69EE5-019C-4FA4-9496-54E69056C0A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6.png"/><Relationship Id="rId6" Type="http://schemas.openxmlformats.org/officeDocument/2006/relationships/image" Target="../media/image23.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5.png"/><Relationship Id="rId7" Type="http://schemas.openxmlformats.org/officeDocument/2006/relationships/image" Target="../media/image4.png"/><Relationship Id="rId8"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22.png"/><Relationship Id="rId7" Type="http://schemas.openxmlformats.org/officeDocument/2006/relationships/image" Target="../media/image11.png"/><Relationship Id="rId8"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5.png"/><Relationship Id="rId6" Type="http://schemas.openxmlformats.org/officeDocument/2006/relationships/image" Target="../media/image13.png"/><Relationship Id="rId7" Type="http://schemas.openxmlformats.org/officeDocument/2006/relationships/image" Target="../media/image9.png"/><Relationship Id="rId8"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 name="Shape 15"/>
        <p:cNvGrpSpPr/>
        <p:nvPr/>
      </p:nvGrpSpPr>
      <p:grpSpPr>
        <a:xfrm>
          <a:off x="0" y="0"/>
          <a:ext cx="0" cy="0"/>
          <a:chOff x="0" y="0"/>
          <a:chExt cx="0" cy="0"/>
        </a:xfrm>
      </p:grpSpPr>
      <p:sp>
        <p:nvSpPr>
          <p:cNvPr id="16" name="Google Shape;16;p1"/>
          <p:cNvSpPr/>
          <p:nvPr/>
        </p:nvSpPr>
        <p:spPr>
          <a:xfrm>
            <a:off x="777240" y="3246120"/>
            <a:ext cx="96012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libri"/>
              <a:buNone/>
            </a:pPr>
            <a:r>
              <a:rPr b="1" i="0" lang="en-US" sz="5400" u="none" cap="none" strike="noStrike">
                <a:solidFill>
                  <a:srgbClr val="FFFFFF"/>
                </a:solidFill>
                <a:latin typeface="Calibri"/>
                <a:ea typeface="Calibri"/>
                <a:cs typeface="Calibri"/>
                <a:sym typeface="Calibri"/>
              </a:rPr>
              <a:t>Generative AI</a:t>
            </a:r>
            <a:endParaRPr b="0" i="0" sz="5400" u="none" cap="none" strike="noStrike">
              <a:solidFill>
                <a:schemeClr val="dk1"/>
              </a:solidFill>
              <a:latin typeface="Calibri"/>
              <a:ea typeface="Calibri"/>
              <a:cs typeface="Calibri"/>
              <a:sym typeface="Calibri"/>
            </a:endParaRPr>
          </a:p>
        </p:txBody>
      </p:sp>
      <p:sp>
        <p:nvSpPr>
          <p:cNvPr id="17" name="Google Shape;17;p1"/>
          <p:cNvSpPr/>
          <p:nvPr/>
        </p:nvSpPr>
        <p:spPr>
          <a:xfrm>
            <a:off x="25" y="0"/>
            <a:ext cx="12192000" cy="6858000"/>
          </a:xfrm>
          <a:prstGeom prst="roundRect">
            <a:avLst>
              <a:gd fmla="val 0" name="adj"/>
            </a:avLst>
          </a:prstGeom>
          <a:solidFill>
            <a:srgbClr val="FFE8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8" name="Google Shape;18;p1"/>
          <p:cNvSpPr/>
          <p:nvPr/>
        </p:nvSpPr>
        <p:spPr>
          <a:xfrm>
            <a:off x="1725550" y="1914263"/>
            <a:ext cx="92991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C6F5"/>
              </a:buClr>
              <a:buSzPts val="1800"/>
              <a:buFont typeface="Calibri"/>
              <a:buNone/>
            </a:pPr>
            <a:r>
              <a:rPr lang="en-US" sz="4300">
                <a:solidFill>
                  <a:schemeClr val="accent1"/>
                </a:solidFill>
                <a:latin typeface="Calibri"/>
                <a:ea typeface="Calibri"/>
                <a:cs typeface="Calibri"/>
                <a:sym typeface="Calibri"/>
              </a:rPr>
              <a:t>  </a:t>
            </a:r>
            <a:r>
              <a:rPr lang="en-US" sz="3900">
                <a:solidFill>
                  <a:schemeClr val="dk2"/>
                </a:solidFill>
                <a:latin typeface="Calibri"/>
                <a:ea typeface="Calibri"/>
                <a:cs typeface="Calibri"/>
                <a:sym typeface="Calibri"/>
              </a:rPr>
              <a:t>     Generative AI &amp; Foundation Models </a:t>
            </a:r>
            <a:endParaRPr b="0" i="0" sz="3900" u="none" cap="none" strike="noStrike">
              <a:solidFill>
                <a:schemeClr val="dk2"/>
              </a:solidFill>
              <a:latin typeface="Calibri"/>
              <a:ea typeface="Calibri"/>
              <a:cs typeface="Calibri"/>
              <a:sym typeface="Calibri"/>
            </a:endParaRPr>
          </a:p>
        </p:txBody>
      </p:sp>
      <p:pic>
        <p:nvPicPr>
          <p:cNvPr id="19" name="Google Shape;19;p1" title="logo-small.png"/>
          <p:cNvPicPr preferRelativeResize="0"/>
          <p:nvPr/>
        </p:nvPicPr>
        <p:blipFill>
          <a:blip r:embed="rId3">
            <a:alphaModFix amt="9000"/>
          </a:blip>
          <a:stretch>
            <a:fillRect/>
          </a:stretch>
        </p:blipFill>
        <p:spPr>
          <a:xfrm>
            <a:off x="2955663" y="305238"/>
            <a:ext cx="6280725" cy="6280725"/>
          </a:xfrm>
          <a:prstGeom prst="rect">
            <a:avLst/>
          </a:prstGeom>
          <a:noFill/>
          <a:ln>
            <a:noFill/>
          </a:ln>
        </p:spPr>
      </p:pic>
      <p:sp>
        <p:nvSpPr>
          <p:cNvPr id="20" name="Google Shape;20;p1"/>
          <p:cNvSpPr txBox="1"/>
          <p:nvPr/>
        </p:nvSpPr>
        <p:spPr>
          <a:xfrm>
            <a:off x="7970925" y="1203150"/>
            <a:ext cx="2306100" cy="7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1" name="Google Shape;21;p1"/>
          <p:cNvSpPr/>
          <p:nvPr/>
        </p:nvSpPr>
        <p:spPr>
          <a:xfrm>
            <a:off x="2173975" y="305250"/>
            <a:ext cx="8274300" cy="106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4DFF"/>
              </a:buClr>
              <a:buSzPts val="1400"/>
              <a:buFont typeface="Calibri"/>
              <a:buNone/>
            </a:pPr>
            <a:r>
              <a:rPr b="1" lang="en-US" sz="3500">
                <a:solidFill>
                  <a:schemeClr val="dk1"/>
                </a:solidFill>
                <a:latin typeface="Calibri"/>
                <a:ea typeface="Calibri"/>
                <a:cs typeface="Calibri"/>
                <a:sym typeface="Calibri"/>
              </a:rPr>
              <a:t>      </a:t>
            </a:r>
            <a:r>
              <a:rPr b="1" i="0" lang="en-US" sz="5100" u="none" cap="none" strike="noStrike">
                <a:solidFill>
                  <a:srgbClr val="F97316"/>
                </a:solidFill>
                <a:latin typeface="Calibri"/>
                <a:ea typeface="Calibri"/>
                <a:cs typeface="Calibri"/>
                <a:sym typeface="Calibri"/>
              </a:rPr>
              <a:t>SEMINAR PRESENTATION</a:t>
            </a:r>
            <a:endParaRPr b="0" i="0" sz="5100" u="none" cap="none" strike="noStrike">
              <a:solidFill>
                <a:srgbClr val="7C4DFF"/>
              </a:solidFill>
              <a:latin typeface="Calibri"/>
              <a:ea typeface="Calibri"/>
              <a:cs typeface="Calibri"/>
              <a:sym typeface="Calibri"/>
            </a:endParaRPr>
          </a:p>
        </p:txBody>
      </p:sp>
      <p:sp>
        <p:nvSpPr>
          <p:cNvPr id="22" name="Google Shape;22;p1"/>
          <p:cNvSpPr/>
          <p:nvPr/>
        </p:nvSpPr>
        <p:spPr>
          <a:xfrm>
            <a:off x="2173975" y="3246125"/>
            <a:ext cx="7624200" cy="2106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C6F5"/>
              </a:buClr>
              <a:buSzPts val="1800"/>
              <a:buFont typeface="Calibri"/>
              <a:buNone/>
            </a:pPr>
            <a:r>
              <a:rPr lang="en-US" sz="2100">
                <a:solidFill>
                  <a:srgbClr val="666666"/>
                </a:solidFill>
                <a:latin typeface="Calibri"/>
                <a:ea typeface="Calibri"/>
                <a:cs typeface="Calibri"/>
                <a:sym typeface="Calibri"/>
              </a:rPr>
              <a:t>                                                    </a:t>
            </a:r>
            <a:r>
              <a:rPr b="1" lang="en-US" sz="2500">
                <a:solidFill>
                  <a:schemeClr val="dk2"/>
                </a:solidFill>
                <a:latin typeface="Calibri"/>
                <a:ea typeface="Calibri"/>
                <a:cs typeface="Calibri"/>
                <a:sym typeface="Calibri"/>
              </a:rPr>
              <a:t>Presented By</a:t>
            </a:r>
            <a:endParaRPr b="1" sz="2500">
              <a:solidFill>
                <a:schemeClr val="dk2"/>
              </a:solidFill>
              <a:latin typeface="Calibri"/>
              <a:ea typeface="Calibri"/>
              <a:cs typeface="Calibri"/>
              <a:sym typeface="Calibri"/>
            </a:endParaRPr>
          </a:p>
          <a:p>
            <a:pPr indent="0" lvl="0" marL="0" marR="0" rtl="0" algn="l">
              <a:spcBef>
                <a:spcPts val="0"/>
              </a:spcBef>
              <a:spcAft>
                <a:spcPts val="0"/>
              </a:spcAft>
              <a:buClr>
                <a:srgbClr val="CFC6F5"/>
              </a:buClr>
              <a:buSzPts val="1800"/>
              <a:buFont typeface="Calibri"/>
              <a:buNone/>
            </a:pPr>
            <a:r>
              <a:rPr b="1" lang="en-US" sz="2500">
                <a:solidFill>
                  <a:schemeClr val="dk2"/>
                </a:solidFill>
                <a:latin typeface="Calibri"/>
                <a:ea typeface="Calibri"/>
                <a:cs typeface="Calibri"/>
                <a:sym typeface="Calibri"/>
              </a:rPr>
              <a:t>                                       Srijan Majumder</a:t>
            </a:r>
            <a:endParaRPr b="1" sz="2500">
              <a:solidFill>
                <a:schemeClr val="dk2"/>
              </a:solidFill>
              <a:latin typeface="Calibri"/>
              <a:ea typeface="Calibri"/>
              <a:cs typeface="Calibri"/>
              <a:sym typeface="Calibri"/>
            </a:endParaRPr>
          </a:p>
          <a:p>
            <a:pPr indent="0" lvl="0" marL="0" marR="0" rtl="0" algn="l">
              <a:spcBef>
                <a:spcPts val="0"/>
              </a:spcBef>
              <a:spcAft>
                <a:spcPts val="0"/>
              </a:spcAft>
              <a:buClr>
                <a:srgbClr val="CFC6F5"/>
              </a:buClr>
              <a:buSzPts val="1800"/>
              <a:buFont typeface="Calibri"/>
              <a:buNone/>
            </a:pPr>
            <a:r>
              <a:rPr b="1" lang="en-US" sz="2500">
                <a:solidFill>
                  <a:schemeClr val="dk2"/>
                </a:solidFill>
                <a:latin typeface="Calibri"/>
                <a:ea typeface="Calibri"/>
                <a:cs typeface="Calibri"/>
                <a:sym typeface="Calibri"/>
              </a:rPr>
              <a:t>                                    Scholar ID: 26CS22R04</a:t>
            </a:r>
            <a:endParaRPr b="1" sz="4700">
              <a:solidFill>
                <a:schemeClr val="dk2"/>
              </a:solidFill>
              <a:latin typeface="Calibri"/>
              <a:ea typeface="Calibri"/>
              <a:cs typeface="Calibri"/>
              <a:sym typeface="Calibri"/>
            </a:endParaRPr>
          </a:p>
        </p:txBody>
      </p:sp>
      <p:sp>
        <p:nvSpPr>
          <p:cNvPr id="23" name="Google Shape;23;p1"/>
          <p:cNvSpPr/>
          <p:nvPr/>
        </p:nvSpPr>
        <p:spPr>
          <a:xfrm>
            <a:off x="51045" y="5610130"/>
            <a:ext cx="37947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700"/>
              <a:buFont typeface="Calibri"/>
              <a:buNone/>
            </a:pPr>
            <a:r>
              <a:rPr>
                <a:solidFill/>
              </a:rPr>
              <a:t/>
            </a:r>
            <a:endParaRPr b="0" i="0" sz="1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2"/>
          <p:cNvSpPr/>
          <p:nvPr/>
        </p:nvSpPr>
        <p:spPr>
          <a:xfrm>
            <a:off x="548640" y="457200"/>
            <a:ext cx="100584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3200"/>
              <a:buFont typeface="Calibri"/>
              <a:buNone/>
            </a:pPr>
            <a:r>
              <a:rPr b="1" i="0" lang="en-US" sz="3400" u="none" cap="none" strike="noStrike">
                <a:solidFill>
                  <a:srgbClr val="431407"/>
                </a:solidFill>
                <a:latin typeface="Calibri"/>
                <a:ea typeface="Calibri"/>
                <a:cs typeface="Calibri"/>
                <a:sym typeface="Calibri"/>
              </a:rPr>
              <a:t>What We Will Cover</a:t>
            </a:r>
            <a:endParaRPr b="0" i="0" sz="3400" u="none" cap="none" strike="noStrike">
              <a:solidFill>
                <a:schemeClr val="dk1"/>
              </a:solidFill>
              <a:latin typeface="Calibri"/>
              <a:ea typeface="Calibri"/>
              <a:cs typeface="Calibri"/>
              <a:sym typeface="Calibri"/>
            </a:endParaRPr>
          </a:p>
        </p:txBody>
      </p:sp>
      <p:sp>
        <p:nvSpPr>
          <p:cNvPr id="30" name="Google Shape;30;p2"/>
          <p:cNvSpPr/>
          <p:nvPr/>
        </p:nvSpPr>
        <p:spPr>
          <a:xfrm>
            <a:off x="548640" y="2011680"/>
            <a:ext cx="5166360" cy="1188720"/>
          </a:xfrm>
          <a:prstGeom prst="roundRect">
            <a:avLst>
              <a:gd fmla="val 6923"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1" name="Google Shape;31;p2"/>
          <p:cNvSpPr/>
          <p:nvPr/>
        </p:nvSpPr>
        <p:spPr>
          <a:xfrm>
            <a:off x="822960" y="2295144"/>
            <a:ext cx="621792" cy="621792"/>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2" name="Google Shape;32;p2"/>
          <p:cNvSpPr/>
          <p:nvPr/>
        </p:nvSpPr>
        <p:spPr>
          <a:xfrm>
            <a:off x="822960" y="2295144"/>
            <a:ext cx="621792"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33" name="Google Shape;33;p2"/>
          <p:cNvSpPr/>
          <p:nvPr/>
        </p:nvSpPr>
        <p:spPr>
          <a:xfrm>
            <a:off x="1645920" y="2011680"/>
            <a:ext cx="3794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700"/>
              <a:buFont typeface="Calibri"/>
              <a:buNone/>
            </a:pPr>
            <a:r>
              <a:rPr b="1" i="0" lang="en-US" sz="1700" u="none" cap="none" strike="noStrike">
                <a:solidFill>
                  <a:srgbClr val="431407"/>
                </a:solidFill>
                <a:latin typeface="Calibri"/>
                <a:ea typeface="Calibri"/>
                <a:cs typeface="Calibri"/>
                <a:sym typeface="Calibri"/>
              </a:rPr>
              <a:t>What is Generative AI?</a:t>
            </a:r>
            <a:endParaRPr b="0" i="0" sz="1700" u="none" cap="none" strike="noStrike">
              <a:solidFill>
                <a:schemeClr val="dk1"/>
              </a:solidFill>
              <a:latin typeface="Calibri"/>
              <a:ea typeface="Calibri"/>
              <a:cs typeface="Calibri"/>
              <a:sym typeface="Calibri"/>
            </a:endParaRPr>
          </a:p>
        </p:txBody>
      </p:sp>
      <p:sp>
        <p:nvSpPr>
          <p:cNvPr id="34" name="Google Shape;34;p2"/>
          <p:cNvSpPr/>
          <p:nvPr/>
        </p:nvSpPr>
        <p:spPr>
          <a:xfrm>
            <a:off x="6080760" y="2011680"/>
            <a:ext cx="5166360" cy="1188720"/>
          </a:xfrm>
          <a:prstGeom prst="roundRect">
            <a:avLst>
              <a:gd fmla="val 6923"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5" name="Google Shape;35;p2"/>
          <p:cNvSpPr/>
          <p:nvPr/>
        </p:nvSpPr>
        <p:spPr>
          <a:xfrm>
            <a:off x="6355080" y="2295144"/>
            <a:ext cx="621792" cy="621792"/>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6" name="Google Shape;36;p2"/>
          <p:cNvSpPr/>
          <p:nvPr/>
        </p:nvSpPr>
        <p:spPr>
          <a:xfrm>
            <a:off x="6355080" y="2295144"/>
            <a:ext cx="621792"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37" name="Google Shape;37;p2"/>
          <p:cNvSpPr/>
          <p:nvPr/>
        </p:nvSpPr>
        <p:spPr>
          <a:xfrm>
            <a:off x="7178040" y="2011680"/>
            <a:ext cx="3794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700"/>
              <a:buFont typeface="Calibri"/>
              <a:buNone/>
            </a:pPr>
            <a:r>
              <a:rPr b="1" i="0" lang="en-US" sz="1700" u="none" cap="none" strike="noStrike">
                <a:solidFill>
                  <a:srgbClr val="431407"/>
                </a:solidFill>
                <a:latin typeface="Calibri"/>
                <a:ea typeface="Calibri"/>
                <a:cs typeface="Calibri"/>
                <a:sym typeface="Calibri"/>
              </a:rPr>
              <a:t>Key Characteristics of Generative AI</a:t>
            </a:r>
            <a:endParaRPr b="0" i="0" sz="1700" u="none" cap="none" strike="noStrike">
              <a:solidFill>
                <a:schemeClr val="dk1"/>
              </a:solidFill>
              <a:latin typeface="Calibri"/>
              <a:ea typeface="Calibri"/>
              <a:cs typeface="Calibri"/>
              <a:sym typeface="Calibri"/>
            </a:endParaRPr>
          </a:p>
        </p:txBody>
      </p:sp>
      <p:sp>
        <p:nvSpPr>
          <p:cNvPr id="38" name="Google Shape;38;p2"/>
          <p:cNvSpPr/>
          <p:nvPr/>
        </p:nvSpPr>
        <p:spPr>
          <a:xfrm>
            <a:off x="548640" y="3493008"/>
            <a:ext cx="5166360" cy="1188720"/>
          </a:xfrm>
          <a:prstGeom prst="roundRect">
            <a:avLst>
              <a:gd fmla="val 6923"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39" name="Google Shape;39;p2"/>
          <p:cNvSpPr/>
          <p:nvPr/>
        </p:nvSpPr>
        <p:spPr>
          <a:xfrm>
            <a:off x="822960" y="3776472"/>
            <a:ext cx="621792" cy="621792"/>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0" name="Google Shape;40;p2"/>
          <p:cNvSpPr/>
          <p:nvPr/>
        </p:nvSpPr>
        <p:spPr>
          <a:xfrm>
            <a:off x="822960" y="3776472"/>
            <a:ext cx="621792"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41" name="Google Shape;41;p2"/>
          <p:cNvSpPr/>
          <p:nvPr/>
        </p:nvSpPr>
        <p:spPr>
          <a:xfrm>
            <a:off x="1645920" y="3493008"/>
            <a:ext cx="3794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700"/>
              <a:buFont typeface="Calibri"/>
              <a:buNone/>
            </a:pPr>
            <a:r>
              <a:rPr b="1" i="0" lang="en-US" sz="1700" u="none" cap="none" strike="noStrike">
                <a:solidFill>
                  <a:srgbClr val="431407"/>
                </a:solidFill>
                <a:latin typeface="Calibri"/>
                <a:ea typeface="Calibri"/>
                <a:cs typeface="Calibri"/>
                <a:sym typeface="Calibri"/>
              </a:rPr>
              <a:t>Types of Generative AI</a:t>
            </a:r>
            <a:endParaRPr b="0" i="0" sz="1700" u="none" cap="none" strike="noStrike">
              <a:solidFill>
                <a:schemeClr val="dk1"/>
              </a:solidFill>
              <a:latin typeface="Calibri"/>
              <a:ea typeface="Calibri"/>
              <a:cs typeface="Calibri"/>
              <a:sym typeface="Calibri"/>
            </a:endParaRPr>
          </a:p>
        </p:txBody>
      </p:sp>
      <p:sp>
        <p:nvSpPr>
          <p:cNvPr id="42" name="Google Shape;42;p2"/>
          <p:cNvSpPr/>
          <p:nvPr/>
        </p:nvSpPr>
        <p:spPr>
          <a:xfrm>
            <a:off x="6080760" y="3493008"/>
            <a:ext cx="5166360" cy="1188720"/>
          </a:xfrm>
          <a:prstGeom prst="roundRect">
            <a:avLst>
              <a:gd fmla="val 6923"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3" name="Google Shape;43;p2"/>
          <p:cNvSpPr/>
          <p:nvPr/>
        </p:nvSpPr>
        <p:spPr>
          <a:xfrm>
            <a:off x="6355080" y="3776472"/>
            <a:ext cx="621792" cy="621792"/>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4" name="Google Shape;44;p2"/>
          <p:cNvSpPr/>
          <p:nvPr/>
        </p:nvSpPr>
        <p:spPr>
          <a:xfrm>
            <a:off x="6355080" y="3776472"/>
            <a:ext cx="621792"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4</a:t>
            </a:r>
            <a:endParaRPr b="0" i="0" sz="2200" u="none" cap="none" strike="noStrike">
              <a:solidFill>
                <a:schemeClr val="dk1"/>
              </a:solidFill>
              <a:latin typeface="Calibri"/>
              <a:ea typeface="Calibri"/>
              <a:cs typeface="Calibri"/>
              <a:sym typeface="Calibri"/>
            </a:endParaRPr>
          </a:p>
        </p:txBody>
      </p:sp>
      <p:sp>
        <p:nvSpPr>
          <p:cNvPr id="45" name="Google Shape;45;p2"/>
          <p:cNvSpPr/>
          <p:nvPr/>
        </p:nvSpPr>
        <p:spPr>
          <a:xfrm>
            <a:off x="7178040" y="3493008"/>
            <a:ext cx="3794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700"/>
              <a:buFont typeface="Calibri"/>
              <a:buNone/>
            </a:pPr>
            <a:r>
              <a:rPr b="1" i="0" lang="en-US" sz="1700" u="none" cap="none" strike="noStrike">
                <a:solidFill>
                  <a:srgbClr val="431407"/>
                </a:solidFill>
                <a:latin typeface="Calibri"/>
                <a:ea typeface="Calibri"/>
                <a:cs typeface="Calibri"/>
                <a:sym typeface="Calibri"/>
              </a:rPr>
              <a:t>How Generative AI Works (Framework)</a:t>
            </a:r>
            <a:endParaRPr b="0" i="0" sz="1700" u="none" cap="none" strike="noStrike">
              <a:solidFill>
                <a:schemeClr val="dk1"/>
              </a:solidFill>
              <a:latin typeface="Calibri"/>
              <a:ea typeface="Calibri"/>
              <a:cs typeface="Calibri"/>
              <a:sym typeface="Calibri"/>
            </a:endParaRPr>
          </a:p>
        </p:txBody>
      </p:sp>
      <p:sp>
        <p:nvSpPr>
          <p:cNvPr id="46" name="Google Shape;46;p2"/>
          <p:cNvSpPr/>
          <p:nvPr/>
        </p:nvSpPr>
        <p:spPr>
          <a:xfrm>
            <a:off x="548640" y="4974336"/>
            <a:ext cx="5166360" cy="1188720"/>
          </a:xfrm>
          <a:prstGeom prst="roundRect">
            <a:avLst>
              <a:gd fmla="val 6923"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7" name="Google Shape;47;p2"/>
          <p:cNvSpPr/>
          <p:nvPr/>
        </p:nvSpPr>
        <p:spPr>
          <a:xfrm>
            <a:off x="822960" y="5257800"/>
            <a:ext cx="621792" cy="621792"/>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48" name="Google Shape;48;p2"/>
          <p:cNvSpPr/>
          <p:nvPr/>
        </p:nvSpPr>
        <p:spPr>
          <a:xfrm>
            <a:off x="822960" y="5257800"/>
            <a:ext cx="621792"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5</a:t>
            </a:r>
            <a:endParaRPr b="0" i="0" sz="2200" u="none" cap="none" strike="noStrike">
              <a:solidFill>
                <a:schemeClr val="dk1"/>
              </a:solidFill>
              <a:latin typeface="Calibri"/>
              <a:ea typeface="Calibri"/>
              <a:cs typeface="Calibri"/>
              <a:sym typeface="Calibri"/>
            </a:endParaRPr>
          </a:p>
        </p:txBody>
      </p:sp>
      <p:sp>
        <p:nvSpPr>
          <p:cNvPr id="49" name="Google Shape;49;p2"/>
          <p:cNvSpPr/>
          <p:nvPr/>
        </p:nvSpPr>
        <p:spPr>
          <a:xfrm>
            <a:off x="1645920" y="4974336"/>
            <a:ext cx="3794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700"/>
              <a:buFont typeface="Calibri"/>
              <a:buNone/>
            </a:pPr>
            <a:r>
              <a:rPr b="1" i="0" lang="en-US" sz="1700" u="none" cap="none" strike="noStrike">
                <a:solidFill>
                  <a:srgbClr val="431407"/>
                </a:solidFill>
                <a:latin typeface="Calibri"/>
                <a:ea typeface="Calibri"/>
                <a:cs typeface="Calibri"/>
                <a:sym typeface="Calibri"/>
              </a:rPr>
              <a:t>Techniques Used in Generative AI</a:t>
            </a:r>
            <a:endParaRPr b="0" i="0" sz="1700" u="none" cap="none" strike="noStrike">
              <a:solidFill>
                <a:schemeClr val="dk1"/>
              </a:solidFill>
              <a:latin typeface="Calibri"/>
              <a:ea typeface="Calibri"/>
              <a:cs typeface="Calibri"/>
              <a:sym typeface="Calibri"/>
            </a:endParaRPr>
          </a:p>
        </p:txBody>
      </p:sp>
      <p:sp>
        <p:nvSpPr>
          <p:cNvPr id="50" name="Google Shape;50;p2"/>
          <p:cNvSpPr/>
          <p:nvPr/>
        </p:nvSpPr>
        <p:spPr>
          <a:xfrm>
            <a:off x="6080760" y="4974336"/>
            <a:ext cx="5166360" cy="1188720"/>
          </a:xfrm>
          <a:prstGeom prst="roundRect">
            <a:avLst>
              <a:gd fmla="val 6923"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1" name="Google Shape;51;p2"/>
          <p:cNvSpPr/>
          <p:nvPr/>
        </p:nvSpPr>
        <p:spPr>
          <a:xfrm>
            <a:off x="6355080" y="5257800"/>
            <a:ext cx="621792" cy="621792"/>
          </a:xfrm>
          <a:prstGeom prst="ellipse">
            <a:avLst/>
          </a:prstGeom>
          <a:solidFill>
            <a:srgbClr val="F973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52" name="Google Shape;52;p2"/>
          <p:cNvSpPr/>
          <p:nvPr/>
        </p:nvSpPr>
        <p:spPr>
          <a:xfrm>
            <a:off x="6355080" y="5257800"/>
            <a:ext cx="621792" cy="6217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6</a:t>
            </a:r>
            <a:endParaRPr b="0" i="0" sz="2200" u="none" cap="none" strike="noStrike">
              <a:solidFill>
                <a:schemeClr val="dk1"/>
              </a:solidFill>
              <a:latin typeface="Calibri"/>
              <a:ea typeface="Calibri"/>
              <a:cs typeface="Calibri"/>
              <a:sym typeface="Calibri"/>
            </a:endParaRPr>
          </a:p>
        </p:txBody>
      </p:sp>
      <p:pic>
        <p:nvPicPr>
          <p:cNvPr id="53" name="Google Shape;53;p2" title="logo-small.png"/>
          <p:cNvPicPr preferRelativeResize="0"/>
          <p:nvPr/>
        </p:nvPicPr>
        <p:blipFill>
          <a:blip r:embed="rId3">
            <a:alphaModFix amt="9000"/>
          </a:blip>
          <a:stretch>
            <a:fillRect/>
          </a:stretch>
        </p:blipFill>
        <p:spPr>
          <a:xfrm>
            <a:off x="2955663" y="305238"/>
            <a:ext cx="6280725" cy="6280725"/>
          </a:xfrm>
          <a:prstGeom prst="rect">
            <a:avLst/>
          </a:prstGeom>
          <a:noFill/>
          <a:ln>
            <a:noFill/>
          </a:ln>
        </p:spPr>
      </p:pic>
      <p:sp>
        <p:nvSpPr>
          <p:cNvPr id="54" name="Google Shape;54;p2"/>
          <p:cNvSpPr/>
          <p:nvPr/>
        </p:nvSpPr>
        <p:spPr>
          <a:xfrm>
            <a:off x="7178040" y="4974336"/>
            <a:ext cx="379476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700"/>
              <a:buFont typeface="Calibri"/>
              <a:buNone/>
            </a:pPr>
            <a:r>
              <a:rPr b="1" i="0" lang="en-US" sz="1700" u="none" cap="none" strike="noStrike">
                <a:solidFill>
                  <a:srgbClr val="431407"/>
                </a:solidFill>
                <a:latin typeface="Calibri"/>
                <a:ea typeface="Calibri"/>
                <a:cs typeface="Calibri"/>
                <a:sym typeface="Calibri"/>
              </a:rPr>
              <a:t>Summary &amp; Key Takeaways</a:t>
            </a:r>
            <a:endParaRPr b="0" i="0" sz="1700" u="none" cap="none" strike="noStrike">
              <a:solidFill>
                <a:schemeClr val="dk1"/>
              </a:solidFill>
              <a:latin typeface="Calibri"/>
              <a:ea typeface="Calibri"/>
              <a:cs typeface="Calibri"/>
              <a:sym typeface="Calibri"/>
            </a:endParaRPr>
          </a:p>
        </p:txBody>
      </p:sp>
      <p:sp>
        <p:nvSpPr>
          <p:cNvPr id="55" name="Google Shape;55;p2"/>
          <p:cNvSpPr/>
          <p:nvPr/>
        </p:nvSpPr>
        <p:spPr>
          <a:xfrm>
            <a:off x="11274552"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580"/>
              </a:buClr>
              <a:buSzPts val="900"/>
              <a:buFont typeface="Calibri"/>
              <a:buNone/>
            </a:pPr>
            <a:r>
              <a:rPr b="0" i="0" lang="en-US" sz="900" u="none" cap="none" strike="noStrike">
                <a:solidFill>
                  <a:srgbClr val="92714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3"/>
          <p:cNvSpPr/>
          <p:nvPr/>
        </p:nvSpPr>
        <p:spPr>
          <a:xfrm>
            <a:off x="548640" y="45720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3200"/>
              <a:buFont typeface="Calibri"/>
              <a:buNone/>
            </a:pPr>
            <a:r>
              <a:rPr b="1" i="0" lang="en-US" sz="3200" u="none" cap="none" strike="noStrike">
                <a:solidFill>
                  <a:srgbClr val="431407"/>
                </a:solidFill>
                <a:latin typeface="Calibri"/>
                <a:ea typeface="Calibri"/>
                <a:cs typeface="Calibri"/>
                <a:sym typeface="Calibri"/>
              </a:rPr>
              <a:t>What is Generative AI?</a:t>
            </a:r>
            <a:endParaRPr b="0" i="0" sz="3200" u="none" cap="none" strike="noStrike">
              <a:solidFill>
                <a:schemeClr val="dk1"/>
              </a:solidFill>
              <a:latin typeface="Calibri"/>
              <a:ea typeface="Calibri"/>
              <a:cs typeface="Calibri"/>
              <a:sym typeface="Calibri"/>
            </a:endParaRPr>
          </a:p>
        </p:txBody>
      </p:sp>
      <p:sp>
        <p:nvSpPr>
          <p:cNvPr id="62" name="Google Shape;62;p3"/>
          <p:cNvSpPr/>
          <p:nvPr/>
        </p:nvSpPr>
        <p:spPr>
          <a:xfrm>
            <a:off x="548640" y="1371600"/>
            <a:ext cx="6492240" cy="1417320"/>
          </a:xfrm>
          <a:prstGeom prst="roundRect">
            <a:avLst>
              <a:gd fmla="val 5161"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3" name="Google Shape;63;p3"/>
          <p:cNvSpPr/>
          <p:nvPr/>
        </p:nvSpPr>
        <p:spPr>
          <a:xfrm>
            <a:off x="822960" y="1536192"/>
            <a:ext cx="5943600" cy="10972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5B21B6"/>
              </a:buClr>
              <a:buSzPts val="1400"/>
              <a:buFont typeface="Calibri"/>
              <a:buNone/>
            </a:pPr>
            <a:r>
              <a:rPr b="1" i="0" lang="en-US" sz="1400" u="none" cap="none" strike="noStrike">
                <a:solidFill>
                  <a:srgbClr val="C2410C"/>
                </a:solidFill>
                <a:latin typeface="Calibri"/>
                <a:ea typeface="Calibri"/>
                <a:cs typeface="Calibri"/>
                <a:sym typeface="Calibri"/>
              </a:rPr>
              <a:t>Definition:  </a:t>
            </a:r>
            <a:r>
              <a:rPr b="0" i="0" lang="en-US" sz="1400" u="none" cap="none" strike="noStrike">
                <a:solidFill>
                  <a:srgbClr val="431407"/>
                </a:solidFill>
                <a:latin typeface="Calibri"/>
                <a:ea typeface="Calibri"/>
                <a:cs typeface="Calibri"/>
                <a:sym typeface="Calibri"/>
              </a:rPr>
              <a:t>Generative AI refers to artificial intelligence systems that can create new content — such as text, images, audio, or code — after learning patterns from large amounts of existing data.</a:t>
            </a:r>
            <a:endParaRPr b="0" i="0" sz="1400" u="none" cap="none" strike="noStrike">
              <a:solidFill>
                <a:schemeClr val="dk1"/>
              </a:solidFill>
              <a:latin typeface="Calibri"/>
              <a:ea typeface="Calibri"/>
              <a:cs typeface="Calibri"/>
              <a:sym typeface="Calibri"/>
            </a:endParaRPr>
          </a:p>
        </p:txBody>
      </p:sp>
      <p:sp>
        <p:nvSpPr>
          <p:cNvPr id="64" name="Google Shape;64;p3"/>
          <p:cNvSpPr/>
          <p:nvPr/>
        </p:nvSpPr>
        <p:spPr>
          <a:xfrm>
            <a:off x="548640" y="3063240"/>
            <a:ext cx="64922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400"/>
              <a:buFont typeface="Calibri"/>
              <a:buNone/>
            </a:pPr>
            <a:r>
              <a:rPr b="1" i="0" lang="en-US" sz="1400" u="none" cap="none" strike="noStrike">
                <a:solidFill>
                  <a:srgbClr val="431407"/>
                </a:solidFill>
                <a:latin typeface="Calibri"/>
                <a:ea typeface="Calibri"/>
                <a:cs typeface="Calibri"/>
                <a:sym typeface="Calibri"/>
              </a:rPr>
              <a:t>In simple words:</a:t>
            </a:r>
            <a:endParaRPr b="0" i="0" sz="1400" u="none" cap="none" strike="noStrike">
              <a:solidFill>
                <a:schemeClr val="dk1"/>
              </a:solidFill>
              <a:latin typeface="Calibri"/>
              <a:ea typeface="Calibri"/>
              <a:cs typeface="Calibri"/>
              <a:sym typeface="Calibri"/>
            </a:endParaRPr>
          </a:p>
        </p:txBody>
      </p:sp>
      <p:sp>
        <p:nvSpPr>
          <p:cNvPr id="65" name="Google Shape;65;p3"/>
          <p:cNvSpPr/>
          <p:nvPr/>
        </p:nvSpPr>
        <p:spPr>
          <a:xfrm>
            <a:off x="548640" y="3401568"/>
            <a:ext cx="64922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580"/>
              </a:buClr>
              <a:buSzPts val="1400"/>
              <a:buFont typeface="Calibri"/>
              <a:buNone/>
            </a:pPr>
            <a:r>
              <a:rPr b="0" i="1" lang="en-US" sz="1400" u="none" cap="none" strike="noStrike">
                <a:solidFill>
                  <a:srgbClr val="92714F"/>
                </a:solidFill>
                <a:latin typeface="Calibri"/>
                <a:ea typeface="Calibri"/>
                <a:cs typeface="Calibri"/>
                <a:sym typeface="Calibri"/>
              </a:rPr>
              <a:t>It does not just understand data — it produces brand-new data that did not exist before.</a:t>
            </a:r>
            <a:endParaRPr b="0" i="0" sz="1400" u="none" cap="none" strike="noStrike">
              <a:solidFill>
                <a:schemeClr val="dk1"/>
              </a:solidFill>
              <a:latin typeface="Calibri"/>
              <a:ea typeface="Calibri"/>
              <a:cs typeface="Calibri"/>
              <a:sym typeface="Calibri"/>
            </a:endParaRPr>
          </a:p>
        </p:txBody>
      </p:sp>
      <p:sp>
        <p:nvSpPr>
          <p:cNvPr id="66" name="Google Shape;66;p3"/>
          <p:cNvSpPr/>
          <p:nvPr/>
        </p:nvSpPr>
        <p:spPr>
          <a:xfrm>
            <a:off x="548640" y="4069080"/>
            <a:ext cx="6492240" cy="1691640"/>
          </a:xfrm>
          <a:prstGeom prst="roundRect">
            <a:avLst>
              <a:gd fmla="val 4324"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67" name="Google Shape;67;p3"/>
          <p:cNvSpPr/>
          <p:nvPr/>
        </p:nvSpPr>
        <p:spPr>
          <a:xfrm>
            <a:off x="822960" y="4224528"/>
            <a:ext cx="5943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4DFF"/>
              </a:buClr>
              <a:buSzPts val="1300"/>
              <a:buFont typeface="Calibri"/>
              <a:buNone/>
            </a:pPr>
            <a:r>
              <a:rPr b="1" i="0" lang="en-US" sz="1300" u="none" cap="none" strike="noStrike">
                <a:solidFill>
                  <a:srgbClr val="F97316"/>
                </a:solidFill>
                <a:latin typeface="Calibri"/>
                <a:ea typeface="Calibri"/>
                <a:cs typeface="Calibri"/>
                <a:sym typeface="Calibri"/>
              </a:rPr>
              <a:t>Everyday Analogy</a:t>
            </a:r>
            <a:endParaRPr b="0" i="0" sz="1300" u="none" cap="none" strike="noStrike">
              <a:solidFill>
                <a:schemeClr val="dk1"/>
              </a:solidFill>
              <a:latin typeface="Calibri"/>
              <a:ea typeface="Calibri"/>
              <a:cs typeface="Calibri"/>
              <a:sym typeface="Calibri"/>
            </a:endParaRPr>
          </a:p>
        </p:txBody>
      </p:sp>
      <p:sp>
        <p:nvSpPr>
          <p:cNvPr id="68" name="Google Shape;68;p3"/>
          <p:cNvSpPr/>
          <p:nvPr/>
        </p:nvSpPr>
        <p:spPr>
          <a:xfrm>
            <a:off x="822960" y="4572000"/>
            <a:ext cx="5943600" cy="10972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4DEFA"/>
              </a:buClr>
              <a:buSzPts val="1350"/>
              <a:buFont typeface="Calibri"/>
              <a:buNone/>
            </a:pPr>
            <a:r>
              <a:rPr b="0" i="0" lang="en-US" sz="1350" u="none" cap="none" strike="noStrike">
                <a:solidFill>
                  <a:srgbClr val="FBE0C7"/>
                </a:solidFill>
                <a:latin typeface="Calibri"/>
                <a:ea typeface="Calibri"/>
                <a:cs typeface="Calibri"/>
                <a:sym typeface="Calibri"/>
              </a:rPr>
              <a:t>Think of an artist who has studied thousands of paintings. They don’t copy any single one — they use everything they learned to paint an entirely original picture. Generative AI works the same way with data.</a:t>
            </a:r>
            <a:endParaRPr b="0" i="0" sz="1350" u="none" cap="none" strike="noStrike">
              <a:solidFill>
                <a:schemeClr val="dk1"/>
              </a:solidFill>
              <a:latin typeface="Calibri"/>
              <a:ea typeface="Calibri"/>
              <a:cs typeface="Calibri"/>
              <a:sym typeface="Calibri"/>
            </a:endParaRPr>
          </a:p>
        </p:txBody>
      </p:sp>
      <p:sp>
        <p:nvSpPr>
          <p:cNvPr id="69" name="Google Shape;69;p3"/>
          <p:cNvSpPr/>
          <p:nvPr/>
        </p:nvSpPr>
        <p:spPr>
          <a:xfrm>
            <a:off x="7406640" y="1371600"/>
            <a:ext cx="4206240" cy="4389120"/>
          </a:xfrm>
          <a:prstGeom prst="roundRect">
            <a:avLst>
              <a:gd fmla="val 2174" name="adj"/>
            </a:avLst>
          </a:prstGeom>
          <a:solidFill>
            <a:srgbClr val="FFE8D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70" name="Google Shape;70;p3"/>
          <p:cNvSpPr/>
          <p:nvPr/>
        </p:nvSpPr>
        <p:spPr>
          <a:xfrm>
            <a:off x="8641080" y="2377440"/>
            <a:ext cx="1737360" cy="173736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robot_dark.png" id="71" name="Google Shape;71;p3"/>
          <p:cNvPicPr preferRelativeResize="0"/>
          <p:nvPr/>
        </p:nvPicPr>
        <p:blipFill rotWithShape="1">
          <a:blip r:embed="rId3">
            <a:alphaModFix/>
          </a:blip>
          <a:srcRect b="0" l="0" r="0" t="0"/>
          <a:stretch/>
        </p:blipFill>
        <p:spPr>
          <a:xfrm>
            <a:off x="8884310" y="2620670"/>
            <a:ext cx="1250899" cy="1250899"/>
          </a:xfrm>
          <a:prstGeom prst="rect">
            <a:avLst/>
          </a:prstGeom>
          <a:noFill/>
          <a:ln>
            <a:noFill/>
          </a:ln>
        </p:spPr>
      </p:pic>
      <p:sp>
        <p:nvSpPr>
          <p:cNvPr id="72" name="Google Shape;72;p3"/>
          <p:cNvSpPr/>
          <p:nvPr/>
        </p:nvSpPr>
        <p:spPr>
          <a:xfrm>
            <a:off x="7589520" y="4343400"/>
            <a:ext cx="3840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458"/>
              </a:buClr>
              <a:buSzPts val="1300"/>
              <a:buFont typeface="Calibri"/>
              <a:buNone/>
            </a:pPr>
            <a:r>
              <a:rPr b="1" i="0" lang="en-US" sz="1300" u="none" cap="none" strike="noStrike">
                <a:solidFill>
                  <a:srgbClr val="431407"/>
                </a:solidFill>
                <a:latin typeface="Calibri"/>
                <a:ea typeface="Calibri"/>
                <a:cs typeface="Calibri"/>
                <a:sym typeface="Calibri"/>
              </a:rPr>
              <a:t>Learns from data</a:t>
            </a:r>
            <a:endParaRPr b="0" i="0" sz="1300" u="none" cap="none" strike="noStrike">
              <a:solidFill>
                <a:schemeClr val="dk1"/>
              </a:solidFill>
              <a:latin typeface="Calibri"/>
              <a:ea typeface="Calibri"/>
              <a:cs typeface="Calibri"/>
              <a:sym typeface="Calibri"/>
            </a:endParaRPr>
          </a:p>
        </p:txBody>
      </p:sp>
      <p:sp>
        <p:nvSpPr>
          <p:cNvPr id="73" name="Google Shape;73;p3"/>
          <p:cNvSpPr/>
          <p:nvPr/>
        </p:nvSpPr>
        <p:spPr>
          <a:xfrm>
            <a:off x="7589520" y="4663440"/>
            <a:ext cx="3840480" cy="64008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Clr>
                <a:srgbClr val="5B5580"/>
              </a:buClr>
              <a:buSzPts val="1250"/>
              <a:buFont typeface="Calibri"/>
              <a:buNone/>
            </a:pPr>
            <a:r>
              <a:rPr b="0" i="0" lang="en-US" sz="1250" u="none" cap="none" strike="noStrike">
                <a:solidFill>
                  <a:srgbClr val="92714F"/>
                </a:solidFill>
                <a:latin typeface="Calibri"/>
                <a:ea typeface="Calibri"/>
                <a:cs typeface="Calibri"/>
                <a:sym typeface="Calibri"/>
              </a:rPr>
              <a:t>to create something</a:t>
            </a:r>
            <a:endParaRPr b="0" i="0" sz="125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5B5580"/>
              </a:buClr>
              <a:buSzPts val="1250"/>
              <a:buFont typeface="Calibri"/>
              <a:buNone/>
            </a:pPr>
            <a:r>
              <a:rPr b="0" i="0" lang="en-US" sz="1250" u="none" cap="none" strike="noStrike">
                <a:solidFill>
                  <a:srgbClr val="92714F"/>
                </a:solidFill>
                <a:latin typeface="Calibri"/>
                <a:ea typeface="Calibri"/>
                <a:cs typeface="Calibri"/>
                <a:sym typeface="Calibri"/>
              </a:rPr>
              <a:t>entirely new</a:t>
            </a:r>
            <a:endParaRPr b="0" i="0" sz="1250" u="none" cap="none" strike="noStrike">
              <a:solidFill>
                <a:schemeClr val="dk1"/>
              </a:solidFill>
              <a:latin typeface="Calibri"/>
              <a:ea typeface="Calibri"/>
              <a:cs typeface="Calibri"/>
              <a:sym typeface="Calibri"/>
            </a:endParaRPr>
          </a:p>
        </p:txBody>
      </p:sp>
      <p:sp>
        <p:nvSpPr>
          <p:cNvPr id="74" name="Google Shape;74;p3"/>
          <p:cNvSpPr/>
          <p:nvPr/>
        </p:nvSpPr>
        <p:spPr>
          <a:xfrm>
            <a:off x="7589520" y="5349240"/>
            <a:ext cx="384048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21B6"/>
              </a:buClr>
              <a:buSzPts val="1100"/>
              <a:buFont typeface="Calibri"/>
              <a:buNone/>
            </a:pPr>
            <a:r>
              <a:rPr b="1" i="0" lang="en-US" sz="1100" u="none" cap="none" strike="noStrike">
                <a:solidFill>
                  <a:srgbClr val="C2410C"/>
                </a:solidFill>
                <a:latin typeface="Calibri"/>
                <a:ea typeface="Calibri"/>
                <a:cs typeface="Calibri"/>
                <a:sym typeface="Calibri"/>
              </a:rPr>
              <a:t>Examples:  ChatGPT · DALL·E · Midjourney · Gemini</a:t>
            </a:r>
            <a:endParaRPr b="0" i="0" sz="1100" u="none" cap="none" strike="noStrike">
              <a:solidFill>
                <a:schemeClr val="dk1"/>
              </a:solidFill>
              <a:latin typeface="Calibri"/>
              <a:ea typeface="Calibri"/>
              <a:cs typeface="Calibri"/>
              <a:sym typeface="Calibri"/>
            </a:endParaRPr>
          </a:p>
        </p:txBody>
      </p:sp>
      <p:sp>
        <p:nvSpPr>
          <p:cNvPr id="75" name="Google Shape;75;p3"/>
          <p:cNvSpPr/>
          <p:nvPr/>
        </p:nvSpPr>
        <p:spPr>
          <a:xfrm>
            <a:off x="11274552"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580"/>
              </a:buClr>
              <a:buSzPts val="900"/>
              <a:buFont typeface="Calibri"/>
              <a:buNone/>
            </a:pPr>
            <a:r>
              <a:rPr b="0" i="0" lang="en-US" sz="900" u="none" cap="none" strike="noStrike">
                <a:solidFill>
                  <a:srgbClr val="92714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pic>
        <p:nvPicPr>
          <p:cNvPr id="76" name="Google Shape;76;p3" title="logo-small.png"/>
          <p:cNvPicPr preferRelativeResize="0"/>
          <p:nvPr/>
        </p:nvPicPr>
        <p:blipFill>
          <a:blip r:embed="rId4">
            <a:alphaModFix amt="9000"/>
          </a:blip>
          <a:stretch>
            <a:fillRect/>
          </a:stretch>
        </p:blipFill>
        <p:spPr>
          <a:xfrm>
            <a:off x="2955663" y="305238"/>
            <a:ext cx="6280725" cy="6280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sp>
        <p:nvSpPr>
          <p:cNvPr id="82" name="Google Shape;82;p4"/>
          <p:cNvSpPr/>
          <p:nvPr/>
        </p:nvSpPr>
        <p:spPr>
          <a:xfrm>
            <a:off x="548640" y="45720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3200"/>
              <a:buFont typeface="Calibri"/>
              <a:buNone/>
            </a:pPr>
            <a:r>
              <a:rPr b="1" i="0" lang="en-US" sz="3200" u="none" cap="none" strike="noStrike">
                <a:solidFill>
                  <a:srgbClr val="431407"/>
                </a:solidFill>
                <a:latin typeface="Calibri"/>
                <a:ea typeface="Calibri"/>
                <a:cs typeface="Calibri"/>
                <a:sym typeface="Calibri"/>
              </a:rPr>
              <a:t>Traditional AI vs. Generative AI</a:t>
            </a:r>
            <a:endParaRPr b="0" i="0" sz="3200" u="none" cap="none" strike="noStrike">
              <a:solidFill>
                <a:schemeClr val="dk1"/>
              </a:solidFill>
              <a:latin typeface="Calibri"/>
              <a:ea typeface="Calibri"/>
              <a:cs typeface="Calibri"/>
              <a:sym typeface="Calibri"/>
            </a:endParaRPr>
          </a:p>
        </p:txBody>
      </p:sp>
      <p:sp>
        <p:nvSpPr>
          <p:cNvPr id="83" name="Google Shape;83;p4"/>
          <p:cNvSpPr/>
          <p:nvPr/>
        </p:nvSpPr>
        <p:spPr>
          <a:xfrm>
            <a:off x="548640" y="1024128"/>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580"/>
              </a:buClr>
              <a:buSzPts val="1400"/>
              <a:buFont typeface="Calibri"/>
              <a:buNone/>
            </a:pPr>
            <a:r>
              <a:rPr b="0" i="0" lang="en-US" sz="1400" u="none" cap="none" strike="noStrike">
                <a:solidFill>
                  <a:srgbClr val="92714F"/>
                </a:solidFill>
                <a:latin typeface="Calibri"/>
                <a:ea typeface="Calibri"/>
                <a:cs typeface="Calibri"/>
                <a:sym typeface="Calibri"/>
              </a:rPr>
              <a:t>Understanding the shift from analyzing data to creating it</a:t>
            </a:r>
            <a:endParaRPr b="0" i="0" sz="1400" u="none" cap="none" strike="noStrike">
              <a:solidFill>
                <a:schemeClr val="dk1"/>
              </a:solidFill>
              <a:latin typeface="Calibri"/>
              <a:ea typeface="Calibri"/>
              <a:cs typeface="Calibri"/>
              <a:sym typeface="Calibri"/>
            </a:endParaRPr>
          </a:p>
        </p:txBody>
      </p:sp>
      <p:sp>
        <p:nvSpPr>
          <p:cNvPr id="84" name="Google Shape;84;p4"/>
          <p:cNvSpPr/>
          <p:nvPr/>
        </p:nvSpPr>
        <p:spPr>
          <a:xfrm>
            <a:off x="548640" y="1691640"/>
            <a:ext cx="5120640" cy="4480560"/>
          </a:xfrm>
          <a:prstGeom prst="roundRect">
            <a:avLst>
              <a:gd fmla="val 2041"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85" name="Google Shape;85;p4"/>
          <p:cNvSpPr/>
          <p:nvPr/>
        </p:nvSpPr>
        <p:spPr>
          <a:xfrm>
            <a:off x="868680" y="2011680"/>
            <a:ext cx="914400" cy="914400"/>
          </a:xfrm>
          <a:prstGeom prst="ellipse">
            <a:avLst/>
          </a:prstGeom>
          <a:solidFill>
            <a:srgbClr val="92714F"/>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magnify_white.png" id="86" name="Google Shape;86;p4"/>
          <p:cNvPicPr preferRelativeResize="0"/>
          <p:nvPr/>
        </p:nvPicPr>
        <p:blipFill rotWithShape="1">
          <a:blip r:embed="rId3">
            <a:alphaModFix/>
          </a:blip>
          <a:srcRect b="0" l="0" r="0" t="0"/>
          <a:stretch/>
        </p:blipFill>
        <p:spPr>
          <a:xfrm>
            <a:off x="996696" y="2139696"/>
            <a:ext cx="658368" cy="658368"/>
          </a:xfrm>
          <a:prstGeom prst="rect">
            <a:avLst/>
          </a:prstGeom>
          <a:noFill/>
          <a:ln>
            <a:noFill/>
          </a:ln>
        </p:spPr>
      </p:pic>
      <p:sp>
        <p:nvSpPr>
          <p:cNvPr id="87" name="Google Shape;87;p4"/>
          <p:cNvSpPr/>
          <p:nvPr/>
        </p:nvSpPr>
        <p:spPr>
          <a:xfrm>
            <a:off x="1965960" y="2148840"/>
            <a:ext cx="33832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2000"/>
              <a:buFont typeface="Calibri"/>
              <a:buNone/>
            </a:pPr>
            <a:r>
              <a:rPr b="1" i="0" lang="en-US" sz="2000" u="none" cap="none" strike="noStrike">
                <a:solidFill>
                  <a:srgbClr val="431407"/>
                </a:solidFill>
                <a:latin typeface="Calibri"/>
                <a:ea typeface="Calibri"/>
                <a:cs typeface="Calibri"/>
                <a:sym typeface="Calibri"/>
              </a:rPr>
              <a:t>Traditional AI</a:t>
            </a:r>
            <a:endParaRPr b="0" i="0" sz="2000" u="none" cap="none" strike="noStrike">
              <a:solidFill>
                <a:schemeClr val="dk1"/>
              </a:solidFill>
              <a:latin typeface="Calibri"/>
              <a:ea typeface="Calibri"/>
              <a:cs typeface="Calibri"/>
              <a:sym typeface="Calibri"/>
            </a:endParaRPr>
          </a:p>
        </p:txBody>
      </p:sp>
      <p:sp>
        <p:nvSpPr>
          <p:cNvPr id="88" name="Google Shape;88;p4"/>
          <p:cNvSpPr/>
          <p:nvPr/>
        </p:nvSpPr>
        <p:spPr>
          <a:xfrm>
            <a:off x="1965960" y="2624328"/>
            <a:ext cx="3383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580"/>
              </a:buClr>
              <a:buSzPts val="1200"/>
              <a:buFont typeface="Calibri"/>
              <a:buNone/>
            </a:pPr>
            <a:r>
              <a:rPr b="0" i="1" lang="en-US" sz="1200" u="none" cap="none" strike="noStrike">
                <a:solidFill>
                  <a:srgbClr val="92714F"/>
                </a:solidFill>
                <a:latin typeface="Calibri"/>
                <a:ea typeface="Calibri"/>
                <a:cs typeface="Calibri"/>
                <a:sym typeface="Calibri"/>
              </a:rPr>
              <a:t>(Discriminative)</a:t>
            </a:r>
            <a:endParaRPr b="0" i="0" sz="1200" u="none" cap="none" strike="noStrike">
              <a:solidFill>
                <a:schemeClr val="dk1"/>
              </a:solidFill>
              <a:latin typeface="Calibri"/>
              <a:ea typeface="Calibri"/>
              <a:cs typeface="Calibri"/>
              <a:sym typeface="Calibri"/>
            </a:endParaRPr>
          </a:p>
        </p:txBody>
      </p:sp>
      <p:sp>
        <p:nvSpPr>
          <p:cNvPr id="89" name="Google Shape;89;p4"/>
          <p:cNvSpPr/>
          <p:nvPr/>
        </p:nvSpPr>
        <p:spPr>
          <a:xfrm>
            <a:off x="822960" y="3200400"/>
            <a:ext cx="457200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41458"/>
              </a:buClr>
              <a:buSzPts val="1350"/>
              <a:buFont typeface="Calibri"/>
              <a:buNone/>
            </a:pPr>
            <a:r>
              <a:rPr b="0" i="0" lang="en-US" sz="1350" u="none" cap="none" strike="noStrike">
                <a:solidFill>
                  <a:srgbClr val="431407"/>
                </a:solidFill>
                <a:latin typeface="Calibri"/>
                <a:ea typeface="Calibri"/>
                <a:cs typeface="Calibri"/>
                <a:sym typeface="Calibri"/>
              </a:rPr>
              <a:t>•  Analyzes and classifies existing data</a:t>
            </a:r>
            <a:endParaRPr b="0" i="0" sz="1350" u="none" cap="none" strike="noStrike">
              <a:solidFill>
                <a:schemeClr val="dk1"/>
              </a:solidFill>
              <a:latin typeface="Calibri"/>
              <a:ea typeface="Calibri"/>
              <a:cs typeface="Calibri"/>
              <a:sym typeface="Calibri"/>
            </a:endParaRPr>
          </a:p>
        </p:txBody>
      </p:sp>
      <p:sp>
        <p:nvSpPr>
          <p:cNvPr id="90" name="Google Shape;90;p4"/>
          <p:cNvSpPr/>
          <p:nvPr/>
        </p:nvSpPr>
        <p:spPr>
          <a:xfrm>
            <a:off x="822960" y="3858768"/>
            <a:ext cx="457200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41458"/>
              </a:buClr>
              <a:buSzPts val="1350"/>
              <a:buFont typeface="Calibri"/>
              <a:buNone/>
            </a:pPr>
            <a:r>
              <a:rPr b="0" i="0" lang="en-US" sz="1350" u="none" cap="none" strike="noStrike">
                <a:solidFill>
                  <a:srgbClr val="431407"/>
                </a:solidFill>
                <a:latin typeface="Calibri"/>
                <a:ea typeface="Calibri"/>
                <a:cs typeface="Calibri"/>
                <a:sym typeface="Calibri"/>
              </a:rPr>
              <a:t>•  Answers: “What is this?”</a:t>
            </a:r>
            <a:endParaRPr b="0" i="0" sz="1350" u="none" cap="none" strike="noStrike">
              <a:solidFill>
                <a:schemeClr val="dk1"/>
              </a:solidFill>
              <a:latin typeface="Calibri"/>
              <a:ea typeface="Calibri"/>
              <a:cs typeface="Calibri"/>
              <a:sym typeface="Calibri"/>
            </a:endParaRPr>
          </a:p>
        </p:txBody>
      </p:sp>
      <p:sp>
        <p:nvSpPr>
          <p:cNvPr id="91" name="Google Shape;91;p4"/>
          <p:cNvSpPr/>
          <p:nvPr/>
        </p:nvSpPr>
        <p:spPr>
          <a:xfrm>
            <a:off x="822960" y="4517136"/>
            <a:ext cx="457200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41458"/>
              </a:buClr>
              <a:buSzPts val="1350"/>
              <a:buFont typeface="Calibri"/>
              <a:buNone/>
            </a:pPr>
            <a:r>
              <a:rPr b="0" i="0" lang="en-US" sz="1350" u="none" cap="none" strike="noStrike">
                <a:solidFill>
                  <a:srgbClr val="431407"/>
                </a:solidFill>
                <a:latin typeface="Calibri"/>
                <a:ea typeface="Calibri"/>
                <a:cs typeface="Calibri"/>
                <a:sym typeface="Calibri"/>
              </a:rPr>
              <a:t>•  Output: a label, score, or decision</a:t>
            </a:r>
            <a:endParaRPr b="0" i="0" sz="1350" u="none" cap="none" strike="noStrike">
              <a:solidFill>
                <a:schemeClr val="dk1"/>
              </a:solidFill>
              <a:latin typeface="Calibri"/>
              <a:ea typeface="Calibri"/>
              <a:cs typeface="Calibri"/>
              <a:sym typeface="Calibri"/>
            </a:endParaRPr>
          </a:p>
        </p:txBody>
      </p:sp>
      <p:sp>
        <p:nvSpPr>
          <p:cNvPr id="92" name="Google Shape;92;p4"/>
          <p:cNvSpPr/>
          <p:nvPr/>
        </p:nvSpPr>
        <p:spPr>
          <a:xfrm>
            <a:off x="822960" y="5175504"/>
            <a:ext cx="457200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241458"/>
              </a:buClr>
              <a:buSzPts val="1350"/>
              <a:buFont typeface="Calibri"/>
              <a:buNone/>
            </a:pPr>
            <a:r>
              <a:rPr b="0" i="0" lang="en-US" sz="1350" u="none" cap="none" strike="noStrike">
                <a:solidFill>
                  <a:srgbClr val="431407"/>
                </a:solidFill>
                <a:latin typeface="Calibri"/>
                <a:ea typeface="Calibri"/>
                <a:cs typeface="Calibri"/>
                <a:sym typeface="Calibri"/>
              </a:rPr>
              <a:t>•  Example: spam detection, face recognition, fraud detection</a:t>
            </a:r>
            <a:endParaRPr b="0" i="0" sz="1350" u="none" cap="none" strike="noStrike">
              <a:solidFill>
                <a:schemeClr val="dk1"/>
              </a:solidFill>
              <a:latin typeface="Calibri"/>
              <a:ea typeface="Calibri"/>
              <a:cs typeface="Calibri"/>
              <a:sym typeface="Calibri"/>
            </a:endParaRPr>
          </a:p>
        </p:txBody>
      </p:sp>
      <p:sp>
        <p:nvSpPr>
          <p:cNvPr id="93" name="Google Shape;93;p4"/>
          <p:cNvSpPr/>
          <p:nvPr/>
        </p:nvSpPr>
        <p:spPr>
          <a:xfrm>
            <a:off x="6126480" y="1691640"/>
            <a:ext cx="5120640" cy="4480560"/>
          </a:xfrm>
          <a:prstGeom prst="roundRect">
            <a:avLst>
              <a:gd fmla="val 2041"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94" name="Google Shape;94;p4"/>
          <p:cNvSpPr/>
          <p:nvPr/>
        </p:nvSpPr>
        <p:spPr>
          <a:xfrm>
            <a:off x="6446520" y="2011680"/>
            <a:ext cx="914400" cy="9144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wand_white.png" id="95" name="Google Shape;95;p4"/>
          <p:cNvPicPr preferRelativeResize="0"/>
          <p:nvPr/>
        </p:nvPicPr>
        <p:blipFill rotWithShape="1">
          <a:blip r:embed="rId4">
            <a:alphaModFix/>
          </a:blip>
          <a:srcRect b="0" l="0" r="0" t="0"/>
          <a:stretch/>
        </p:blipFill>
        <p:spPr>
          <a:xfrm>
            <a:off x="6574536" y="2139696"/>
            <a:ext cx="658368" cy="658368"/>
          </a:xfrm>
          <a:prstGeom prst="rect">
            <a:avLst/>
          </a:prstGeom>
          <a:noFill/>
          <a:ln>
            <a:noFill/>
          </a:ln>
        </p:spPr>
      </p:pic>
      <p:sp>
        <p:nvSpPr>
          <p:cNvPr id="96" name="Google Shape;96;p4"/>
          <p:cNvSpPr/>
          <p:nvPr/>
        </p:nvSpPr>
        <p:spPr>
          <a:xfrm>
            <a:off x="7543800" y="2148840"/>
            <a:ext cx="338328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Generative AI</a:t>
            </a:r>
            <a:endParaRPr b="0" i="0" sz="2000" u="none" cap="none" strike="noStrike">
              <a:solidFill>
                <a:schemeClr val="dk1"/>
              </a:solidFill>
              <a:latin typeface="Calibri"/>
              <a:ea typeface="Calibri"/>
              <a:cs typeface="Calibri"/>
              <a:sym typeface="Calibri"/>
            </a:endParaRPr>
          </a:p>
        </p:txBody>
      </p:sp>
      <p:sp>
        <p:nvSpPr>
          <p:cNvPr id="97" name="Google Shape;97;p4"/>
          <p:cNvSpPr/>
          <p:nvPr/>
        </p:nvSpPr>
        <p:spPr>
          <a:xfrm>
            <a:off x="7543800" y="2624328"/>
            <a:ext cx="3383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C6F5"/>
              </a:buClr>
              <a:buSzPts val="1200"/>
              <a:buFont typeface="Calibri"/>
              <a:buNone/>
            </a:pPr>
            <a:r>
              <a:rPr b="0" i="1" lang="en-US" sz="1200" u="none" cap="none" strike="noStrike">
                <a:solidFill>
                  <a:srgbClr val="FFD9B3"/>
                </a:solidFill>
                <a:latin typeface="Calibri"/>
                <a:ea typeface="Calibri"/>
                <a:cs typeface="Calibri"/>
                <a:sym typeface="Calibri"/>
              </a:rPr>
              <a:t>(Creative)</a:t>
            </a:r>
            <a:endParaRPr b="0" i="0" sz="1200" u="none" cap="none" strike="noStrike">
              <a:solidFill>
                <a:schemeClr val="dk1"/>
              </a:solidFill>
              <a:latin typeface="Calibri"/>
              <a:ea typeface="Calibri"/>
              <a:cs typeface="Calibri"/>
              <a:sym typeface="Calibri"/>
            </a:endParaRPr>
          </a:p>
        </p:txBody>
      </p:sp>
      <p:sp>
        <p:nvSpPr>
          <p:cNvPr id="98" name="Google Shape;98;p4"/>
          <p:cNvSpPr/>
          <p:nvPr/>
        </p:nvSpPr>
        <p:spPr>
          <a:xfrm>
            <a:off x="6400800" y="3200400"/>
            <a:ext cx="457200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8FA"/>
              </a:buClr>
              <a:buSzPts val="1350"/>
              <a:buFont typeface="Calibri"/>
              <a:buNone/>
            </a:pPr>
            <a:r>
              <a:rPr b="0" i="0" lang="en-US" sz="1350" u="none" cap="none" strike="noStrike">
                <a:solidFill>
                  <a:srgbClr val="FDEEE1"/>
                </a:solidFill>
                <a:latin typeface="Calibri"/>
                <a:ea typeface="Calibri"/>
                <a:cs typeface="Calibri"/>
                <a:sym typeface="Calibri"/>
              </a:rPr>
              <a:t>•  Creates brand-new data</a:t>
            </a:r>
            <a:endParaRPr b="0" i="0" sz="1350" u="none" cap="none" strike="noStrike">
              <a:solidFill>
                <a:schemeClr val="dk1"/>
              </a:solidFill>
              <a:latin typeface="Calibri"/>
              <a:ea typeface="Calibri"/>
              <a:cs typeface="Calibri"/>
              <a:sym typeface="Calibri"/>
            </a:endParaRPr>
          </a:p>
        </p:txBody>
      </p:sp>
      <p:sp>
        <p:nvSpPr>
          <p:cNvPr id="99" name="Google Shape;99;p4"/>
          <p:cNvSpPr/>
          <p:nvPr/>
        </p:nvSpPr>
        <p:spPr>
          <a:xfrm>
            <a:off x="6400800" y="3858768"/>
            <a:ext cx="457200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8FA"/>
              </a:buClr>
              <a:buSzPts val="1350"/>
              <a:buFont typeface="Calibri"/>
              <a:buNone/>
            </a:pPr>
            <a:r>
              <a:rPr b="0" i="0" lang="en-US" sz="1350" u="none" cap="none" strike="noStrike">
                <a:solidFill>
                  <a:srgbClr val="FDEEE1"/>
                </a:solidFill>
                <a:latin typeface="Calibri"/>
                <a:ea typeface="Calibri"/>
                <a:cs typeface="Calibri"/>
                <a:sym typeface="Calibri"/>
              </a:rPr>
              <a:t>•  Answers: “Can you make this?”</a:t>
            </a:r>
            <a:endParaRPr b="0" i="0" sz="1350" u="none" cap="none" strike="noStrike">
              <a:solidFill>
                <a:schemeClr val="dk1"/>
              </a:solidFill>
              <a:latin typeface="Calibri"/>
              <a:ea typeface="Calibri"/>
              <a:cs typeface="Calibri"/>
              <a:sym typeface="Calibri"/>
            </a:endParaRPr>
          </a:p>
        </p:txBody>
      </p:sp>
      <p:sp>
        <p:nvSpPr>
          <p:cNvPr id="100" name="Google Shape;100;p4"/>
          <p:cNvSpPr/>
          <p:nvPr/>
        </p:nvSpPr>
        <p:spPr>
          <a:xfrm>
            <a:off x="6400800" y="4517136"/>
            <a:ext cx="457200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8FA"/>
              </a:buClr>
              <a:buSzPts val="1350"/>
              <a:buFont typeface="Calibri"/>
              <a:buNone/>
            </a:pPr>
            <a:r>
              <a:rPr b="0" i="0" lang="en-US" sz="1350" u="none" cap="none" strike="noStrike">
                <a:solidFill>
                  <a:srgbClr val="FDEEE1"/>
                </a:solidFill>
                <a:latin typeface="Calibri"/>
                <a:ea typeface="Calibri"/>
                <a:cs typeface="Calibri"/>
                <a:sym typeface="Calibri"/>
              </a:rPr>
              <a:t>•  Output: new text, image, audio, video or code</a:t>
            </a:r>
            <a:endParaRPr b="0" i="0" sz="1350" u="none" cap="none" strike="noStrike">
              <a:solidFill>
                <a:schemeClr val="dk1"/>
              </a:solidFill>
              <a:latin typeface="Calibri"/>
              <a:ea typeface="Calibri"/>
              <a:cs typeface="Calibri"/>
              <a:sym typeface="Calibri"/>
            </a:endParaRPr>
          </a:p>
        </p:txBody>
      </p:sp>
      <p:sp>
        <p:nvSpPr>
          <p:cNvPr id="101" name="Google Shape;101;p4"/>
          <p:cNvSpPr/>
          <p:nvPr/>
        </p:nvSpPr>
        <p:spPr>
          <a:xfrm>
            <a:off x="6400800" y="5175504"/>
            <a:ext cx="4572000" cy="50292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DE8FA"/>
              </a:buClr>
              <a:buSzPts val="1350"/>
              <a:buFont typeface="Calibri"/>
              <a:buNone/>
            </a:pPr>
            <a:r>
              <a:rPr b="0" i="0" lang="en-US" sz="1350" u="none" cap="none" strike="noStrike">
                <a:solidFill>
                  <a:srgbClr val="FDEEE1"/>
                </a:solidFill>
                <a:latin typeface="Calibri"/>
                <a:ea typeface="Calibri"/>
                <a:cs typeface="Calibri"/>
                <a:sym typeface="Calibri"/>
              </a:rPr>
              <a:t>•  Example: ChatGPT writing an essay, DALL·E creating an image</a:t>
            </a:r>
            <a:endParaRPr b="0" i="0" sz="1350" u="none" cap="none" strike="noStrike">
              <a:solidFill>
                <a:schemeClr val="dk1"/>
              </a:solidFill>
              <a:latin typeface="Calibri"/>
              <a:ea typeface="Calibri"/>
              <a:cs typeface="Calibri"/>
              <a:sym typeface="Calibri"/>
            </a:endParaRPr>
          </a:p>
        </p:txBody>
      </p:sp>
      <p:sp>
        <p:nvSpPr>
          <p:cNvPr id="102" name="Google Shape;102;p4"/>
          <p:cNvSpPr/>
          <p:nvPr/>
        </p:nvSpPr>
        <p:spPr>
          <a:xfrm>
            <a:off x="11274552"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580"/>
              </a:buClr>
              <a:buSzPts val="900"/>
              <a:buFont typeface="Calibri"/>
              <a:buNone/>
            </a:pPr>
            <a:r>
              <a:rPr b="0" i="0" lang="en-US" sz="900" u="none" cap="none" strike="noStrike">
                <a:solidFill>
                  <a:srgbClr val="92714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pic>
        <p:nvPicPr>
          <p:cNvPr id="103" name="Google Shape;103;p4" title="logo-small.png"/>
          <p:cNvPicPr preferRelativeResize="0"/>
          <p:nvPr/>
        </p:nvPicPr>
        <p:blipFill>
          <a:blip r:embed="rId5">
            <a:alphaModFix amt="9000"/>
          </a:blip>
          <a:stretch>
            <a:fillRect/>
          </a:stretch>
        </p:blipFill>
        <p:spPr>
          <a:xfrm>
            <a:off x="2955663" y="305238"/>
            <a:ext cx="6280725" cy="6280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 name="Shape 108"/>
        <p:cNvGrpSpPr/>
        <p:nvPr/>
      </p:nvGrpSpPr>
      <p:grpSpPr>
        <a:xfrm>
          <a:off x="0" y="0"/>
          <a:ext cx="0" cy="0"/>
          <a:chOff x="0" y="0"/>
          <a:chExt cx="0" cy="0"/>
        </a:xfrm>
      </p:grpSpPr>
      <p:sp>
        <p:nvSpPr>
          <p:cNvPr id="109" name="Google Shape;109;p5"/>
          <p:cNvSpPr/>
          <p:nvPr/>
        </p:nvSpPr>
        <p:spPr>
          <a:xfrm>
            <a:off x="548640" y="45720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3000"/>
              <a:buFont typeface="Calibri"/>
              <a:buNone/>
            </a:pPr>
            <a:r>
              <a:rPr b="1" i="0" lang="en-US" sz="3000" u="none" cap="none" strike="noStrike">
                <a:solidFill>
                  <a:srgbClr val="431407"/>
                </a:solidFill>
                <a:latin typeface="Calibri"/>
                <a:ea typeface="Calibri"/>
                <a:cs typeface="Calibri"/>
                <a:sym typeface="Calibri"/>
              </a:rPr>
              <a:t>Key Characteristics of Generative AI</a:t>
            </a:r>
            <a:endParaRPr b="0" i="0" sz="3000" u="none" cap="none" strike="noStrike">
              <a:solidFill>
                <a:schemeClr val="dk1"/>
              </a:solidFill>
              <a:latin typeface="Calibri"/>
              <a:ea typeface="Calibri"/>
              <a:cs typeface="Calibri"/>
              <a:sym typeface="Calibri"/>
            </a:endParaRPr>
          </a:p>
        </p:txBody>
      </p:sp>
      <p:sp>
        <p:nvSpPr>
          <p:cNvPr id="110" name="Google Shape;110;p5"/>
          <p:cNvSpPr/>
          <p:nvPr/>
        </p:nvSpPr>
        <p:spPr>
          <a:xfrm>
            <a:off x="548640" y="1417320"/>
            <a:ext cx="3483864" cy="1920240"/>
          </a:xfrm>
          <a:prstGeom prst="roundRect">
            <a:avLst>
              <a:gd fmla="val 4286"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11" name="Google Shape;111;p5"/>
          <p:cNvSpPr/>
          <p:nvPr/>
        </p:nvSpPr>
        <p:spPr>
          <a:xfrm>
            <a:off x="772668" y="157734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lightbulb_white.png" id="112" name="Google Shape;112;p5"/>
          <p:cNvPicPr preferRelativeResize="0"/>
          <p:nvPr/>
        </p:nvPicPr>
        <p:blipFill rotWithShape="1">
          <a:blip r:embed="rId3">
            <a:alphaModFix/>
          </a:blip>
          <a:srcRect b="0" l="0" r="0" t="0"/>
          <a:stretch/>
        </p:blipFill>
        <p:spPr>
          <a:xfrm>
            <a:off x="868680" y="1673352"/>
            <a:ext cx="493776" cy="493776"/>
          </a:xfrm>
          <a:prstGeom prst="rect">
            <a:avLst/>
          </a:prstGeom>
          <a:noFill/>
          <a:ln>
            <a:noFill/>
          </a:ln>
        </p:spPr>
      </p:pic>
      <p:sp>
        <p:nvSpPr>
          <p:cNvPr id="113" name="Google Shape;113;p5"/>
          <p:cNvSpPr/>
          <p:nvPr/>
        </p:nvSpPr>
        <p:spPr>
          <a:xfrm>
            <a:off x="804672" y="2377440"/>
            <a:ext cx="2971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450"/>
              <a:buFont typeface="Calibri"/>
              <a:buNone/>
            </a:pPr>
            <a:r>
              <a:rPr b="1" i="0" lang="en-US" sz="1450" u="none" cap="none" strike="noStrike">
                <a:solidFill>
                  <a:srgbClr val="431407"/>
                </a:solidFill>
                <a:latin typeface="Calibri"/>
                <a:ea typeface="Calibri"/>
                <a:cs typeface="Calibri"/>
                <a:sym typeface="Calibri"/>
              </a:rPr>
              <a:t>Creativity</a:t>
            </a:r>
            <a:endParaRPr b="0" i="0" sz="1450" u="none" cap="none" strike="noStrike">
              <a:solidFill>
                <a:schemeClr val="dk1"/>
              </a:solidFill>
              <a:latin typeface="Calibri"/>
              <a:ea typeface="Calibri"/>
              <a:cs typeface="Calibri"/>
              <a:sym typeface="Calibri"/>
            </a:endParaRPr>
          </a:p>
        </p:txBody>
      </p:sp>
      <p:sp>
        <p:nvSpPr>
          <p:cNvPr id="114" name="Google Shape;114;p5"/>
          <p:cNvSpPr/>
          <p:nvPr/>
        </p:nvSpPr>
        <p:spPr>
          <a:xfrm>
            <a:off x="804672" y="2697480"/>
            <a:ext cx="2971800" cy="56692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B5580"/>
              </a:buClr>
              <a:buSzPts val="1100"/>
              <a:buFont typeface="Calibri"/>
              <a:buNone/>
            </a:pPr>
            <a:r>
              <a:rPr b="0" i="0" lang="en-US" sz="1100" u="none" cap="none" strike="noStrike">
                <a:solidFill>
                  <a:srgbClr val="92714F"/>
                </a:solidFill>
                <a:latin typeface="Calibri"/>
                <a:ea typeface="Calibri"/>
                <a:cs typeface="Calibri"/>
                <a:sym typeface="Calibri"/>
              </a:rPr>
              <a:t>Produces original content, like a poem or design no one has made before.</a:t>
            </a:r>
            <a:endParaRPr b="0" i="0" sz="1100" u="none" cap="none" strike="noStrike">
              <a:solidFill>
                <a:schemeClr val="dk1"/>
              </a:solidFill>
              <a:latin typeface="Calibri"/>
              <a:ea typeface="Calibri"/>
              <a:cs typeface="Calibri"/>
              <a:sym typeface="Calibri"/>
            </a:endParaRPr>
          </a:p>
        </p:txBody>
      </p:sp>
      <p:sp>
        <p:nvSpPr>
          <p:cNvPr id="115" name="Google Shape;115;p5"/>
          <p:cNvSpPr/>
          <p:nvPr/>
        </p:nvSpPr>
        <p:spPr>
          <a:xfrm>
            <a:off x="4352544" y="1417320"/>
            <a:ext cx="3483864" cy="1920240"/>
          </a:xfrm>
          <a:prstGeom prst="roundRect">
            <a:avLst>
              <a:gd fmla="val 4286"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16" name="Google Shape;116;p5"/>
          <p:cNvSpPr/>
          <p:nvPr/>
        </p:nvSpPr>
        <p:spPr>
          <a:xfrm>
            <a:off x="4576572" y="157734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database_white.png" id="117" name="Google Shape;117;p5"/>
          <p:cNvPicPr preferRelativeResize="0"/>
          <p:nvPr/>
        </p:nvPicPr>
        <p:blipFill rotWithShape="1">
          <a:blip r:embed="rId4">
            <a:alphaModFix/>
          </a:blip>
          <a:srcRect b="0" l="0" r="0" t="0"/>
          <a:stretch/>
        </p:blipFill>
        <p:spPr>
          <a:xfrm>
            <a:off x="4672584" y="1673352"/>
            <a:ext cx="493776" cy="493776"/>
          </a:xfrm>
          <a:prstGeom prst="rect">
            <a:avLst/>
          </a:prstGeom>
          <a:noFill/>
          <a:ln>
            <a:noFill/>
          </a:ln>
        </p:spPr>
      </p:pic>
      <p:sp>
        <p:nvSpPr>
          <p:cNvPr id="118" name="Google Shape;118;p5"/>
          <p:cNvSpPr/>
          <p:nvPr/>
        </p:nvSpPr>
        <p:spPr>
          <a:xfrm>
            <a:off x="4608576" y="2377440"/>
            <a:ext cx="2971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450"/>
              <a:buFont typeface="Calibri"/>
              <a:buNone/>
            </a:pPr>
            <a:r>
              <a:rPr b="1" i="0" lang="en-US" sz="1450" u="none" cap="none" strike="noStrike">
                <a:solidFill>
                  <a:srgbClr val="431407"/>
                </a:solidFill>
                <a:latin typeface="Calibri"/>
                <a:ea typeface="Calibri"/>
                <a:cs typeface="Calibri"/>
                <a:sym typeface="Calibri"/>
              </a:rPr>
              <a:t>Learns from Data</a:t>
            </a:r>
            <a:endParaRPr b="0" i="0" sz="1450" u="none" cap="none" strike="noStrike">
              <a:solidFill>
                <a:schemeClr val="dk1"/>
              </a:solidFill>
              <a:latin typeface="Calibri"/>
              <a:ea typeface="Calibri"/>
              <a:cs typeface="Calibri"/>
              <a:sym typeface="Calibri"/>
            </a:endParaRPr>
          </a:p>
        </p:txBody>
      </p:sp>
      <p:sp>
        <p:nvSpPr>
          <p:cNvPr id="119" name="Google Shape;119;p5"/>
          <p:cNvSpPr/>
          <p:nvPr/>
        </p:nvSpPr>
        <p:spPr>
          <a:xfrm>
            <a:off x="4608576" y="2697480"/>
            <a:ext cx="2971800" cy="56692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B5580"/>
              </a:buClr>
              <a:buSzPts val="1100"/>
              <a:buFont typeface="Calibri"/>
              <a:buNone/>
            </a:pPr>
            <a:r>
              <a:rPr b="0" i="0" lang="en-US" sz="1100" u="none" cap="none" strike="noStrike">
                <a:solidFill>
                  <a:srgbClr val="92714F"/>
                </a:solidFill>
                <a:latin typeface="Calibri"/>
                <a:ea typeface="Calibri"/>
                <a:cs typeface="Calibri"/>
                <a:sym typeface="Calibri"/>
              </a:rPr>
              <a:t>Trained on massive datasets to understand patterns and styles.</a:t>
            </a:r>
            <a:endParaRPr b="0" i="0" sz="1100" u="none" cap="none" strike="noStrike">
              <a:solidFill>
                <a:schemeClr val="dk1"/>
              </a:solidFill>
              <a:latin typeface="Calibri"/>
              <a:ea typeface="Calibri"/>
              <a:cs typeface="Calibri"/>
              <a:sym typeface="Calibri"/>
            </a:endParaRPr>
          </a:p>
        </p:txBody>
      </p:sp>
      <p:sp>
        <p:nvSpPr>
          <p:cNvPr id="120" name="Google Shape;120;p5"/>
          <p:cNvSpPr/>
          <p:nvPr/>
        </p:nvSpPr>
        <p:spPr>
          <a:xfrm>
            <a:off x="8156448" y="1417320"/>
            <a:ext cx="3483864" cy="1920240"/>
          </a:xfrm>
          <a:prstGeom prst="roundRect">
            <a:avLst>
              <a:gd fmla="val 4286"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21" name="Google Shape;121;p5"/>
          <p:cNvSpPr/>
          <p:nvPr/>
        </p:nvSpPr>
        <p:spPr>
          <a:xfrm>
            <a:off x="8380476" y="157734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layers_white.png" id="122" name="Google Shape;122;p5"/>
          <p:cNvPicPr preferRelativeResize="0"/>
          <p:nvPr/>
        </p:nvPicPr>
        <p:blipFill rotWithShape="1">
          <a:blip r:embed="rId5">
            <a:alphaModFix/>
          </a:blip>
          <a:srcRect b="0" l="0" r="0" t="0"/>
          <a:stretch/>
        </p:blipFill>
        <p:spPr>
          <a:xfrm>
            <a:off x="8476488" y="1673352"/>
            <a:ext cx="493776" cy="493776"/>
          </a:xfrm>
          <a:prstGeom prst="rect">
            <a:avLst/>
          </a:prstGeom>
          <a:noFill/>
          <a:ln>
            <a:noFill/>
          </a:ln>
        </p:spPr>
      </p:pic>
      <p:sp>
        <p:nvSpPr>
          <p:cNvPr id="123" name="Google Shape;123;p5"/>
          <p:cNvSpPr/>
          <p:nvPr/>
        </p:nvSpPr>
        <p:spPr>
          <a:xfrm>
            <a:off x="8412480" y="2377440"/>
            <a:ext cx="2971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450"/>
              <a:buFont typeface="Calibri"/>
              <a:buNone/>
            </a:pPr>
            <a:r>
              <a:rPr b="1" i="0" lang="en-US" sz="1450" u="none" cap="none" strike="noStrike">
                <a:solidFill>
                  <a:srgbClr val="431407"/>
                </a:solidFill>
                <a:latin typeface="Calibri"/>
                <a:ea typeface="Calibri"/>
                <a:cs typeface="Calibri"/>
                <a:sym typeface="Calibri"/>
              </a:rPr>
              <a:t>Multimodal</a:t>
            </a:r>
            <a:endParaRPr b="0" i="0" sz="1450" u="none" cap="none" strike="noStrike">
              <a:solidFill>
                <a:schemeClr val="dk1"/>
              </a:solidFill>
              <a:latin typeface="Calibri"/>
              <a:ea typeface="Calibri"/>
              <a:cs typeface="Calibri"/>
              <a:sym typeface="Calibri"/>
            </a:endParaRPr>
          </a:p>
        </p:txBody>
      </p:sp>
      <p:sp>
        <p:nvSpPr>
          <p:cNvPr id="124" name="Google Shape;124;p5"/>
          <p:cNvSpPr/>
          <p:nvPr/>
        </p:nvSpPr>
        <p:spPr>
          <a:xfrm>
            <a:off x="8412480" y="2697480"/>
            <a:ext cx="2971800" cy="56692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B5580"/>
              </a:buClr>
              <a:buSzPts val="1100"/>
              <a:buFont typeface="Calibri"/>
              <a:buNone/>
            </a:pPr>
            <a:r>
              <a:rPr b="0" i="0" lang="en-US" sz="1100" u="none" cap="none" strike="noStrike">
                <a:solidFill>
                  <a:srgbClr val="92714F"/>
                </a:solidFill>
                <a:latin typeface="Calibri"/>
                <a:ea typeface="Calibri"/>
                <a:cs typeface="Calibri"/>
                <a:sym typeface="Calibri"/>
              </a:rPr>
              <a:t>Can work across text, images, audio &amp; video — e.g. GPT-4 with vision.</a:t>
            </a:r>
            <a:endParaRPr b="0" i="0" sz="1100" u="none" cap="none" strike="noStrike">
              <a:solidFill>
                <a:schemeClr val="dk1"/>
              </a:solidFill>
              <a:latin typeface="Calibri"/>
              <a:ea typeface="Calibri"/>
              <a:cs typeface="Calibri"/>
              <a:sym typeface="Calibri"/>
            </a:endParaRPr>
          </a:p>
        </p:txBody>
      </p:sp>
      <p:sp>
        <p:nvSpPr>
          <p:cNvPr id="125" name="Google Shape;125;p5"/>
          <p:cNvSpPr/>
          <p:nvPr/>
        </p:nvSpPr>
        <p:spPr>
          <a:xfrm>
            <a:off x="548640" y="3657600"/>
            <a:ext cx="3483864" cy="1920240"/>
          </a:xfrm>
          <a:prstGeom prst="roundRect">
            <a:avLst>
              <a:gd fmla="val 4286"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26" name="Google Shape;126;p5"/>
          <p:cNvSpPr/>
          <p:nvPr/>
        </p:nvSpPr>
        <p:spPr>
          <a:xfrm>
            <a:off x="772668" y="381762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shuffle_white.png" id="127" name="Google Shape;127;p5"/>
          <p:cNvPicPr preferRelativeResize="0"/>
          <p:nvPr/>
        </p:nvPicPr>
        <p:blipFill rotWithShape="1">
          <a:blip r:embed="rId6">
            <a:alphaModFix/>
          </a:blip>
          <a:srcRect b="0" l="0" r="0" t="0"/>
          <a:stretch/>
        </p:blipFill>
        <p:spPr>
          <a:xfrm>
            <a:off x="868680" y="3913632"/>
            <a:ext cx="493776" cy="493776"/>
          </a:xfrm>
          <a:prstGeom prst="rect">
            <a:avLst/>
          </a:prstGeom>
          <a:noFill/>
          <a:ln>
            <a:noFill/>
          </a:ln>
        </p:spPr>
      </p:pic>
      <p:sp>
        <p:nvSpPr>
          <p:cNvPr id="128" name="Google Shape;128;p5"/>
          <p:cNvSpPr/>
          <p:nvPr/>
        </p:nvSpPr>
        <p:spPr>
          <a:xfrm>
            <a:off x="804672" y="4617720"/>
            <a:ext cx="2971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450"/>
              <a:buFont typeface="Calibri"/>
              <a:buNone/>
            </a:pPr>
            <a:r>
              <a:rPr b="1" i="0" lang="en-US" sz="1450" u="none" cap="none" strike="noStrike">
                <a:solidFill>
                  <a:srgbClr val="431407"/>
                </a:solidFill>
                <a:latin typeface="Calibri"/>
                <a:ea typeface="Calibri"/>
                <a:cs typeface="Calibri"/>
                <a:sym typeface="Calibri"/>
              </a:rPr>
              <a:t>Non-deterministic</a:t>
            </a:r>
            <a:endParaRPr b="0" i="0" sz="1450" u="none" cap="none" strike="noStrike">
              <a:solidFill>
                <a:schemeClr val="dk1"/>
              </a:solidFill>
              <a:latin typeface="Calibri"/>
              <a:ea typeface="Calibri"/>
              <a:cs typeface="Calibri"/>
              <a:sym typeface="Calibri"/>
            </a:endParaRPr>
          </a:p>
        </p:txBody>
      </p:sp>
      <p:sp>
        <p:nvSpPr>
          <p:cNvPr id="129" name="Google Shape;129;p5"/>
          <p:cNvSpPr/>
          <p:nvPr/>
        </p:nvSpPr>
        <p:spPr>
          <a:xfrm>
            <a:off x="804672" y="4937760"/>
            <a:ext cx="2971800" cy="56692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B5580"/>
              </a:buClr>
              <a:buSzPts val="1100"/>
              <a:buFont typeface="Calibri"/>
              <a:buNone/>
            </a:pPr>
            <a:r>
              <a:rPr b="0" i="0" lang="en-US" sz="1100" u="none" cap="none" strike="noStrike">
                <a:solidFill>
                  <a:srgbClr val="92714F"/>
                </a:solidFill>
                <a:latin typeface="Calibri"/>
                <a:ea typeface="Calibri"/>
                <a:cs typeface="Calibri"/>
                <a:sym typeface="Calibri"/>
              </a:rPr>
              <a:t>The same prompt can give a different answer each time you ask.</a:t>
            </a:r>
            <a:endParaRPr b="0" i="0" sz="1100" u="none" cap="none" strike="noStrike">
              <a:solidFill>
                <a:schemeClr val="dk1"/>
              </a:solidFill>
              <a:latin typeface="Calibri"/>
              <a:ea typeface="Calibri"/>
              <a:cs typeface="Calibri"/>
              <a:sym typeface="Calibri"/>
            </a:endParaRPr>
          </a:p>
        </p:txBody>
      </p:sp>
      <p:sp>
        <p:nvSpPr>
          <p:cNvPr id="130" name="Google Shape;130;p5"/>
          <p:cNvSpPr/>
          <p:nvPr/>
        </p:nvSpPr>
        <p:spPr>
          <a:xfrm>
            <a:off x="4352544" y="3657600"/>
            <a:ext cx="3483864" cy="1920240"/>
          </a:xfrm>
          <a:prstGeom prst="roundRect">
            <a:avLst>
              <a:gd fmla="val 4286"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31" name="Google Shape;131;p5"/>
          <p:cNvSpPr/>
          <p:nvPr/>
        </p:nvSpPr>
        <p:spPr>
          <a:xfrm>
            <a:off x="4576572" y="381762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comments_white.png" id="132" name="Google Shape;132;p5"/>
          <p:cNvPicPr preferRelativeResize="0"/>
          <p:nvPr/>
        </p:nvPicPr>
        <p:blipFill rotWithShape="1">
          <a:blip r:embed="rId7">
            <a:alphaModFix/>
          </a:blip>
          <a:srcRect b="0" l="0" r="0" t="0"/>
          <a:stretch/>
        </p:blipFill>
        <p:spPr>
          <a:xfrm>
            <a:off x="4672584" y="3913632"/>
            <a:ext cx="493776" cy="493776"/>
          </a:xfrm>
          <a:prstGeom prst="rect">
            <a:avLst/>
          </a:prstGeom>
          <a:noFill/>
          <a:ln>
            <a:noFill/>
          </a:ln>
        </p:spPr>
      </p:pic>
      <p:sp>
        <p:nvSpPr>
          <p:cNvPr id="133" name="Google Shape;133;p5"/>
          <p:cNvSpPr/>
          <p:nvPr/>
        </p:nvSpPr>
        <p:spPr>
          <a:xfrm>
            <a:off x="4608576" y="4617720"/>
            <a:ext cx="2971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450"/>
              <a:buFont typeface="Calibri"/>
              <a:buNone/>
            </a:pPr>
            <a:r>
              <a:rPr b="1" i="0" lang="en-US" sz="1450" u="none" cap="none" strike="noStrike">
                <a:solidFill>
                  <a:srgbClr val="431407"/>
                </a:solidFill>
                <a:latin typeface="Calibri"/>
                <a:ea typeface="Calibri"/>
                <a:cs typeface="Calibri"/>
                <a:sym typeface="Calibri"/>
              </a:rPr>
              <a:t>Human-like Interaction</a:t>
            </a:r>
            <a:endParaRPr b="0" i="0" sz="1450" u="none" cap="none" strike="noStrike">
              <a:solidFill>
                <a:schemeClr val="dk1"/>
              </a:solidFill>
              <a:latin typeface="Calibri"/>
              <a:ea typeface="Calibri"/>
              <a:cs typeface="Calibri"/>
              <a:sym typeface="Calibri"/>
            </a:endParaRPr>
          </a:p>
        </p:txBody>
      </p:sp>
      <p:sp>
        <p:nvSpPr>
          <p:cNvPr id="134" name="Google Shape;134;p5"/>
          <p:cNvSpPr/>
          <p:nvPr/>
        </p:nvSpPr>
        <p:spPr>
          <a:xfrm>
            <a:off x="4608576" y="4937760"/>
            <a:ext cx="2971800" cy="56692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B5580"/>
              </a:buClr>
              <a:buSzPts val="1100"/>
              <a:buFont typeface="Calibri"/>
              <a:buNone/>
            </a:pPr>
            <a:r>
              <a:rPr b="0" i="0" lang="en-US" sz="1100" u="none" cap="none" strike="noStrike">
                <a:solidFill>
                  <a:srgbClr val="92714F"/>
                </a:solidFill>
                <a:latin typeface="Calibri"/>
                <a:ea typeface="Calibri"/>
                <a:cs typeface="Calibri"/>
                <a:sym typeface="Calibri"/>
              </a:rPr>
              <a:t>Holds conversations and follows instructions, like a chatbot.</a:t>
            </a:r>
            <a:endParaRPr b="0" i="0" sz="1100" u="none" cap="none" strike="noStrike">
              <a:solidFill>
                <a:schemeClr val="dk1"/>
              </a:solidFill>
              <a:latin typeface="Calibri"/>
              <a:ea typeface="Calibri"/>
              <a:cs typeface="Calibri"/>
              <a:sym typeface="Calibri"/>
            </a:endParaRPr>
          </a:p>
        </p:txBody>
      </p:sp>
      <p:sp>
        <p:nvSpPr>
          <p:cNvPr id="135" name="Google Shape;135;p5"/>
          <p:cNvSpPr/>
          <p:nvPr/>
        </p:nvSpPr>
        <p:spPr>
          <a:xfrm>
            <a:off x="8156448" y="3657600"/>
            <a:ext cx="3483864" cy="1920240"/>
          </a:xfrm>
          <a:prstGeom prst="roundRect">
            <a:avLst>
              <a:gd fmla="val 4286"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36" name="Google Shape;136;p5"/>
          <p:cNvSpPr/>
          <p:nvPr/>
        </p:nvSpPr>
        <p:spPr>
          <a:xfrm>
            <a:off x="8380476" y="381762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trend_white.png" id="137" name="Google Shape;137;p5"/>
          <p:cNvPicPr preferRelativeResize="0"/>
          <p:nvPr/>
        </p:nvPicPr>
        <p:blipFill rotWithShape="1">
          <a:blip r:embed="rId8">
            <a:alphaModFix/>
          </a:blip>
          <a:srcRect b="0" l="0" r="0" t="0"/>
          <a:stretch/>
        </p:blipFill>
        <p:spPr>
          <a:xfrm>
            <a:off x="8476488" y="3913632"/>
            <a:ext cx="493776" cy="493776"/>
          </a:xfrm>
          <a:prstGeom prst="rect">
            <a:avLst/>
          </a:prstGeom>
          <a:noFill/>
          <a:ln>
            <a:noFill/>
          </a:ln>
        </p:spPr>
      </p:pic>
      <p:sp>
        <p:nvSpPr>
          <p:cNvPr id="138" name="Google Shape;138;p5"/>
          <p:cNvSpPr/>
          <p:nvPr/>
        </p:nvSpPr>
        <p:spPr>
          <a:xfrm>
            <a:off x="8412480" y="4617720"/>
            <a:ext cx="2971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1450"/>
              <a:buFont typeface="Calibri"/>
              <a:buNone/>
            </a:pPr>
            <a:r>
              <a:rPr b="1" i="0" lang="en-US" sz="1450" u="none" cap="none" strike="noStrike">
                <a:solidFill>
                  <a:srgbClr val="431407"/>
                </a:solidFill>
                <a:latin typeface="Calibri"/>
                <a:ea typeface="Calibri"/>
                <a:cs typeface="Calibri"/>
                <a:sym typeface="Calibri"/>
              </a:rPr>
              <a:t>Keeps Improving</a:t>
            </a:r>
            <a:endParaRPr b="0" i="0" sz="1450" u="none" cap="none" strike="noStrike">
              <a:solidFill>
                <a:schemeClr val="dk1"/>
              </a:solidFill>
              <a:latin typeface="Calibri"/>
              <a:ea typeface="Calibri"/>
              <a:cs typeface="Calibri"/>
              <a:sym typeface="Calibri"/>
            </a:endParaRPr>
          </a:p>
        </p:txBody>
      </p:sp>
      <p:sp>
        <p:nvSpPr>
          <p:cNvPr id="139" name="Google Shape;139;p5"/>
          <p:cNvSpPr/>
          <p:nvPr/>
        </p:nvSpPr>
        <p:spPr>
          <a:xfrm>
            <a:off x="8412480" y="4937760"/>
            <a:ext cx="2971800" cy="566928"/>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5B5580"/>
              </a:buClr>
              <a:buSzPts val="1100"/>
              <a:buFont typeface="Calibri"/>
              <a:buNone/>
            </a:pPr>
            <a:r>
              <a:rPr b="0" i="0" lang="en-US" sz="1100" u="none" cap="none" strike="noStrike">
                <a:solidFill>
                  <a:srgbClr val="92714F"/>
                </a:solidFill>
                <a:latin typeface="Calibri"/>
                <a:ea typeface="Calibri"/>
                <a:cs typeface="Calibri"/>
                <a:sym typeface="Calibri"/>
              </a:rPr>
              <a:t>Gets better with more data and feedback with every new version.</a:t>
            </a:r>
            <a:endParaRPr b="0" i="0" sz="1100" u="none" cap="none" strike="noStrike">
              <a:solidFill>
                <a:schemeClr val="dk1"/>
              </a:solidFill>
              <a:latin typeface="Calibri"/>
              <a:ea typeface="Calibri"/>
              <a:cs typeface="Calibri"/>
              <a:sym typeface="Calibri"/>
            </a:endParaRPr>
          </a:p>
        </p:txBody>
      </p:sp>
      <p:sp>
        <p:nvSpPr>
          <p:cNvPr id="140" name="Google Shape;140;p5"/>
          <p:cNvSpPr/>
          <p:nvPr/>
        </p:nvSpPr>
        <p:spPr>
          <a:xfrm>
            <a:off x="11274552"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580"/>
              </a:buClr>
              <a:buSzPts val="900"/>
              <a:buFont typeface="Calibri"/>
              <a:buNone/>
            </a:pPr>
            <a:r>
              <a:rPr b="0" i="0" lang="en-US" sz="900" u="none" cap="none" strike="noStrike">
                <a:solidFill>
                  <a:srgbClr val="92714F"/>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pic>
        <p:nvPicPr>
          <p:cNvPr id="141" name="Google Shape;141;p5" title="logo-small.png"/>
          <p:cNvPicPr preferRelativeResize="0"/>
          <p:nvPr/>
        </p:nvPicPr>
        <p:blipFill>
          <a:blip r:embed="rId9">
            <a:alphaModFix amt="9000"/>
          </a:blip>
          <a:stretch>
            <a:fillRect/>
          </a:stretch>
        </p:blipFill>
        <p:spPr>
          <a:xfrm>
            <a:off x="2955663" y="305238"/>
            <a:ext cx="6280725" cy="62807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6"/>
          <p:cNvSpPr/>
          <p:nvPr/>
        </p:nvSpPr>
        <p:spPr>
          <a:xfrm>
            <a:off x="548640" y="45720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3200"/>
              <a:buFont typeface="Calibri"/>
              <a:buNone/>
            </a:pPr>
            <a:r>
              <a:rPr b="1" i="0" lang="en-US" sz="3400" u="none" cap="none" strike="noStrike">
                <a:solidFill>
                  <a:srgbClr val="431407"/>
                </a:solidFill>
                <a:latin typeface="Calibri"/>
                <a:ea typeface="Calibri"/>
                <a:cs typeface="Calibri"/>
                <a:sym typeface="Calibri"/>
              </a:rPr>
              <a:t>Types of Generative AI</a:t>
            </a:r>
            <a:endParaRPr b="0" i="0" sz="3400" u="none" cap="none" strike="noStrike">
              <a:solidFill>
                <a:schemeClr val="dk1"/>
              </a:solidFill>
              <a:latin typeface="Calibri"/>
              <a:ea typeface="Calibri"/>
              <a:cs typeface="Calibri"/>
              <a:sym typeface="Calibri"/>
            </a:endParaRPr>
          </a:p>
        </p:txBody>
      </p:sp>
      <p:sp>
        <p:nvSpPr>
          <p:cNvPr id="148" name="Google Shape;148;p6"/>
          <p:cNvSpPr/>
          <p:nvPr/>
        </p:nvSpPr>
        <p:spPr>
          <a:xfrm>
            <a:off x="548640" y="1691640"/>
            <a:ext cx="1998878" cy="4160520"/>
          </a:xfrm>
          <a:prstGeom prst="roundRect">
            <a:avLst>
              <a:gd fmla="val 4575"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49" name="Google Shape;149;p6"/>
          <p:cNvSpPr/>
          <p:nvPr/>
        </p:nvSpPr>
        <p:spPr>
          <a:xfrm>
            <a:off x="1113739" y="2080260"/>
            <a:ext cx="868680" cy="8686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commentdots_white.png" id="150" name="Google Shape;150;p6"/>
          <p:cNvPicPr preferRelativeResize="0"/>
          <p:nvPr/>
        </p:nvPicPr>
        <p:blipFill rotWithShape="1">
          <a:blip r:embed="rId3">
            <a:alphaModFix/>
          </a:blip>
          <a:srcRect b="0" l="0" r="0" t="0"/>
          <a:stretch/>
        </p:blipFill>
        <p:spPr>
          <a:xfrm>
            <a:off x="1235354" y="2201875"/>
            <a:ext cx="625450" cy="625450"/>
          </a:xfrm>
          <a:prstGeom prst="rect">
            <a:avLst/>
          </a:prstGeom>
          <a:noFill/>
          <a:ln>
            <a:noFill/>
          </a:ln>
        </p:spPr>
      </p:pic>
      <p:sp>
        <p:nvSpPr>
          <p:cNvPr id="151" name="Google Shape;151;p6"/>
          <p:cNvSpPr/>
          <p:nvPr/>
        </p:nvSpPr>
        <p:spPr>
          <a:xfrm>
            <a:off x="685800" y="3108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Text</a:t>
            </a:r>
            <a:endParaRPr b="0" i="0" sz="1600" u="none" cap="none" strike="noStrike">
              <a:solidFill>
                <a:schemeClr val="dk1"/>
              </a:solidFill>
              <a:latin typeface="Calibri"/>
              <a:ea typeface="Calibri"/>
              <a:cs typeface="Calibri"/>
              <a:sym typeface="Calibri"/>
            </a:endParaRPr>
          </a:p>
        </p:txBody>
      </p:sp>
      <p:sp>
        <p:nvSpPr>
          <p:cNvPr id="152" name="Google Shape;152;p6"/>
          <p:cNvSpPr/>
          <p:nvPr/>
        </p:nvSpPr>
        <p:spPr>
          <a:xfrm>
            <a:off x="731520" y="3566160"/>
            <a:ext cx="1633118" cy="1371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D9D2F2"/>
              </a:buClr>
              <a:buSzPts val="1100"/>
              <a:buFont typeface="Calibri"/>
              <a:buNone/>
            </a:pPr>
            <a:r>
              <a:rPr b="0" i="0" lang="en-US" sz="1100" u="none" cap="none" strike="noStrike">
                <a:solidFill>
                  <a:srgbClr val="FBE0C7"/>
                </a:solidFill>
                <a:latin typeface="Calibri"/>
                <a:ea typeface="Calibri"/>
                <a:cs typeface="Calibri"/>
                <a:sym typeface="Calibri"/>
              </a:rPr>
              <a:t>Writes essays, answers questions, summarizes content</a:t>
            </a:r>
            <a:endParaRPr b="0" i="0" sz="1100" u="none" cap="none" strike="noStrike">
              <a:solidFill>
                <a:schemeClr val="dk1"/>
              </a:solidFill>
              <a:latin typeface="Calibri"/>
              <a:ea typeface="Calibri"/>
              <a:cs typeface="Calibri"/>
              <a:sym typeface="Calibri"/>
            </a:endParaRPr>
          </a:p>
        </p:txBody>
      </p:sp>
      <p:cxnSp>
        <p:nvCxnSpPr>
          <p:cNvPr id="153" name="Google Shape;153;p6"/>
          <p:cNvCxnSpPr/>
          <p:nvPr/>
        </p:nvCxnSpPr>
        <p:spPr>
          <a:xfrm>
            <a:off x="868680" y="5029200"/>
            <a:ext cx="1358798" cy="0"/>
          </a:xfrm>
          <a:prstGeom prst="straightConnector1">
            <a:avLst/>
          </a:prstGeom>
          <a:noFill/>
          <a:ln cap="flat" cmpd="sng" w="12700">
            <a:solidFill>
              <a:srgbClr val="B45309"/>
            </a:solidFill>
            <a:prstDash val="solid"/>
            <a:round/>
            <a:headEnd len="sm" w="sm" type="none"/>
            <a:tailEnd len="sm" w="sm" type="none"/>
          </a:ln>
        </p:spPr>
      </p:cxnSp>
      <p:sp>
        <p:nvSpPr>
          <p:cNvPr id="154" name="Google Shape;154;p6"/>
          <p:cNvSpPr/>
          <p:nvPr/>
        </p:nvSpPr>
        <p:spPr>
          <a:xfrm>
            <a:off x="731520" y="5166360"/>
            <a:ext cx="163311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90C7"/>
              </a:buClr>
              <a:buSzPts val="850"/>
              <a:buFont typeface="Calibri"/>
              <a:buNone/>
            </a:pPr>
            <a:r>
              <a:rPr b="1" i="0" lang="en-US" sz="850" u="none" cap="none" strike="noStrike">
                <a:solidFill>
                  <a:srgbClr val="E3B78F"/>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155" name="Google Shape;155;p6"/>
          <p:cNvSpPr/>
          <p:nvPr/>
        </p:nvSpPr>
        <p:spPr>
          <a:xfrm>
            <a:off x="685800" y="5394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4DFF"/>
              </a:buClr>
              <a:buSzPts val="1100"/>
              <a:buFont typeface="Calibri"/>
              <a:buNone/>
            </a:pPr>
            <a:r>
              <a:rPr b="1" i="0" lang="en-US" sz="1100" u="none" cap="none" strike="noStrike">
                <a:solidFill>
                  <a:srgbClr val="F97316"/>
                </a:solidFill>
                <a:latin typeface="Calibri"/>
                <a:ea typeface="Calibri"/>
                <a:cs typeface="Calibri"/>
                <a:sym typeface="Calibri"/>
              </a:rPr>
              <a:t>ChatGPT, Gemini</a:t>
            </a:r>
            <a:endParaRPr b="0" i="0" sz="1100" u="none" cap="none" strike="noStrike">
              <a:solidFill>
                <a:schemeClr val="dk1"/>
              </a:solidFill>
              <a:latin typeface="Calibri"/>
              <a:ea typeface="Calibri"/>
              <a:cs typeface="Calibri"/>
              <a:sym typeface="Calibri"/>
            </a:endParaRPr>
          </a:p>
        </p:txBody>
      </p:sp>
      <p:sp>
        <p:nvSpPr>
          <p:cNvPr id="156" name="Google Shape;156;p6"/>
          <p:cNvSpPr/>
          <p:nvPr/>
        </p:nvSpPr>
        <p:spPr>
          <a:xfrm>
            <a:off x="2821838" y="1691640"/>
            <a:ext cx="1998878" cy="4160520"/>
          </a:xfrm>
          <a:prstGeom prst="roundRect">
            <a:avLst>
              <a:gd fmla="val 4575"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57" name="Google Shape;157;p6"/>
          <p:cNvSpPr/>
          <p:nvPr/>
        </p:nvSpPr>
        <p:spPr>
          <a:xfrm>
            <a:off x="3386938" y="2080260"/>
            <a:ext cx="868680" cy="8686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image_white.png" id="158" name="Google Shape;158;p6"/>
          <p:cNvPicPr preferRelativeResize="0"/>
          <p:nvPr/>
        </p:nvPicPr>
        <p:blipFill rotWithShape="1">
          <a:blip r:embed="rId4">
            <a:alphaModFix/>
          </a:blip>
          <a:srcRect b="0" l="0" r="0" t="0"/>
          <a:stretch/>
        </p:blipFill>
        <p:spPr>
          <a:xfrm>
            <a:off x="3508553" y="2201875"/>
            <a:ext cx="625450" cy="625450"/>
          </a:xfrm>
          <a:prstGeom prst="rect">
            <a:avLst/>
          </a:prstGeom>
          <a:noFill/>
          <a:ln>
            <a:noFill/>
          </a:ln>
        </p:spPr>
      </p:pic>
      <p:sp>
        <p:nvSpPr>
          <p:cNvPr id="159" name="Google Shape;159;p6"/>
          <p:cNvSpPr/>
          <p:nvPr/>
        </p:nvSpPr>
        <p:spPr>
          <a:xfrm>
            <a:off x="2958998" y="3108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458"/>
              </a:buClr>
              <a:buSzPts val="1600"/>
              <a:buFont typeface="Calibri"/>
              <a:buNone/>
            </a:pPr>
            <a:r>
              <a:rPr b="1" i="0" lang="en-US" sz="1600" u="none" cap="none" strike="noStrike">
                <a:solidFill>
                  <a:srgbClr val="431407"/>
                </a:solidFill>
                <a:latin typeface="Calibri"/>
                <a:ea typeface="Calibri"/>
                <a:cs typeface="Calibri"/>
                <a:sym typeface="Calibri"/>
              </a:rPr>
              <a:t>Image</a:t>
            </a:r>
            <a:endParaRPr b="0" i="0" sz="1600" u="none" cap="none" strike="noStrike">
              <a:solidFill>
                <a:schemeClr val="dk1"/>
              </a:solidFill>
              <a:latin typeface="Calibri"/>
              <a:ea typeface="Calibri"/>
              <a:cs typeface="Calibri"/>
              <a:sym typeface="Calibri"/>
            </a:endParaRPr>
          </a:p>
        </p:txBody>
      </p:sp>
      <p:sp>
        <p:nvSpPr>
          <p:cNvPr id="160" name="Google Shape;160;p6"/>
          <p:cNvSpPr/>
          <p:nvPr/>
        </p:nvSpPr>
        <p:spPr>
          <a:xfrm>
            <a:off x="3004718" y="3566160"/>
            <a:ext cx="1633118" cy="1371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5580"/>
              </a:buClr>
              <a:buSzPts val="1100"/>
              <a:buFont typeface="Calibri"/>
              <a:buNone/>
            </a:pPr>
            <a:r>
              <a:rPr b="0" i="0" lang="en-US" sz="1100" u="none" cap="none" strike="noStrike">
                <a:solidFill>
                  <a:srgbClr val="92714F"/>
                </a:solidFill>
                <a:latin typeface="Calibri"/>
                <a:ea typeface="Calibri"/>
                <a:cs typeface="Calibri"/>
                <a:sym typeface="Calibri"/>
              </a:rPr>
              <a:t>Creates pictures &amp; art from a text description</a:t>
            </a:r>
            <a:endParaRPr b="0" i="0" sz="1100" u="none" cap="none" strike="noStrike">
              <a:solidFill>
                <a:schemeClr val="dk1"/>
              </a:solidFill>
              <a:latin typeface="Calibri"/>
              <a:ea typeface="Calibri"/>
              <a:cs typeface="Calibri"/>
              <a:sym typeface="Calibri"/>
            </a:endParaRPr>
          </a:p>
        </p:txBody>
      </p:sp>
      <p:cxnSp>
        <p:nvCxnSpPr>
          <p:cNvPr id="161" name="Google Shape;161;p6"/>
          <p:cNvCxnSpPr/>
          <p:nvPr/>
        </p:nvCxnSpPr>
        <p:spPr>
          <a:xfrm>
            <a:off x="3141878" y="5029200"/>
            <a:ext cx="1358798" cy="0"/>
          </a:xfrm>
          <a:prstGeom prst="straightConnector1">
            <a:avLst/>
          </a:prstGeom>
          <a:noFill/>
          <a:ln cap="flat" cmpd="sng" w="12700">
            <a:solidFill>
              <a:srgbClr val="FFD9B3"/>
            </a:solidFill>
            <a:prstDash val="solid"/>
            <a:round/>
            <a:headEnd len="sm" w="sm" type="none"/>
            <a:tailEnd len="sm" w="sm" type="none"/>
          </a:ln>
        </p:spPr>
      </p:cxnSp>
      <p:sp>
        <p:nvSpPr>
          <p:cNvPr id="162" name="Google Shape;162;p6"/>
          <p:cNvSpPr/>
          <p:nvPr/>
        </p:nvSpPr>
        <p:spPr>
          <a:xfrm>
            <a:off x="3004718" y="5166360"/>
            <a:ext cx="163311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8FD6"/>
              </a:buClr>
              <a:buSzPts val="850"/>
              <a:buFont typeface="Calibri"/>
              <a:buNone/>
            </a:pPr>
            <a:r>
              <a:rPr b="1" i="0" lang="en-US" sz="850" u="none" cap="none" strike="noStrike">
                <a:solidFill>
                  <a:srgbClr val="F0B27A"/>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163" name="Google Shape;163;p6"/>
          <p:cNvSpPr/>
          <p:nvPr/>
        </p:nvSpPr>
        <p:spPr>
          <a:xfrm>
            <a:off x="2958998" y="5394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21B6"/>
              </a:buClr>
              <a:buSzPts val="1100"/>
              <a:buFont typeface="Calibri"/>
              <a:buNone/>
            </a:pPr>
            <a:r>
              <a:rPr b="1" i="0" lang="en-US" sz="1100" u="none" cap="none" strike="noStrike">
                <a:solidFill>
                  <a:srgbClr val="C2410C"/>
                </a:solidFill>
                <a:latin typeface="Calibri"/>
                <a:ea typeface="Calibri"/>
                <a:cs typeface="Calibri"/>
                <a:sym typeface="Calibri"/>
              </a:rPr>
              <a:t>DALL·E, Midjourney</a:t>
            </a:r>
            <a:endParaRPr b="0" i="0" sz="1100" u="none" cap="none" strike="noStrike">
              <a:solidFill>
                <a:schemeClr val="dk1"/>
              </a:solidFill>
              <a:latin typeface="Calibri"/>
              <a:ea typeface="Calibri"/>
              <a:cs typeface="Calibri"/>
              <a:sym typeface="Calibri"/>
            </a:endParaRPr>
          </a:p>
        </p:txBody>
      </p:sp>
      <p:sp>
        <p:nvSpPr>
          <p:cNvPr id="164" name="Google Shape;164;p6"/>
          <p:cNvSpPr/>
          <p:nvPr/>
        </p:nvSpPr>
        <p:spPr>
          <a:xfrm>
            <a:off x="5095037" y="1691640"/>
            <a:ext cx="1998878" cy="4160520"/>
          </a:xfrm>
          <a:prstGeom prst="roundRect">
            <a:avLst>
              <a:gd fmla="val 4575"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65" name="Google Shape;165;p6"/>
          <p:cNvSpPr/>
          <p:nvPr/>
        </p:nvSpPr>
        <p:spPr>
          <a:xfrm>
            <a:off x="5660136" y="2080260"/>
            <a:ext cx="868680" cy="8686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music_white.png" id="166" name="Google Shape;166;p6"/>
          <p:cNvPicPr preferRelativeResize="0"/>
          <p:nvPr/>
        </p:nvPicPr>
        <p:blipFill rotWithShape="1">
          <a:blip r:embed="rId5">
            <a:alphaModFix/>
          </a:blip>
          <a:srcRect b="0" l="0" r="0" t="0"/>
          <a:stretch/>
        </p:blipFill>
        <p:spPr>
          <a:xfrm>
            <a:off x="5781751" y="2201875"/>
            <a:ext cx="625450" cy="625450"/>
          </a:xfrm>
          <a:prstGeom prst="rect">
            <a:avLst/>
          </a:prstGeom>
          <a:noFill/>
          <a:ln>
            <a:noFill/>
          </a:ln>
        </p:spPr>
      </p:pic>
      <p:sp>
        <p:nvSpPr>
          <p:cNvPr id="167" name="Google Shape;167;p6"/>
          <p:cNvSpPr/>
          <p:nvPr/>
        </p:nvSpPr>
        <p:spPr>
          <a:xfrm>
            <a:off x="5232197" y="3108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Audio / Music</a:t>
            </a:r>
            <a:endParaRPr b="0" i="0" sz="1600" u="none" cap="none" strike="noStrike">
              <a:solidFill>
                <a:schemeClr val="dk1"/>
              </a:solidFill>
              <a:latin typeface="Calibri"/>
              <a:ea typeface="Calibri"/>
              <a:cs typeface="Calibri"/>
              <a:sym typeface="Calibri"/>
            </a:endParaRPr>
          </a:p>
        </p:txBody>
      </p:sp>
      <p:sp>
        <p:nvSpPr>
          <p:cNvPr id="168" name="Google Shape;168;p6"/>
          <p:cNvSpPr/>
          <p:nvPr/>
        </p:nvSpPr>
        <p:spPr>
          <a:xfrm>
            <a:off x="5277917" y="3566160"/>
            <a:ext cx="1633118" cy="1371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D9D2F2"/>
              </a:buClr>
              <a:buSzPts val="1100"/>
              <a:buFont typeface="Calibri"/>
              <a:buNone/>
            </a:pPr>
            <a:r>
              <a:rPr b="0" i="0" lang="en-US" sz="1100" u="none" cap="none" strike="noStrike">
                <a:solidFill>
                  <a:srgbClr val="FBE0C7"/>
                </a:solidFill>
                <a:latin typeface="Calibri"/>
                <a:ea typeface="Calibri"/>
                <a:cs typeface="Calibri"/>
                <a:sym typeface="Calibri"/>
              </a:rPr>
              <a:t>Generates voices, sound effects and music</a:t>
            </a:r>
            <a:endParaRPr b="0" i="0" sz="1100" u="none" cap="none" strike="noStrike">
              <a:solidFill>
                <a:schemeClr val="dk1"/>
              </a:solidFill>
              <a:latin typeface="Calibri"/>
              <a:ea typeface="Calibri"/>
              <a:cs typeface="Calibri"/>
              <a:sym typeface="Calibri"/>
            </a:endParaRPr>
          </a:p>
        </p:txBody>
      </p:sp>
      <p:cxnSp>
        <p:nvCxnSpPr>
          <p:cNvPr id="169" name="Google Shape;169;p6"/>
          <p:cNvCxnSpPr/>
          <p:nvPr/>
        </p:nvCxnSpPr>
        <p:spPr>
          <a:xfrm>
            <a:off x="5415077" y="5029200"/>
            <a:ext cx="1358798" cy="0"/>
          </a:xfrm>
          <a:prstGeom prst="straightConnector1">
            <a:avLst/>
          </a:prstGeom>
          <a:noFill/>
          <a:ln cap="flat" cmpd="sng" w="12700">
            <a:solidFill>
              <a:srgbClr val="B45309"/>
            </a:solidFill>
            <a:prstDash val="solid"/>
            <a:round/>
            <a:headEnd len="sm" w="sm" type="none"/>
            <a:tailEnd len="sm" w="sm" type="none"/>
          </a:ln>
        </p:spPr>
      </p:cxnSp>
      <p:sp>
        <p:nvSpPr>
          <p:cNvPr id="170" name="Google Shape;170;p6"/>
          <p:cNvSpPr/>
          <p:nvPr/>
        </p:nvSpPr>
        <p:spPr>
          <a:xfrm>
            <a:off x="5277917" y="5166360"/>
            <a:ext cx="163311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90C7"/>
              </a:buClr>
              <a:buSzPts val="850"/>
              <a:buFont typeface="Calibri"/>
              <a:buNone/>
            </a:pPr>
            <a:r>
              <a:rPr b="1" i="0" lang="en-US" sz="850" u="none" cap="none" strike="noStrike">
                <a:solidFill>
                  <a:srgbClr val="E3B78F"/>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171" name="Google Shape;171;p6"/>
          <p:cNvSpPr/>
          <p:nvPr/>
        </p:nvSpPr>
        <p:spPr>
          <a:xfrm>
            <a:off x="5232197" y="5394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4DFF"/>
              </a:buClr>
              <a:buSzPts val="1100"/>
              <a:buFont typeface="Calibri"/>
              <a:buNone/>
            </a:pPr>
            <a:r>
              <a:rPr b="1" i="0" lang="en-US" sz="1100" u="none" cap="none" strike="noStrike">
                <a:solidFill>
                  <a:srgbClr val="F97316"/>
                </a:solidFill>
                <a:latin typeface="Calibri"/>
                <a:ea typeface="Calibri"/>
                <a:cs typeface="Calibri"/>
                <a:sym typeface="Calibri"/>
              </a:rPr>
              <a:t>ElevenLabs, Suno</a:t>
            </a:r>
            <a:endParaRPr b="0" i="0" sz="1100" u="none" cap="none" strike="noStrike">
              <a:solidFill>
                <a:schemeClr val="dk1"/>
              </a:solidFill>
              <a:latin typeface="Calibri"/>
              <a:ea typeface="Calibri"/>
              <a:cs typeface="Calibri"/>
              <a:sym typeface="Calibri"/>
            </a:endParaRPr>
          </a:p>
        </p:txBody>
      </p:sp>
      <p:sp>
        <p:nvSpPr>
          <p:cNvPr id="172" name="Google Shape;172;p6"/>
          <p:cNvSpPr/>
          <p:nvPr/>
        </p:nvSpPr>
        <p:spPr>
          <a:xfrm>
            <a:off x="7368235" y="1691640"/>
            <a:ext cx="1998878" cy="4160520"/>
          </a:xfrm>
          <a:prstGeom prst="roundRect">
            <a:avLst>
              <a:gd fmla="val 4575"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73" name="Google Shape;173;p6"/>
          <p:cNvSpPr/>
          <p:nvPr/>
        </p:nvSpPr>
        <p:spPr>
          <a:xfrm>
            <a:off x="7933334" y="2080260"/>
            <a:ext cx="868680" cy="8686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film_white.png" id="174" name="Google Shape;174;p6"/>
          <p:cNvPicPr preferRelativeResize="0"/>
          <p:nvPr/>
        </p:nvPicPr>
        <p:blipFill rotWithShape="1">
          <a:blip r:embed="rId6">
            <a:alphaModFix/>
          </a:blip>
          <a:srcRect b="0" l="0" r="0" t="0"/>
          <a:stretch/>
        </p:blipFill>
        <p:spPr>
          <a:xfrm>
            <a:off x="8054950" y="2201875"/>
            <a:ext cx="625450" cy="625450"/>
          </a:xfrm>
          <a:prstGeom prst="rect">
            <a:avLst/>
          </a:prstGeom>
          <a:noFill/>
          <a:ln>
            <a:noFill/>
          </a:ln>
        </p:spPr>
      </p:pic>
      <p:sp>
        <p:nvSpPr>
          <p:cNvPr id="175" name="Google Shape;175;p6"/>
          <p:cNvSpPr/>
          <p:nvPr/>
        </p:nvSpPr>
        <p:spPr>
          <a:xfrm>
            <a:off x="7505395" y="3108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41458"/>
              </a:buClr>
              <a:buSzPts val="1600"/>
              <a:buFont typeface="Calibri"/>
              <a:buNone/>
            </a:pPr>
            <a:r>
              <a:rPr b="1" i="0" lang="en-US" sz="1600" u="none" cap="none" strike="noStrike">
                <a:solidFill>
                  <a:srgbClr val="431407"/>
                </a:solidFill>
                <a:latin typeface="Calibri"/>
                <a:ea typeface="Calibri"/>
                <a:cs typeface="Calibri"/>
                <a:sym typeface="Calibri"/>
              </a:rPr>
              <a:t>Video</a:t>
            </a:r>
            <a:endParaRPr b="0" i="0" sz="1600" u="none" cap="none" strike="noStrike">
              <a:solidFill>
                <a:schemeClr val="dk1"/>
              </a:solidFill>
              <a:latin typeface="Calibri"/>
              <a:ea typeface="Calibri"/>
              <a:cs typeface="Calibri"/>
              <a:sym typeface="Calibri"/>
            </a:endParaRPr>
          </a:p>
        </p:txBody>
      </p:sp>
      <p:sp>
        <p:nvSpPr>
          <p:cNvPr id="176" name="Google Shape;176;p6"/>
          <p:cNvSpPr/>
          <p:nvPr/>
        </p:nvSpPr>
        <p:spPr>
          <a:xfrm>
            <a:off x="7551115" y="3566160"/>
            <a:ext cx="1633118" cy="1371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5B5580"/>
              </a:buClr>
              <a:buSzPts val="1100"/>
              <a:buFont typeface="Calibri"/>
              <a:buNone/>
            </a:pPr>
            <a:r>
              <a:rPr b="0" i="0" lang="en-US" sz="1100" u="none" cap="none" strike="noStrike">
                <a:solidFill>
                  <a:srgbClr val="92714F"/>
                </a:solidFill>
                <a:latin typeface="Calibri"/>
                <a:ea typeface="Calibri"/>
                <a:cs typeface="Calibri"/>
                <a:sym typeface="Calibri"/>
              </a:rPr>
              <a:t>Produces short video clips from a prompt</a:t>
            </a:r>
            <a:endParaRPr b="0" i="0" sz="1100" u="none" cap="none" strike="noStrike">
              <a:solidFill>
                <a:schemeClr val="dk1"/>
              </a:solidFill>
              <a:latin typeface="Calibri"/>
              <a:ea typeface="Calibri"/>
              <a:cs typeface="Calibri"/>
              <a:sym typeface="Calibri"/>
            </a:endParaRPr>
          </a:p>
        </p:txBody>
      </p:sp>
      <p:cxnSp>
        <p:nvCxnSpPr>
          <p:cNvPr id="177" name="Google Shape;177;p6"/>
          <p:cNvCxnSpPr/>
          <p:nvPr/>
        </p:nvCxnSpPr>
        <p:spPr>
          <a:xfrm>
            <a:off x="7688275" y="5029200"/>
            <a:ext cx="1358798" cy="0"/>
          </a:xfrm>
          <a:prstGeom prst="straightConnector1">
            <a:avLst/>
          </a:prstGeom>
          <a:noFill/>
          <a:ln cap="flat" cmpd="sng" w="12700">
            <a:solidFill>
              <a:srgbClr val="FFD9B3"/>
            </a:solidFill>
            <a:prstDash val="solid"/>
            <a:round/>
            <a:headEnd len="sm" w="sm" type="none"/>
            <a:tailEnd len="sm" w="sm" type="none"/>
          </a:ln>
        </p:spPr>
      </p:cxnSp>
      <p:sp>
        <p:nvSpPr>
          <p:cNvPr id="178" name="Google Shape;178;p6"/>
          <p:cNvSpPr/>
          <p:nvPr/>
        </p:nvSpPr>
        <p:spPr>
          <a:xfrm>
            <a:off x="7551115" y="5166360"/>
            <a:ext cx="163311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08FD6"/>
              </a:buClr>
              <a:buSzPts val="850"/>
              <a:buFont typeface="Calibri"/>
              <a:buNone/>
            </a:pPr>
            <a:r>
              <a:rPr b="1" i="0" lang="en-US" sz="850" u="none" cap="none" strike="noStrike">
                <a:solidFill>
                  <a:srgbClr val="F0B27A"/>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179" name="Google Shape;179;p6"/>
          <p:cNvSpPr/>
          <p:nvPr/>
        </p:nvSpPr>
        <p:spPr>
          <a:xfrm>
            <a:off x="7505395" y="5394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21B6"/>
              </a:buClr>
              <a:buSzPts val="1100"/>
              <a:buFont typeface="Calibri"/>
              <a:buNone/>
            </a:pPr>
            <a:r>
              <a:rPr b="1" i="0" lang="en-US" sz="1100" u="none" cap="none" strike="noStrike">
                <a:solidFill>
                  <a:srgbClr val="C2410C"/>
                </a:solidFill>
                <a:latin typeface="Calibri"/>
                <a:ea typeface="Calibri"/>
                <a:cs typeface="Calibri"/>
                <a:sym typeface="Calibri"/>
              </a:rPr>
              <a:t>Sora, Runway</a:t>
            </a:r>
            <a:endParaRPr b="0" i="0" sz="1100" u="none" cap="none" strike="noStrike">
              <a:solidFill>
                <a:schemeClr val="dk1"/>
              </a:solidFill>
              <a:latin typeface="Calibri"/>
              <a:ea typeface="Calibri"/>
              <a:cs typeface="Calibri"/>
              <a:sym typeface="Calibri"/>
            </a:endParaRPr>
          </a:p>
        </p:txBody>
      </p:sp>
      <p:sp>
        <p:nvSpPr>
          <p:cNvPr id="180" name="Google Shape;180;p6"/>
          <p:cNvSpPr/>
          <p:nvPr/>
        </p:nvSpPr>
        <p:spPr>
          <a:xfrm>
            <a:off x="9641434" y="1691640"/>
            <a:ext cx="1998878" cy="4160520"/>
          </a:xfrm>
          <a:prstGeom prst="roundRect">
            <a:avLst>
              <a:gd fmla="val 4575"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81" name="Google Shape;181;p6"/>
          <p:cNvSpPr/>
          <p:nvPr/>
        </p:nvSpPr>
        <p:spPr>
          <a:xfrm>
            <a:off x="10206533" y="2080260"/>
            <a:ext cx="868680" cy="8686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code_white.png" id="182" name="Google Shape;182;p6"/>
          <p:cNvPicPr preferRelativeResize="0"/>
          <p:nvPr/>
        </p:nvPicPr>
        <p:blipFill rotWithShape="1">
          <a:blip r:embed="rId7">
            <a:alphaModFix/>
          </a:blip>
          <a:srcRect b="0" l="0" r="0" t="0"/>
          <a:stretch/>
        </p:blipFill>
        <p:spPr>
          <a:xfrm>
            <a:off x="10328148" y="2201875"/>
            <a:ext cx="625450" cy="625450"/>
          </a:xfrm>
          <a:prstGeom prst="rect">
            <a:avLst/>
          </a:prstGeom>
          <a:noFill/>
          <a:ln>
            <a:noFill/>
          </a:ln>
        </p:spPr>
      </p:pic>
      <p:sp>
        <p:nvSpPr>
          <p:cNvPr id="183" name="Google Shape;183;p6"/>
          <p:cNvSpPr/>
          <p:nvPr/>
        </p:nvSpPr>
        <p:spPr>
          <a:xfrm>
            <a:off x="9778594" y="3108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Code</a:t>
            </a:r>
            <a:endParaRPr b="0" i="0" sz="1600" u="none" cap="none" strike="noStrike">
              <a:solidFill>
                <a:schemeClr val="dk1"/>
              </a:solidFill>
              <a:latin typeface="Calibri"/>
              <a:ea typeface="Calibri"/>
              <a:cs typeface="Calibri"/>
              <a:sym typeface="Calibri"/>
            </a:endParaRPr>
          </a:p>
        </p:txBody>
      </p:sp>
      <p:sp>
        <p:nvSpPr>
          <p:cNvPr id="184" name="Google Shape;184;p6"/>
          <p:cNvSpPr/>
          <p:nvPr/>
        </p:nvSpPr>
        <p:spPr>
          <a:xfrm>
            <a:off x="9824314" y="3566160"/>
            <a:ext cx="1633118" cy="13716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D9D2F2"/>
              </a:buClr>
              <a:buSzPts val="1100"/>
              <a:buFont typeface="Calibri"/>
              <a:buNone/>
            </a:pPr>
            <a:r>
              <a:rPr b="0" i="0" lang="en-US" sz="1100" u="none" cap="none" strike="noStrike">
                <a:solidFill>
                  <a:srgbClr val="FBE0C7"/>
                </a:solidFill>
                <a:latin typeface="Calibri"/>
                <a:ea typeface="Calibri"/>
                <a:cs typeface="Calibri"/>
                <a:sym typeface="Calibri"/>
              </a:rPr>
              <a:t>Writes and completes programming code</a:t>
            </a:r>
            <a:endParaRPr b="0" i="0" sz="1100" u="none" cap="none" strike="noStrike">
              <a:solidFill>
                <a:schemeClr val="dk1"/>
              </a:solidFill>
              <a:latin typeface="Calibri"/>
              <a:ea typeface="Calibri"/>
              <a:cs typeface="Calibri"/>
              <a:sym typeface="Calibri"/>
            </a:endParaRPr>
          </a:p>
        </p:txBody>
      </p:sp>
      <p:cxnSp>
        <p:nvCxnSpPr>
          <p:cNvPr id="185" name="Google Shape;185;p6"/>
          <p:cNvCxnSpPr/>
          <p:nvPr/>
        </p:nvCxnSpPr>
        <p:spPr>
          <a:xfrm>
            <a:off x="9961474" y="5029200"/>
            <a:ext cx="1358798" cy="0"/>
          </a:xfrm>
          <a:prstGeom prst="straightConnector1">
            <a:avLst/>
          </a:prstGeom>
          <a:noFill/>
          <a:ln cap="flat" cmpd="sng" w="12700">
            <a:solidFill>
              <a:srgbClr val="B45309"/>
            </a:solidFill>
            <a:prstDash val="solid"/>
            <a:round/>
            <a:headEnd len="sm" w="sm" type="none"/>
            <a:tailEnd len="sm" w="sm" type="none"/>
          </a:ln>
        </p:spPr>
      </p:cxnSp>
      <p:sp>
        <p:nvSpPr>
          <p:cNvPr id="186" name="Google Shape;186;p6"/>
          <p:cNvSpPr/>
          <p:nvPr/>
        </p:nvSpPr>
        <p:spPr>
          <a:xfrm>
            <a:off x="9824314" y="5166360"/>
            <a:ext cx="1633118"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C90C7"/>
              </a:buClr>
              <a:buSzPts val="850"/>
              <a:buFont typeface="Calibri"/>
              <a:buNone/>
            </a:pPr>
            <a:r>
              <a:rPr b="1" i="0" lang="en-US" sz="850" u="none" cap="none" strike="noStrike">
                <a:solidFill>
                  <a:srgbClr val="E3B78F"/>
                </a:solidFill>
                <a:latin typeface="Calibri"/>
                <a:ea typeface="Calibri"/>
                <a:cs typeface="Calibri"/>
                <a:sym typeface="Calibri"/>
              </a:rPr>
              <a:t>EXAMPLE</a:t>
            </a:r>
            <a:endParaRPr b="0" i="0" sz="850" u="none" cap="none" strike="noStrike">
              <a:solidFill>
                <a:schemeClr val="dk1"/>
              </a:solidFill>
              <a:latin typeface="Calibri"/>
              <a:ea typeface="Calibri"/>
              <a:cs typeface="Calibri"/>
              <a:sym typeface="Calibri"/>
            </a:endParaRPr>
          </a:p>
        </p:txBody>
      </p:sp>
      <p:sp>
        <p:nvSpPr>
          <p:cNvPr id="187" name="Google Shape;187;p6"/>
          <p:cNvSpPr/>
          <p:nvPr/>
        </p:nvSpPr>
        <p:spPr>
          <a:xfrm>
            <a:off x="9778594" y="5394960"/>
            <a:ext cx="172455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4DFF"/>
              </a:buClr>
              <a:buSzPts val="1100"/>
              <a:buFont typeface="Calibri"/>
              <a:buNone/>
            </a:pPr>
            <a:r>
              <a:rPr b="1" i="0" lang="en-US" sz="1100" u="none" cap="none" strike="noStrike">
                <a:solidFill>
                  <a:srgbClr val="F97316"/>
                </a:solidFill>
                <a:latin typeface="Calibri"/>
                <a:ea typeface="Calibri"/>
                <a:cs typeface="Calibri"/>
                <a:sym typeface="Calibri"/>
              </a:rPr>
              <a:t>GitHub Copilot</a:t>
            </a:r>
            <a:endParaRPr b="0" i="0" sz="1100" u="none" cap="none" strike="noStrike">
              <a:solidFill>
                <a:schemeClr val="dk1"/>
              </a:solidFill>
              <a:latin typeface="Calibri"/>
              <a:ea typeface="Calibri"/>
              <a:cs typeface="Calibri"/>
              <a:sym typeface="Calibri"/>
            </a:endParaRPr>
          </a:p>
        </p:txBody>
      </p:sp>
      <p:sp>
        <p:nvSpPr>
          <p:cNvPr id="188" name="Google Shape;188;p6"/>
          <p:cNvSpPr/>
          <p:nvPr/>
        </p:nvSpPr>
        <p:spPr>
          <a:xfrm>
            <a:off x="11274552"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580"/>
              </a:buClr>
              <a:buSzPts val="900"/>
              <a:buFont typeface="Calibri"/>
              <a:buNone/>
            </a:pPr>
            <a:r>
              <a:rPr b="0" i="0" lang="en-US" sz="900" u="none" cap="none" strike="noStrike">
                <a:solidFill>
                  <a:srgbClr val="92714F"/>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pic>
        <p:nvPicPr>
          <p:cNvPr id="189" name="Google Shape;189;p6" title="logo-small.png"/>
          <p:cNvPicPr preferRelativeResize="0"/>
          <p:nvPr/>
        </p:nvPicPr>
        <p:blipFill>
          <a:blip r:embed="rId8">
            <a:alphaModFix amt="9000"/>
          </a:blip>
          <a:stretch>
            <a:fillRect/>
          </a:stretch>
        </p:blipFill>
        <p:spPr>
          <a:xfrm>
            <a:off x="2955663" y="305238"/>
            <a:ext cx="6280725" cy="6280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7"/>
          <p:cNvSpPr/>
          <p:nvPr/>
        </p:nvSpPr>
        <p:spPr>
          <a:xfrm>
            <a:off x="548640" y="411480"/>
            <a:ext cx="10515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3000"/>
              <a:buFont typeface="Calibri"/>
              <a:buNone/>
            </a:pPr>
            <a:r>
              <a:rPr b="1" i="0" lang="en-US" sz="3100" u="none" cap="none" strike="noStrike">
                <a:solidFill>
                  <a:srgbClr val="431407"/>
                </a:solidFill>
                <a:latin typeface="Calibri"/>
                <a:ea typeface="Calibri"/>
                <a:cs typeface="Calibri"/>
                <a:sym typeface="Calibri"/>
              </a:rPr>
              <a:t>H</a:t>
            </a:r>
            <a:r>
              <a:rPr b="1" i="0" lang="en-US" sz="3200" u="none" cap="none" strike="noStrike">
                <a:solidFill>
                  <a:srgbClr val="431407"/>
                </a:solidFill>
                <a:latin typeface="Calibri"/>
                <a:ea typeface="Calibri"/>
                <a:cs typeface="Calibri"/>
                <a:sym typeface="Calibri"/>
              </a:rPr>
              <a:t>ow Generative AI Works</a:t>
            </a:r>
            <a:endParaRPr b="0" i="0" sz="3200" u="none" cap="none" strike="noStrike">
              <a:solidFill>
                <a:schemeClr val="dk1"/>
              </a:solidFill>
              <a:latin typeface="Calibri"/>
              <a:ea typeface="Calibri"/>
              <a:cs typeface="Calibri"/>
              <a:sym typeface="Calibri"/>
            </a:endParaRPr>
          </a:p>
        </p:txBody>
      </p:sp>
      <p:sp>
        <p:nvSpPr>
          <p:cNvPr id="196" name="Google Shape;196;p7"/>
          <p:cNvSpPr/>
          <p:nvPr/>
        </p:nvSpPr>
        <p:spPr>
          <a:xfrm>
            <a:off x="548640" y="1965960"/>
            <a:ext cx="1783080" cy="1783080"/>
          </a:xfrm>
          <a:prstGeom prst="roundRect">
            <a:avLst>
              <a:gd fmla="val 5128"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197" name="Google Shape;197;p7"/>
          <p:cNvSpPr/>
          <p:nvPr/>
        </p:nvSpPr>
        <p:spPr>
          <a:xfrm>
            <a:off x="1097280" y="212598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database_white.png" id="198" name="Google Shape;198;p7"/>
          <p:cNvPicPr preferRelativeResize="0"/>
          <p:nvPr/>
        </p:nvPicPr>
        <p:blipFill rotWithShape="1">
          <a:blip r:embed="rId3">
            <a:alphaModFix/>
          </a:blip>
          <a:srcRect b="0" l="0" r="0" t="0"/>
          <a:stretch/>
        </p:blipFill>
        <p:spPr>
          <a:xfrm>
            <a:off x="1193292" y="2221992"/>
            <a:ext cx="493776" cy="493776"/>
          </a:xfrm>
          <a:prstGeom prst="rect">
            <a:avLst/>
          </a:prstGeom>
          <a:noFill/>
          <a:ln>
            <a:noFill/>
          </a:ln>
        </p:spPr>
      </p:pic>
      <p:sp>
        <p:nvSpPr>
          <p:cNvPr id="199" name="Google Shape;199;p7"/>
          <p:cNvSpPr/>
          <p:nvPr/>
        </p:nvSpPr>
        <p:spPr>
          <a:xfrm>
            <a:off x="1947672" y="2020824"/>
            <a:ext cx="329184" cy="329184"/>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00" name="Google Shape;200;p7"/>
          <p:cNvSpPr/>
          <p:nvPr/>
        </p:nvSpPr>
        <p:spPr>
          <a:xfrm>
            <a:off x="1947672" y="202082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140"/>
              </a:buClr>
              <a:buSzPts val="1200"/>
              <a:buFont typeface="Calibri"/>
              <a:buNone/>
            </a:pPr>
            <a:r>
              <a:rPr b="1" i="0" lang="en-US" sz="1200" u="none" cap="none" strike="noStrike">
                <a:solidFill>
                  <a:srgbClr val="9A3412"/>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01" name="Google Shape;201;p7"/>
          <p:cNvSpPr/>
          <p:nvPr/>
        </p:nvSpPr>
        <p:spPr>
          <a:xfrm>
            <a:off x="621792" y="2898648"/>
            <a:ext cx="163677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Training Data</a:t>
            </a:r>
            <a:endParaRPr b="0" i="0" sz="1250" u="none" cap="none" strike="noStrike">
              <a:solidFill>
                <a:schemeClr val="dk1"/>
              </a:solidFill>
              <a:latin typeface="Calibri"/>
              <a:ea typeface="Calibri"/>
              <a:cs typeface="Calibri"/>
              <a:sym typeface="Calibri"/>
            </a:endParaRPr>
          </a:p>
        </p:txBody>
      </p:sp>
      <p:sp>
        <p:nvSpPr>
          <p:cNvPr id="202" name="Google Shape;202;p7"/>
          <p:cNvSpPr/>
          <p:nvPr/>
        </p:nvSpPr>
        <p:spPr>
          <a:xfrm>
            <a:off x="640080" y="3264408"/>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CFC6F5"/>
              </a:buClr>
              <a:buSzPts val="900"/>
              <a:buFont typeface="Calibri"/>
              <a:buNone/>
            </a:pPr>
            <a:r>
              <a:rPr b="0" i="0" lang="en-US" sz="900" u="none" cap="none" strike="noStrike">
                <a:solidFill>
                  <a:srgbClr val="FFD9B3"/>
                </a:solidFill>
                <a:latin typeface="Calibri"/>
                <a:ea typeface="Calibri"/>
                <a:cs typeface="Calibri"/>
                <a:sym typeface="Calibri"/>
              </a:rPr>
              <a:t>Large datasets of text, images or audio are collected.</a:t>
            </a:r>
            <a:endParaRPr b="0" i="0" sz="900" u="none" cap="none" strike="noStrike">
              <a:solidFill>
                <a:schemeClr val="dk1"/>
              </a:solidFill>
              <a:latin typeface="Calibri"/>
              <a:ea typeface="Calibri"/>
              <a:cs typeface="Calibri"/>
              <a:sym typeface="Calibri"/>
            </a:endParaRPr>
          </a:p>
        </p:txBody>
      </p:sp>
      <p:sp>
        <p:nvSpPr>
          <p:cNvPr id="203" name="Google Shape;203;p7"/>
          <p:cNvSpPr/>
          <p:nvPr/>
        </p:nvSpPr>
        <p:spPr>
          <a:xfrm>
            <a:off x="2386584" y="2756916"/>
            <a:ext cx="434340" cy="201168"/>
          </a:xfrm>
          <a:prstGeom prst="rightArrow">
            <a:avLst>
              <a:gd fmla="val 50000" name="adj1"/>
              <a:gd fmla="val 50000" name="adj2"/>
            </a:avLst>
          </a:prstGeom>
          <a:solidFill>
            <a:srgbClr val="FBCB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04" name="Google Shape;204;p7"/>
          <p:cNvSpPr/>
          <p:nvPr/>
        </p:nvSpPr>
        <p:spPr>
          <a:xfrm>
            <a:off x="2875788" y="1965960"/>
            <a:ext cx="1783080" cy="1783080"/>
          </a:xfrm>
          <a:prstGeom prst="roundRect">
            <a:avLst>
              <a:gd fmla="val 5128"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05" name="Google Shape;205;p7"/>
          <p:cNvSpPr/>
          <p:nvPr/>
        </p:nvSpPr>
        <p:spPr>
          <a:xfrm>
            <a:off x="3424428" y="212598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gears_white.png" id="206" name="Google Shape;206;p7"/>
          <p:cNvPicPr preferRelativeResize="0"/>
          <p:nvPr/>
        </p:nvPicPr>
        <p:blipFill rotWithShape="1">
          <a:blip r:embed="rId4">
            <a:alphaModFix/>
          </a:blip>
          <a:srcRect b="0" l="0" r="0" t="0"/>
          <a:stretch/>
        </p:blipFill>
        <p:spPr>
          <a:xfrm>
            <a:off x="3520440" y="2221992"/>
            <a:ext cx="493776" cy="493776"/>
          </a:xfrm>
          <a:prstGeom prst="rect">
            <a:avLst/>
          </a:prstGeom>
          <a:noFill/>
          <a:ln>
            <a:noFill/>
          </a:ln>
        </p:spPr>
      </p:pic>
      <p:sp>
        <p:nvSpPr>
          <p:cNvPr id="207" name="Google Shape;207;p7"/>
          <p:cNvSpPr/>
          <p:nvPr/>
        </p:nvSpPr>
        <p:spPr>
          <a:xfrm>
            <a:off x="4274820" y="2020824"/>
            <a:ext cx="329184" cy="329184"/>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08" name="Google Shape;208;p7"/>
          <p:cNvSpPr/>
          <p:nvPr/>
        </p:nvSpPr>
        <p:spPr>
          <a:xfrm>
            <a:off x="4274820" y="202082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140"/>
              </a:buClr>
              <a:buSzPts val="1200"/>
              <a:buFont typeface="Calibri"/>
              <a:buNone/>
            </a:pPr>
            <a:r>
              <a:rPr b="1" i="0" lang="en-US" sz="1200" u="none" cap="none" strike="noStrike">
                <a:solidFill>
                  <a:srgbClr val="9A3412"/>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09" name="Google Shape;209;p7"/>
          <p:cNvSpPr/>
          <p:nvPr/>
        </p:nvSpPr>
        <p:spPr>
          <a:xfrm>
            <a:off x="2948940" y="2898648"/>
            <a:ext cx="163677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Learning Process</a:t>
            </a:r>
            <a:endParaRPr b="0" i="0" sz="1250" u="none" cap="none" strike="noStrike">
              <a:solidFill>
                <a:schemeClr val="dk1"/>
              </a:solidFill>
              <a:latin typeface="Calibri"/>
              <a:ea typeface="Calibri"/>
              <a:cs typeface="Calibri"/>
              <a:sym typeface="Calibri"/>
            </a:endParaRPr>
          </a:p>
        </p:txBody>
      </p:sp>
      <p:sp>
        <p:nvSpPr>
          <p:cNvPr id="210" name="Google Shape;210;p7"/>
          <p:cNvSpPr/>
          <p:nvPr/>
        </p:nvSpPr>
        <p:spPr>
          <a:xfrm>
            <a:off x="2967228" y="3264408"/>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CFC6F5"/>
              </a:buClr>
              <a:buSzPts val="900"/>
              <a:buFont typeface="Calibri"/>
              <a:buNone/>
            </a:pPr>
            <a:r>
              <a:rPr b="0" i="0" lang="en-US" sz="900" u="none" cap="none" strike="noStrike">
                <a:solidFill>
                  <a:srgbClr val="FFD9B3"/>
                </a:solidFill>
                <a:latin typeface="Calibri"/>
                <a:ea typeface="Calibri"/>
                <a:cs typeface="Calibri"/>
                <a:sym typeface="Calibri"/>
              </a:rPr>
              <a:t>A neural network studies patterns, styles &amp; relationships.</a:t>
            </a:r>
            <a:endParaRPr b="0" i="0" sz="900" u="none" cap="none" strike="noStrike">
              <a:solidFill>
                <a:schemeClr val="dk1"/>
              </a:solidFill>
              <a:latin typeface="Calibri"/>
              <a:ea typeface="Calibri"/>
              <a:cs typeface="Calibri"/>
              <a:sym typeface="Calibri"/>
            </a:endParaRPr>
          </a:p>
        </p:txBody>
      </p:sp>
      <p:sp>
        <p:nvSpPr>
          <p:cNvPr id="211" name="Google Shape;211;p7"/>
          <p:cNvSpPr/>
          <p:nvPr/>
        </p:nvSpPr>
        <p:spPr>
          <a:xfrm>
            <a:off x="4713732" y="2756916"/>
            <a:ext cx="434340" cy="201168"/>
          </a:xfrm>
          <a:prstGeom prst="rightArrow">
            <a:avLst>
              <a:gd fmla="val 50000" name="adj1"/>
              <a:gd fmla="val 50000" name="adj2"/>
            </a:avLst>
          </a:prstGeom>
          <a:solidFill>
            <a:srgbClr val="FBCB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12" name="Google Shape;212;p7"/>
          <p:cNvSpPr/>
          <p:nvPr/>
        </p:nvSpPr>
        <p:spPr>
          <a:xfrm>
            <a:off x="5202936" y="1965960"/>
            <a:ext cx="1783080" cy="1783080"/>
          </a:xfrm>
          <a:prstGeom prst="roundRect">
            <a:avLst>
              <a:gd fmla="val 5128"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13" name="Google Shape;213;p7"/>
          <p:cNvSpPr/>
          <p:nvPr/>
        </p:nvSpPr>
        <p:spPr>
          <a:xfrm>
            <a:off x="5751576" y="212598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brain_white.png" id="214" name="Google Shape;214;p7"/>
          <p:cNvPicPr preferRelativeResize="0"/>
          <p:nvPr/>
        </p:nvPicPr>
        <p:blipFill rotWithShape="1">
          <a:blip r:embed="rId5">
            <a:alphaModFix/>
          </a:blip>
          <a:srcRect b="0" l="0" r="0" t="0"/>
          <a:stretch/>
        </p:blipFill>
        <p:spPr>
          <a:xfrm>
            <a:off x="5847588" y="2221992"/>
            <a:ext cx="493776" cy="493776"/>
          </a:xfrm>
          <a:prstGeom prst="rect">
            <a:avLst/>
          </a:prstGeom>
          <a:noFill/>
          <a:ln>
            <a:noFill/>
          </a:ln>
        </p:spPr>
      </p:pic>
      <p:sp>
        <p:nvSpPr>
          <p:cNvPr id="215" name="Google Shape;215;p7"/>
          <p:cNvSpPr/>
          <p:nvPr/>
        </p:nvSpPr>
        <p:spPr>
          <a:xfrm>
            <a:off x="6601968" y="2020824"/>
            <a:ext cx="329184" cy="329184"/>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16" name="Google Shape;216;p7"/>
          <p:cNvSpPr/>
          <p:nvPr/>
        </p:nvSpPr>
        <p:spPr>
          <a:xfrm>
            <a:off x="6601968" y="202082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140"/>
              </a:buClr>
              <a:buSzPts val="1200"/>
              <a:buFont typeface="Calibri"/>
              <a:buNone/>
            </a:pPr>
            <a:r>
              <a:rPr b="1" i="0" lang="en-US" sz="1200" u="none" cap="none" strike="noStrike">
                <a:solidFill>
                  <a:srgbClr val="9A3412"/>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17" name="Google Shape;217;p7"/>
          <p:cNvSpPr/>
          <p:nvPr/>
        </p:nvSpPr>
        <p:spPr>
          <a:xfrm>
            <a:off x="5276088" y="2898648"/>
            <a:ext cx="163677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Trained Model</a:t>
            </a:r>
            <a:endParaRPr b="0" i="0" sz="1250" u="none" cap="none" strike="noStrike">
              <a:solidFill>
                <a:schemeClr val="dk1"/>
              </a:solidFill>
              <a:latin typeface="Calibri"/>
              <a:ea typeface="Calibri"/>
              <a:cs typeface="Calibri"/>
              <a:sym typeface="Calibri"/>
            </a:endParaRPr>
          </a:p>
        </p:txBody>
      </p:sp>
      <p:sp>
        <p:nvSpPr>
          <p:cNvPr id="218" name="Google Shape;218;p7"/>
          <p:cNvSpPr/>
          <p:nvPr/>
        </p:nvSpPr>
        <p:spPr>
          <a:xfrm>
            <a:off x="5294376" y="3264408"/>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CFC6F5"/>
              </a:buClr>
              <a:buSzPts val="900"/>
              <a:buFont typeface="Calibri"/>
              <a:buNone/>
            </a:pPr>
            <a:r>
              <a:rPr b="0" i="0" lang="en-US" sz="900" u="none" cap="none" strike="noStrike">
                <a:solidFill>
                  <a:srgbClr val="FFD9B3"/>
                </a:solidFill>
                <a:latin typeface="Calibri"/>
                <a:ea typeface="Calibri"/>
                <a:cs typeface="Calibri"/>
                <a:sym typeface="Calibri"/>
              </a:rPr>
              <a:t>Knowledge gets stored as billions of parameters.</a:t>
            </a:r>
            <a:endParaRPr b="0" i="0" sz="900" u="none" cap="none" strike="noStrike">
              <a:solidFill>
                <a:schemeClr val="dk1"/>
              </a:solidFill>
              <a:latin typeface="Calibri"/>
              <a:ea typeface="Calibri"/>
              <a:cs typeface="Calibri"/>
              <a:sym typeface="Calibri"/>
            </a:endParaRPr>
          </a:p>
        </p:txBody>
      </p:sp>
      <p:sp>
        <p:nvSpPr>
          <p:cNvPr id="219" name="Google Shape;219;p7"/>
          <p:cNvSpPr/>
          <p:nvPr/>
        </p:nvSpPr>
        <p:spPr>
          <a:xfrm>
            <a:off x="7040880" y="2756916"/>
            <a:ext cx="434340" cy="201168"/>
          </a:xfrm>
          <a:prstGeom prst="rightArrow">
            <a:avLst>
              <a:gd fmla="val 50000" name="adj1"/>
              <a:gd fmla="val 50000" name="adj2"/>
            </a:avLst>
          </a:prstGeom>
          <a:solidFill>
            <a:srgbClr val="FBCB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20" name="Google Shape;220;p7"/>
          <p:cNvSpPr/>
          <p:nvPr/>
        </p:nvSpPr>
        <p:spPr>
          <a:xfrm>
            <a:off x="7530084" y="1965960"/>
            <a:ext cx="1783080" cy="1783080"/>
          </a:xfrm>
          <a:prstGeom prst="roundRect">
            <a:avLst>
              <a:gd fmla="val 5128"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21" name="Google Shape;221;p7"/>
          <p:cNvSpPr/>
          <p:nvPr/>
        </p:nvSpPr>
        <p:spPr>
          <a:xfrm>
            <a:off x="8078724" y="212598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keyboard_white.png" id="222" name="Google Shape;222;p7"/>
          <p:cNvPicPr preferRelativeResize="0"/>
          <p:nvPr/>
        </p:nvPicPr>
        <p:blipFill rotWithShape="1">
          <a:blip r:embed="rId6">
            <a:alphaModFix/>
          </a:blip>
          <a:srcRect b="0" l="0" r="0" t="0"/>
          <a:stretch/>
        </p:blipFill>
        <p:spPr>
          <a:xfrm>
            <a:off x="8174736" y="2221992"/>
            <a:ext cx="493776" cy="493776"/>
          </a:xfrm>
          <a:prstGeom prst="rect">
            <a:avLst/>
          </a:prstGeom>
          <a:noFill/>
          <a:ln>
            <a:noFill/>
          </a:ln>
        </p:spPr>
      </p:pic>
      <p:sp>
        <p:nvSpPr>
          <p:cNvPr id="223" name="Google Shape;223;p7"/>
          <p:cNvSpPr/>
          <p:nvPr/>
        </p:nvSpPr>
        <p:spPr>
          <a:xfrm>
            <a:off x="8929116" y="2020824"/>
            <a:ext cx="329184" cy="329184"/>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24" name="Google Shape;224;p7"/>
          <p:cNvSpPr/>
          <p:nvPr/>
        </p:nvSpPr>
        <p:spPr>
          <a:xfrm>
            <a:off x="8929116" y="202082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140"/>
              </a:buClr>
              <a:buSzPts val="1200"/>
              <a:buFont typeface="Calibri"/>
              <a:buNone/>
            </a:pPr>
            <a:r>
              <a:rPr b="1" i="0" lang="en-US" sz="1200" u="none" cap="none" strike="noStrike">
                <a:solidFill>
                  <a:srgbClr val="9A3412"/>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225" name="Google Shape;225;p7"/>
          <p:cNvSpPr/>
          <p:nvPr/>
        </p:nvSpPr>
        <p:spPr>
          <a:xfrm>
            <a:off x="7603236" y="2898648"/>
            <a:ext cx="163677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User Prompt</a:t>
            </a:r>
            <a:endParaRPr b="0" i="0" sz="1250" u="none" cap="none" strike="noStrike">
              <a:solidFill>
                <a:schemeClr val="dk1"/>
              </a:solidFill>
              <a:latin typeface="Calibri"/>
              <a:ea typeface="Calibri"/>
              <a:cs typeface="Calibri"/>
              <a:sym typeface="Calibri"/>
            </a:endParaRPr>
          </a:p>
        </p:txBody>
      </p:sp>
      <p:sp>
        <p:nvSpPr>
          <p:cNvPr id="226" name="Google Shape;226;p7"/>
          <p:cNvSpPr/>
          <p:nvPr/>
        </p:nvSpPr>
        <p:spPr>
          <a:xfrm>
            <a:off x="7621524" y="3264408"/>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CFC6F5"/>
              </a:buClr>
              <a:buSzPts val="900"/>
              <a:buFont typeface="Calibri"/>
              <a:buNone/>
            </a:pPr>
            <a:r>
              <a:rPr b="0" i="0" lang="en-US" sz="900" u="none" cap="none" strike="noStrike">
                <a:solidFill>
                  <a:srgbClr val="FFD9B3"/>
                </a:solidFill>
                <a:latin typeface="Calibri"/>
                <a:ea typeface="Calibri"/>
                <a:cs typeface="Calibri"/>
                <a:sym typeface="Calibri"/>
              </a:rPr>
              <a:t>A person gives an instruction or a question.</a:t>
            </a:r>
            <a:endParaRPr b="0" i="0" sz="900" u="none" cap="none" strike="noStrike">
              <a:solidFill>
                <a:schemeClr val="dk1"/>
              </a:solidFill>
              <a:latin typeface="Calibri"/>
              <a:ea typeface="Calibri"/>
              <a:cs typeface="Calibri"/>
              <a:sym typeface="Calibri"/>
            </a:endParaRPr>
          </a:p>
        </p:txBody>
      </p:sp>
      <p:sp>
        <p:nvSpPr>
          <p:cNvPr id="227" name="Google Shape;227;p7"/>
          <p:cNvSpPr/>
          <p:nvPr/>
        </p:nvSpPr>
        <p:spPr>
          <a:xfrm>
            <a:off x="9368028" y="2756916"/>
            <a:ext cx="434340" cy="201168"/>
          </a:xfrm>
          <a:prstGeom prst="rightArrow">
            <a:avLst>
              <a:gd fmla="val 50000" name="adj1"/>
              <a:gd fmla="val 50000" name="adj2"/>
            </a:avLst>
          </a:prstGeom>
          <a:solidFill>
            <a:srgbClr val="FBCB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28" name="Google Shape;228;p7"/>
          <p:cNvSpPr/>
          <p:nvPr/>
        </p:nvSpPr>
        <p:spPr>
          <a:xfrm>
            <a:off x="9857232" y="1965960"/>
            <a:ext cx="1783080" cy="1783080"/>
          </a:xfrm>
          <a:prstGeom prst="roundRect">
            <a:avLst>
              <a:gd fmla="val 5128" name="adj"/>
            </a:avLst>
          </a:prstGeom>
          <a:solidFill>
            <a:srgbClr val="9A34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29" name="Google Shape;229;p7"/>
          <p:cNvSpPr/>
          <p:nvPr/>
        </p:nvSpPr>
        <p:spPr>
          <a:xfrm>
            <a:off x="10405872" y="2125980"/>
            <a:ext cx="685800" cy="68580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wand_white.png" id="230" name="Google Shape;230;p7"/>
          <p:cNvPicPr preferRelativeResize="0"/>
          <p:nvPr/>
        </p:nvPicPr>
        <p:blipFill rotWithShape="1">
          <a:blip r:embed="rId7">
            <a:alphaModFix/>
          </a:blip>
          <a:srcRect b="0" l="0" r="0" t="0"/>
          <a:stretch/>
        </p:blipFill>
        <p:spPr>
          <a:xfrm>
            <a:off x="10501884" y="2221992"/>
            <a:ext cx="493776" cy="493776"/>
          </a:xfrm>
          <a:prstGeom prst="rect">
            <a:avLst/>
          </a:prstGeom>
          <a:noFill/>
          <a:ln>
            <a:noFill/>
          </a:ln>
        </p:spPr>
      </p:pic>
      <p:sp>
        <p:nvSpPr>
          <p:cNvPr id="231" name="Google Shape;231;p7"/>
          <p:cNvSpPr/>
          <p:nvPr/>
        </p:nvSpPr>
        <p:spPr>
          <a:xfrm>
            <a:off x="11256264" y="2020824"/>
            <a:ext cx="329184" cy="329184"/>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32" name="Google Shape;232;p7"/>
          <p:cNvSpPr/>
          <p:nvPr/>
        </p:nvSpPr>
        <p:spPr>
          <a:xfrm>
            <a:off x="11256264" y="202082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1140"/>
              </a:buClr>
              <a:buSzPts val="1200"/>
              <a:buFont typeface="Calibri"/>
              <a:buNone/>
            </a:pPr>
            <a:r>
              <a:rPr b="1" i="0" lang="en-US" sz="1200" u="none" cap="none" strike="noStrike">
                <a:solidFill>
                  <a:srgbClr val="9A3412"/>
                </a:solidFill>
                <a:latin typeface="Calibri"/>
                <a:ea typeface="Calibri"/>
                <a:cs typeface="Calibri"/>
                <a:sym typeface="Calibri"/>
              </a:rPr>
              <a:t>5</a:t>
            </a:r>
            <a:endParaRPr b="0" i="0" sz="1200" u="none" cap="none" strike="noStrike">
              <a:solidFill>
                <a:schemeClr val="dk1"/>
              </a:solidFill>
              <a:latin typeface="Calibri"/>
              <a:ea typeface="Calibri"/>
              <a:cs typeface="Calibri"/>
              <a:sym typeface="Calibri"/>
            </a:endParaRPr>
          </a:p>
        </p:txBody>
      </p:sp>
      <p:sp>
        <p:nvSpPr>
          <p:cNvPr id="233" name="Google Shape;233;p7"/>
          <p:cNvSpPr/>
          <p:nvPr/>
        </p:nvSpPr>
        <p:spPr>
          <a:xfrm>
            <a:off x="9930384" y="2898648"/>
            <a:ext cx="1636776"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0"/>
              <a:buFont typeface="Calibri"/>
              <a:buNone/>
            </a:pPr>
            <a:r>
              <a:rPr b="1" i="0" lang="en-US" sz="1250" u="none" cap="none" strike="noStrike">
                <a:solidFill>
                  <a:srgbClr val="FFFFFF"/>
                </a:solidFill>
                <a:latin typeface="Calibri"/>
                <a:ea typeface="Calibri"/>
                <a:cs typeface="Calibri"/>
                <a:sym typeface="Calibri"/>
              </a:rPr>
              <a:t>Generation</a:t>
            </a:r>
            <a:endParaRPr b="0" i="0" sz="1250" u="none" cap="none" strike="noStrike">
              <a:solidFill>
                <a:schemeClr val="dk1"/>
              </a:solidFill>
              <a:latin typeface="Calibri"/>
              <a:ea typeface="Calibri"/>
              <a:cs typeface="Calibri"/>
              <a:sym typeface="Calibri"/>
            </a:endParaRPr>
          </a:p>
        </p:txBody>
      </p:sp>
      <p:sp>
        <p:nvSpPr>
          <p:cNvPr id="234" name="Google Shape;234;p7"/>
          <p:cNvSpPr/>
          <p:nvPr/>
        </p:nvSpPr>
        <p:spPr>
          <a:xfrm>
            <a:off x="9948672" y="3264408"/>
            <a:ext cx="1600200" cy="50292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Clr>
                <a:srgbClr val="CFC6F5"/>
              </a:buClr>
              <a:buSzPts val="900"/>
              <a:buFont typeface="Calibri"/>
              <a:buNone/>
            </a:pPr>
            <a:r>
              <a:rPr b="0" i="0" lang="en-US" sz="900" u="none" cap="none" strike="noStrike">
                <a:solidFill>
                  <a:srgbClr val="FFD9B3"/>
                </a:solidFill>
                <a:latin typeface="Calibri"/>
                <a:ea typeface="Calibri"/>
                <a:cs typeface="Calibri"/>
                <a:sym typeface="Calibri"/>
              </a:rPr>
              <a:t>The model predicts &amp; assembles new content, piece by piece.</a:t>
            </a:r>
            <a:endParaRPr b="0" i="0" sz="900" u="none" cap="none" strike="noStrike">
              <a:solidFill>
                <a:schemeClr val="dk1"/>
              </a:solidFill>
              <a:latin typeface="Calibri"/>
              <a:ea typeface="Calibri"/>
              <a:cs typeface="Calibri"/>
              <a:sym typeface="Calibri"/>
            </a:endParaRPr>
          </a:p>
        </p:txBody>
      </p:sp>
      <p:sp>
        <p:nvSpPr>
          <p:cNvPr id="235" name="Google Shape;235;p7"/>
          <p:cNvSpPr/>
          <p:nvPr/>
        </p:nvSpPr>
        <p:spPr>
          <a:xfrm>
            <a:off x="548640" y="4251960"/>
            <a:ext cx="11091672" cy="1554480"/>
          </a:xfrm>
          <a:prstGeom prst="roundRect">
            <a:avLst>
              <a:gd fmla="val 5882" name="adj"/>
            </a:avLst>
          </a:prstGeom>
          <a:solidFill>
            <a:srgbClr val="FFF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sp>
        <p:nvSpPr>
          <p:cNvPr id="236" name="Google Shape;236;p7"/>
          <p:cNvSpPr/>
          <p:nvPr/>
        </p:nvSpPr>
        <p:spPr>
          <a:xfrm>
            <a:off x="868680" y="4434840"/>
            <a:ext cx="2743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21B6"/>
              </a:buClr>
              <a:buSzPts val="1300"/>
              <a:buFont typeface="Calibri"/>
              <a:buNone/>
            </a:pPr>
            <a:r>
              <a:rPr b="1" i="0" lang="en-US" sz="1300" u="none" cap="none" strike="noStrike">
                <a:solidFill>
                  <a:srgbClr val="C2410C"/>
                </a:solidFill>
                <a:latin typeface="Calibri"/>
                <a:ea typeface="Calibri"/>
                <a:cs typeface="Calibri"/>
                <a:sym typeface="Calibri"/>
              </a:rPr>
              <a:t>In short:</a:t>
            </a:r>
            <a:endParaRPr b="0" i="0" sz="1300" u="none" cap="none" strike="noStrike">
              <a:solidFill>
                <a:schemeClr val="dk1"/>
              </a:solidFill>
              <a:latin typeface="Calibri"/>
              <a:ea typeface="Calibri"/>
              <a:cs typeface="Calibri"/>
              <a:sym typeface="Calibri"/>
            </a:endParaRPr>
          </a:p>
        </p:txBody>
      </p:sp>
      <p:sp>
        <p:nvSpPr>
          <p:cNvPr id="237" name="Google Shape;237;p7"/>
          <p:cNvSpPr/>
          <p:nvPr/>
        </p:nvSpPr>
        <p:spPr>
          <a:xfrm>
            <a:off x="868680" y="4736592"/>
            <a:ext cx="10469880" cy="9601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241458"/>
              </a:buClr>
              <a:buSzPts val="1250"/>
              <a:buFont typeface="Calibri"/>
              <a:buNone/>
            </a:pPr>
            <a:r>
              <a:rPr b="0" i="0" lang="en-US" sz="1250" u="none" cap="none" strike="noStrike">
                <a:solidFill>
                  <a:srgbClr val="431407"/>
                </a:solidFill>
                <a:latin typeface="Calibri"/>
                <a:ea typeface="Calibri"/>
                <a:cs typeface="Calibri"/>
                <a:sym typeface="Calibri"/>
              </a:rPr>
              <a:t>The model does not "look up" answers. During training it adjusts millions of internal parameters so it can recognize patterns. During generation, it uses those patterns to predict the most likely next word, pixel or sound — one step at a time — until a complete, new output is formed.</a:t>
            </a:r>
            <a:endParaRPr b="0" i="0" sz="1250" u="none" cap="none" strike="noStrike">
              <a:solidFill>
                <a:schemeClr val="dk1"/>
              </a:solidFill>
              <a:latin typeface="Calibri"/>
              <a:ea typeface="Calibri"/>
              <a:cs typeface="Calibri"/>
              <a:sym typeface="Calibri"/>
            </a:endParaRPr>
          </a:p>
        </p:txBody>
      </p:sp>
      <p:sp>
        <p:nvSpPr>
          <p:cNvPr id="238" name="Google Shape;238;p7"/>
          <p:cNvSpPr/>
          <p:nvPr/>
        </p:nvSpPr>
        <p:spPr>
          <a:xfrm>
            <a:off x="11274552"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580"/>
              </a:buClr>
              <a:buSzPts val="900"/>
              <a:buFont typeface="Calibri"/>
              <a:buNone/>
            </a:pPr>
            <a:r>
              <a:rPr b="0" i="0" lang="en-US" sz="900" u="none" cap="none" strike="noStrike">
                <a:solidFill>
                  <a:srgbClr val="92714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pic>
        <p:nvPicPr>
          <p:cNvPr id="239" name="Google Shape;239;p7" title="logo-small.png"/>
          <p:cNvPicPr preferRelativeResize="0"/>
          <p:nvPr/>
        </p:nvPicPr>
        <p:blipFill>
          <a:blip r:embed="rId8">
            <a:alphaModFix amt="9000"/>
          </a:blip>
          <a:stretch>
            <a:fillRect/>
          </a:stretch>
        </p:blipFill>
        <p:spPr>
          <a:xfrm>
            <a:off x="2955663" y="305238"/>
            <a:ext cx="6280725" cy="6280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8"/>
          <p:cNvSpPr/>
          <p:nvPr/>
        </p:nvSpPr>
        <p:spPr>
          <a:xfrm>
            <a:off x="548640" y="411480"/>
            <a:ext cx="105156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3000"/>
              <a:buFont typeface="Calibri"/>
              <a:buNone/>
            </a:pPr>
            <a:r>
              <a:rPr b="1" i="0" lang="en-US" sz="3000" u="none" cap="none" strike="noStrike">
                <a:solidFill>
                  <a:srgbClr val="431407"/>
                </a:solidFill>
                <a:latin typeface="Calibri"/>
                <a:ea typeface="Calibri"/>
                <a:cs typeface="Calibri"/>
                <a:sym typeface="Calibri"/>
              </a:rPr>
              <a:t>Techniques Used in Generative AI</a:t>
            </a:r>
            <a:endParaRPr b="0" i="0" sz="3000" u="none" cap="none" strike="noStrike">
              <a:solidFill>
                <a:schemeClr val="dk1"/>
              </a:solidFill>
              <a:latin typeface="Calibri"/>
              <a:ea typeface="Calibri"/>
              <a:cs typeface="Calibri"/>
              <a:sym typeface="Calibri"/>
            </a:endParaRPr>
          </a:p>
        </p:txBody>
      </p:sp>
      <p:graphicFrame>
        <p:nvGraphicFramePr>
          <p:cNvPr id="246" name="Google Shape;246;p8"/>
          <p:cNvGraphicFramePr/>
          <p:nvPr/>
        </p:nvGraphicFramePr>
        <p:xfrm>
          <a:off x="548640" y="1554480"/>
          <a:ext cx="3000000" cy="3000000"/>
        </p:xfrm>
        <a:graphic>
          <a:graphicData uri="http://schemas.openxmlformats.org/drawingml/2006/table">
            <a:tbl>
              <a:tblPr>
                <a:noFill/>
                <a:tableStyleId>{18B69EE5-019C-4FA4-9496-54E69056C0A7}</a:tableStyleId>
              </a:tblPr>
              <a:tblGrid>
                <a:gridCol w="2286000"/>
                <a:gridCol w="4297675"/>
                <a:gridCol w="2651750"/>
                <a:gridCol w="1856225"/>
              </a:tblGrid>
              <a:tr h="45720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Technique</a:t>
                      </a:r>
                      <a:endParaRPr sz="13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9A3412"/>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How It Works</a:t>
                      </a:r>
                      <a:endParaRPr sz="13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9A3412"/>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Best Suited For</a:t>
                      </a:r>
                      <a:endParaRPr sz="13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9A3412"/>
                    </a:solidFill>
                  </a:tcPr>
                </a:tc>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rPr>
                        <a:t>Example</a:t>
                      </a:r>
                      <a:endParaRPr sz="13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9A3412"/>
                    </a:solidFill>
                  </a:tcPr>
                </a:tc>
              </a:tr>
              <a:tr h="777250">
                <a:tc>
                  <a:txBody>
                    <a:bodyPr/>
                    <a:lstStyle/>
                    <a:p>
                      <a:pPr indent="0" lvl="0" marL="0" marR="0" rtl="0" algn="l">
                        <a:spcBef>
                          <a:spcPts val="0"/>
                        </a:spcBef>
                        <a:spcAft>
                          <a:spcPts val="0"/>
                        </a:spcAft>
                        <a:buClr>
                          <a:srgbClr val="5B21B6"/>
                        </a:buClr>
                        <a:buSzPts val="1200"/>
                        <a:buFont typeface="Calibri"/>
                        <a:buNone/>
                      </a:pPr>
                      <a:r>
                        <a:rPr b="1" lang="en-US" sz="1200" u="none" cap="none" strike="noStrike">
                          <a:solidFill>
                            <a:srgbClr val="C2410C"/>
                          </a:solidFill>
                        </a:rPr>
                        <a:t>Generative Adversarial</a:t>
                      </a:r>
                      <a:endParaRPr sz="1200" u="none" cap="none" strike="noStrike"/>
                    </a:p>
                    <a:p>
                      <a:pPr indent="0" lvl="0" marL="0" marR="0" rtl="0" algn="l">
                        <a:spcBef>
                          <a:spcPts val="0"/>
                        </a:spcBef>
                        <a:spcAft>
                          <a:spcPts val="0"/>
                        </a:spcAft>
                        <a:buClr>
                          <a:srgbClr val="5B21B6"/>
                        </a:buClr>
                        <a:buSzPts val="1200"/>
                        <a:buFont typeface="Calibri"/>
                        <a:buNone/>
                      </a:pPr>
                      <a:r>
                        <a:rPr b="1" lang="en-US" sz="1200" u="none" cap="none" strike="noStrike">
                          <a:solidFill>
                            <a:srgbClr val="C2410C"/>
                          </a:solidFill>
                        </a:rPr>
                        <a:t>Networks (GANs)</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Two networks compete: one generates, one judges realism</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Realistic images, deepfakes</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StyleGAN</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r>
              <a:tr h="777250">
                <a:tc>
                  <a:txBody>
                    <a:bodyPr/>
                    <a:lstStyle/>
                    <a:p>
                      <a:pPr indent="0" lvl="0" marL="0" marR="0" rtl="0" algn="l">
                        <a:spcBef>
                          <a:spcPts val="0"/>
                        </a:spcBef>
                        <a:spcAft>
                          <a:spcPts val="0"/>
                        </a:spcAft>
                        <a:buClr>
                          <a:srgbClr val="5B21B6"/>
                        </a:buClr>
                        <a:buSzPts val="1200"/>
                        <a:buFont typeface="Calibri"/>
                        <a:buNone/>
                      </a:pPr>
                      <a:r>
                        <a:rPr b="1" lang="en-US" sz="1200" u="none" cap="none" strike="noStrike">
                          <a:solidFill>
                            <a:srgbClr val="C2410C"/>
                          </a:solidFill>
                        </a:rPr>
                        <a:t>Variational</a:t>
                      </a:r>
                      <a:endParaRPr sz="1200" u="none" cap="none" strike="noStrike"/>
                    </a:p>
                    <a:p>
                      <a:pPr indent="0" lvl="0" marL="0" marR="0" rtl="0" algn="l">
                        <a:spcBef>
                          <a:spcPts val="0"/>
                        </a:spcBef>
                        <a:spcAft>
                          <a:spcPts val="0"/>
                        </a:spcAft>
                        <a:buClr>
                          <a:srgbClr val="5B21B6"/>
                        </a:buClr>
                        <a:buSzPts val="1200"/>
                        <a:buFont typeface="Calibri"/>
                        <a:buNone/>
                      </a:pPr>
                      <a:r>
                        <a:rPr b="1" lang="en-US" sz="1200" u="none" cap="none" strike="noStrike">
                          <a:solidFill>
                            <a:srgbClr val="C2410C"/>
                          </a:solidFill>
                        </a:rPr>
                        <a:t>Autoencoders (VAEs)</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Compresses data, then reconstructs new variations from it</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Images, anomaly detection</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Face generation</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5B21B6"/>
                        </a:buClr>
                        <a:buSzPts val="1200"/>
                        <a:buFont typeface="Calibri"/>
                        <a:buNone/>
                      </a:pPr>
                      <a:r>
                        <a:rPr b="1" lang="en-US" sz="1200" u="none" cap="none" strike="noStrike">
                          <a:solidFill>
                            <a:srgbClr val="C2410C"/>
                          </a:solidFill>
                        </a:rPr>
                        <a:t>Transformers (LLMs)</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Uses "attention" to predict the next word in a sequence</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Text, chat, code</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GPT, Gemini</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r>
              <a:tr h="640075">
                <a:tc>
                  <a:txBody>
                    <a:bodyPr/>
                    <a:lstStyle/>
                    <a:p>
                      <a:pPr indent="0" lvl="0" marL="0" marR="0" rtl="0" algn="l">
                        <a:spcBef>
                          <a:spcPts val="0"/>
                        </a:spcBef>
                        <a:spcAft>
                          <a:spcPts val="0"/>
                        </a:spcAft>
                        <a:buClr>
                          <a:srgbClr val="5B21B6"/>
                        </a:buClr>
                        <a:buSzPts val="1200"/>
                        <a:buFont typeface="Calibri"/>
                        <a:buNone/>
                      </a:pPr>
                      <a:r>
                        <a:rPr b="1" lang="en-US" sz="1200" u="none" cap="none" strike="noStrike">
                          <a:solidFill>
                            <a:srgbClr val="C2410C"/>
                          </a:solidFill>
                        </a:rPr>
                        <a:t>Diffusion Models</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Starts from random noise and removes it step by step</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High-quality images, video</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Stable Diffusion</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5B21B6"/>
                        </a:buClr>
                        <a:buSzPts val="1200"/>
                        <a:buFont typeface="Calibri"/>
                        <a:buNone/>
                      </a:pPr>
                      <a:r>
                        <a:rPr b="1" lang="en-US" sz="1200" u="none" cap="none" strike="noStrike">
                          <a:solidFill>
                            <a:srgbClr val="C2410C"/>
                          </a:solidFill>
                        </a:rPr>
                        <a:t>Autoregressive Models</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Predicts each new element based on all previous ones</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Text, audio waveforms</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c>
                  <a:txBody>
                    <a:bodyPr/>
                    <a:lstStyle/>
                    <a:p>
                      <a:pPr indent="0" lvl="0" marL="0" marR="0" rtl="0" algn="l">
                        <a:spcBef>
                          <a:spcPts val="0"/>
                        </a:spcBef>
                        <a:spcAft>
                          <a:spcPts val="0"/>
                        </a:spcAft>
                        <a:buClr>
                          <a:srgbClr val="241458"/>
                        </a:buClr>
                        <a:buSzPts val="1200"/>
                        <a:buFont typeface="Calibri"/>
                        <a:buNone/>
                      </a:pPr>
                      <a:r>
                        <a:rPr lang="en-US" sz="1200" u="none" cap="none" strike="noStrike">
                          <a:solidFill>
                            <a:srgbClr val="431407"/>
                          </a:solidFill>
                        </a:rPr>
                        <a:t>WaveNet</a:t>
                      </a:r>
                      <a:endParaRPr sz="1200" u="none" cap="none" strike="noStrike"/>
                    </a:p>
                  </a:txBody>
                  <a:tcPr marT="76200" marB="76200" marR="127000" marL="127000" anchor="ctr">
                    <a:lnL cap="flat" cmpd="sng" w="12700">
                      <a:solidFill>
                        <a:srgbClr val="E4DBFF"/>
                      </a:solidFill>
                      <a:prstDash val="solid"/>
                      <a:round/>
                      <a:headEnd len="sm" w="sm" type="none"/>
                      <a:tailEnd len="sm" w="sm" type="none"/>
                    </a:lnL>
                    <a:lnR cap="flat" cmpd="sng" w="12700">
                      <a:solidFill>
                        <a:srgbClr val="E4DBFF"/>
                      </a:solidFill>
                      <a:prstDash val="solid"/>
                      <a:round/>
                      <a:headEnd len="sm" w="sm" type="none"/>
                      <a:tailEnd len="sm" w="sm" type="none"/>
                    </a:lnR>
                    <a:lnT cap="flat" cmpd="sng" w="12700">
                      <a:solidFill>
                        <a:srgbClr val="E4DBFF"/>
                      </a:solidFill>
                      <a:prstDash val="solid"/>
                      <a:round/>
                      <a:headEnd len="sm" w="sm" type="none"/>
                      <a:tailEnd len="sm" w="sm" type="none"/>
                    </a:lnT>
                    <a:lnB cap="flat" cmpd="sng" w="12700">
                      <a:solidFill>
                        <a:srgbClr val="E4DBFF"/>
                      </a:solidFill>
                      <a:prstDash val="solid"/>
                      <a:round/>
                      <a:headEnd len="sm" w="sm" type="none"/>
                      <a:tailEnd len="sm" w="sm" type="none"/>
                    </a:lnB>
                    <a:solidFill>
                      <a:srgbClr val="FFF3E8"/>
                    </a:solidFill>
                  </a:tcPr>
                </a:tc>
              </a:tr>
            </a:tbl>
          </a:graphicData>
        </a:graphic>
      </p:graphicFrame>
      <p:sp>
        <p:nvSpPr>
          <p:cNvPr id="247" name="Google Shape;247;p8"/>
          <p:cNvSpPr/>
          <p:nvPr/>
        </p:nvSpPr>
        <p:spPr>
          <a:xfrm>
            <a:off x="11274552"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580"/>
              </a:buClr>
              <a:buSzPts val="900"/>
              <a:buFont typeface="Calibri"/>
              <a:buNone/>
            </a:pPr>
            <a:r>
              <a:rPr b="0" i="0" lang="en-US" sz="900" u="none" cap="none" strike="noStrike">
                <a:solidFill>
                  <a:srgbClr val="92714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pic>
        <p:nvPicPr>
          <p:cNvPr id="248" name="Google Shape;248;p8" title="logo-small.png"/>
          <p:cNvPicPr preferRelativeResize="0"/>
          <p:nvPr/>
        </p:nvPicPr>
        <p:blipFill>
          <a:blip r:embed="rId3">
            <a:alphaModFix amt="9000"/>
          </a:blip>
          <a:stretch>
            <a:fillRect/>
          </a:stretch>
        </p:blipFill>
        <p:spPr>
          <a:xfrm>
            <a:off x="2955663" y="305238"/>
            <a:ext cx="6280725" cy="6280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9"/>
          <p:cNvSpPr/>
          <p:nvPr/>
        </p:nvSpPr>
        <p:spPr>
          <a:xfrm>
            <a:off x="548640" y="45720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1458"/>
              </a:buClr>
              <a:buSzPts val="3200"/>
              <a:buFont typeface="Calibri"/>
              <a:buNone/>
            </a:pPr>
            <a:r>
              <a:rPr b="1" i="0" lang="en-US" sz="3200" u="none" cap="none" strike="noStrike">
                <a:solidFill>
                  <a:srgbClr val="431407"/>
                </a:solidFill>
                <a:latin typeface="Calibri"/>
                <a:ea typeface="Calibri"/>
                <a:cs typeface="Calibri"/>
                <a:sym typeface="Calibri"/>
              </a:rPr>
              <a:t>Summary &amp; Key Takeaways</a:t>
            </a:r>
            <a:endParaRPr b="0" i="0" sz="3200" u="none" cap="none" strike="noStrike">
              <a:solidFill>
                <a:schemeClr val="dk1"/>
              </a:solidFill>
              <a:latin typeface="Calibri"/>
              <a:ea typeface="Calibri"/>
              <a:cs typeface="Calibri"/>
              <a:sym typeface="Calibri"/>
            </a:endParaRPr>
          </a:p>
        </p:txBody>
      </p:sp>
      <p:sp>
        <p:nvSpPr>
          <p:cNvPr id="255" name="Google Shape;255;p9"/>
          <p:cNvSpPr/>
          <p:nvPr/>
        </p:nvSpPr>
        <p:spPr>
          <a:xfrm>
            <a:off x="731520" y="1600200"/>
            <a:ext cx="640080" cy="6400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wand_white.png" id="256" name="Google Shape;256;p9"/>
          <p:cNvPicPr preferRelativeResize="0"/>
          <p:nvPr/>
        </p:nvPicPr>
        <p:blipFill rotWithShape="1">
          <a:blip r:embed="rId3">
            <a:alphaModFix/>
          </a:blip>
          <a:srcRect b="0" l="0" r="0" t="0"/>
          <a:stretch/>
        </p:blipFill>
        <p:spPr>
          <a:xfrm>
            <a:off x="821131" y="1689811"/>
            <a:ext cx="460858" cy="460858"/>
          </a:xfrm>
          <a:prstGeom prst="rect">
            <a:avLst/>
          </a:prstGeom>
          <a:noFill/>
          <a:ln>
            <a:noFill/>
          </a:ln>
        </p:spPr>
      </p:pic>
      <p:sp>
        <p:nvSpPr>
          <p:cNvPr id="257" name="Google Shape;257;p9"/>
          <p:cNvSpPr/>
          <p:nvPr/>
        </p:nvSpPr>
        <p:spPr>
          <a:xfrm>
            <a:off x="1600200" y="1600200"/>
            <a:ext cx="941832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41458"/>
              </a:buClr>
              <a:buSzPts val="1500"/>
              <a:buFont typeface="Calibri"/>
              <a:buNone/>
            </a:pPr>
            <a:r>
              <a:rPr b="0" i="0" lang="en-US" sz="1500" u="none" cap="none" strike="noStrike">
                <a:solidFill>
                  <a:srgbClr val="431407"/>
                </a:solidFill>
                <a:latin typeface="Calibri"/>
                <a:ea typeface="Calibri"/>
                <a:cs typeface="Calibri"/>
                <a:sym typeface="Calibri"/>
              </a:rPr>
              <a:t>Generative AI creates brand-new content by learning patterns from existing data.</a:t>
            </a:r>
            <a:endParaRPr b="0" i="0" sz="1500" u="none" cap="none" strike="noStrike">
              <a:solidFill>
                <a:schemeClr val="dk1"/>
              </a:solidFill>
              <a:latin typeface="Calibri"/>
              <a:ea typeface="Calibri"/>
              <a:cs typeface="Calibri"/>
              <a:sym typeface="Calibri"/>
            </a:endParaRPr>
          </a:p>
        </p:txBody>
      </p:sp>
      <p:sp>
        <p:nvSpPr>
          <p:cNvPr id="258" name="Google Shape;258;p9"/>
          <p:cNvSpPr/>
          <p:nvPr/>
        </p:nvSpPr>
        <p:spPr>
          <a:xfrm>
            <a:off x="731520" y="2496312"/>
            <a:ext cx="640080" cy="6400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layers_white.png" id="259" name="Google Shape;259;p9"/>
          <p:cNvPicPr preferRelativeResize="0"/>
          <p:nvPr/>
        </p:nvPicPr>
        <p:blipFill rotWithShape="1">
          <a:blip r:embed="rId4">
            <a:alphaModFix/>
          </a:blip>
          <a:srcRect b="0" l="0" r="0" t="0"/>
          <a:stretch/>
        </p:blipFill>
        <p:spPr>
          <a:xfrm>
            <a:off x="821131" y="2585923"/>
            <a:ext cx="460858" cy="460858"/>
          </a:xfrm>
          <a:prstGeom prst="rect">
            <a:avLst/>
          </a:prstGeom>
          <a:noFill/>
          <a:ln>
            <a:noFill/>
          </a:ln>
        </p:spPr>
      </p:pic>
      <p:sp>
        <p:nvSpPr>
          <p:cNvPr id="260" name="Google Shape;260;p9"/>
          <p:cNvSpPr/>
          <p:nvPr/>
        </p:nvSpPr>
        <p:spPr>
          <a:xfrm>
            <a:off x="1600200" y="2496312"/>
            <a:ext cx="941832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41458"/>
              </a:buClr>
              <a:buSzPts val="1500"/>
              <a:buFont typeface="Calibri"/>
              <a:buNone/>
            </a:pPr>
            <a:r>
              <a:rPr b="0" i="0" lang="en-US" sz="1500" u="none" cap="none" strike="noStrike">
                <a:solidFill>
                  <a:srgbClr val="431407"/>
                </a:solidFill>
                <a:latin typeface="Calibri"/>
                <a:ea typeface="Calibri"/>
                <a:cs typeface="Calibri"/>
                <a:sym typeface="Calibri"/>
              </a:rPr>
              <a:t>It comes in many types: text, image, audio, video and code generation.</a:t>
            </a:r>
            <a:endParaRPr b="0" i="0" sz="1500" u="none" cap="none" strike="noStrike">
              <a:solidFill>
                <a:schemeClr val="dk1"/>
              </a:solidFill>
              <a:latin typeface="Calibri"/>
              <a:ea typeface="Calibri"/>
              <a:cs typeface="Calibri"/>
              <a:sym typeface="Calibri"/>
            </a:endParaRPr>
          </a:p>
        </p:txBody>
      </p:sp>
      <p:sp>
        <p:nvSpPr>
          <p:cNvPr id="261" name="Google Shape;261;p9"/>
          <p:cNvSpPr/>
          <p:nvPr/>
        </p:nvSpPr>
        <p:spPr>
          <a:xfrm>
            <a:off x="731520" y="3392424"/>
            <a:ext cx="640080" cy="6400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brain_white.png" id="262" name="Google Shape;262;p9"/>
          <p:cNvPicPr preferRelativeResize="0"/>
          <p:nvPr/>
        </p:nvPicPr>
        <p:blipFill rotWithShape="1">
          <a:blip r:embed="rId5">
            <a:alphaModFix/>
          </a:blip>
          <a:srcRect b="0" l="0" r="0" t="0"/>
          <a:stretch/>
        </p:blipFill>
        <p:spPr>
          <a:xfrm>
            <a:off x="821131" y="3482035"/>
            <a:ext cx="460858" cy="460858"/>
          </a:xfrm>
          <a:prstGeom prst="rect">
            <a:avLst/>
          </a:prstGeom>
          <a:noFill/>
          <a:ln>
            <a:noFill/>
          </a:ln>
        </p:spPr>
      </p:pic>
      <p:sp>
        <p:nvSpPr>
          <p:cNvPr id="263" name="Google Shape;263;p9"/>
          <p:cNvSpPr/>
          <p:nvPr/>
        </p:nvSpPr>
        <p:spPr>
          <a:xfrm>
            <a:off x="1600200" y="3392424"/>
            <a:ext cx="941832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41458"/>
              </a:buClr>
              <a:buSzPts val="1500"/>
              <a:buFont typeface="Calibri"/>
              <a:buNone/>
            </a:pPr>
            <a:r>
              <a:rPr b="0" i="0" lang="en-US" sz="1500" u="none" cap="none" strike="noStrike">
                <a:solidFill>
                  <a:srgbClr val="431407"/>
                </a:solidFill>
                <a:latin typeface="Calibri"/>
                <a:ea typeface="Calibri"/>
                <a:cs typeface="Calibri"/>
                <a:sym typeface="Calibri"/>
              </a:rPr>
              <a:t>It works by training a model on data, then using learned patterns to generate new output from a prompt.</a:t>
            </a:r>
            <a:endParaRPr b="0" i="0" sz="1500" u="none" cap="none" strike="noStrike">
              <a:solidFill>
                <a:schemeClr val="dk1"/>
              </a:solidFill>
              <a:latin typeface="Calibri"/>
              <a:ea typeface="Calibri"/>
              <a:cs typeface="Calibri"/>
              <a:sym typeface="Calibri"/>
            </a:endParaRPr>
          </a:p>
        </p:txBody>
      </p:sp>
      <p:sp>
        <p:nvSpPr>
          <p:cNvPr id="264" name="Google Shape;264;p9"/>
          <p:cNvSpPr/>
          <p:nvPr/>
        </p:nvSpPr>
        <p:spPr>
          <a:xfrm>
            <a:off x="731520" y="4288536"/>
            <a:ext cx="640080" cy="6400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gears_white.png" id="265" name="Google Shape;265;p9"/>
          <p:cNvPicPr preferRelativeResize="0"/>
          <p:nvPr/>
        </p:nvPicPr>
        <p:blipFill rotWithShape="1">
          <a:blip r:embed="rId6">
            <a:alphaModFix/>
          </a:blip>
          <a:srcRect b="0" l="0" r="0" t="0"/>
          <a:stretch/>
        </p:blipFill>
        <p:spPr>
          <a:xfrm>
            <a:off x="821131" y="4378147"/>
            <a:ext cx="460858" cy="460858"/>
          </a:xfrm>
          <a:prstGeom prst="rect">
            <a:avLst/>
          </a:prstGeom>
          <a:noFill/>
          <a:ln>
            <a:noFill/>
          </a:ln>
        </p:spPr>
      </p:pic>
      <p:sp>
        <p:nvSpPr>
          <p:cNvPr id="266" name="Google Shape;266;p9"/>
          <p:cNvSpPr/>
          <p:nvPr/>
        </p:nvSpPr>
        <p:spPr>
          <a:xfrm>
            <a:off x="1600200" y="4288536"/>
            <a:ext cx="941832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41458"/>
              </a:buClr>
              <a:buSzPts val="1500"/>
              <a:buFont typeface="Calibri"/>
              <a:buNone/>
            </a:pPr>
            <a:r>
              <a:rPr b="0" i="0" lang="en-US" sz="1500" u="none" cap="none" strike="noStrike">
                <a:solidFill>
                  <a:srgbClr val="431407"/>
                </a:solidFill>
                <a:latin typeface="Calibri"/>
                <a:ea typeface="Calibri"/>
                <a:cs typeface="Calibri"/>
                <a:sym typeface="Calibri"/>
              </a:rPr>
              <a:t>Techniques like GANs, VAEs, Transformers and Diffusion Models power different kinds of generation.</a:t>
            </a:r>
            <a:endParaRPr b="0" i="0" sz="1500" u="none" cap="none" strike="noStrike">
              <a:solidFill>
                <a:schemeClr val="dk1"/>
              </a:solidFill>
              <a:latin typeface="Calibri"/>
              <a:ea typeface="Calibri"/>
              <a:cs typeface="Calibri"/>
              <a:sym typeface="Calibri"/>
            </a:endParaRPr>
          </a:p>
        </p:txBody>
      </p:sp>
      <p:sp>
        <p:nvSpPr>
          <p:cNvPr id="267" name="Google Shape;267;p9"/>
          <p:cNvSpPr/>
          <p:nvPr/>
        </p:nvSpPr>
        <p:spPr>
          <a:xfrm>
            <a:off x="731520" y="5184648"/>
            <a:ext cx="640080" cy="640080"/>
          </a:xfrm>
          <a:prstGeom prst="ellipse">
            <a:avLst/>
          </a:prstGeom>
          <a:solidFill>
            <a:srgbClr val="F97316"/>
          </a:solidFill>
          <a:ln>
            <a:noFill/>
          </a:ln>
          <a:effectLst>
            <a:outerShdw blurRad="101600" rotWithShape="0" algn="bl" dir="5400000" dist="38100">
              <a:srgbClr val="1B1140">
                <a:alpha val="2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rPr>
                <a:solidFill/>
              </a:rPr>
              <a:t/>
            </a:r>
            <a:endParaRPr/>
          </a:p>
        </p:txBody>
      </p:sp>
      <p:pic>
        <p:nvPicPr>
          <p:cNvPr descr="/home/claude/genai_ppt/icons/trend_white.png" id="268" name="Google Shape;268;p9"/>
          <p:cNvPicPr preferRelativeResize="0"/>
          <p:nvPr/>
        </p:nvPicPr>
        <p:blipFill rotWithShape="1">
          <a:blip r:embed="rId7">
            <a:alphaModFix/>
          </a:blip>
          <a:srcRect b="0" l="0" r="0" t="0"/>
          <a:stretch/>
        </p:blipFill>
        <p:spPr>
          <a:xfrm>
            <a:off x="821131" y="5274259"/>
            <a:ext cx="460858" cy="460858"/>
          </a:xfrm>
          <a:prstGeom prst="rect">
            <a:avLst/>
          </a:prstGeom>
          <a:noFill/>
          <a:ln>
            <a:noFill/>
          </a:ln>
        </p:spPr>
      </p:pic>
      <p:sp>
        <p:nvSpPr>
          <p:cNvPr id="269" name="Google Shape;269;p9"/>
          <p:cNvSpPr/>
          <p:nvPr/>
        </p:nvSpPr>
        <p:spPr>
          <a:xfrm>
            <a:off x="1600200" y="5184648"/>
            <a:ext cx="9418320" cy="6400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241458"/>
              </a:buClr>
              <a:buSzPts val="1500"/>
              <a:buFont typeface="Calibri"/>
              <a:buNone/>
            </a:pPr>
            <a:r>
              <a:rPr b="0" i="0" lang="en-US" sz="1500" u="none" cap="none" strike="noStrike">
                <a:solidFill>
                  <a:srgbClr val="431407"/>
                </a:solidFill>
                <a:latin typeface="Calibri"/>
                <a:ea typeface="Calibri"/>
                <a:cs typeface="Calibri"/>
                <a:sym typeface="Calibri"/>
              </a:rPr>
              <a:t>It is already transforming content creation, design, coding, and education — and improving fast.</a:t>
            </a:r>
            <a:endParaRPr b="0" i="0" sz="1500" u="none" cap="none" strike="noStrike">
              <a:solidFill>
                <a:schemeClr val="dk1"/>
              </a:solidFill>
              <a:latin typeface="Calibri"/>
              <a:ea typeface="Calibri"/>
              <a:cs typeface="Calibri"/>
              <a:sym typeface="Calibri"/>
            </a:endParaRPr>
          </a:p>
        </p:txBody>
      </p:sp>
      <p:sp>
        <p:nvSpPr>
          <p:cNvPr id="270" name="Google Shape;270;p9"/>
          <p:cNvSpPr/>
          <p:nvPr/>
        </p:nvSpPr>
        <p:spPr>
          <a:xfrm>
            <a:off x="11274552" y="6510528"/>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580"/>
              </a:buClr>
              <a:buSzPts val="900"/>
              <a:buFont typeface="Calibri"/>
              <a:buNone/>
            </a:pPr>
            <a:r>
              <a:rPr b="0" i="0" lang="en-US" sz="900" u="none" cap="none" strike="noStrike">
                <a:solidFill>
                  <a:srgbClr val="92714F"/>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pic>
        <p:nvPicPr>
          <p:cNvPr id="271" name="Google Shape;271;p9" title="logo-small.png"/>
          <p:cNvPicPr preferRelativeResize="0"/>
          <p:nvPr/>
        </p:nvPicPr>
        <p:blipFill>
          <a:blip r:embed="rId8">
            <a:alphaModFix amt="9000"/>
          </a:blip>
          <a:stretch>
            <a:fillRect/>
          </a:stretch>
        </p:blipFill>
        <p:spPr>
          <a:xfrm>
            <a:off x="2955663" y="305238"/>
            <a:ext cx="6280725" cy="6280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